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2c965a4ddba44c3" /><Relationship Type="http://schemas.openxmlformats.org/officeDocument/2006/relationships/extended-properties" Target="/docProps/app.xml" Id="R502f954f98234dd6" /><Relationship Type="http://schemas.openxmlformats.org/officeDocument/2006/relationships/officeDocument" Target="/ppt/presentation.xml" Id="Ra69fbd6a5e744ed5" /></Relationships>
</file>

<file path=ppt/presentation.xml><?xml version="1.0" encoding="utf-8"?>
<p:presentation xmlns:p="http://schemas.openxmlformats.org/presentationml/2006/main">
  <p:sldMasterIdLst>
    <p:sldMasterId xmlns:r="http://schemas.openxmlformats.org/officeDocument/2006/relationships" id="2147483648" r:id="R0d8117818cd441b3"/>
  </p:sldMasterIdLst>
  <p:notesMasterIdLst>
    <p:notesMasterId xmlns:r="http://schemas.openxmlformats.org/officeDocument/2006/relationships" r:id="R02d1a29727a642f9"/>
  </p:notesMasterIdLst>
  <p:sldIdLst>
    <p:sldId xmlns:r="http://schemas.openxmlformats.org/officeDocument/2006/relationships" id="256" r:id="Rda382d0376fb4ac1"/>
    <p:sldId xmlns:r="http://schemas.openxmlformats.org/officeDocument/2006/relationships" id="257" r:id="R5dbb096c287f47eb"/>
    <p:sldId xmlns:r="http://schemas.openxmlformats.org/officeDocument/2006/relationships" id="258" r:id="R8f28716862964c24"/>
    <p:sldId xmlns:r="http://schemas.openxmlformats.org/officeDocument/2006/relationships" id="259" r:id="Ref9995f964644811"/>
    <p:sldId xmlns:r="http://schemas.openxmlformats.org/officeDocument/2006/relationships" id="260" r:id="R4b047b7ca7214dec"/>
    <p:sldId xmlns:r="http://schemas.openxmlformats.org/officeDocument/2006/relationships" id="261" r:id="Rae0a66cd88d148e7"/>
    <p:sldId xmlns:r="http://schemas.openxmlformats.org/officeDocument/2006/relationships" id="262" r:id="R9c68a12f20c44c93"/>
    <p:sldId xmlns:r="http://schemas.openxmlformats.org/officeDocument/2006/relationships" id="263" r:id="R9cf2ef33cb664f8c"/>
    <p:sldId xmlns:r="http://schemas.openxmlformats.org/officeDocument/2006/relationships" id="264" r:id="R6412e5e74ab34d14"/>
    <p:sldId xmlns:r="http://schemas.openxmlformats.org/officeDocument/2006/relationships" id="265" r:id="R2c0ad2327bba430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c406f9a25ad4e19" /><Relationship Type="http://schemas.openxmlformats.org/officeDocument/2006/relationships/slideMaster" Target="/ppt/slideMasters/slideMaster1.xml" Id="R0d8117818cd441b3" /><Relationship Type="http://schemas.openxmlformats.org/officeDocument/2006/relationships/notesMaster" Target="/ppt/notesMasters/notesMaster1.xml" Id="R02d1a29727a642f9" /><Relationship Type="http://schemas.openxmlformats.org/officeDocument/2006/relationships/presProps" Target="/ppt/presProps.xml" Id="R5bffaeb34cb14366" /><Relationship Type="http://schemas.openxmlformats.org/officeDocument/2006/relationships/tableStyles" Target="/ppt/tableStyles.xml" Id="R136d67eb053149ce" /><Relationship Type="http://schemas.openxmlformats.org/officeDocument/2006/relationships/slide" Target="/ppt/slides/slide1.xml" Id="Rda382d0376fb4ac1" /><Relationship Type="http://schemas.openxmlformats.org/officeDocument/2006/relationships/slide" Target="/ppt/slides/slide2.xml" Id="R5dbb096c287f47eb" /><Relationship Type="http://schemas.openxmlformats.org/officeDocument/2006/relationships/slide" Target="/ppt/slides/slide3.xml" Id="R8f28716862964c24" /><Relationship Type="http://schemas.openxmlformats.org/officeDocument/2006/relationships/slide" Target="/ppt/slides/slide4.xml" Id="Ref9995f964644811" /><Relationship Type="http://schemas.openxmlformats.org/officeDocument/2006/relationships/slide" Target="/ppt/slides/slide5.xml" Id="R4b047b7ca7214dec" /><Relationship Type="http://schemas.openxmlformats.org/officeDocument/2006/relationships/slide" Target="/ppt/slides/slide6.xml" Id="Rae0a66cd88d148e7" /><Relationship Type="http://schemas.openxmlformats.org/officeDocument/2006/relationships/slide" Target="/ppt/slides/slide7.xml" Id="R9c68a12f20c44c93" /><Relationship Type="http://schemas.openxmlformats.org/officeDocument/2006/relationships/slide" Target="/ppt/slides/slide8.xml" Id="R9cf2ef33cb664f8c" /><Relationship Type="http://schemas.openxmlformats.org/officeDocument/2006/relationships/slide" Target="/ppt/slides/slide9.xml" Id="R6412e5e74ab34d14" /><Relationship Type="http://schemas.openxmlformats.org/officeDocument/2006/relationships/slide" Target="/ppt/slides/slide10.xml" Id="R2c0ad2327bba430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d97f7303ebd4cf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ecffc5c9ec94103" /><Relationship Type="http://schemas.openxmlformats.org/officeDocument/2006/relationships/notesMaster" Target="/ppt/notesMasters/notesMaster1.xml" Id="R6e3090ed54c145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fa8788351ff4ba0" /><Relationship Type="http://schemas.openxmlformats.org/officeDocument/2006/relationships/notesMaster" Target="/ppt/notesMasters/notesMaster1.xml" Id="R9715990d03bd40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aee1db8f884dec" /><Relationship Type="http://schemas.openxmlformats.org/officeDocument/2006/relationships/notesMaster" Target="/ppt/notesMasters/notesMaster1.xml" Id="R3e5bb056d4954ef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f573c13ebd64ca6" /><Relationship Type="http://schemas.openxmlformats.org/officeDocument/2006/relationships/notesMaster" Target="/ppt/notesMasters/notesMaster1.xml" Id="R352a8eafcdf748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2a0ce051114a62" /><Relationship Type="http://schemas.openxmlformats.org/officeDocument/2006/relationships/notesMaster" Target="/ppt/notesMasters/notesMaster1.xml" Id="R640af9a31e1e4b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1891925d97f14dcd" /><Relationship Type="http://schemas.openxmlformats.org/officeDocument/2006/relationships/notesMaster" Target="/ppt/notesMasters/notesMaster1.xml" Id="R63d0e52afdd14d3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3113ae91a634621" /><Relationship Type="http://schemas.openxmlformats.org/officeDocument/2006/relationships/notesMaster" Target="/ppt/notesMasters/notesMaster1.xml" Id="R65b6cade11ad409c" /></Relationships>
</file>

<file path=ppt/notesSlides/_rels/notesSlide8.xml.rels>&#65279;<?xml version="1.0" encoding="utf-8"?><Relationships xmlns="http://schemas.openxmlformats.org/package/2006/relationships"><Relationship Type="http://schemas.openxmlformats.org/officeDocument/2006/relationships/slide" Target="/ppt/slides/slide8.xml" Id="R74d29a7d65d348c9" /><Relationship Type="http://schemas.openxmlformats.org/officeDocument/2006/relationships/notesMaster" Target="/ppt/notesMasters/notesMaster1.xml" Id="R533ffadd48df4e36" /></Relationships>
</file>

<file path=ppt/notesSlides/_rels/notesSlide9.xml.rels>&#65279;<?xml version="1.0" encoding="utf-8"?><Relationships xmlns="http://schemas.openxmlformats.org/package/2006/relationships"><Relationship Type="http://schemas.openxmlformats.org/officeDocument/2006/relationships/slide" Target="/ppt/slides/slide9.xml" Id="Rf7369b5689f8487a" /><Relationship Type="http://schemas.openxmlformats.org/officeDocument/2006/relationships/notesMaster" Target="/ppt/notesMasters/notesMaster1.xml" Id="Re217fcc430074bb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e64aca47d6a41d4" /><Relationship Type="http://schemas.openxmlformats.org/officeDocument/2006/relationships/notesMaster" Target="/ppt/notesMasters/notesMaster1.xml" Id="R46e2b2a4c20247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MROOT is my Armenian Code Academy capstone project. I built an application that recognises 39 plant disease categories from photos and returns five suggestions. The project includes checking the data, fine-tuning pretrained models, comparing experiments, and deploying the selected system. The goal is to make an initial image-based assessment easier. It does not replace an expert diagnosis.</a:t>
            </a:r>
          </a:p>
          <a:p xmlns:a="http://schemas.openxmlformats.org/drawingml/2006/main">
            <a:r>
              <a:t/>
            </a:r>
          </a:p>
          <a:p xmlns:a="http://schemas.openxmlformats.org/drawingml/2006/main">
            <a:r>
              <a:t>Sources: MROOT project records and deployed app: https://huggingface.co/spaces/Armennnn/mroot-plant-disease-classifier-v2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matched experiments used 6,790 training images and 388 validation images. Training learns the model parameters, while validation guides experiment and checkpoint selection. The class distribution was uneven: powdery mildew had 755 training examples, rust 616, bacterial leaf spot 78, and berry blotch 68. I checked whether files opened correctly, whether labels were missing, and whether related images appeared in different splits. All 7,178 files in the final training and validation lists were readable and labeled. Reviewing related-image groups and a label conflict led us to exclude 80 training rows and two validation rows from those experiment lists. The reporting subset was kept separate.</a:t>
            </a:r>
          </a:p>
          <a:p xmlns:a="http://schemas.openxmlformats.org/drawingml/2006/main">
            <a:r>
              <a:t/>
            </a:r>
          </a:p>
          <a:p xmlns:a="http://schemas.openxmlformats.org/drawingml/2006/main">
            <a:r>
              <a:t>Sources: Saved reports: eda_summary.json, class_support.csv, split_summary.json.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fine-tuned EVA-02 models that already had pretrained image representations. This allowed the project to use the available disease photos to adapt an existing model. I resized and normalized the images using the saved model settings. Training augmentation included random resized crops, horizontal and occasional vertical flips, small rotations, and color changes, as well as RandAugment and Random Erasing. These variations make the same training photo appear in different forms. Earlier network layers received smaller learning rates so that their pretrained features changed more cautiously. I selected checkpoints using validation macro mAP and also recorded Top-1 and Top-5 accuracy.</a:t>
            </a:r>
          </a:p>
          <a:p xmlns:a="http://schemas.openxmlformats.org/drawingml/2006/main">
            <a:r>
              <a:t/>
            </a:r>
          </a:p>
          <a:p xmlns:a="http://schemas.openxmlformats.org/drawingml/2006/main">
            <a:r>
              <a:t>Sources: Saved experiment_config.json, parameter_lr_groups.csv and training_helpers.py. EVA-02: https://arxiv.org/abs/2303.11331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historical ViT baseline achieved about 90.64% macro mAP. Three EVA-02 Small models at 336 input achieved 94.72% when their predictions were averaged on the original 390 validation images. Earlier attempts included an additional Small seed, more training, and ConvNeXt V2 Tiny. The fourth similar model reduced the selected ensemble result to about 94.49%, and continued training did not beat the saved reference. ConvNeXt scored about 90.54% alone and did not improve the EVA combination. Those results led us to focus on changing how the models learned and on testing complementary predictions. A stronger historical Base checkpoint was unavailable, and I do not count that lost checkpoint as reproduced.</a:t>
            </a:r>
          </a:p>
          <a:p xmlns:a="http://schemas.openxmlformats.org/drawingml/2006/main">
            <a:r>
              <a:t/>
            </a:r>
          </a:p>
          <a:p xmlns:a="http://schemas.openxmlformats.org/drawingml/2006/main">
            <a:r>
              <a:t>Sources: Student-supplied original MROOT handover. Original three-model validation report. Historical rounded results are approximate.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trained one additional Small model with shuffled sampling and class-weighted cross-entropy. This tested whether giving rare-class mistakes more influence would help. Adding it to the original three gave a small increase to 94.85% macro mAP. I then trained EVA-02 Base at 448 input to test a larger model with more image detail. The five-model combination reached 95.07%. Next, I trained another Base from the same starting weights with all learning rates divided by three. Its own three-view mAP increased from 94.22% to 94.66%, but replacing the earlier Base in the planned compact ensemble reduced that ensemble from 95.12% to 94.92%. EMA parameter averaging and a small prediction-weight comparison also failed to beat their references. These were bounded manual experiments.</a:t>
            </a:r>
          </a:p>
          <a:p xmlns:a="http://schemas.openxmlformats.org/drawingml/2006/main">
            <a:r>
              <a:t/>
            </a:r>
          </a:p>
          <a:p xmlns:a="http://schemas.openxmlformats.org/drawingml/2006/main">
            <a:r>
              <a:t>Sources: gentler_base_result.json, previous_small_experiment, compact replacement comparison, and original experiment histories.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final training experiment, I trained two EVA-02 Base models at 448 input from the same starting weights, with the same data and ordinary settings. The control used the usual augmentation. The second model added a MixUp/CutMix policy. MixUp blends two training images and blends their target labels in the same proportions. CutMix copies a patch from another image and assigns target proportions based on the patch area. The intention was to discourage memorizing specific visual patterns and improve generalization. Each batch could use either technique or no mixing. Validation after every epoch selected a control checkpoint at 94.81% mAP and a mixed-training checkpoint at 96.07%, measured on the same 388 photos with one prediction view.</a:t>
            </a:r>
          </a:p>
          <a:p xmlns:a="http://schemas.openxmlformats.org/drawingml/2006/main">
            <a:r>
              <a:t/>
            </a:r>
          </a:p>
          <a:p xmlns:a="http://schemas.openxmlformats.org/drawingml/2006/main">
            <a:r>
              <a:t>Sources: control/experiment_result.json, mixup_cutmix/experiment_result.json, COMPLETED_COMPARISON.json. MixUp: https://arxiv.org/abs/1710.09412. CutMix: https://arxiv.org/abs/1905.04899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training, I tested useful combinations of the saved models by averaging their predictions. Models can make different mistakes, so a pair can improve the ranking even if one member is weaker on its own. These comparisons used the same 368 validation images, excluding 20 with related copies in older training history. Each model used the same standard, horizontally flipped, and padded whole-image prediction views. The mixed model alone scored 96.03% macro mAP with that recipe. Pairing it with the earlier Base gave 96.18%, and pairing it with the sampling/loss Small gave 96.03%. The matched control plus mixed model had the highest observed mAP, 96.48%, with equal model weights. This small advantage remains uncertain on reused validation data, and the pair was selected for mAP rather than the highest Top-1 score.</a:t>
            </a:r>
          </a:p>
          <a:p xmlns:a="http://schemas.openxmlformats.org/drawingml/2006/main">
            <a:r>
              <a:t/>
            </a:r>
          </a:p>
          <a:p xmlns:a="http://schemas.openxmlformats.org/drawingml/2006/main">
            <a:r>
              <a:t>Sources: validation_system_comparison_368.csv, paired_validation_intervals.json, frozen ensemble 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class-level validation results made the remaining weaknesses clearer. In the control run, bacterial leaf spot and septoria leaf spot had the lowest AP, followed by rust and early blight. Mixed training increased early blight AP from 80.43% to 95.32% and bacterial leaf spot from 59.18% to 64.17%. Septoria leaf spot fell from 60.18% to 57.91%. These values compare the two individual runs on the same 388 validation photos with standard single-view prediction. AP measures ranking quality within each class. Several classes have few validation examples, so these estimates are sensitive to individual photos. Similar symptoms, limited examples, and inconsistent image quality are possible sources of mistakes. More reviewed examples of these difficult classes would be useful.</a:t>
            </a:r>
          </a:p>
          <a:p xmlns:a="http://schemas.openxmlformats.org/drawingml/2006/main">
            <a:r>
              <a:t/>
            </a:r>
          </a:p>
          <a:p xmlns:a="http://schemas.openxmlformats.org/drawingml/2006/main">
            <a:r>
              <a:t>Sources: validation_class_comparison.csv. Values use control_normal_AP and mixup_cutmix_normal_AP.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selecting the pair, I evaluated the frozen system on the same previously selected 623 reporting images. It made 557 correct first predictions, giving 89.41% Top-1 accuracy. The correct class appeared in the first five suggestions for 619 images, or 99.36% Top-5 accuracy. Macro mAP was 92.99%. On those same images, the previous four-model system had 549 correct first predictions, so the final pair added eight. The historical holdout originally had 670 images, and the existing related-image review excluded 47 from this reporting subset. This historical holdout had already been evaluated earlier, so these results are not a fresh blind-test estimate. There was no tuning after this final report.</a:t>
            </a:r>
          </a:p>
          <a:p xmlns:a="http://schemas.openxmlformats.org/drawingml/2006/main">
            <a:r>
              <a:t/>
            </a:r>
          </a:p>
          <a:p xmlns:a="http://schemas.openxmlformats.org/drawingml/2006/main">
            <a:r>
              <a:t>Sources: FINAL_HOLDOUT_20261024T103253_167194Z/FINAL_HOLDOUT_RESULT.json, FROZEN_SELECTION.json. Frozen 623-image reporting subset.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selected model files are deployed in a separate V2 Gradio app on Hugging Face Spaces. A user uploads a photo and receives five ranked disease suggestions. The application loads the two saved checkpoints, applies the same preprocessing and prediction views as evaluation, and averages their predictions equally. app.py contains the model-loading and inference code. The repository also includes the class mapping, dependency list, README, presentation, and result figures. Large model files are downloaded from a pinned revision and checked using file hashes. The original V1 app remains available. The next step would be an independent collection of field photos, including healthy plants. The current model has no healthy or unknown category and may assign a disease to an unsuitable image.</a:t>
            </a:r>
          </a:p>
          <a:p xmlns:a="http://schemas.openxmlformats.org/drawingml/2006/main">
            <a:r>
              <a:t/>
            </a:r>
          </a:p>
          <a:p xmlns:a="http://schemas.openxmlformats.org/drawingml/2006/main">
            <a:r>
              <a:t>Sources: https://huggingface.co/spaces/Armennnn/mroot-plant-disease-classifier-v2 and https://github.com/abarseghian2005-collab/mroot-plant-disease-classifier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f0b10ee09304e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46e716fa6e04be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023fef3759d44f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b1d62fe2b054ba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a47a8107ba8494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fb13c254a84439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B252E5-3FFF-47AE-ACF9-ADCAD5A2930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D6A159A-0A62-4221-818D-471B6F50338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41C3417-03A2-4FD1-8EF4-3BB9652B8F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1E8DAD0-6B02-4C2B-BD68-DDB9F1B83C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A13A5A8-ADCC-4425-B0E7-8369AFE5FD4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DC133BA-33AE-439C-A829-86C3FD7B284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E686AD-5EE9-408B-BABA-47229141EFD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0BBC5CC-6453-4744-9AEA-5289BEE2924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DF87946-CC54-4FA7-9FBC-0A42AA20DF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32B918-9126-49E0-8CE3-A2331CF2631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196e70e12d4a6b" /><Relationship Type="http://schemas.openxmlformats.org/officeDocument/2006/relationships/slideLayout" Target="/ppt/slideLayouts/slideLayout1.xml" Id="R559fb8f76e2e4ba6" /><Relationship Type="http://schemas.openxmlformats.org/officeDocument/2006/relationships/slideLayout" Target="/ppt/slideLayouts/slideLayout2.xml" Id="R2b72680185ed4193" /><Relationship Type="http://schemas.openxmlformats.org/officeDocument/2006/relationships/slideLayout" Target="/ppt/slideLayouts/slideLayout3.xml" Id="R66b142f15e404645" /><Relationship Type="http://schemas.openxmlformats.org/officeDocument/2006/relationships/slideLayout" Target="/ppt/slideLayouts/slideLayout4.xml" Id="Rb2741751482940e2" /><Relationship Type="http://schemas.openxmlformats.org/officeDocument/2006/relationships/slideLayout" Target="/ppt/slideLayouts/slideLayout5.xml" Id="R5efc2bb10ef146c7" /><Relationship Type="http://schemas.openxmlformats.org/officeDocument/2006/relationships/slideLayout" Target="/ppt/slideLayouts/slideLayout6.xml" Id="Rd8a0e703b9a941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9fb8f76e2e4ba6"/>
    <p:sldLayoutId xmlns:r="http://schemas.openxmlformats.org/officeDocument/2006/relationships" id="2147483650" r:id="R2b72680185ed4193"/>
    <p:sldLayoutId xmlns:r="http://schemas.openxmlformats.org/officeDocument/2006/relationships" id="2147483651" r:id="R66b142f15e404645"/>
    <p:sldLayoutId xmlns:r="http://schemas.openxmlformats.org/officeDocument/2006/relationships" id="2147483652" r:id="Rb2741751482940e2"/>
    <p:sldLayoutId xmlns:r="http://schemas.openxmlformats.org/officeDocument/2006/relationships" id="2147483653" r:id="R5efc2bb10ef146c7"/>
    <p:sldLayoutId xmlns:r="http://schemas.openxmlformats.org/officeDocument/2006/relationships" id="2147483654" r:id="Rd8a0e703b9a941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45a116a51774273" /><Relationship Type="http://schemas.openxmlformats.org/officeDocument/2006/relationships/image" Target="/ppt/media/image.jpeg" Id="Rba29efe2b5974bd5" /><Relationship Type="http://schemas.openxmlformats.org/officeDocument/2006/relationships/notesSlide" Target="/ppt/notesSlides/notesSlide1.xml" Id="R83c184dc32724e3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f83333f3e314551" /><Relationship Type="http://schemas.openxmlformats.org/officeDocument/2006/relationships/chart" Target="/ppt/slides/charts/chart1.xml" Id="Rc9925d5b083e43ae" /><Relationship Type="http://schemas.openxmlformats.org/officeDocument/2006/relationships/notesSlide" Target="/ppt/notesSlides/notesSlide2.xml" Id="R1ffdf29765db43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94aec11f3fa4ec5" /><Relationship Type="http://schemas.openxmlformats.org/officeDocument/2006/relationships/notesSlide" Target="/ppt/notesSlides/notesSlide3.xml" Id="Rfff5ac4aa59b4fe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8988a1bbf2b4e41" /><Relationship Type="http://schemas.openxmlformats.org/officeDocument/2006/relationships/notesSlide" Target="/ppt/notesSlides/notesSlide4.xml" Id="R1e4ef4d7a57548c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8032eefc5a84f15" /><Relationship Type="http://schemas.openxmlformats.org/officeDocument/2006/relationships/notesSlide" Target="/ppt/notesSlides/notesSlide5.xml" Id="Rd11353594f5c4a2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36ab50cf8aa410d" /><Relationship Type="http://schemas.openxmlformats.org/officeDocument/2006/relationships/notesSlide" Target="/ppt/notesSlides/notesSlide6.xml" Id="R7875918c8a0c494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2c63a0ad60346bb" /><Relationship Type="http://schemas.openxmlformats.org/officeDocument/2006/relationships/notesSlide" Target="/ppt/notesSlides/notesSlide7.xml" Id="R40f764f0038845c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8eb71adf8454f95" /><Relationship Type="http://schemas.openxmlformats.org/officeDocument/2006/relationships/notesSlide" Target="/ppt/notesSlides/notesSlide8.xml" Id="R94ba8ab4b8e1420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30453fc7696407f" /><Relationship Type="http://schemas.openxmlformats.org/officeDocument/2006/relationships/notesSlide" Target="/ppt/notesSlides/notesSlide9.xml" Id="Rb87503036889445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3bbc91f209146cb" /><Relationship Type="http://schemas.openxmlformats.org/officeDocument/2006/relationships/image" Target="/ppt/media/image2.jpeg" Id="R3cab5ed15bbe4337" /><Relationship Type="http://schemas.openxmlformats.org/officeDocument/2006/relationships/hyperlink" Target="https://huggingface.co/spaces/Armennnn/mroot-plant-disease-classifier-v2" TargetMode="External" Id="R876f8a7243c94973" /><Relationship Type="http://schemas.openxmlformats.org/officeDocument/2006/relationships/hyperlink" Target="https://github.com/abarseghian2005-collab/mroot-plant-disease-classifier" TargetMode="External" Id="Rf473512ee4a84ba6" /><Relationship Type="http://schemas.openxmlformats.org/officeDocument/2006/relationships/notesSlide" Target="/ppt/notesSlides/notesSlide10.xml" Id="R2247888329b644c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Training photos</c:v>
          </c:tx>
          <c:spPr>
            <a:solidFill xmlns:a="http://schemas.openxmlformats.org/drawingml/2006/main">
              <a:srgbClr val="2E6B49"/>
            </a:solidFill>
          </c:spPr>
          <c:invertIfNegative val="0"/>
          <c:cat>
            <c:strRef>
              <c:f>'Chart Data'!$A$2:$A$5</c:f>
              <c:strCache>
                <c:ptCount val="4"/>
                <c:pt idx="0">
                  <c:v>Powdery mildew</c:v>
                </c:pt>
                <c:pt idx="1">
                  <c:v>Rust</c:v>
                </c:pt>
                <c:pt idx="2">
                  <c:v>Bacterial leaf spot</c:v>
                </c:pt>
                <c:pt idx="3">
                  <c:v>Berry blotch</c:v>
                </c:pt>
              </c:strCache>
            </c:strRef>
          </c:cat>
          <c:val>
            <c:numRef>
              <c:f>'Chart Data'!$B$2:$B$5</c:f>
              <c:numCache>
                <c:formatCode>0</c:formatCode>
                <c:ptCount val="4"/>
                <c:pt idx="0">
                  <c:v>755</c:v>
                </c:pt>
                <c:pt idx="1">
                  <c:v>616</c:v>
                </c:pt>
                <c:pt idx="2">
                  <c:v>78</c:v>
                </c:pt>
                <c:pt idx="3">
                  <c:v>68</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650" b="1">
                  <a:solidFill>
                    <a:srgbClr val="173E2C"/>
                  </a:solidFill>
                  <a:latin typeface="Arial"/>
                  <a:ea typeface="Arial"/>
                  <a:cs typeface="Arial"/>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4352C"/>
                </a:solidFill>
                <a:latin typeface="Arial"/>
                <a:ea typeface="Arial"/>
                <a:cs typeface="Arial"/>
              </a:defRPr>
            </a:pPr>
          </a:p>
        </c:txPr>
        <c:crossAx val="48672768"/>
      </c:catAx>
      <c:valAx>
        <c:axId val="48672768"/>
        <c:scaling>
          <c:orientation val="minMax"/>
          <c:max val="800"/>
          <c:min val="0"/>
        </c:scaling>
        <c:delete val="0"/>
        <c:axPos val="b"/>
        <c:majorGridlines>
          <c:spPr>
            <a:ln xmlns:a="http://schemas.openxmlformats.org/drawingml/2006/main" w="9525">
              <a:solidFill>
                <a:srgbClr val="DCE5DB"/>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24352C"/>
                </a:solidFill>
                <a:latin typeface="Arial"/>
                <a:ea typeface="Arial"/>
                <a:cs typeface="Arial"/>
              </a:defRPr>
            </a:pPr>
          </a:p>
        </c:txPr>
        <c:crossAx val="48650112"/>
        <c:crossBetween val="between"/>
        <c:majorUnit val="200"/>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084F7A6-568B-4543-A081-991D20EB7B3A}"/>
              </a:ext>
            </a:extLst>
          </p:cNvPr>
          <p:cNvSpPr>
            <a:spLocks xmlns:a="http://schemas.openxmlformats.org/drawingml/2006/main" noGrp="1"/>
          </p:cNvSpPr>
          <p:nvPr/>
        </p:nvSpPr>
        <p:spPr>
          <a:xfrm xmlns:a="http://schemas.openxmlformats.org/drawingml/2006/main">
            <a:off x="666750" y="1428750"/>
            <a:ext cx="5334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7050" b="1">
                <a:solidFill>
                  <a:srgbClr val="173E2C"/>
                </a:solidFill>
                <a:latin typeface="Arial"/>
                <a:ea typeface="Arial"/>
                <a:cs typeface="Arial"/>
              </a:defRPr>
            </a:defPPr>
            <a:lvl1pPr>
              <a:defRPr sz="7050" b="1">
                <a:solidFill>
                  <a:srgbClr val="173E2C"/>
                </a:solidFill>
                <a:latin typeface="Arial"/>
                <a:ea typeface="Arial"/>
                <a:cs typeface="Arial"/>
              </a:defRPr>
            </a:lvl1pPr>
            <a:lvl2pPr>
              <a:defRPr sz="7050" b="1">
                <a:solidFill>
                  <a:srgbClr val="173E2C"/>
                </a:solidFill>
                <a:latin typeface="Arial"/>
                <a:ea typeface="Arial"/>
                <a:cs typeface="Arial"/>
              </a:defRPr>
            </a:lvl2pPr>
            <a:lvl3pPr>
              <a:defRPr sz="7050" b="1">
                <a:solidFill>
                  <a:srgbClr val="173E2C"/>
                </a:solidFill>
                <a:latin typeface="Arial"/>
                <a:ea typeface="Arial"/>
                <a:cs typeface="Arial"/>
              </a:defRPr>
            </a:lvl3pPr>
            <a:lvl4pPr>
              <a:defRPr sz="7050" b="1">
                <a:solidFill>
                  <a:srgbClr val="173E2C"/>
                </a:solidFill>
                <a:latin typeface="Arial"/>
                <a:ea typeface="Arial"/>
                <a:cs typeface="Arial"/>
              </a:defRPr>
            </a:lvl4pPr>
            <a:lvl5pPr>
              <a:defRPr sz="7050" b="1">
                <a:solidFill>
                  <a:srgbClr val="173E2C"/>
                </a:solidFill>
                <a:latin typeface="Arial"/>
                <a:ea typeface="Arial"/>
                <a:cs typeface="Arial"/>
              </a:defRPr>
            </a:lvl5pPr>
            <a:lvl6pPr>
              <a:defRPr sz="7050" b="1">
                <a:solidFill>
                  <a:srgbClr val="173E2C"/>
                </a:solidFill>
                <a:latin typeface="Arial"/>
                <a:ea typeface="Arial"/>
                <a:cs typeface="Arial"/>
              </a:defRPr>
            </a:lvl6pPr>
            <a:lvl7pPr>
              <a:defRPr sz="7050" b="1">
                <a:solidFill>
                  <a:srgbClr val="173E2C"/>
                </a:solidFill>
                <a:latin typeface="Arial"/>
                <a:ea typeface="Arial"/>
                <a:cs typeface="Arial"/>
              </a:defRPr>
            </a:lvl7pPr>
            <a:lvl8pPr>
              <a:defRPr sz="7050" b="1">
                <a:solidFill>
                  <a:srgbClr val="173E2C"/>
                </a:solidFill>
                <a:latin typeface="Arial"/>
                <a:ea typeface="Arial"/>
                <a:cs typeface="Arial"/>
              </a:defRPr>
            </a:lvl8pPr>
            <a:lvl9pPr>
              <a:defRPr sz="7050" b="1">
                <a:solidFill>
                  <a:srgbClr val="173E2C"/>
                </a:solidFill>
                <a:latin typeface="Arial"/>
                <a:ea typeface="Arial"/>
                <a:cs typeface="Arial"/>
              </a:defRPr>
            </a:lvl9pPr>
          </a:lstStyle>
          <a:p xmlns:a="http://schemas.openxmlformats.org/drawingml/2006/main">
            <a:pPr>
              <a:defRPr sz="7050" b="1">
                <a:solidFill>
                  <a:srgbClr val="173E2C"/>
                </a:solidFill>
                <a:latin typeface="Arial"/>
                <a:ea typeface="Arial"/>
                <a:cs typeface="Arial"/>
              </a:defRPr>
            </a:pPr>
            <a:r>
              <a:rPr sz="7050" b="1">
                <a:solidFill>
                  <a:srgbClr val="173E2C"/>
                </a:solidFill>
                <a:latin typeface="Arial"/>
                <a:ea typeface="Arial"/>
                <a:cs typeface="Arial"/>
              </a:rPr>
              <a:t>MROOT</a:t>
            </a:r>
          </a:p>
        </p:txBody>
      </p:sp>
      <p:sp>
        <p:nvSpPr>
          <p:cNvPr id="2" name="">
            <a:extLst xmlns:a="http://schemas.openxmlformats.org/drawingml/2006/main">
              <a:ext uri="{FF2B5EF4-FFF2-40B4-BE49-F238E27FC236}">
                <a16:creationId xmlns:a16="http://schemas.microsoft.com/office/drawing/2014/main" id="{3DB1EA55-8A6D-4F76-BE02-D29BB62BE176}"/>
              </a:ext>
            </a:extLst>
          </p:cNvPr>
          <p:cNvSpPr>
            <a:spLocks xmlns:a="http://schemas.openxmlformats.org/drawingml/2006/main" noGrp="1"/>
          </p:cNvSpPr>
          <p:nvPr/>
        </p:nvSpPr>
        <p:spPr>
          <a:xfrm xmlns:a="http://schemas.openxmlformats.org/drawingml/2006/main">
            <a:off x="723900" y="2809875"/>
            <a:ext cx="5429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075" b="0">
                <a:solidFill>
                  <a:srgbClr val="24352C"/>
                </a:solidFill>
                <a:latin typeface="Arial"/>
                <a:ea typeface="Arial"/>
                <a:cs typeface="Arial"/>
              </a:defRPr>
            </a:defPPr>
            <a:lvl1pPr>
              <a:defRPr sz="3075" b="0">
                <a:solidFill>
                  <a:srgbClr val="24352C"/>
                </a:solidFill>
                <a:latin typeface="Arial"/>
                <a:ea typeface="Arial"/>
                <a:cs typeface="Arial"/>
              </a:defRPr>
            </a:lvl1pPr>
            <a:lvl2pPr>
              <a:defRPr sz="3075" b="0">
                <a:solidFill>
                  <a:srgbClr val="24352C"/>
                </a:solidFill>
                <a:latin typeface="Arial"/>
                <a:ea typeface="Arial"/>
                <a:cs typeface="Arial"/>
              </a:defRPr>
            </a:lvl2pPr>
            <a:lvl3pPr>
              <a:defRPr sz="3075" b="0">
                <a:solidFill>
                  <a:srgbClr val="24352C"/>
                </a:solidFill>
                <a:latin typeface="Arial"/>
                <a:ea typeface="Arial"/>
                <a:cs typeface="Arial"/>
              </a:defRPr>
            </a:lvl3pPr>
            <a:lvl4pPr>
              <a:defRPr sz="3075" b="0">
                <a:solidFill>
                  <a:srgbClr val="24352C"/>
                </a:solidFill>
                <a:latin typeface="Arial"/>
                <a:ea typeface="Arial"/>
                <a:cs typeface="Arial"/>
              </a:defRPr>
            </a:lvl4pPr>
            <a:lvl5pPr>
              <a:defRPr sz="3075" b="0">
                <a:solidFill>
                  <a:srgbClr val="24352C"/>
                </a:solidFill>
                <a:latin typeface="Arial"/>
                <a:ea typeface="Arial"/>
                <a:cs typeface="Arial"/>
              </a:defRPr>
            </a:lvl5pPr>
            <a:lvl6pPr>
              <a:defRPr sz="3075" b="0">
                <a:solidFill>
                  <a:srgbClr val="24352C"/>
                </a:solidFill>
                <a:latin typeface="Arial"/>
                <a:ea typeface="Arial"/>
                <a:cs typeface="Arial"/>
              </a:defRPr>
            </a:lvl6pPr>
            <a:lvl7pPr>
              <a:defRPr sz="3075" b="0">
                <a:solidFill>
                  <a:srgbClr val="24352C"/>
                </a:solidFill>
                <a:latin typeface="Arial"/>
                <a:ea typeface="Arial"/>
                <a:cs typeface="Arial"/>
              </a:defRPr>
            </a:lvl7pPr>
            <a:lvl8pPr>
              <a:defRPr sz="3075" b="0">
                <a:solidFill>
                  <a:srgbClr val="24352C"/>
                </a:solidFill>
                <a:latin typeface="Arial"/>
                <a:ea typeface="Arial"/>
                <a:cs typeface="Arial"/>
              </a:defRPr>
            </a:lvl8pPr>
            <a:lvl9pPr>
              <a:defRPr sz="3075" b="0">
                <a:solidFill>
                  <a:srgbClr val="24352C"/>
                </a:solidFill>
                <a:latin typeface="Arial"/>
                <a:ea typeface="Arial"/>
                <a:cs typeface="Arial"/>
              </a:defRPr>
            </a:lvl9pPr>
          </a:lstStyle>
          <a:p xmlns:a="http://schemas.openxmlformats.org/drawingml/2006/main">
            <a:pPr>
              <a:defRPr sz="3075" b="0">
                <a:solidFill>
                  <a:srgbClr val="24352C"/>
                </a:solidFill>
                <a:latin typeface="Arial"/>
                <a:ea typeface="Arial"/>
                <a:cs typeface="Arial"/>
              </a:defRPr>
            </a:pPr>
            <a:r>
              <a:rPr sz="3075" b="0">
                <a:solidFill>
                  <a:srgbClr val="24352C"/>
                </a:solidFill>
                <a:latin typeface="Arial"/>
                <a:ea typeface="Arial"/>
                <a:cs typeface="Arial"/>
              </a:rPr>
              <a:t>Plant disease classifier</a:t>
            </a:r>
          </a:p>
        </p:txBody>
      </p:sp>
      <p:sp>
        <p:nvSpPr>
          <p:cNvPr id="3" name="">
            <a:extLst xmlns:a="http://schemas.openxmlformats.org/drawingml/2006/main">
              <a:ext uri="{FF2B5EF4-FFF2-40B4-BE49-F238E27FC236}">
                <a16:creationId xmlns:a16="http://schemas.microsoft.com/office/drawing/2014/main" id="{ED1033B9-C643-4AE5-8F45-5E0AD93F502F}"/>
              </a:ext>
            </a:extLst>
          </p:cNvPr>
          <p:cNvSpPr>
            <a:spLocks xmlns:a="http://schemas.openxmlformats.org/drawingml/2006/main" noGrp="1"/>
          </p:cNvSpPr>
          <p:nvPr/>
        </p:nvSpPr>
        <p:spPr>
          <a:xfrm xmlns:a="http://schemas.openxmlformats.org/drawingml/2006/main">
            <a:off x="723900" y="3829050"/>
            <a:ext cx="52863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An application that recognises 39 plant disease categories from photos and returns the five most likely suggestions.</a:t>
            </a:r>
          </a:p>
        </p:txBody>
      </p:sp>
      <p:sp>
        <p:nvSpPr>
          <p:cNvPr id="4" name="">
            <a:extLst xmlns:a="http://schemas.openxmlformats.org/drawingml/2006/main">
              <a:ext uri="{FF2B5EF4-FFF2-40B4-BE49-F238E27FC236}">
                <a16:creationId xmlns:a16="http://schemas.microsoft.com/office/drawing/2014/main" id="{93143DF1-4BCA-4DD9-9791-88194B6A5265}"/>
              </a:ext>
            </a:extLst>
          </p:cNvPr>
          <p:cNvSpPr>
            <a:spLocks xmlns:a="http://schemas.openxmlformats.org/drawingml/2006/main" noGrp="1"/>
          </p:cNvSpPr>
          <p:nvPr/>
        </p:nvSpPr>
        <p:spPr>
          <a:xfrm xmlns:a="http://schemas.openxmlformats.org/drawingml/2006/main">
            <a:off x="723900" y="5638800"/>
            <a:ext cx="5429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59665D"/>
                </a:solidFill>
                <a:latin typeface="Arial"/>
                <a:ea typeface="Arial"/>
                <a:cs typeface="Arial"/>
              </a:defRPr>
            </a:defPPr>
            <a:lvl1pPr>
              <a:defRPr sz="1875" b="0">
                <a:solidFill>
                  <a:srgbClr val="59665D"/>
                </a:solidFill>
                <a:latin typeface="Arial"/>
                <a:ea typeface="Arial"/>
                <a:cs typeface="Arial"/>
              </a:defRPr>
            </a:lvl1pPr>
            <a:lvl2pPr>
              <a:defRPr sz="1875" b="0">
                <a:solidFill>
                  <a:srgbClr val="59665D"/>
                </a:solidFill>
                <a:latin typeface="Arial"/>
                <a:ea typeface="Arial"/>
                <a:cs typeface="Arial"/>
              </a:defRPr>
            </a:lvl2pPr>
            <a:lvl3pPr>
              <a:defRPr sz="1875" b="0">
                <a:solidFill>
                  <a:srgbClr val="59665D"/>
                </a:solidFill>
                <a:latin typeface="Arial"/>
                <a:ea typeface="Arial"/>
                <a:cs typeface="Arial"/>
              </a:defRPr>
            </a:lvl3pPr>
            <a:lvl4pPr>
              <a:defRPr sz="1875" b="0">
                <a:solidFill>
                  <a:srgbClr val="59665D"/>
                </a:solidFill>
                <a:latin typeface="Arial"/>
                <a:ea typeface="Arial"/>
                <a:cs typeface="Arial"/>
              </a:defRPr>
            </a:lvl4pPr>
            <a:lvl5pPr>
              <a:defRPr sz="1875" b="0">
                <a:solidFill>
                  <a:srgbClr val="59665D"/>
                </a:solidFill>
                <a:latin typeface="Arial"/>
                <a:ea typeface="Arial"/>
                <a:cs typeface="Arial"/>
              </a:defRPr>
            </a:lvl5pPr>
            <a:lvl6pPr>
              <a:defRPr sz="1875" b="0">
                <a:solidFill>
                  <a:srgbClr val="59665D"/>
                </a:solidFill>
                <a:latin typeface="Arial"/>
                <a:ea typeface="Arial"/>
                <a:cs typeface="Arial"/>
              </a:defRPr>
            </a:lvl6pPr>
            <a:lvl7pPr>
              <a:defRPr sz="1875" b="0">
                <a:solidFill>
                  <a:srgbClr val="59665D"/>
                </a:solidFill>
                <a:latin typeface="Arial"/>
                <a:ea typeface="Arial"/>
                <a:cs typeface="Arial"/>
              </a:defRPr>
            </a:lvl7pPr>
            <a:lvl8pPr>
              <a:defRPr sz="1875" b="0">
                <a:solidFill>
                  <a:srgbClr val="59665D"/>
                </a:solidFill>
                <a:latin typeface="Arial"/>
                <a:ea typeface="Arial"/>
                <a:cs typeface="Arial"/>
              </a:defRPr>
            </a:lvl8pPr>
            <a:lvl9pPr>
              <a:defRPr sz="1875" b="0">
                <a:solidFill>
                  <a:srgbClr val="59665D"/>
                </a:solidFill>
                <a:latin typeface="Arial"/>
                <a:ea typeface="Arial"/>
                <a:cs typeface="Arial"/>
              </a:defRPr>
            </a:lvl9pPr>
          </a:lstStyle>
          <a:p xmlns:a="http://schemas.openxmlformats.org/drawingml/2006/main">
            <a:pPr>
              <a:defRPr sz="1875" b="0">
                <a:solidFill>
                  <a:srgbClr val="59665D"/>
                </a:solidFill>
                <a:latin typeface="Arial"/>
                <a:ea typeface="Arial"/>
                <a:cs typeface="Arial"/>
              </a:defRPr>
            </a:pPr>
            <a:r>
              <a:rPr sz="1875" b="0">
                <a:solidFill>
                  <a:srgbClr val="59665D"/>
                </a:solidFill>
                <a:latin typeface="Arial"/>
                <a:ea typeface="Arial"/>
                <a:cs typeface="Arial"/>
              </a:rPr>
              <a:t>Armen</a:t>
            </a:r>
          </a:p>
          <a:p xmlns:a="http://schemas.openxmlformats.org/drawingml/2006/main">
            <a:pPr>
              <a:defRPr sz="1875" b="0">
                <a:solidFill>
                  <a:srgbClr val="59665D"/>
                </a:solidFill>
                <a:latin typeface="Arial"/>
                <a:ea typeface="Arial"/>
                <a:cs typeface="Arial"/>
              </a:defRPr>
            </a:pPr>
            <a:r>
              <a:rPr sz="1875" b="0">
                <a:solidFill>
                  <a:srgbClr val="59665D"/>
                </a:solidFill>
                <a:latin typeface="Arial"/>
                <a:ea typeface="Arial"/>
                <a:cs typeface="Arial"/>
              </a:rPr>
              <a:t>Armenian Code Academy</a:t>
            </a:r>
          </a:p>
        </p:txBody>
      </p:sp>
      <p:pic>
        <p:nvPicPr>
          <p:cNvPr id="5" name="">
            <a:extLst xmlns:a="http://schemas.openxmlformats.org/drawingml/2006/main">
              <a:ext uri="{FF2B5EF4-FFF2-40B4-BE49-F238E27FC236}">
                <a16:creationId xmlns:a16="http://schemas.microsoft.com/office/drawing/2014/main" id="{2D646372-AD7A-4C4A-B6E2-9D4731904625}"/>
              </a:ext>
            </a:extLst>
          </p:cNvPr>
          <p:cNvPicPr>
            <a:picLocks xmlns:a="http://schemas.openxmlformats.org/drawingml/2006/main" noChangeAspect="1"/>
          </p:cNvPicPr>
          <p:nvPr/>
        </p:nvPicPr>
        <p:blipFill>
          <a:blip xmlns:r="http://schemas.openxmlformats.org/officeDocument/2006/relationships" xmlns:a="http://schemas.openxmlformats.org/drawingml/2006/main" r:embed="Rba29efe2b5974bd5"/>
          <a:stretch xmlns:a="http://schemas.openxmlformats.org/drawingml/2006/main"/>
        </p:blipFill>
        <p:spPr>
          <a:xfrm xmlns:a="http://schemas.openxmlformats.org/drawingml/2006/main">
            <a:off x="6429375" y="1865082"/>
            <a:ext cx="5095875" cy="3394537"/>
          </a:xfrm>
          <a:prstGeom xmlns:a="http://schemas.openxmlformats.org/drawingml/2006/main" prst="rect">
            <a:avLst/>
          </a:prstGeom>
        </p:spPr>
      </p:pic>
    </p:spTree>
    <p:extLst>
      <p:ext uri="{BB962C8B-B14F-4D97-AF65-F5344CB8AC3E}">
        <p14:creationId xmlns:p14="http://schemas.microsoft.com/office/powerpoint/2010/main" val="1236902330"/>
      </p:ext>
    </p:extLst>
  </p:cSld>
</p:sld>
</file>

<file path=ppt/slides/slide2.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C9B6F0-8306-427E-BDFE-778EDDFA3C99}"/>
              </a:ext>
            </a:extLst>
          </p:cNvPr>
          <p:cNvSpPr>
            <a:spLocks xmlns:a="http://schemas.openxmlformats.org/drawingml/2006/main" noGrp="1"/>
          </p:cNvSpPr>
          <p:nvPr/>
        </p:nvSpPr>
        <p:spPr>
          <a:xfrm xmlns:a="http://schemas.openxmlformats.org/drawingml/2006/main">
            <a:off x="666750" y="4667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The dataset</a:t>
            </a:r>
          </a:p>
        </p:txBody>
      </p:sp>
      <p:sp>
        <p:nvSpPr>
          <p:cNvPr id="2" name="">
            <a:extLst xmlns:a="http://schemas.openxmlformats.org/drawingml/2006/main">
              <a:ext uri="{FF2B5EF4-FFF2-40B4-BE49-F238E27FC236}">
                <a16:creationId xmlns:a16="http://schemas.microsoft.com/office/drawing/2014/main" id="{88F20A0C-D93C-42B2-931D-6E7D91E38501}"/>
              </a:ext>
            </a:extLst>
          </p:cNvPr>
          <p:cNvSpPr>
            <a:spLocks xmlns:a="http://schemas.openxmlformats.org/drawingml/2006/main" noGrp="1"/>
          </p:cNvSpPr>
          <p:nvPr/>
        </p:nvSpPr>
        <p:spPr>
          <a:xfrm xmlns:a="http://schemas.openxmlformats.org/drawingml/2006/main">
            <a:off x="666750" y="647700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02</a:t>
            </a:r>
          </a:p>
        </p:txBody>
      </p:sp>
      <p:graphicFrame>
        <p:nvGraphicFramePr>
          <p:cNvPr id="3" name="Chart">
            <a:extLst xmlns:a="http://schemas.openxmlformats.org/drawingml/2006/main">
              <a:ext uri="{FF2B5EF4-FFF2-40B4-BE49-F238E27FC236}">
                <a16:creationId xmlns:a16="http://schemas.microsoft.com/office/drawing/2014/main" id="{1272A135-CF8C-4322-ABB8-B464151F09ED}"/>
              </a:ext>
            </a:extLst>
          </p:cNvPr>
          <p:cNvGraphicFramePr/>
          <p:nvPr/>
        </p:nvGraphicFramePr>
        <p:xfrm>
          <a:off xmlns:a="http://schemas.openxmlformats.org/drawingml/2006/main" x="666750" y="2009775"/>
          <a:ext xmlns:a="http://schemas.openxmlformats.org/drawingml/2006/main" cx="7000875" cy="2714625"/>
        </p:xfrm>
        <a:graphic xmlns:a="http://schemas.openxmlformats.org/drawingml/2006/main">
          <a:graphicData uri="http://schemas.openxmlformats.org/drawingml/2006/chart">
            <c:chart xmlns:r="http://schemas.openxmlformats.org/officeDocument/2006/relationships" xmlns:c="http://schemas.openxmlformats.org/drawingml/2006/chart" r:id="Rc9925d5b083e43ae"/>
          </a:graphicData>
        </a:graphic>
      </p:graphicFrame>
      <p:sp>
        <p:nvSpPr>
          <p:cNvPr id="4" name="">
            <a:extLst xmlns:a="http://schemas.openxmlformats.org/drawingml/2006/main">
              <a:ext uri="{FF2B5EF4-FFF2-40B4-BE49-F238E27FC236}">
                <a16:creationId xmlns:a16="http://schemas.microsoft.com/office/drawing/2014/main" id="{92F51C04-5105-4D64-A667-33C4F60D6DE4}"/>
              </a:ext>
            </a:extLst>
          </p:cNvPr>
          <p:cNvSpPr>
            <a:spLocks xmlns:a="http://schemas.openxmlformats.org/drawingml/2006/main" noGrp="1"/>
          </p:cNvSpPr>
          <p:nvPr/>
        </p:nvSpPr>
        <p:spPr>
          <a:xfrm xmlns:a="http://schemas.openxmlformats.org/drawingml/2006/main">
            <a:off x="742950" y="1543050"/>
            <a:ext cx="714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59665D"/>
                </a:solidFill>
                <a:latin typeface="Arial"/>
                <a:ea typeface="Arial"/>
                <a:cs typeface="Arial"/>
              </a:defRPr>
            </a:defPPr>
            <a:lvl1pPr>
              <a:defRPr sz="1875" b="0">
                <a:solidFill>
                  <a:srgbClr val="59665D"/>
                </a:solidFill>
                <a:latin typeface="Arial"/>
                <a:ea typeface="Arial"/>
                <a:cs typeface="Arial"/>
              </a:defRPr>
            </a:lvl1pPr>
            <a:lvl2pPr>
              <a:defRPr sz="1875" b="0">
                <a:solidFill>
                  <a:srgbClr val="59665D"/>
                </a:solidFill>
                <a:latin typeface="Arial"/>
                <a:ea typeface="Arial"/>
                <a:cs typeface="Arial"/>
              </a:defRPr>
            </a:lvl2pPr>
            <a:lvl3pPr>
              <a:defRPr sz="1875" b="0">
                <a:solidFill>
                  <a:srgbClr val="59665D"/>
                </a:solidFill>
                <a:latin typeface="Arial"/>
                <a:ea typeface="Arial"/>
                <a:cs typeface="Arial"/>
              </a:defRPr>
            </a:lvl3pPr>
            <a:lvl4pPr>
              <a:defRPr sz="1875" b="0">
                <a:solidFill>
                  <a:srgbClr val="59665D"/>
                </a:solidFill>
                <a:latin typeface="Arial"/>
                <a:ea typeface="Arial"/>
                <a:cs typeface="Arial"/>
              </a:defRPr>
            </a:lvl4pPr>
            <a:lvl5pPr>
              <a:defRPr sz="1875" b="0">
                <a:solidFill>
                  <a:srgbClr val="59665D"/>
                </a:solidFill>
                <a:latin typeface="Arial"/>
                <a:ea typeface="Arial"/>
                <a:cs typeface="Arial"/>
              </a:defRPr>
            </a:lvl5pPr>
            <a:lvl6pPr>
              <a:defRPr sz="1875" b="0">
                <a:solidFill>
                  <a:srgbClr val="59665D"/>
                </a:solidFill>
                <a:latin typeface="Arial"/>
                <a:ea typeface="Arial"/>
                <a:cs typeface="Arial"/>
              </a:defRPr>
            </a:lvl6pPr>
            <a:lvl7pPr>
              <a:defRPr sz="1875" b="0">
                <a:solidFill>
                  <a:srgbClr val="59665D"/>
                </a:solidFill>
                <a:latin typeface="Arial"/>
                <a:ea typeface="Arial"/>
                <a:cs typeface="Arial"/>
              </a:defRPr>
            </a:lvl7pPr>
            <a:lvl8pPr>
              <a:defRPr sz="1875" b="0">
                <a:solidFill>
                  <a:srgbClr val="59665D"/>
                </a:solidFill>
                <a:latin typeface="Arial"/>
                <a:ea typeface="Arial"/>
                <a:cs typeface="Arial"/>
              </a:defRPr>
            </a:lvl8pPr>
            <a:lvl9pPr>
              <a:defRPr sz="1875" b="0">
                <a:solidFill>
                  <a:srgbClr val="59665D"/>
                </a:solidFill>
                <a:latin typeface="Arial"/>
                <a:ea typeface="Arial"/>
                <a:cs typeface="Arial"/>
              </a:defRPr>
            </a:lvl9pPr>
          </a:lstStyle>
          <a:p xmlns:a="http://schemas.openxmlformats.org/drawingml/2006/main">
            <a:pPr>
              <a:defRPr sz="1875" b="0">
                <a:solidFill>
                  <a:srgbClr val="59665D"/>
                </a:solidFill>
                <a:latin typeface="Arial"/>
                <a:ea typeface="Arial"/>
                <a:cs typeface="Arial"/>
              </a:defRPr>
            </a:pPr>
            <a:r>
              <a:rPr sz="1875" b="0">
                <a:solidFill>
                  <a:srgbClr val="59665D"/>
                </a:solidFill>
                <a:latin typeface="Arial"/>
                <a:ea typeface="Arial"/>
                <a:cs typeface="Arial"/>
              </a:rPr>
              <a:t>Examples of the uneven class distribution</a:t>
            </a:r>
          </a:p>
        </p:txBody>
      </p:sp>
      <p:sp>
        <p:nvSpPr>
          <p:cNvPr id="5" name="">
            <a:extLst xmlns:a="http://schemas.openxmlformats.org/drawingml/2006/main">
              <a:ext uri="{FF2B5EF4-FFF2-40B4-BE49-F238E27FC236}">
                <a16:creationId xmlns:a16="http://schemas.microsoft.com/office/drawing/2014/main" id="{DCFE490C-F124-4CFE-A567-4A19FD22AA76}"/>
              </a:ext>
            </a:extLst>
          </p:cNvPr>
          <p:cNvSpPr>
            <a:spLocks xmlns:a="http://schemas.openxmlformats.org/drawingml/2006/main" noGrp="1"/>
          </p:cNvSpPr>
          <p:nvPr/>
        </p:nvSpPr>
        <p:spPr>
          <a:xfrm xmlns:a="http://schemas.openxmlformats.org/drawingml/2006/main">
            <a:off x="8134350" y="2076450"/>
            <a:ext cx="34290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173E2C"/>
                </a:solidFill>
                <a:latin typeface="Arial"/>
                <a:ea typeface="Arial"/>
                <a:cs typeface="Arial"/>
              </a:defRPr>
            </a:defPPr>
            <a:lvl1pPr>
              <a:defRPr sz="2100" b="1">
                <a:solidFill>
                  <a:srgbClr val="173E2C"/>
                </a:solidFill>
                <a:latin typeface="Arial"/>
                <a:ea typeface="Arial"/>
                <a:cs typeface="Arial"/>
              </a:defRPr>
            </a:lvl1pPr>
            <a:lvl2pPr>
              <a:defRPr sz="2100" b="1">
                <a:solidFill>
                  <a:srgbClr val="173E2C"/>
                </a:solidFill>
                <a:latin typeface="Arial"/>
                <a:ea typeface="Arial"/>
                <a:cs typeface="Arial"/>
              </a:defRPr>
            </a:lvl2pPr>
            <a:lvl3pPr>
              <a:defRPr sz="2100" b="1">
                <a:solidFill>
                  <a:srgbClr val="173E2C"/>
                </a:solidFill>
                <a:latin typeface="Arial"/>
                <a:ea typeface="Arial"/>
                <a:cs typeface="Arial"/>
              </a:defRPr>
            </a:lvl3pPr>
            <a:lvl4pPr>
              <a:defRPr sz="2100" b="1">
                <a:solidFill>
                  <a:srgbClr val="173E2C"/>
                </a:solidFill>
                <a:latin typeface="Arial"/>
                <a:ea typeface="Arial"/>
                <a:cs typeface="Arial"/>
              </a:defRPr>
            </a:lvl4pPr>
            <a:lvl5pPr>
              <a:defRPr sz="2100" b="1">
                <a:solidFill>
                  <a:srgbClr val="173E2C"/>
                </a:solidFill>
                <a:latin typeface="Arial"/>
                <a:ea typeface="Arial"/>
                <a:cs typeface="Arial"/>
              </a:defRPr>
            </a:lvl5pPr>
            <a:lvl6pPr>
              <a:defRPr sz="2100" b="1">
                <a:solidFill>
                  <a:srgbClr val="173E2C"/>
                </a:solidFill>
                <a:latin typeface="Arial"/>
                <a:ea typeface="Arial"/>
                <a:cs typeface="Arial"/>
              </a:defRPr>
            </a:lvl6pPr>
            <a:lvl7pPr>
              <a:defRPr sz="2100" b="1">
                <a:solidFill>
                  <a:srgbClr val="173E2C"/>
                </a:solidFill>
                <a:latin typeface="Arial"/>
                <a:ea typeface="Arial"/>
                <a:cs typeface="Arial"/>
              </a:defRPr>
            </a:lvl7pPr>
            <a:lvl8pPr>
              <a:defRPr sz="2100" b="1">
                <a:solidFill>
                  <a:srgbClr val="173E2C"/>
                </a:solidFill>
                <a:latin typeface="Arial"/>
                <a:ea typeface="Arial"/>
                <a:cs typeface="Arial"/>
              </a:defRPr>
            </a:lvl8pPr>
            <a:lvl9pPr>
              <a:defRPr sz="2100" b="1">
                <a:solidFill>
                  <a:srgbClr val="173E2C"/>
                </a:solidFill>
                <a:latin typeface="Arial"/>
                <a:ea typeface="Arial"/>
                <a:cs typeface="Arial"/>
              </a:defRPr>
            </a:lvl9pPr>
          </a:lstStyle>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Final training runs</a:t>
            </a:r>
          </a:p>
          <a:p xmlns:a="http://schemas.openxmlformats.org/drawingml/2006/main">
            <a:r>
              <a:t/>
            </a:r>
          </a:p>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6,790 training images</a:t>
            </a:r>
          </a:p>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388 validation images</a:t>
            </a:r>
          </a:p>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39 disease classes</a:t>
            </a:r>
          </a:p>
        </p:txBody>
      </p:sp>
      <p:sp>
        <p:nvSpPr>
          <p:cNvPr id="6" name="">
            <a:extLst xmlns:a="http://schemas.openxmlformats.org/drawingml/2006/main">
              <a:ext uri="{FF2B5EF4-FFF2-40B4-BE49-F238E27FC236}">
                <a16:creationId xmlns:a16="http://schemas.microsoft.com/office/drawing/2014/main" id="{D52D1929-A39F-42F4-944C-39068886E05F}"/>
              </a:ext>
            </a:extLst>
          </p:cNvPr>
          <p:cNvSpPr>
            <a:spLocks xmlns:a="http://schemas.openxmlformats.org/drawingml/2006/main" noGrp="1"/>
          </p:cNvSpPr>
          <p:nvPr/>
        </p:nvSpPr>
        <p:spPr>
          <a:xfrm xmlns:a="http://schemas.openxmlformats.org/drawingml/2006/main">
            <a:off x="723900" y="505777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I checked image readability, labels, and related images across the data splits. The review reduced overlap and identified a label conflict.</a:t>
            </a:r>
          </a:p>
        </p:txBody>
      </p:sp>
      <p:sp>
        <p:nvSpPr>
          <p:cNvPr id="7" name="">
            <a:extLst xmlns:a="http://schemas.openxmlformats.org/drawingml/2006/main">
              <a:ext uri="{FF2B5EF4-FFF2-40B4-BE49-F238E27FC236}">
                <a16:creationId xmlns:a16="http://schemas.microsoft.com/office/drawing/2014/main" id="{497F9504-0037-4CBD-B2A5-88BF2F6DC3D3}"/>
              </a:ext>
            </a:extLst>
          </p:cNvPr>
          <p:cNvSpPr>
            <a:spLocks xmlns:a="http://schemas.openxmlformats.org/drawingml/2006/main" noGrp="1"/>
          </p:cNvSpPr>
          <p:nvPr/>
        </p:nvSpPr>
        <p:spPr>
          <a:xfrm xmlns:a="http://schemas.openxmlformats.org/drawingml/2006/main">
            <a:off x="723900" y="60579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59665D"/>
                </a:solidFill>
                <a:latin typeface="Arial"/>
                <a:ea typeface="Arial"/>
                <a:cs typeface="Arial"/>
              </a:defRPr>
            </a:defPPr>
            <a:lvl1pPr>
              <a:defRPr sz="1800" b="0">
                <a:solidFill>
                  <a:srgbClr val="59665D"/>
                </a:solidFill>
                <a:latin typeface="Arial"/>
                <a:ea typeface="Arial"/>
                <a:cs typeface="Arial"/>
              </a:defRPr>
            </a:lvl1pPr>
            <a:lvl2pPr>
              <a:defRPr sz="1800" b="0">
                <a:solidFill>
                  <a:srgbClr val="59665D"/>
                </a:solidFill>
                <a:latin typeface="Arial"/>
                <a:ea typeface="Arial"/>
                <a:cs typeface="Arial"/>
              </a:defRPr>
            </a:lvl2pPr>
            <a:lvl3pPr>
              <a:defRPr sz="1800" b="0">
                <a:solidFill>
                  <a:srgbClr val="59665D"/>
                </a:solidFill>
                <a:latin typeface="Arial"/>
                <a:ea typeface="Arial"/>
                <a:cs typeface="Arial"/>
              </a:defRPr>
            </a:lvl3pPr>
            <a:lvl4pPr>
              <a:defRPr sz="1800" b="0">
                <a:solidFill>
                  <a:srgbClr val="59665D"/>
                </a:solidFill>
                <a:latin typeface="Arial"/>
                <a:ea typeface="Arial"/>
                <a:cs typeface="Arial"/>
              </a:defRPr>
            </a:lvl4pPr>
            <a:lvl5pPr>
              <a:defRPr sz="1800" b="0">
                <a:solidFill>
                  <a:srgbClr val="59665D"/>
                </a:solidFill>
                <a:latin typeface="Arial"/>
                <a:ea typeface="Arial"/>
                <a:cs typeface="Arial"/>
              </a:defRPr>
            </a:lvl5pPr>
            <a:lvl6pPr>
              <a:defRPr sz="1800" b="0">
                <a:solidFill>
                  <a:srgbClr val="59665D"/>
                </a:solidFill>
                <a:latin typeface="Arial"/>
                <a:ea typeface="Arial"/>
                <a:cs typeface="Arial"/>
              </a:defRPr>
            </a:lvl6pPr>
            <a:lvl7pPr>
              <a:defRPr sz="1800" b="0">
                <a:solidFill>
                  <a:srgbClr val="59665D"/>
                </a:solidFill>
                <a:latin typeface="Arial"/>
                <a:ea typeface="Arial"/>
                <a:cs typeface="Arial"/>
              </a:defRPr>
            </a:lvl7pPr>
            <a:lvl8pPr>
              <a:defRPr sz="1800" b="0">
                <a:solidFill>
                  <a:srgbClr val="59665D"/>
                </a:solidFill>
                <a:latin typeface="Arial"/>
                <a:ea typeface="Arial"/>
                <a:cs typeface="Arial"/>
              </a:defRPr>
            </a:lvl8pPr>
            <a:lvl9pPr>
              <a:defRPr sz="1800" b="0">
                <a:solidFill>
                  <a:srgbClr val="59665D"/>
                </a:solidFill>
                <a:latin typeface="Arial"/>
                <a:ea typeface="Arial"/>
                <a:cs typeface="Arial"/>
              </a:defRPr>
            </a:lvl9pPr>
          </a:lstStyle>
          <a:p xmlns:a="http://schemas.openxmlformats.org/drawingml/2006/main">
            <a:pPr>
              <a:defRPr sz="1800" b="0">
                <a:solidFill>
                  <a:srgbClr val="59665D"/>
                </a:solidFill>
                <a:latin typeface="Arial"/>
                <a:ea typeface="Arial"/>
                <a:cs typeface="Arial"/>
              </a:defRPr>
            </a:pPr>
            <a:r>
              <a:rPr sz="1800" b="0">
                <a:solidFill>
                  <a:srgbClr val="59665D"/>
                </a:solidFill>
                <a:latin typeface="Arial"/>
                <a:ea typeface="Arial"/>
                <a:cs typeface="Arial"/>
              </a:rPr>
              <a:t>Uneven class counts were one reason to test sampling and class-weighted loss.</a:t>
            </a:r>
          </a:p>
        </p:txBody>
      </p:sp>
    </p:spTree>
    <p:extLst>
      <p:ext uri="{BB962C8B-B14F-4D97-AF65-F5344CB8AC3E}">
        <p14:creationId xmlns:p14="http://schemas.microsoft.com/office/powerpoint/2010/main" val="2103793566"/>
      </p:ext>
    </p:extLst>
  </p:cSld>
</p:sld>
</file>

<file path=ppt/slides/slide3.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D15E03E-8E2A-4052-BB11-2090028E0BD4}"/>
              </a:ext>
            </a:extLst>
          </p:cNvPr>
          <p:cNvSpPr>
            <a:spLocks xmlns:a="http://schemas.openxmlformats.org/drawingml/2006/main" noGrp="1"/>
          </p:cNvSpPr>
          <p:nvPr/>
        </p:nvSpPr>
        <p:spPr>
          <a:xfrm xmlns:a="http://schemas.openxmlformats.org/drawingml/2006/main">
            <a:off x="666750" y="4667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How I trained the models</a:t>
            </a:r>
          </a:p>
        </p:txBody>
      </p:sp>
      <p:sp>
        <p:nvSpPr>
          <p:cNvPr id="2" name="">
            <a:extLst xmlns:a="http://schemas.openxmlformats.org/drawingml/2006/main">
              <a:ext uri="{FF2B5EF4-FFF2-40B4-BE49-F238E27FC236}">
                <a16:creationId xmlns:a16="http://schemas.microsoft.com/office/drawing/2014/main" id="{96FF2473-06B2-4F68-B19C-3267E83C036A}"/>
              </a:ext>
            </a:extLst>
          </p:cNvPr>
          <p:cNvSpPr>
            <a:spLocks xmlns:a="http://schemas.openxmlformats.org/drawingml/2006/main" noGrp="1"/>
          </p:cNvSpPr>
          <p:nvPr/>
        </p:nvSpPr>
        <p:spPr>
          <a:xfrm xmlns:a="http://schemas.openxmlformats.org/drawingml/2006/main">
            <a:off x="666750" y="647700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85436746-C8AB-40A5-8F11-658318989309}"/>
              </a:ext>
            </a:extLst>
          </p:cNvPr>
          <p:cNvSpPr>
            <a:spLocks xmlns:a="http://schemas.openxmlformats.org/drawingml/2006/main" noGrp="1"/>
          </p:cNvSpPr>
          <p:nvPr/>
        </p:nvSpPr>
        <p:spPr>
          <a:xfrm xmlns:a="http://schemas.openxmlformats.org/drawingml/2006/main">
            <a:off x="723900" y="15906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24352C"/>
                </a:solidFill>
                <a:latin typeface="Arial"/>
                <a:ea typeface="Arial"/>
                <a:cs typeface="Arial"/>
              </a:defRPr>
            </a:defPPr>
            <a:lvl1pPr>
              <a:defRPr sz="2250" b="0">
                <a:solidFill>
                  <a:srgbClr val="24352C"/>
                </a:solidFill>
                <a:latin typeface="Arial"/>
                <a:ea typeface="Arial"/>
                <a:cs typeface="Arial"/>
              </a:defRPr>
            </a:lvl1pPr>
            <a:lvl2pPr>
              <a:defRPr sz="2250" b="0">
                <a:solidFill>
                  <a:srgbClr val="24352C"/>
                </a:solidFill>
                <a:latin typeface="Arial"/>
                <a:ea typeface="Arial"/>
                <a:cs typeface="Arial"/>
              </a:defRPr>
            </a:lvl2pPr>
            <a:lvl3pPr>
              <a:defRPr sz="2250" b="0">
                <a:solidFill>
                  <a:srgbClr val="24352C"/>
                </a:solidFill>
                <a:latin typeface="Arial"/>
                <a:ea typeface="Arial"/>
                <a:cs typeface="Arial"/>
              </a:defRPr>
            </a:lvl3pPr>
            <a:lvl4pPr>
              <a:defRPr sz="2250" b="0">
                <a:solidFill>
                  <a:srgbClr val="24352C"/>
                </a:solidFill>
                <a:latin typeface="Arial"/>
                <a:ea typeface="Arial"/>
                <a:cs typeface="Arial"/>
              </a:defRPr>
            </a:lvl4pPr>
            <a:lvl5pPr>
              <a:defRPr sz="2250" b="0">
                <a:solidFill>
                  <a:srgbClr val="24352C"/>
                </a:solidFill>
                <a:latin typeface="Arial"/>
                <a:ea typeface="Arial"/>
                <a:cs typeface="Arial"/>
              </a:defRPr>
            </a:lvl5pPr>
            <a:lvl6pPr>
              <a:defRPr sz="2250" b="0">
                <a:solidFill>
                  <a:srgbClr val="24352C"/>
                </a:solidFill>
                <a:latin typeface="Arial"/>
                <a:ea typeface="Arial"/>
                <a:cs typeface="Arial"/>
              </a:defRPr>
            </a:lvl6pPr>
            <a:lvl7pPr>
              <a:defRPr sz="2250" b="0">
                <a:solidFill>
                  <a:srgbClr val="24352C"/>
                </a:solidFill>
                <a:latin typeface="Arial"/>
                <a:ea typeface="Arial"/>
                <a:cs typeface="Arial"/>
              </a:defRPr>
            </a:lvl7pPr>
            <a:lvl8pPr>
              <a:defRPr sz="2250" b="0">
                <a:solidFill>
                  <a:srgbClr val="24352C"/>
                </a:solidFill>
                <a:latin typeface="Arial"/>
                <a:ea typeface="Arial"/>
                <a:cs typeface="Arial"/>
              </a:defRPr>
            </a:lvl8pPr>
            <a:lvl9pPr>
              <a:defRPr sz="2250" b="0">
                <a:solidFill>
                  <a:srgbClr val="24352C"/>
                </a:solidFill>
                <a:latin typeface="Arial"/>
                <a:ea typeface="Arial"/>
                <a:cs typeface="Arial"/>
              </a:defRPr>
            </a:lvl9pPr>
          </a:lstStyle>
          <a:p xmlns:a="http://schemas.openxmlformats.org/drawingml/2006/main">
            <a:pPr>
              <a:defRPr sz="2250" b="0">
                <a:solidFill>
                  <a:srgbClr val="24352C"/>
                </a:solidFill>
                <a:latin typeface="Arial"/>
                <a:ea typeface="Arial"/>
                <a:cs typeface="Arial"/>
              </a:defRPr>
            </a:pPr>
            <a:r>
              <a:rPr sz="2250" b="0">
                <a:solidFill>
                  <a:srgbClr val="24352C"/>
                </a:solidFill>
                <a:latin typeface="Arial"/>
                <a:ea typeface="Arial"/>
                <a:cs typeface="Arial"/>
              </a:rPr>
              <a:t>I fine-tuned pretrained EVA-02 models using the plant disease photos.</a:t>
            </a:r>
          </a:p>
        </p:txBody>
      </p:sp>
      <p:sp>
        <p:nvSpPr>
          <p:cNvPr id="4" name="">
            <a:extLst xmlns:a="http://schemas.openxmlformats.org/drawingml/2006/main">
              <a:ext uri="{FF2B5EF4-FFF2-40B4-BE49-F238E27FC236}">
                <a16:creationId xmlns:a16="http://schemas.microsoft.com/office/drawing/2014/main" id="{025671D3-156F-429E-B392-F7BE5BAB0E9F}"/>
              </a:ext>
            </a:extLst>
          </p:cNvPr>
          <p:cNvSpPr>
            <a:spLocks xmlns:a="http://schemas.openxmlformats.org/drawingml/2006/main" noGrp="1"/>
          </p:cNvSpPr>
          <p:nvPr/>
        </p:nvSpPr>
        <p:spPr>
          <a:xfrm xmlns:a="http://schemas.openxmlformats.org/drawingml/2006/main">
            <a:off x="723900" y="2781300"/>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173E2C"/>
                </a:solidFill>
                <a:latin typeface="Arial"/>
                <a:ea typeface="Arial"/>
                <a:cs typeface="Arial"/>
              </a:defRPr>
            </a:defPPr>
            <a:lvl1pPr>
              <a:defRPr sz="2100" b="1">
                <a:solidFill>
                  <a:srgbClr val="173E2C"/>
                </a:solidFill>
                <a:latin typeface="Arial"/>
                <a:ea typeface="Arial"/>
                <a:cs typeface="Arial"/>
              </a:defRPr>
            </a:lvl1pPr>
            <a:lvl2pPr>
              <a:defRPr sz="2100" b="1">
                <a:solidFill>
                  <a:srgbClr val="173E2C"/>
                </a:solidFill>
                <a:latin typeface="Arial"/>
                <a:ea typeface="Arial"/>
                <a:cs typeface="Arial"/>
              </a:defRPr>
            </a:lvl2pPr>
            <a:lvl3pPr>
              <a:defRPr sz="2100" b="1">
                <a:solidFill>
                  <a:srgbClr val="173E2C"/>
                </a:solidFill>
                <a:latin typeface="Arial"/>
                <a:ea typeface="Arial"/>
                <a:cs typeface="Arial"/>
              </a:defRPr>
            </a:lvl3pPr>
            <a:lvl4pPr>
              <a:defRPr sz="2100" b="1">
                <a:solidFill>
                  <a:srgbClr val="173E2C"/>
                </a:solidFill>
                <a:latin typeface="Arial"/>
                <a:ea typeface="Arial"/>
                <a:cs typeface="Arial"/>
              </a:defRPr>
            </a:lvl4pPr>
            <a:lvl5pPr>
              <a:defRPr sz="2100" b="1">
                <a:solidFill>
                  <a:srgbClr val="173E2C"/>
                </a:solidFill>
                <a:latin typeface="Arial"/>
                <a:ea typeface="Arial"/>
                <a:cs typeface="Arial"/>
              </a:defRPr>
            </a:lvl5pPr>
            <a:lvl6pPr>
              <a:defRPr sz="2100" b="1">
                <a:solidFill>
                  <a:srgbClr val="173E2C"/>
                </a:solidFill>
                <a:latin typeface="Arial"/>
                <a:ea typeface="Arial"/>
                <a:cs typeface="Arial"/>
              </a:defRPr>
            </a:lvl6pPr>
            <a:lvl7pPr>
              <a:defRPr sz="2100" b="1">
                <a:solidFill>
                  <a:srgbClr val="173E2C"/>
                </a:solidFill>
                <a:latin typeface="Arial"/>
                <a:ea typeface="Arial"/>
                <a:cs typeface="Arial"/>
              </a:defRPr>
            </a:lvl7pPr>
            <a:lvl8pPr>
              <a:defRPr sz="2100" b="1">
                <a:solidFill>
                  <a:srgbClr val="173E2C"/>
                </a:solidFill>
                <a:latin typeface="Arial"/>
                <a:ea typeface="Arial"/>
                <a:cs typeface="Arial"/>
              </a:defRPr>
            </a:lvl8pPr>
            <a:lvl9pPr>
              <a:defRPr sz="2100" b="1">
                <a:solidFill>
                  <a:srgbClr val="173E2C"/>
                </a:solidFill>
                <a:latin typeface="Arial"/>
                <a:ea typeface="Arial"/>
                <a:cs typeface="Arial"/>
              </a:defRPr>
            </a:lvl9pPr>
          </a:lstStyle>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Image preparation</a:t>
            </a:r>
          </a:p>
        </p:txBody>
      </p:sp>
      <p:sp>
        <p:nvSpPr>
          <p:cNvPr id="5" name="">
            <a:extLst xmlns:a="http://schemas.openxmlformats.org/drawingml/2006/main">
              <a:ext uri="{FF2B5EF4-FFF2-40B4-BE49-F238E27FC236}">
                <a16:creationId xmlns:a16="http://schemas.microsoft.com/office/drawing/2014/main" id="{27BD1FA2-E28A-4F72-88D3-1E6F9658E97E}"/>
              </a:ext>
            </a:extLst>
          </p:cNvPr>
          <p:cNvSpPr>
            <a:spLocks xmlns:a="http://schemas.openxmlformats.org/drawingml/2006/main" noGrp="1"/>
          </p:cNvSpPr>
          <p:nvPr/>
        </p:nvSpPr>
        <p:spPr>
          <a:xfrm xmlns:a="http://schemas.openxmlformats.org/drawingml/2006/main">
            <a:off x="3667125" y="2781300"/>
            <a:ext cx="7762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Images were resized and normalized. Training used crops, flips, small rotations, and color changes to add variation.</a:t>
            </a:r>
          </a:p>
        </p:txBody>
      </p:sp>
      <p:sp>
        <p:nvSpPr>
          <p:cNvPr id="6" name="">
            <a:extLst xmlns:a="http://schemas.openxmlformats.org/drawingml/2006/main">
              <a:ext uri="{FF2B5EF4-FFF2-40B4-BE49-F238E27FC236}">
                <a16:creationId xmlns:a16="http://schemas.microsoft.com/office/drawing/2014/main" id="{1B7F5A5B-9B52-48C2-94CF-ED86F0FEBE9B}"/>
              </a:ext>
            </a:extLst>
          </p:cNvPr>
          <p:cNvSpPr>
            <a:spLocks xmlns:a="http://schemas.openxmlformats.org/drawingml/2006/main" noGrp="1"/>
          </p:cNvSpPr>
          <p:nvPr/>
        </p:nvSpPr>
        <p:spPr>
          <a:xfrm xmlns:a="http://schemas.openxmlformats.org/drawingml/2006/main">
            <a:off x="723900" y="4067175"/>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173E2C"/>
                </a:solidFill>
                <a:latin typeface="Arial"/>
                <a:ea typeface="Arial"/>
                <a:cs typeface="Arial"/>
              </a:defRPr>
            </a:defPPr>
            <a:lvl1pPr>
              <a:defRPr sz="2100" b="1">
                <a:solidFill>
                  <a:srgbClr val="173E2C"/>
                </a:solidFill>
                <a:latin typeface="Arial"/>
                <a:ea typeface="Arial"/>
                <a:cs typeface="Arial"/>
              </a:defRPr>
            </a:lvl1pPr>
            <a:lvl2pPr>
              <a:defRPr sz="2100" b="1">
                <a:solidFill>
                  <a:srgbClr val="173E2C"/>
                </a:solidFill>
                <a:latin typeface="Arial"/>
                <a:ea typeface="Arial"/>
                <a:cs typeface="Arial"/>
              </a:defRPr>
            </a:lvl2pPr>
            <a:lvl3pPr>
              <a:defRPr sz="2100" b="1">
                <a:solidFill>
                  <a:srgbClr val="173E2C"/>
                </a:solidFill>
                <a:latin typeface="Arial"/>
                <a:ea typeface="Arial"/>
                <a:cs typeface="Arial"/>
              </a:defRPr>
            </a:lvl3pPr>
            <a:lvl4pPr>
              <a:defRPr sz="2100" b="1">
                <a:solidFill>
                  <a:srgbClr val="173E2C"/>
                </a:solidFill>
                <a:latin typeface="Arial"/>
                <a:ea typeface="Arial"/>
                <a:cs typeface="Arial"/>
              </a:defRPr>
            </a:lvl4pPr>
            <a:lvl5pPr>
              <a:defRPr sz="2100" b="1">
                <a:solidFill>
                  <a:srgbClr val="173E2C"/>
                </a:solidFill>
                <a:latin typeface="Arial"/>
                <a:ea typeface="Arial"/>
                <a:cs typeface="Arial"/>
              </a:defRPr>
            </a:lvl5pPr>
            <a:lvl6pPr>
              <a:defRPr sz="2100" b="1">
                <a:solidFill>
                  <a:srgbClr val="173E2C"/>
                </a:solidFill>
                <a:latin typeface="Arial"/>
                <a:ea typeface="Arial"/>
                <a:cs typeface="Arial"/>
              </a:defRPr>
            </a:lvl6pPr>
            <a:lvl7pPr>
              <a:defRPr sz="2100" b="1">
                <a:solidFill>
                  <a:srgbClr val="173E2C"/>
                </a:solidFill>
                <a:latin typeface="Arial"/>
                <a:ea typeface="Arial"/>
                <a:cs typeface="Arial"/>
              </a:defRPr>
            </a:lvl7pPr>
            <a:lvl8pPr>
              <a:defRPr sz="2100" b="1">
                <a:solidFill>
                  <a:srgbClr val="173E2C"/>
                </a:solidFill>
                <a:latin typeface="Arial"/>
                <a:ea typeface="Arial"/>
                <a:cs typeface="Arial"/>
              </a:defRPr>
            </a:lvl8pPr>
            <a:lvl9pPr>
              <a:defRPr sz="2100" b="1">
                <a:solidFill>
                  <a:srgbClr val="173E2C"/>
                </a:solidFill>
                <a:latin typeface="Arial"/>
                <a:ea typeface="Arial"/>
                <a:cs typeface="Arial"/>
              </a:defRPr>
            </a:lvl9pPr>
          </a:lstStyle>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Fine-tuning</a:t>
            </a:r>
          </a:p>
        </p:txBody>
      </p:sp>
      <p:sp>
        <p:nvSpPr>
          <p:cNvPr id="7" name="">
            <a:extLst xmlns:a="http://schemas.openxmlformats.org/drawingml/2006/main">
              <a:ext uri="{FF2B5EF4-FFF2-40B4-BE49-F238E27FC236}">
                <a16:creationId xmlns:a16="http://schemas.microsoft.com/office/drawing/2014/main" id="{67101F31-3FF7-4A44-AB08-EFCA8F688FA8}"/>
              </a:ext>
            </a:extLst>
          </p:cNvPr>
          <p:cNvSpPr>
            <a:spLocks xmlns:a="http://schemas.openxmlformats.org/drawingml/2006/main" noGrp="1"/>
          </p:cNvSpPr>
          <p:nvPr/>
        </p:nvSpPr>
        <p:spPr>
          <a:xfrm xmlns:a="http://schemas.openxmlformats.org/drawingml/2006/main">
            <a:off x="3667125" y="4067175"/>
            <a:ext cx="7762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Earlier layers used smaller learning rates to preserve useful pretrained features while the model adapted to the disease labels.</a:t>
            </a:r>
          </a:p>
        </p:txBody>
      </p:sp>
      <p:sp>
        <p:nvSpPr>
          <p:cNvPr id="8" name="">
            <a:extLst xmlns:a="http://schemas.openxmlformats.org/drawingml/2006/main">
              <a:ext uri="{FF2B5EF4-FFF2-40B4-BE49-F238E27FC236}">
                <a16:creationId xmlns:a16="http://schemas.microsoft.com/office/drawing/2014/main" id="{467DF454-506F-4F80-A0BE-E01470398912}"/>
              </a:ext>
            </a:extLst>
          </p:cNvPr>
          <p:cNvSpPr>
            <a:spLocks xmlns:a="http://schemas.openxmlformats.org/drawingml/2006/main" noGrp="1"/>
          </p:cNvSpPr>
          <p:nvPr/>
        </p:nvSpPr>
        <p:spPr>
          <a:xfrm xmlns:a="http://schemas.openxmlformats.org/drawingml/2006/main">
            <a:off x="723900" y="5391150"/>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173E2C"/>
                </a:solidFill>
                <a:latin typeface="Arial"/>
                <a:ea typeface="Arial"/>
                <a:cs typeface="Arial"/>
              </a:defRPr>
            </a:defPPr>
            <a:lvl1pPr>
              <a:defRPr sz="2100" b="1">
                <a:solidFill>
                  <a:srgbClr val="173E2C"/>
                </a:solidFill>
                <a:latin typeface="Arial"/>
                <a:ea typeface="Arial"/>
                <a:cs typeface="Arial"/>
              </a:defRPr>
            </a:lvl1pPr>
            <a:lvl2pPr>
              <a:defRPr sz="2100" b="1">
                <a:solidFill>
                  <a:srgbClr val="173E2C"/>
                </a:solidFill>
                <a:latin typeface="Arial"/>
                <a:ea typeface="Arial"/>
                <a:cs typeface="Arial"/>
              </a:defRPr>
            </a:lvl2pPr>
            <a:lvl3pPr>
              <a:defRPr sz="2100" b="1">
                <a:solidFill>
                  <a:srgbClr val="173E2C"/>
                </a:solidFill>
                <a:latin typeface="Arial"/>
                <a:ea typeface="Arial"/>
                <a:cs typeface="Arial"/>
              </a:defRPr>
            </a:lvl3pPr>
            <a:lvl4pPr>
              <a:defRPr sz="2100" b="1">
                <a:solidFill>
                  <a:srgbClr val="173E2C"/>
                </a:solidFill>
                <a:latin typeface="Arial"/>
                <a:ea typeface="Arial"/>
                <a:cs typeface="Arial"/>
              </a:defRPr>
            </a:lvl4pPr>
            <a:lvl5pPr>
              <a:defRPr sz="2100" b="1">
                <a:solidFill>
                  <a:srgbClr val="173E2C"/>
                </a:solidFill>
                <a:latin typeface="Arial"/>
                <a:ea typeface="Arial"/>
                <a:cs typeface="Arial"/>
              </a:defRPr>
            </a:lvl5pPr>
            <a:lvl6pPr>
              <a:defRPr sz="2100" b="1">
                <a:solidFill>
                  <a:srgbClr val="173E2C"/>
                </a:solidFill>
                <a:latin typeface="Arial"/>
                <a:ea typeface="Arial"/>
                <a:cs typeface="Arial"/>
              </a:defRPr>
            </a:lvl6pPr>
            <a:lvl7pPr>
              <a:defRPr sz="2100" b="1">
                <a:solidFill>
                  <a:srgbClr val="173E2C"/>
                </a:solidFill>
                <a:latin typeface="Arial"/>
                <a:ea typeface="Arial"/>
                <a:cs typeface="Arial"/>
              </a:defRPr>
            </a:lvl7pPr>
            <a:lvl8pPr>
              <a:defRPr sz="2100" b="1">
                <a:solidFill>
                  <a:srgbClr val="173E2C"/>
                </a:solidFill>
                <a:latin typeface="Arial"/>
                <a:ea typeface="Arial"/>
                <a:cs typeface="Arial"/>
              </a:defRPr>
            </a:lvl8pPr>
            <a:lvl9pPr>
              <a:defRPr sz="2100" b="1">
                <a:solidFill>
                  <a:srgbClr val="173E2C"/>
                </a:solidFill>
                <a:latin typeface="Arial"/>
                <a:ea typeface="Arial"/>
                <a:cs typeface="Arial"/>
              </a:defRPr>
            </a:lvl9pPr>
          </a:lstStyle>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Model selection</a:t>
            </a:r>
          </a:p>
        </p:txBody>
      </p:sp>
      <p:sp>
        <p:nvSpPr>
          <p:cNvPr id="9" name="">
            <a:extLst xmlns:a="http://schemas.openxmlformats.org/drawingml/2006/main">
              <a:ext uri="{FF2B5EF4-FFF2-40B4-BE49-F238E27FC236}">
                <a16:creationId xmlns:a16="http://schemas.microsoft.com/office/drawing/2014/main" id="{D10EDEDE-A3DB-416C-86F3-839D26F85E4C}"/>
              </a:ext>
            </a:extLst>
          </p:cNvPr>
          <p:cNvSpPr>
            <a:spLocks xmlns:a="http://schemas.openxmlformats.org/drawingml/2006/main" noGrp="1"/>
          </p:cNvSpPr>
          <p:nvPr/>
        </p:nvSpPr>
        <p:spPr>
          <a:xfrm xmlns:a="http://schemas.openxmlformats.org/drawingml/2006/main">
            <a:off x="3667125" y="5391150"/>
            <a:ext cx="7762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Validation after each epoch selected the checkpoint with the highest macro mAP, giving each class equal importance.</a:t>
            </a:r>
          </a:p>
        </p:txBody>
      </p:sp>
    </p:spTree>
    <p:extLst>
      <p:ext uri="{BB962C8B-B14F-4D97-AF65-F5344CB8AC3E}">
        <p14:creationId xmlns:p14="http://schemas.microsoft.com/office/powerpoint/2010/main" val="931994118"/>
      </p:ext>
    </p:extLst>
  </p:cSld>
</p:sld>
</file>

<file path=ppt/slides/slide4.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71A0D24-2CFD-4276-9A3B-50E571774E8D}"/>
              </a:ext>
            </a:extLst>
          </p:cNvPr>
          <p:cNvSpPr>
            <a:spLocks xmlns:a="http://schemas.openxmlformats.org/drawingml/2006/main" noGrp="1"/>
          </p:cNvSpPr>
          <p:nvPr/>
        </p:nvSpPr>
        <p:spPr>
          <a:xfrm xmlns:a="http://schemas.openxmlformats.org/drawingml/2006/main">
            <a:off x="666750" y="4667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The baseline and earlier experiments</a:t>
            </a:r>
          </a:p>
        </p:txBody>
      </p:sp>
      <p:sp>
        <p:nvSpPr>
          <p:cNvPr id="2" name="">
            <a:extLst xmlns:a="http://schemas.openxmlformats.org/drawingml/2006/main">
              <a:ext uri="{FF2B5EF4-FFF2-40B4-BE49-F238E27FC236}">
                <a16:creationId xmlns:a16="http://schemas.microsoft.com/office/drawing/2014/main" id="{3997EC4E-EA63-4835-AB33-89D9D8173733}"/>
              </a:ext>
            </a:extLst>
          </p:cNvPr>
          <p:cNvSpPr>
            <a:spLocks xmlns:a="http://schemas.openxmlformats.org/drawingml/2006/main" noGrp="1"/>
          </p:cNvSpPr>
          <p:nvPr/>
        </p:nvSpPr>
        <p:spPr>
          <a:xfrm xmlns:a="http://schemas.openxmlformats.org/drawingml/2006/main">
            <a:off x="666750" y="647700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4ACD8D28-7E0F-4863-99DB-A8CE5071C261}"/>
              </a:ext>
            </a:extLst>
          </p:cNvPr>
          <p:cNvSpPr>
            <a:spLocks xmlns:a="http://schemas.openxmlformats.org/drawingml/2006/main" noGrp="1"/>
          </p:cNvSpPr>
          <p:nvPr/>
        </p:nvSpPr>
        <p:spPr>
          <a:xfrm xmlns:a="http://schemas.openxmlformats.org/drawingml/2006/main">
            <a:off x="723900" y="1562100"/>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The first strong system averaged three EVA-02 Small models trained at 336 × 336.</a:t>
            </a:r>
          </a:p>
        </p:txBody>
      </p:sp>
      <p:graphicFrame>
        <p:nvGraphicFramePr>
          <p:cNvPr id="4" name="">
            <a:extLst xmlns:a="http://schemas.openxmlformats.org/drawingml/2006/main">
              <a:ext uri="{FF2B5EF4-FFF2-40B4-BE49-F238E27FC236}">
                <a16:creationId xmlns:a16="http://schemas.microsoft.com/office/drawing/2014/main" id="{4752CFD9-91CA-4CBD-BA02-5F9087D94E0D}"/>
              </a:ext>
            </a:extLst>
          </p:cNvPr>
          <p:cNvGraphicFramePr/>
          <p:nvPr/>
        </p:nvGraphicFramePr>
        <p:xfrm>
          <a:off xmlns:a="http://schemas.openxmlformats.org/drawingml/2006/main" x="666750" y="2524125"/>
          <a:ext xmlns:a="http://schemas.openxmlformats.org/drawingml/2006/main" cx="10858500" cy="2714625"/>
        </p:xfrm>
        <a:graphic xmlns:a="http://schemas.openxmlformats.org/drawingml/2006/main">
          <a:graphicData uri="http://schemas.openxmlformats.org/drawingml/2006/table">
            <a:tbl>
              <a:tblPr/>
              <a:tblGrid>
                <a:gridCol w="4476750"/>
                <a:gridCol w="3048000"/>
                <a:gridCol w="3333750"/>
              </a:tblGrid>
              <a:tr h="542925">
                <a:tc>
                  <a:txBody>
                    <a:bodyPr lIns="95250" tIns="95250" rIns="95250" bIns="95250"/>
                    <a:lstStyle/>
                    <a:p>
                      <a:r>
                        <a:rPr sz="1875" b="1">
                          <a:solidFill>
                            <a:srgbClr val="FFFFFF"/>
                          </a:solidFill>
                          <a:latin typeface="Arial"/>
                          <a:ea typeface="Arial"/>
                          <a:cs typeface="Arial"/>
                        </a:rPr>
                        <a:t>Model or experiment</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875" b="1">
                          <a:solidFill>
                            <a:srgbClr val="FFFFFF"/>
                          </a:solidFill>
                          <a:latin typeface="Arial"/>
                          <a:ea typeface="Arial"/>
                          <a:cs typeface="Arial"/>
                        </a:rPr>
                        <a:t>Validation macro mAP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875" b="1">
                          <a:solidFill>
                            <a:srgbClr val="FFFFFF"/>
                          </a:solidFill>
                          <a:latin typeface="Arial"/>
                          <a:ea typeface="Arial"/>
                          <a:cs typeface="Arial"/>
                        </a:rPr>
                        <a:t>Outcome</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542925">
                <a:tc>
                  <a:txBody>
                    <a:bodyPr lIns="95250" tIns="95250" rIns="95250" bIns="95250"/>
                    <a:lstStyle/>
                    <a:p>
                      <a:r>
                        <a:rPr sz="1875" b="0">
                          <a:solidFill>
                            <a:srgbClr val="24352C"/>
                          </a:solidFill>
                          <a:latin typeface="Arial"/>
                          <a:ea typeface="Arial"/>
                          <a:cs typeface="Arial"/>
                        </a:rPr>
                        <a:t>ViT baseline</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 90.64%</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Initial reference</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542925">
                <a:tc>
                  <a:txBody>
                    <a:bodyPr lIns="95250" tIns="95250" rIns="95250" bIns="95250"/>
                    <a:lstStyle/>
                    <a:p>
                      <a:r>
                        <a:rPr sz="1875" b="0">
                          <a:solidFill>
                            <a:srgbClr val="24352C"/>
                          </a:solidFill>
                          <a:latin typeface="Arial"/>
                          <a:ea typeface="Arial"/>
                          <a:cs typeface="Arial"/>
                        </a:rPr>
                        <a:t>Three EVA-02 Small models</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875" b="0">
                          <a:solidFill>
                            <a:srgbClr val="24352C"/>
                          </a:solidFill>
                          <a:latin typeface="Arial"/>
                          <a:ea typeface="Arial"/>
                          <a:cs typeface="Arial"/>
                        </a:rPr>
                        <a:t>94.72%</a:t>
                      </a:r>
                    </a:p>
                  </a:txBody>
                  <a:tcPr marL="91440" marR="91440" marT="45720" marB="45720" anchor="ctr">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875" b="0">
                          <a:solidFill>
                            <a:srgbClr val="24352C"/>
                          </a:solidFill>
                          <a:latin typeface="Arial"/>
                          <a:ea typeface="Arial"/>
                          <a:cs typeface="Arial"/>
                        </a:rPr>
                        <a:t>Starting ensemble</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r h="542925">
                <a:tc>
                  <a:txBody>
                    <a:bodyPr lIns="95250" tIns="95250" rIns="95250" bIns="95250"/>
                    <a:lstStyle/>
                    <a:p>
                      <a:r>
                        <a:rPr sz="1875" b="0">
                          <a:solidFill>
                            <a:srgbClr val="24352C"/>
                          </a:solidFill>
                          <a:latin typeface="Arial"/>
                          <a:ea typeface="Arial"/>
                          <a:cs typeface="Arial"/>
                        </a:rPr>
                        <a:t>Add a fourth similar Small model</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 94.49%</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No improvement</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542925">
                <a:tc>
                  <a:txBody>
                    <a:bodyPr lIns="95250" tIns="95250" rIns="95250" bIns="95250"/>
                    <a:lstStyle/>
                    <a:p>
                      <a:r>
                        <a:rPr sz="1875" b="0">
                          <a:solidFill>
                            <a:srgbClr val="24352C"/>
                          </a:solidFill>
                          <a:latin typeface="Arial"/>
                          <a:ea typeface="Arial"/>
                          <a:cs typeface="Arial"/>
                        </a:rPr>
                        <a:t>ConvNeXt V2 Tiny</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875" b="0">
                          <a:solidFill>
                            <a:srgbClr val="24352C"/>
                          </a:solidFill>
                          <a:latin typeface="Arial"/>
                          <a:ea typeface="Arial"/>
                          <a:cs typeface="Arial"/>
                        </a:rPr>
                        <a:t>≈ 90.54% alone</a:t>
                      </a:r>
                    </a:p>
                  </a:txBody>
                  <a:tcPr marL="91440" marR="91440" marT="45720" marB="45720" anchor="ctr">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875" b="0">
                          <a:solidFill>
                            <a:srgbClr val="24352C"/>
                          </a:solidFill>
                          <a:latin typeface="Arial"/>
                          <a:ea typeface="Arial"/>
                          <a:cs typeface="Arial"/>
                        </a:rPr>
                        <a:t>Did not improve the EVA ensemble</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bl>
          </a:graphicData>
        </a:graphic>
      </p:graphicFrame>
      <p:sp>
        <p:nvSpPr>
          <p:cNvPr id="5" name="">
            <a:extLst xmlns:a="http://schemas.openxmlformats.org/drawingml/2006/main">
              <a:ext uri="{FF2B5EF4-FFF2-40B4-BE49-F238E27FC236}">
                <a16:creationId xmlns:a16="http://schemas.microsoft.com/office/drawing/2014/main" id="{3D059F2B-2B13-4711-B62F-E1F9E098D5A3}"/>
              </a:ext>
            </a:extLst>
          </p:cNvPr>
          <p:cNvSpPr>
            <a:spLocks xmlns:a="http://schemas.openxmlformats.org/drawingml/2006/main" noGrp="1"/>
          </p:cNvSpPr>
          <p:nvPr/>
        </p:nvSpPr>
        <p:spPr>
          <a:xfrm xmlns:a="http://schemas.openxmlformats.org/drawingml/2006/main">
            <a:off x="723900" y="551497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Longer training also failed to beat the saved reference. I then tested changes to the training recipe and a larger model.</a:t>
            </a:r>
          </a:p>
        </p:txBody>
      </p:sp>
    </p:spTree>
    <p:extLst>
      <p:ext uri="{BB962C8B-B14F-4D97-AF65-F5344CB8AC3E}">
        <p14:creationId xmlns:p14="http://schemas.microsoft.com/office/powerpoint/2010/main" val="1020177131"/>
      </p:ext>
    </p:extLst>
  </p:cSld>
</p:sld>
</file>

<file path=ppt/slides/slide5.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D92CFD1-2C0F-4586-8DE6-A5F71D0E2373}"/>
              </a:ext>
            </a:extLst>
          </p:cNvPr>
          <p:cNvSpPr>
            <a:spLocks xmlns:a="http://schemas.openxmlformats.org/drawingml/2006/main" noGrp="1"/>
          </p:cNvSpPr>
          <p:nvPr/>
        </p:nvSpPr>
        <p:spPr>
          <a:xfrm xmlns:a="http://schemas.openxmlformats.org/drawingml/2006/main">
            <a:off x="666750" y="4667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Experiments with sampling and Base models</a:t>
            </a:r>
          </a:p>
        </p:txBody>
      </p:sp>
      <p:sp>
        <p:nvSpPr>
          <p:cNvPr id="2" name="">
            <a:extLst xmlns:a="http://schemas.openxmlformats.org/drawingml/2006/main">
              <a:ext uri="{FF2B5EF4-FFF2-40B4-BE49-F238E27FC236}">
                <a16:creationId xmlns:a16="http://schemas.microsoft.com/office/drawing/2014/main" id="{B32E63F1-694D-42E7-B94F-7B7EA3F29C4D}"/>
              </a:ext>
            </a:extLst>
          </p:cNvPr>
          <p:cNvSpPr>
            <a:spLocks xmlns:a="http://schemas.openxmlformats.org/drawingml/2006/main" noGrp="1"/>
          </p:cNvSpPr>
          <p:nvPr/>
        </p:nvSpPr>
        <p:spPr>
          <a:xfrm xmlns:a="http://schemas.openxmlformats.org/drawingml/2006/main">
            <a:off x="666750" y="647700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05</a:t>
            </a:r>
          </a:p>
        </p:txBody>
      </p:sp>
      <p:graphicFrame>
        <p:nvGraphicFramePr>
          <p:cNvPr id="3" name="">
            <a:extLst xmlns:a="http://schemas.openxmlformats.org/drawingml/2006/main">
              <a:ext uri="{FF2B5EF4-FFF2-40B4-BE49-F238E27FC236}">
                <a16:creationId xmlns:a16="http://schemas.microsoft.com/office/drawing/2014/main" id="{7420752D-6213-4946-A900-308D0D2B7E17}"/>
              </a:ext>
            </a:extLst>
          </p:cNvPr>
          <p:cNvGraphicFramePr/>
          <p:nvPr/>
        </p:nvGraphicFramePr>
        <p:xfrm>
          <a:off xmlns:a="http://schemas.openxmlformats.org/drawingml/2006/main" x="666750" y="1666875"/>
          <a:ext xmlns:a="http://schemas.openxmlformats.org/drawingml/2006/main" cx="10858500" cy="3057525"/>
        </p:xfrm>
        <a:graphic xmlns:a="http://schemas.openxmlformats.org/drawingml/2006/main">
          <a:graphicData uri="http://schemas.openxmlformats.org/drawingml/2006/table">
            <a:tbl>
              <a:tblPr/>
              <a:tblGrid>
                <a:gridCol w="3476625"/>
                <a:gridCol w="3619500"/>
                <a:gridCol w="3762375"/>
              </a:tblGrid>
              <a:tr h="764381">
                <a:tc>
                  <a:txBody>
                    <a:bodyPr lIns="95250" tIns="95250" rIns="95250" bIns="95250"/>
                    <a:lstStyle/>
                    <a:p>
                      <a:r>
                        <a:rPr sz="1875" b="1">
                          <a:solidFill>
                            <a:srgbClr val="FFFFFF"/>
                          </a:solidFill>
                          <a:latin typeface="Arial"/>
                          <a:ea typeface="Arial"/>
                          <a:cs typeface="Arial"/>
                        </a:rPr>
                        <a:t>Experiment</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875" b="1">
                          <a:solidFill>
                            <a:srgbClr val="FFFFFF"/>
                          </a:solidFill>
                          <a:latin typeface="Arial"/>
                          <a:ea typeface="Arial"/>
                          <a:cs typeface="Arial"/>
                        </a:rPr>
                        <a:t>Reason</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875" b="1">
                          <a:solidFill>
                            <a:srgbClr val="FFFFFF"/>
                          </a:solidFill>
                          <a:latin typeface="Arial"/>
                          <a:ea typeface="Arial"/>
                          <a:cs typeface="Arial"/>
                        </a:rPr>
                        <a:t>Result</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764381">
                <a:tc>
                  <a:txBody>
                    <a:bodyPr lIns="95250" tIns="95250" rIns="95250" bIns="95250"/>
                    <a:lstStyle/>
                    <a:p>
                      <a:r>
                        <a:rPr sz="1875" b="0">
                          <a:solidFill>
                            <a:srgbClr val="24352C"/>
                          </a:solidFill>
                          <a:latin typeface="Arial"/>
                          <a:ea typeface="Arial"/>
                          <a:cs typeface="Arial"/>
                        </a:rPr>
                        <a:t>Small: shuffled sampling and weighted loss</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Give rare-class errors more influence</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Original ensemble + this model: 94.85% mAP</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764381">
                <a:tc>
                  <a:txBody>
                    <a:bodyPr lIns="95250" tIns="95250" rIns="95250" bIns="95250"/>
                    <a:lstStyle/>
                    <a:p>
                      <a:r>
                        <a:rPr sz="1875" b="0">
                          <a:solidFill>
                            <a:srgbClr val="24352C"/>
                          </a:solidFill>
                          <a:latin typeface="Arial"/>
                          <a:ea typeface="Arial"/>
                          <a:cs typeface="Arial"/>
                        </a:rPr>
                        <a:t>EVA-02 Base at 448 × 448</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875" b="0">
                          <a:solidFill>
                            <a:srgbClr val="24352C"/>
                          </a:solidFill>
                          <a:latin typeface="Arial"/>
                          <a:ea typeface="Arial"/>
                          <a:cs typeface="Arial"/>
                        </a:rPr>
                        <a:t>Test a larger model with more image detail</a:t>
                      </a:r>
                    </a:p>
                  </a:txBody>
                  <a:tcPr marL="91440" marR="91440" marT="45720" marB="45720" anchor="ctr">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875" b="0">
                          <a:solidFill>
                            <a:srgbClr val="24352C"/>
                          </a:solidFill>
                          <a:latin typeface="Arial"/>
                          <a:ea typeface="Arial"/>
                          <a:cs typeface="Arial"/>
                        </a:rPr>
                        <a:t>Five-model combination: 95.07% mAP</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r h="764381">
                <a:tc>
                  <a:txBody>
                    <a:bodyPr lIns="95250" tIns="95250" rIns="95250" bIns="95250"/>
                    <a:lstStyle/>
                    <a:p>
                      <a:r>
                        <a:rPr sz="1875" b="0">
                          <a:solidFill>
                            <a:srgbClr val="24352C"/>
                          </a:solidFill>
                          <a:latin typeface="Arial"/>
                          <a:ea typeface="Arial"/>
                          <a:cs typeface="Arial"/>
                        </a:rPr>
                        <a:t>Base with lower learning rates</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Make smaller updates during fine-tuning</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Better alone, weaker in the planned ensemble</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88EEEBDC-D27F-4DB8-B699-7E7BA4E48DEA}"/>
              </a:ext>
            </a:extLst>
          </p:cNvPr>
          <p:cNvSpPr>
            <a:spLocks xmlns:a="http://schemas.openxmlformats.org/drawingml/2006/main" noGrp="1"/>
          </p:cNvSpPr>
          <p:nvPr/>
        </p:nvSpPr>
        <p:spPr>
          <a:xfrm xmlns:a="http://schemas.openxmlformats.org/drawingml/2006/main">
            <a:off x="723900" y="5000625"/>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The lower-rate Base improved from 94.22% to 94.66% mAP alone. Its ensemble result fell from 95.12% to 94.92%, so I kept the earlier combination.</a:t>
            </a:r>
          </a:p>
        </p:txBody>
      </p:sp>
      <p:sp>
        <p:nvSpPr>
          <p:cNvPr id="5" name="">
            <a:extLst xmlns:a="http://schemas.openxmlformats.org/drawingml/2006/main">
              <a:ext uri="{FF2B5EF4-FFF2-40B4-BE49-F238E27FC236}">
                <a16:creationId xmlns:a16="http://schemas.microsoft.com/office/drawing/2014/main" id="{DBF59284-2F2C-4B03-9A5F-91E8E1BD900E}"/>
              </a:ext>
            </a:extLst>
          </p:cNvPr>
          <p:cNvSpPr>
            <a:spLocks xmlns:a="http://schemas.openxmlformats.org/drawingml/2006/main" noGrp="1"/>
          </p:cNvSpPr>
          <p:nvPr/>
        </p:nvSpPr>
        <p:spPr>
          <a:xfrm xmlns:a="http://schemas.openxmlformats.org/drawingml/2006/main">
            <a:off x="723900" y="609600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59665D"/>
                </a:solidFill>
                <a:latin typeface="Arial"/>
                <a:ea typeface="Arial"/>
                <a:cs typeface="Arial"/>
              </a:defRPr>
            </a:defPPr>
            <a:lvl1pPr>
              <a:defRPr sz="1500" b="0">
                <a:solidFill>
                  <a:srgbClr val="59665D"/>
                </a:solidFill>
                <a:latin typeface="Arial"/>
                <a:ea typeface="Arial"/>
                <a:cs typeface="Arial"/>
              </a:defRPr>
            </a:lvl1pPr>
            <a:lvl2pPr>
              <a:defRPr sz="1500" b="0">
                <a:solidFill>
                  <a:srgbClr val="59665D"/>
                </a:solidFill>
                <a:latin typeface="Arial"/>
                <a:ea typeface="Arial"/>
                <a:cs typeface="Arial"/>
              </a:defRPr>
            </a:lvl2pPr>
            <a:lvl3pPr>
              <a:defRPr sz="1500" b="0">
                <a:solidFill>
                  <a:srgbClr val="59665D"/>
                </a:solidFill>
                <a:latin typeface="Arial"/>
                <a:ea typeface="Arial"/>
                <a:cs typeface="Arial"/>
              </a:defRPr>
            </a:lvl3pPr>
            <a:lvl4pPr>
              <a:defRPr sz="1500" b="0">
                <a:solidFill>
                  <a:srgbClr val="59665D"/>
                </a:solidFill>
                <a:latin typeface="Arial"/>
                <a:ea typeface="Arial"/>
                <a:cs typeface="Arial"/>
              </a:defRPr>
            </a:lvl4pPr>
            <a:lvl5pPr>
              <a:defRPr sz="1500" b="0">
                <a:solidFill>
                  <a:srgbClr val="59665D"/>
                </a:solidFill>
                <a:latin typeface="Arial"/>
                <a:ea typeface="Arial"/>
                <a:cs typeface="Arial"/>
              </a:defRPr>
            </a:lvl5pPr>
            <a:lvl6pPr>
              <a:defRPr sz="1500" b="0">
                <a:solidFill>
                  <a:srgbClr val="59665D"/>
                </a:solidFill>
                <a:latin typeface="Arial"/>
                <a:ea typeface="Arial"/>
                <a:cs typeface="Arial"/>
              </a:defRPr>
            </a:lvl6pPr>
            <a:lvl7pPr>
              <a:defRPr sz="1500" b="0">
                <a:solidFill>
                  <a:srgbClr val="59665D"/>
                </a:solidFill>
                <a:latin typeface="Arial"/>
                <a:ea typeface="Arial"/>
                <a:cs typeface="Arial"/>
              </a:defRPr>
            </a:lvl7pPr>
            <a:lvl8pPr>
              <a:defRPr sz="1500" b="0">
                <a:solidFill>
                  <a:srgbClr val="59665D"/>
                </a:solidFill>
                <a:latin typeface="Arial"/>
                <a:ea typeface="Arial"/>
                <a:cs typeface="Arial"/>
              </a:defRPr>
            </a:lvl8pPr>
            <a:lvl9pPr>
              <a:defRPr sz="1500" b="0">
                <a:solidFill>
                  <a:srgbClr val="59665D"/>
                </a:solidFill>
                <a:latin typeface="Arial"/>
                <a:ea typeface="Arial"/>
                <a:cs typeface="Arial"/>
              </a:defRPr>
            </a:lvl9pPr>
          </a:lstStyle>
          <a:p xmlns:a="http://schemas.openxmlformats.org/drawingml/2006/main">
            <a:pPr>
              <a:defRPr sz="1500" b="0">
                <a:solidFill>
                  <a:srgbClr val="59665D"/>
                </a:solidFill>
                <a:latin typeface="Arial"/>
                <a:ea typeface="Arial"/>
                <a:cs typeface="Arial"/>
              </a:defRPr>
            </a:pPr>
            <a:r>
              <a:rPr sz="1500" b="0">
                <a:solidFill>
                  <a:srgbClr val="59665D"/>
                </a:solidFill>
                <a:latin typeface="Arial"/>
                <a:ea typeface="Arial"/>
                <a:cs typeface="Arial"/>
              </a:rPr>
              <a:t>Earlier 390-image validation. EMA parameter averaging and a small voting-weight comparison also gave no gain.</a:t>
            </a:r>
          </a:p>
        </p:txBody>
      </p:sp>
    </p:spTree>
    <p:extLst>
      <p:ext uri="{BB962C8B-B14F-4D97-AF65-F5344CB8AC3E}">
        <p14:creationId xmlns:p14="http://schemas.microsoft.com/office/powerpoint/2010/main" val="679626055"/>
      </p:ext>
    </p:extLst>
  </p:cSld>
</p:sld>
</file>

<file path=ppt/slides/slide6.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8B21500-E080-409B-AAD7-87F4B3F71770}"/>
              </a:ext>
            </a:extLst>
          </p:cNvPr>
          <p:cNvSpPr>
            <a:spLocks xmlns:a="http://schemas.openxmlformats.org/drawingml/2006/main" noGrp="1"/>
          </p:cNvSpPr>
          <p:nvPr/>
        </p:nvSpPr>
        <p:spPr>
          <a:xfrm xmlns:a="http://schemas.openxmlformats.org/drawingml/2006/main">
            <a:off x="666750" y="4667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Testing MixUp and CutMix</a:t>
            </a:r>
          </a:p>
        </p:txBody>
      </p:sp>
      <p:sp>
        <p:nvSpPr>
          <p:cNvPr id="2" name="">
            <a:extLst xmlns:a="http://schemas.openxmlformats.org/drawingml/2006/main">
              <a:ext uri="{FF2B5EF4-FFF2-40B4-BE49-F238E27FC236}">
                <a16:creationId xmlns:a16="http://schemas.microsoft.com/office/drawing/2014/main" id="{599A4762-69A1-42EC-B0AD-1A189355E806}"/>
              </a:ext>
            </a:extLst>
          </p:cNvPr>
          <p:cNvSpPr>
            <a:spLocks xmlns:a="http://schemas.openxmlformats.org/drawingml/2006/main" noGrp="1"/>
          </p:cNvSpPr>
          <p:nvPr/>
        </p:nvSpPr>
        <p:spPr>
          <a:xfrm xmlns:a="http://schemas.openxmlformats.org/drawingml/2006/main">
            <a:off x="666750" y="647700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847E0EF9-7BA7-4207-9BD7-405C19A2BB61}"/>
              </a:ext>
            </a:extLst>
          </p:cNvPr>
          <p:cNvSpPr>
            <a:spLocks xmlns:a="http://schemas.openxmlformats.org/drawingml/2006/main" noGrp="1"/>
          </p:cNvSpPr>
          <p:nvPr/>
        </p:nvSpPr>
        <p:spPr>
          <a:xfrm xmlns:a="http://schemas.openxmlformats.org/drawingml/2006/main">
            <a:off x="723900" y="155257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I compared two new Base models with the same starting weights and training settings. The second added MixUp and CutMix to test stronger regularization.</a:t>
            </a:r>
          </a:p>
        </p:txBody>
      </p:sp>
      <p:sp>
        <p:nvSpPr>
          <p:cNvPr id="4" name="">
            <a:extLst xmlns:a="http://schemas.openxmlformats.org/drawingml/2006/main">
              <a:ext uri="{FF2B5EF4-FFF2-40B4-BE49-F238E27FC236}">
                <a16:creationId xmlns:a16="http://schemas.microsoft.com/office/drawing/2014/main" id="{8DD0F07D-1ACF-4037-920F-3B9DE3144139}"/>
              </a:ext>
            </a:extLst>
          </p:cNvPr>
          <p:cNvSpPr>
            <a:spLocks xmlns:a="http://schemas.openxmlformats.org/drawingml/2006/main" noGrp="1"/>
          </p:cNvSpPr>
          <p:nvPr/>
        </p:nvSpPr>
        <p:spPr>
          <a:xfrm xmlns:a="http://schemas.openxmlformats.org/drawingml/2006/main">
            <a:off x="723900" y="2724150"/>
            <a:ext cx="2000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173E2C"/>
                </a:solidFill>
                <a:latin typeface="Arial"/>
                <a:ea typeface="Arial"/>
                <a:cs typeface="Arial"/>
              </a:defRPr>
            </a:defPPr>
            <a:lvl1pPr>
              <a:defRPr sz="2100" b="1">
                <a:solidFill>
                  <a:srgbClr val="173E2C"/>
                </a:solidFill>
                <a:latin typeface="Arial"/>
                <a:ea typeface="Arial"/>
                <a:cs typeface="Arial"/>
              </a:defRPr>
            </a:lvl1pPr>
            <a:lvl2pPr>
              <a:defRPr sz="2100" b="1">
                <a:solidFill>
                  <a:srgbClr val="173E2C"/>
                </a:solidFill>
                <a:latin typeface="Arial"/>
                <a:ea typeface="Arial"/>
                <a:cs typeface="Arial"/>
              </a:defRPr>
            </a:lvl2pPr>
            <a:lvl3pPr>
              <a:defRPr sz="2100" b="1">
                <a:solidFill>
                  <a:srgbClr val="173E2C"/>
                </a:solidFill>
                <a:latin typeface="Arial"/>
                <a:ea typeface="Arial"/>
                <a:cs typeface="Arial"/>
              </a:defRPr>
            </a:lvl3pPr>
            <a:lvl4pPr>
              <a:defRPr sz="2100" b="1">
                <a:solidFill>
                  <a:srgbClr val="173E2C"/>
                </a:solidFill>
                <a:latin typeface="Arial"/>
                <a:ea typeface="Arial"/>
                <a:cs typeface="Arial"/>
              </a:defRPr>
            </a:lvl4pPr>
            <a:lvl5pPr>
              <a:defRPr sz="2100" b="1">
                <a:solidFill>
                  <a:srgbClr val="173E2C"/>
                </a:solidFill>
                <a:latin typeface="Arial"/>
                <a:ea typeface="Arial"/>
                <a:cs typeface="Arial"/>
              </a:defRPr>
            </a:lvl5pPr>
            <a:lvl6pPr>
              <a:defRPr sz="2100" b="1">
                <a:solidFill>
                  <a:srgbClr val="173E2C"/>
                </a:solidFill>
                <a:latin typeface="Arial"/>
                <a:ea typeface="Arial"/>
                <a:cs typeface="Arial"/>
              </a:defRPr>
            </a:lvl6pPr>
            <a:lvl7pPr>
              <a:defRPr sz="2100" b="1">
                <a:solidFill>
                  <a:srgbClr val="173E2C"/>
                </a:solidFill>
                <a:latin typeface="Arial"/>
                <a:ea typeface="Arial"/>
                <a:cs typeface="Arial"/>
              </a:defRPr>
            </a:lvl7pPr>
            <a:lvl8pPr>
              <a:defRPr sz="2100" b="1">
                <a:solidFill>
                  <a:srgbClr val="173E2C"/>
                </a:solidFill>
                <a:latin typeface="Arial"/>
                <a:ea typeface="Arial"/>
                <a:cs typeface="Arial"/>
              </a:defRPr>
            </a:lvl8pPr>
            <a:lvl9pPr>
              <a:defRPr sz="2100" b="1">
                <a:solidFill>
                  <a:srgbClr val="173E2C"/>
                </a:solidFill>
                <a:latin typeface="Arial"/>
                <a:ea typeface="Arial"/>
                <a:cs typeface="Arial"/>
              </a:defRPr>
            </a:lvl9pPr>
          </a:lstStyle>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MixUp</a:t>
            </a:r>
          </a:p>
        </p:txBody>
      </p:sp>
      <p:sp>
        <p:nvSpPr>
          <p:cNvPr id="5" name="">
            <a:extLst xmlns:a="http://schemas.openxmlformats.org/drawingml/2006/main">
              <a:ext uri="{FF2B5EF4-FFF2-40B4-BE49-F238E27FC236}">
                <a16:creationId xmlns:a16="http://schemas.microsoft.com/office/drawing/2014/main" id="{2091C551-AE00-4D08-B5DA-BF425FC0336E}"/>
              </a:ext>
            </a:extLst>
          </p:cNvPr>
          <p:cNvSpPr>
            <a:spLocks xmlns:a="http://schemas.openxmlformats.org/drawingml/2006/main" noGrp="1"/>
          </p:cNvSpPr>
          <p:nvPr/>
        </p:nvSpPr>
        <p:spPr>
          <a:xfrm xmlns:a="http://schemas.openxmlformats.org/drawingml/2006/main">
            <a:off x="2971800" y="2724150"/>
            <a:ext cx="838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Blends two training images and their target labels in matching proportions.</a:t>
            </a:r>
          </a:p>
        </p:txBody>
      </p:sp>
      <p:sp>
        <p:nvSpPr>
          <p:cNvPr id="6" name="">
            <a:extLst xmlns:a="http://schemas.openxmlformats.org/drawingml/2006/main">
              <a:ext uri="{FF2B5EF4-FFF2-40B4-BE49-F238E27FC236}">
                <a16:creationId xmlns:a16="http://schemas.microsoft.com/office/drawing/2014/main" id="{379AB30B-BD1C-46F0-9245-7769AE7430F4}"/>
              </a:ext>
            </a:extLst>
          </p:cNvPr>
          <p:cNvSpPr>
            <a:spLocks xmlns:a="http://schemas.openxmlformats.org/drawingml/2006/main" noGrp="1"/>
          </p:cNvSpPr>
          <p:nvPr/>
        </p:nvSpPr>
        <p:spPr>
          <a:xfrm xmlns:a="http://schemas.openxmlformats.org/drawingml/2006/main">
            <a:off x="723900" y="3619500"/>
            <a:ext cx="2000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1">
                <a:solidFill>
                  <a:srgbClr val="173E2C"/>
                </a:solidFill>
                <a:latin typeface="Arial"/>
                <a:ea typeface="Arial"/>
                <a:cs typeface="Arial"/>
              </a:defRPr>
            </a:defPPr>
            <a:lvl1pPr>
              <a:defRPr sz="2100" b="1">
                <a:solidFill>
                  <a:srgbClr val="173E2C"/>
                </a:solidFill>
                <a:latin typeface="Arial"/>
                <a:ea typeface="Arial"/>
                <a:cs typeface="Arial"/>
              </a:defRPr>
            </a:lvl1pPr>
            <a:lvl2pPr>
              <a:defRPr sz="2100" b="1">
                <a:solidFill>
                  <a:srgbClr val="173E2C"/>
                </a:solidFill>
                <a:latin typeface="Arial"/>
                <a:ea typeface="Arial"/>
                <a:cs typeface="Arial"/>
              </a:defRPr>
            </a:lvl2pPr>
            <a:lvl3pPr>
              <a:defRPr sz="2100" b="1">
                <a:solidFill>
                  <a:srgbClr val="173E2C"/>
                </a:solidFill>
                <a:latin typeface="Arial"/>
                <a:ea typeface="Arial"/>
                <a:cs typeface="Arial"/>
              </a:defRPr>
            </a:lvl3pPr>
            <a:lvl4pPr>
              <a:defRPr sz="2100" b="1">
                <a:solidFill>
                  <a:srgbClr val="173E2C"/>
                </a:solidFill>
                <a:latin typeface="Arial"/>
                <a:ea typeface="Arial"/>
                <a:cs typeface="Arial"/>
              </a:defRPr>
            </a:lvl4pPr>
            <a:lvl5pPr>
              <a:defRPr sz="2100" b="1">
                <a:solidFill>
                  <a:srgbClr val="173E2C"/>
                </a:solidFill>
                <a:latin typeface="Arial"/>
                <a:ea typeface="Arial"/>
                <a:cs typeface="Arial"/>
              </a:defRPr>
            </a:lvl5pPr>
            <a:lvl6pPr>
              <a:defRPr sz="2100" b="1">
                <a:solidFill>
                  <a:srgbClr val="173E2C"/>
                </a:solidFill>
                <a:latin typeface="Arial"/>
                <a:ea typeface="Arial"/>
                <a:cs typeface="Arial"/>
              </a:defRPr>
            </a:lvl6pPr>
            <a:lvl7pPr>
              <a:defRPr sz="2100" b="1">
                <a:solidFill>
                  <a:srgbClr val="173E2C"/>
                </a:solidFill>
                <a:latin typeface="Arial"/>
                <a:ea typeface="Arial"/>
                <a:cs typeface="Arial"/>
              </a:defRPr>
            </a:lvl7pPr>
            <a:lvl8pPr>
              <a:defRPr sz="2100" b="1">
                <a:solidFill>
                  <a:srgbClr val="173E2C"/>
                </a:solidFill>
                <a:latin typeface="Arial"/>
                <a:ea typeface="Arial"/>
                <a:cs typeface="Arial"/>
              </a:defRPr>
            </a:lvl8pPr>
            <a:lvl9pPr>
              <a:defRPr sz="2100" b="1">
                <a:solidFill>
                  <a:srgbClr val="173E2C"/>
                </a:solidFill>
                <a:latin typeface="Arial"/>
                <a:ea typeface="Arial"/>
                <a:cs typeface="Arial"/>
              </a:defRPr>
            </a:lvl9pPr>
          </a:lstStyle>
          <a:p xmlns:a="http://schemas.openxmlformats.org/drawingml/2006/main">
            <a:pPr>
              <a:defRPr sz="2100" b="1">
                <a:solidFill>
                  <a:srgbClr val="173E2C"/>
                </a:solidFill>
                <a:latin typeface="Arial"/>
                <a:ea typeface="Arial"/>
                <a:cs typeface="Arial"/>
              </a:defRPr>
            </a:pPr>
            <a:r>
              <a:rPr sz="2100" b="1">
                <a:solidFill>
                  <a:srgbClr val="173E2C"/>
                </a:solidFill>
                <a:latin typeface="Arial"/>
                <a:ea typeface="Arial"/>
                <a:cs typeface="Arial"/>
              </a:rPr>
              <a:t>CutMix</a:t>
            </a:r>
          </a:p>
        </p:txBody>
      </p:sp>
      <p:sp>
        <p:nvSpPr>
          <p:cNvPr id="7" name="">
            <a:extLst xmlns:a="http://schemas.openxmlformats.org/drawingml/2006/main">
              <a:ext uri="{FF2B5EF4-FFF2-40B4-BE49-F238E27FC236}">
                <a16:creationId xmlns:a16="http://schemas.microsoft.com/office/drawing/2014/main" id="{26AA6DE8-0E33-4550-88B4-72DAF05777E0}"/>
              </a:ext>
            </a:extLst>
          </p:cNvPr>
          <p:cNvSpPr>
            <a:spLocks xmlns:a="http://schemas.openxmlformats.org/drawingml/2006/main" noGrp="1"/>
          </p:cNvSpPr>
          <p:nvPr/>
        </p:nvSpPr>
        <p:spPr>
          <a:xfrm xmlns:a="http://schemas.openxmlformats.org/drawingml/2006/main">
            <a:off x="2971800" y="3619500"/>
            <a:ext cx="838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Replaces a patch with part of another image and mixes the targets according to its area.</a:t>
            </a:r>
          </a:p>
        </p:txBody>
      </p:sp>
      <p:graphicFrame>
        <p:nvGraphicFramePr>
          <p:cNvPr id="8" name="">
            <a:extLst xmlns:a="http://schemas.openxmlformats.org/drawingml/2006/main">
              <a:ext uri="{FF2B5EF4-FFF2-40B4-BE49-F238E27FC236}">
                <a16:creationId xmlns:a16="http://schemas.microsoft.com/office/drawing/2014/main" id="{2FC2F97A-A89F-4B63-B3C7-18B1FF9DB6AB}"/>
              </a:ext>
            </a:extLst>
          </p:cNvPr>
          <p:cNvGraphicFramePr/>
          <p:nvPr/>
        </p:nvGraphicFramePr>
        <p:xfrm>
          <a:off xmlns:a="http://schemas.openxmlformats.org/drawingml/2006/main" x="666750" y="4667250"/>
          <a:ext xmlns:a="http://schemas.openxmlformats.org/drawingml/2006/main" cx="10858500" cy="1400175"/>
        </p:xfrm>
        <a:graphic xmlns:a="http://schemas.openxmlformats.org/drawingml/2006/main">
          <a:graphicData uri="http://schemas.openxmlformats.org/drawingml/2006/table">
            <a:tbl>
              <a:tblPr/>
              <a:tblGrid>
                <a:gridCol w="7905750"/>
                <a:gridCol w="2952750"/>
              </a:tblGrid>
              <a:tr h="466725">
                <a:tc>
                  <a:txBody>
                    <a:bodyPr lIns="95250" tIns="95250" rIns="95250" bIns="95250"/>
                    <a:lstStyle/>
                    <a:p>
                      <a:r>
                        <a:rPr sz="1950" b="1">
                          <a:solidFill>
                            <a:srgbClr val="FFFFFF"/>
                          </a:solidFill>
                          <a:latin typeface="Arial"/>
                          <a:ea typeface="Arial"/>
                          <a:cs typeface="Arial"/>
                        </a:rPr>
                        <a:t>Training recipe</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Validation macro mAP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466725">
                <a:tc>
                  <a:txBody>
                    <a:bodyPr lIns="95250" tIns="95250" rIns="95250" bIns="95250"/>
                    <a:lstStyle/>
                    <a:p>
                      <a:r>
                        <a:rPr sz="1950" b="0">
                          <a:solidFill>
                            <a:srgbClr val="24352C"/>
                          </a:solidFill>
                          <a:latin typeface="Arial"/>
                          <a:ea typeface="Arial"/>
                          <a:cs typeface="Arial"/>
                        </a:rPr>
                        <a:t>Control with ordinary augmentation</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94.81%</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466725">
                <a:tc>
                  <a:txBody>
                    <a:bodyPr lIns="95250" tIns="95250" rIns="95250" bIns="95250"/>
                    <a:lstStyle/>
                    <a:p>
                      <a:r>
                        <a:rPr sz="1950" b="0">
                          <a:solidFill>
                            <a:srgbClr val="24352C"/>
                          </a:solidFill>
                          <a:latin typeface="Arial"/>
                          <a:ea typeface="Arial"/>
                          <a:cs typeface="Arial"/>
                        </a:rPr>
                        <a:t>Ordinary augmentation + MixUp/CutMix</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96.07%</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bl>
          </a:graphicData>
        </a:graphic>
      </p:graphicFrame>
      <p:sp>
        <p:nvSpPr>
          <p:cNvPr id="9" name="">
            <a:extLst xmlns:a="http://schemas.openxmlformats.org/drawingml/2006/main">
              <a:ext uri="{FF2B5EF4-FFF2-40B4-BE49-F238E27FC236}">
                <a16:creationId xmlns:a16="http://schemas.microsoft.com/office/drawing/2014/main" id="{241593A0-5DA2-41DA-9A10-A1EF3556BF55}"/>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9665D"/>
                </a:solidFill>
                <a:latin typeface="Arial"/>
                <a:ea typeface="Arial"/>
                <a:cs typeface="Arial"/>
              </a:defRPr>
            </a:defPPr>
            <a:lvl1pPr>
              <a:defRPr sz="1425" b="0">
                <a:solidFill>
                  <a:srgbClr val="59665D"/>
                </a:solidFill>
                <a:latin typeface="Arial"/>
                <a:ea typeface="Arial"/>
                <a:cs typeface="Arial"/>
              </a:defRPr>
            </a:lvl1pPr>
            <a:lvl2pPr>
              <a:defRPr sz="1425" b="0">
                <a:solidFill>
                  <a:srgbClr val="59665D"/>
                </a:solidFill>
                <a:latin typeface="Arial"/>
                <a:ea typeface="Arial"/>
                <a:cs typeface="Arial"/>
              </a:defRPr>
            </a:lvl2pPr>
            <a:lvl3pPr>
              <a:defRPr sz="1425" b="0">
                <a:solidFill>
                  <a:srgbClr val="59665D"/>
                </a:solidFill>
                <a:latin typeface="Arial"/>
                <a:ea typeface="Arial"/>
                <a:cs typeface="Arial"/>
              </a:defRPr>
            </a:lvl3pPr>
            <a:lvl4pPr>
              <a:defRPr sz="1425" b="0">
                <a:solidFill>
                  <a:srgbClr val="59665D"/>
                </a:solidFill>
                <a:latin typeface="Arial"/>
                <a:ea typeface="Arial"/>
                <a:cs typeface="Arial"/>
              </a:defRPr>
            </a:lvl4pPr>
            <a:lvl5pPr>
              <a:defRPr sz="1425" b="0">
                <a:solidFill>
                  <a:srgbClr val="59665D"/>
                </a:solidFill>
                <a:latin typeface="Arial"/>
                <a:ea typeface="Arial"/>
                <a:cs typeface="Arial"/>
              </a:defRPr>
            </a:lvl5pPr>
            <a:lvl6pPr>
              <a:defRPr sz="1425" b="0">
                <a:solidFill>
                  <a:srgbClr val="59665D"/>
                </a:solidFill>
                <a:latin typeface="Arial"/>
                <a:ea typeface="Arial"/>
                <a:cs typeface="Arial"/>
              </a:defRPr>
            </a:lvl6pPr>
            <a:lvl7pPr>
              <a:defRPr sz="1425" b="0">
                <a:solidFill>
                  <a:srgbClr val="59665D"/>
                </a:solidFill>
                <a:latin typeface="Arial"/>
                <a:ea typeface="Arial"/>
                <a:cs typeface="Arial"/>
              </a:defRPr>
            </a:lvl7pPr>
            <a:lvl8pPr>
              <a:defRPr sz="1425" b="0">
                <a:solidFill>
                  <a:srgbClr val="59665D"/>
                </a:solidFill>
                <a:latin typeface="Arial"/>
                <a:ea typeface="Arial"/>
                <a:cs typeface="Arial"/>
              </a:defRPr>
            </a:lvl8pPr>
            <a:lvl9pPr>
              <a:defRPr sz="1425" b="0">
                <a:solidFill>
                  <a:srgbClr val="59665D"/>
                </a:solidFill>
                <a:latin typeface="Arial"/>
                <a:ea typeface="Arial"/>
                <a:cs typeface="Arial"/>
              </a:defRPr>
            </a:lvl9pPr>
          </a:lstStyle>
          <a:p xmlns:a="http://schemas.openxmlformats.org/drawingml/2006/main">
            <a:pPr>
              <a:defRPr sz="1425" b="0">
                <a:solidFill>
                  <a:srgbClr val="59665D"/>
                </a:solidFill>
                <a:latin typeface="Arial"/>
                <a:ea typeface="Arial"/>
                <a:cs typeface="Arial"/>
              </a:defRPr>
            </a:pPr>
            <a:r>
              <a:rPr sz="1425" b="0">
                <a:solidFill>
                  <a:srgbClr val="59665D"/>
                </a:solidFill>
                <a:latin typeface="Arial"/>
                <a:ea typeface="Arial"/>
                <a:cs typeface="Arial"/>
              </a:rPr>
              <a:t>Same 388 validation images, single-view prediction. The mixing policy chose MixUp, CutMix, or no mixing per batch.</a:t>
            </a:r>
          </a:p>
        </p:txBody>
      </p:sp>
    </p:spTree>
    <p:extLst>
      <p:ext uri="{BB962C8B-B14F-4D97-AF65-F5344CB8AC3E}">
        <p14:creationId xmlns:p14="http://schemas.microsoft.com/office/powerpoint/2010/main" val="2006384326"/>
      </p:ext>
    </p:extLst>
  </p:cSld>
</p:sld>
</file>

<file path=ppt/slides/slide7.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BB0468-6C13-455C-8AB1-83ECF07344B3}"/>
              </a:ext>
            </a:extLst>
          </p:cNvPr>
          <p:cNvSpPr>
            <a:spLocks xmlns:a="http://schemas.openxmlformats.org/drawingml/2006/main" noGrp="1"/>
          </p:cNvSpPr>
          <p:nvPr/>
        </p:nvSpPr>
        <p:spPr>
          <a:xfrm xmlns:a="http://schemas.openxmlformats.org/drawingml/2006/main">
            <a:off x="666750" y="4667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Choosing the final ensemble</a:t>
            </a:r>
          </a:p>
        </p:txBody>
      </p:sp>
      <p:sp>
        <p:nvSpPr>
          <p:cNvPr id="2" name="">
            <a:extLst xmlns:a="http://schemas.openxmlformats.org/drawingml/2006/main">
              <a:ext uri="{FF2B5EF4-FFF2-40B4-BE49-F238E27FC236}">
                <a16:creationId xmlns:a16="http://schemas.microsoft.com/office/drawing/2014/main" id="{873FE83D-16AB-435B-976A-357D04F516B7}"/>
              </a:ext>
            </a:extLst>
          </p:cNvPr>
          <p:cNvSpPr>
            <a:spLocks xmlns:a="http://schemas.openxmlformats.org/drawingml/2006/main" noGrp="1"/>
          </p:cNvSpPr>
          <p:nvPr/>
        </p:nvSpPr>
        <p:spPr>
          <a:xfrm xmlns:a="http://schemas.openxmlformats.org/drawingml/2006/main">
            <a:off x="666750" y="647700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F3F01CAE-0146-42D2-BA93-4F0573B4C721}"/>
              </a:ext>
            </a:extLst>
          </p:cNvPr>
          <p:cNvSpPr>
            <a:spLocks xmlns:a="http://schemas.openxmlformats.org/drawingml/2006/main" noGrp="1"/>
          </p:cNvSpPr>
          <p:nvPr/>
        </p:nvSpPr>
        <p:spPr>
          <a:xfrm xmlns:a="http://schemas.openxmlformats.org/drawingml/2006/main">
            <a:off x="723900" y="15621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I averaged the saved models’ predictions to check whether their different errors could improve the final result.</a:t>
            </a:r>
          </a:p>
        </p:txBody>
      </p:sp>
      <p:graphicFrame>
        <p:nvGraphicFramePr>
          <p:cNvPr id="4" name="">
            <a:extLst xmlns:a="http://schemas.openxmlformats.org/drawingml/2006/main">
              <a:ext uri="{FF2B5EF4-FFF2-40B4-BE49-F238E27FC236}">
                <a16:creationId xmlns:a16="http://schemas.microsoft.com/office/drawing/2014/main" id="{31414E22-4A6E-49EE-9429-8BB931C8C865}"/>
              </a:ext>
            </a:extLst>
          </p:cNvPr>
          <p:cNvGraphicFramePr/>
          <p:nvPr/>
        </p:nvGraphicFramePr>
        <p:xfrm>
          <a:off xmlns:a="http://schemas.openxmlformats.org/drawingml/2006/main" x="666750" y="2571750"/>
          <a:ext xmlns:a="http://schemas.openxmlformats.org/drawingml/2006/main" cx="10858500" cy="2514600"/>
        </p:xfrm>
        <a:graphic xmlns:a="http://schemas.openxmlformats.org/drawingml/2006/main">
          <a:graphicData uri="http://schemas.openxmlformats.org/drawingml/2006/table">
            <a:tbl>
              <a:tblPr/>
              <a:tblGrid>
                <a:gridCol w="8286750"/>
                <a:gridCol w="2571750"/>
              </a:tblGrid>
              <a:tr h="502920">
                <a:tc>
                  <a:txBody>
                    <a:bodyPr lIns="95250" tIns="95250" rIns="95250" bIns="95250"/>
                    <a:lstStyle/>
                    <a:p>
                      <a:r>
                        <a:rPr sz="1950" b="1">
                          <a:solidFill>
                            <a:srgbClr val="FFFFFF"/>
                          </a:solidFill>
                          <a:latin typeface="Arial"/>
                          <a:ea typeface="Arial"/>
                          <a:cs typeface="Arial"/>
                        </a:rPr>
                        <a:t>Combination</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Validation macro mAP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502920">
                <a:tc>
                  <a:txBody>
                    <a:bodyPr lIns="95250" tIns="95250" rIns="95250" bIns="95250"/>
                    <a:lstStyle/>
                    <a:p>
                      <a:r>
                        <a:rPr sz="1950" b="0">
                          <a:solidFill>
                            <a:srgbClr val="24352C"/>
                          </a:solidFill>
                          <a:latin typeface="Arial"/>
                          <a:ea typeface="Arial"/>
                          <a:cs typeface="Arial"/>
                        </a:rPr>
                        <a:t>MixUp/CutMix Base alone</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96.03%</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502920">
                <a:tc>
                  <a:txBody>
                    <a:bodyPr lIns="95250" tIns="95250" rIns="95250" bIns="95250"/>
                    <a:lstStyle/>
                    <a:p>
                      <a:r>
                        <a:rPr sz="1950" b="0">
                          <a:solidFill>
                            <a:srgbClr val="24352C"/>
                          </a:solidFill>
                          <a:latin typeface="Arial"/>
                          <a:ea typeface="Arial"/>
                          <a:cs typeface="Arial"/>
                        </a:rPr>
                        <a:t>MixUp/CutMix Base + earlier Base</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96.18%</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r h="502920">
                <a:tc>
                  <a:txBody>
                    <a:bodyPr lIns="95250" tIns="95250" rIns="95250" bIns="95250"/>
                    <a:lstStyle/>
                    <a:p>
                      <a:r>
                        <a:rPr sz="1950" b="0">
                          <a:solidFill>
                            <a:srgbClr val="24352C"/>
                          </a:solidFill>
                          <a:latin typeface="Arial"/>
                          <a:ea typeface="Arial"/>
                          <a:cs typeface="Arial"/>
                        </a:rPr>
                        <a:t>MixUp/CutMix Base + sampling/loss Small</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96.03%</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502920">
                <a:tc>
                  <a:txBody>
                    <a:bodyPr lIns="95250" tIns="95250" rIns="95250" bIns="95250"/>
                    <a:lstStyle/>
                    <a:p>
                      <a:r>
                        <a:rPr sz="1950" b="0">
                          <a:solidFill>
                            <a:srgbClr val="24352C"/>
                          </a:solidFill>
                          <a:latin typeface="Arial"/>
                          <a:ea typeface="Arial"/>
                          <a:cs typeface="Arial"/>
                        </a:rPr>
                        <a:t>MixUp/CutMix Base + matched control</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96.48%</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bl>
          </a:graphicData>
        </a:graphic>
      </p:graphicFrame>
      <p:sp>
        <p:nvSpPr>
          <p:cNvPr id="5" name="">
            <a:extLst xmlns:a="http://schemas.openxmlformats.org/drawingml/2006/main">
              <a:ext uri="{FF2B5EF4-FFF2-40B4-BE49-F238E27FC236}">
                <a16:creationId xmlns:a16="http://schemas.microsoft.com/office/drawing/2014/main" id="{DD1ECF85-B9BA-4C9E-A0B5-76827D61FEE5}"/>
              </a:ext>
            </a:extLst>
          </p:cNvPr>
          <p:cNvSpPr>
            <a:spLocks xmlns:a="http://schemas.openxmlformats.org/drawingml/2006/main" noGrp="1"/>
          </p:cNvSpPr>
          <p:nvPr/>
        </p:nvSpPr>
        <p:spPr>
          <a:xfrm xmlns:a="http://schemas.openxmlformats.org/drawingml/2006/main">
            <a:off x="723900" y="53530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The final system averages the two Base models equally. Each model combines standard, flipped, and padded views of the same image.</a:t>
            </a:r>
          </a:p>
        </p:txBody>
      </p:sp>
      <p:sp>
        <p:nvSpPr>
          <p:cNvPr id="6" name="">
            <a:extLst xmlns:a="http://schemas.openxmlformats.org/drawingml/2006/main">
              <a:ext uri="{FF2B5EF4-FFF2-40B4-BE49-F238E27FC236}">
                <a16:creationId xmlns:a16="http://schemas.microsoft.com/office/drawing/2014/main" id="{899FC7E2-9F34-4C75-B7FE-295DB7F16BE4}"/>
              </a:ext>
            </a:extLst>
          </p:cNvPr>
          <p:cNvSpPr>
            <a:spLocks xmlns:a="http://schemas.openxmlformats.org/drawingml/2006/main" noGrp="1"/>
          </p:cNvSpPr>
          <p:nvPr/>
        </p:nvSpPr>
        <p:spPr>
          <a:xfrm xmlns:a="http://schemas.openxmlformats.org/drawingml/2006/main">
            <a:off x="723900" y="6210300"/>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59665D"/>
                </a:solidFill>
                <a:latin typeface="Arial"/>
                <a:ea typeface="Arial"/>
                <a:cs typeface="Arial"/>
              </a:defRPr>
            </a:defPPr>
            <a:lvl1pPr>
              <a:defRPr sz="1500" b="0">
                <a:solidFill>
                  <a:srgbClr val="59665D"/>
                </a:solidFill>
                <a:latin typeface="Arial"/>
                <a:ea typeface="Arial"/>
                <a:cs typeface="Arial"/>
              </a:defRPr>
            </a:lvl1pPr>
            <a:lvl2pPr>
              <a:defRPr sz="1500" b="0">
                <a:solidFill>
                  <a:srgbClr val="59665D"/>
                </a:solidFill>
                <a:latin typeface="Arial"/>
                <a:ea typeface="Arial"/>
                <a:cs typeface="Arial"/>
              </a:defRPr>
            </a:lvl2pPr>
            <a:lvl3pPr>
              <a:defRPr sz="1500" b="0">
                <a:solidFill>
                  <a:srgbClr val="59665D"/>
                </a:solidFill>
                <a:latin typeface="Arial"/>
                <a:ea typeface="Arial"/>
                <a:cs typeface="Arial"/>
              </a:defRPr>
            </a:lvl3pPr>
            <a:lvl4pPr>
              <a:defRPr sz="1500" b="0">
                <a:solidFill>
                  <a:srgbClr val="59665D"/>
                </a:solidFill>
                <a:latin typeface="Arial"/>
                <a:ea typeface="Arial"/>
                <a:cs typeface="Arial"/>
              </a:defRPr>
            </a:lvl4pPr>
            <a:lvl5pPr>
              <a:defRPr sz="1500" b="0">
                <a:solidFill>
                  <a:srgbClr val="59665D"/>
                </a:solidFill>
                <a:latin typeface="Arial"/>
                <a:ea typeface="Arial"/>
                <a:cs typeface="Arial"/>
              </a:defRPr>
            </a:lvl5pPr>
            <a:lvl6pPr>
              <a:defRPr sz="1500" b="0">
                <a:solidFill>
                  <a:srgbClr val="59665D"/>
                </a:solidFill>
                <a:latin typeface="Arial"/>
                <a:ea typeface="Arial"/>
                <a:cs typeface="Arial"/>
              </a:defRPr>
            </a:lvl6pPr>
            <a:lvl7pPr>
              <a:defRPr sz="1500" b="0">
                <a:solidFill>
                  <a:srgbClr val="59665D"/>
                </a:solidFill>
                <a:latin typeface="Arial"/>
                <a:ea typeface="Arial"/>
                <a:cs typeface="Arial"/>
              </a:defRPr>
            </a:lvl7pPr>
            <a:lvl8pPr>
              <a:defRPr sz="1500" b="0">
                <a:solidFill>
                  <a:srgbClr val="59665D"/>
                </a:solidFill>
                <a:latin typeface="Arial"/>
                <a:ea typeface="Arial"/>
                <a:cs typeface="Arial"/>
              </a:defRPr>
            </a:lvl8pPr>
            <a:lvl9pPr>
              <a:defRPr sz="1500" b="0">
                <a:solidFill>
                  <a:srgbClr val="59665D"/>
                </a:solidFill>
                <a:latin typeface="Arial"/>
                <a:ea typeface="Arial"/>
                <a:cs typeface="Arial"/>
              </a:defRPr>
            </a:lvl9pPr>
          </a:lstStyle>
          <a:p xmlns:a="http://schemas.openxmlformats.org/drawingml/2006/main">
            <a:pPr>
              <a:defRPr sz="1500" b="0">
                <a:solidFill>
                  <a:srgbClr val="59665D"/>
                </a:solidFill>
                <a:latin typeface="Arial"/>
                <a:ea typeface="Arial"/>
                <a:cs typeface="Arial"/>
              </a:defRPr>
            </a:pPr>
            <a:r>
              <a:rPr sz="1500" b="0">
                <a:solidFill>
                  <a:srgbClr val="59665D"/>
                </a:solidFill>
                <a:latin typeface="Arial"/>
                <a:ea typeface="Arial"/>
                <a:cs typeface="Arial"/>
              </a:rPr>
              <a:t>All combinations use the same 368 shared validation images and prediction views.</a:t>
            </a:r>
          </a:p>
        </p:txBody>
      </p:sp>
    </p:spTree>
    <p:extLst>
      <p:ext uri="{BB962C8B-B14F-4D97-AF65-F5344CB8AC3E}">
        <p14:creationId xmlns:p14="http://schemas.microsoft.com/office/powerpoint/2010/main" val="1786373482"/>
      </p:ext>
    </p:extLst>
  </p:cSld>
</p:sld>
</file>

<file path=ppt/slides/slide8.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6D1900-96B5-4D4D-832D-825B1BD5C666}"/>
              </a:ext>
            </a:extLst>
          </p:cNvPr>
          <p:cNvSpPr>
            <a:spLocks xmlns:a="http://schemas.openxmlformats.org/drawingml/2006/main" noGrp="1"/>
          </p:cNvSpPr>
          <p:nvPr/>
        </p:nvSpPr>
        <p:spPr>
          <a:xfrm xmlns:a="http://schemas.openxmlformats.org/drawingml/2006/main">
            <a:off x="666750" y="4667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Where the models still struggled</a:t>
            </a:r>
          </a:p>
        </p:txBody>
      </p:sp>
      <p:sp>
        <p:nvSpPr>
          <p:cNvPr id="2" name="">
            <a:extLst xmlns:a="http://schemas.openxmlformats.org/drawingml/2006/main">
              <a:ext uri="{FF2B5EF4-FFF2-40B4-BE49-F238E27FC236}">
                <a16:creationId xmlns:a16="http://schemas.microsoft.com/office/drawing/2014/main" id="{3AC27801-1420-4C98-847F-8BC4CA52104D}"/>
              </a:ext>
            </a:extLst>
          </p:cNvPr>
          <p:cNvSpPr>
            <a:spLocks xmlns:a="http://schemas.openxmlformats.org/drawingml/2006/main" noGrp="1"/>
          </p:cNvSpPr>
          <p:nvPr/>
        </p:nvSpPr>
        <p:spPr>
          <a:xfrm xmlns:a="http://schemas.openxmlformats.org/drawingml/2006/main">
            <a:off x="666750" y="647700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181FB026-D6A2-4A9F-858F-9623CC1C46CE}"/>
              </a:ext>
            </a:extLst>
          </p:cNvPr>
          <p:cNvSpPr>
            <a:spLocks xmlns:a="http://schemas.openxmlformats.org/drawingml/2006/main" noGrp="1"/>
          </p:cNvSpPr>
          <p:nvPr/>
        </p:nvSpPr>
        <p:spPr>
          <a:xfrm xmlns:a="http://schemas.openxmlformats.org/drawingml/2006/main">
            <a:off x="723900" y="15525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Class-level validation results showed which diseases remained difficult after the overall score improved.</a:t>
            </a:r>
          </a:p>
        </p:txBody>
      </p:sp>
      <p:graphicFrame>
        <p:nvGraphicFramePr>
          <p:cNvPr id="4" name="">
            <a:extLst xmlns:a="http://schemas.openxmlformats.org/drawingml/2006/main">
              <a:ext uri="{FF2B5EF4-FFF2-40B4-BE49-F238E27FC236}">
                <a16:creationId xmlns:a16="http://schemas.microsoft.com/office/drawing/2014/main" id="{5788419F-9B1E-4982-855E-27E878BE3C72}"/>
              </a:ext>
            </a:extLst>
          </p:cNvPr>
          <p:cNvGraphicFramePr/>
          <p:nvPr/>
        </p:nvGraphicFramePr>
        <p:xfrm>
          <a:off xmlns:a="http://schemas.openxmlformats.org/drawingml/2006/main" x="666750" y="2543175"/>
          <a:ext xmlns:a="http://schemas.openxmlformats.org/drawingml/2006/main" cx="10858500" cy="2647950"/>
        </p:xfrm>
        <a:graphic xmlns:a="http://schemas.openxmlformats.org/drawingml/2006/main">
          <a:graphicData uri="http://schemas.openxmlformats.org/drawingml/2006/table">
            <a:tbl>
              <a:tblPr/>
              <a:tblGrid>
                <a:gridCol w="5905500"/>
                <a:gridCol w="2381250"/>
                <a:gridCol w="2571750"/>
              </a:tblGrid>
              <a:tr h="529590">
                <a:tc>
                  <a:txBody>
                    <a:bodyPr lIns="95250" tIns="95250" rIns="95250" bIns="95250"/>
                    <a:lstStyle/>
                    <a:p>
                      <a:r>
                        <a:rPr sz="1950" b="1">
                          <a:solidFill>
                            <a:srgbClr val="FFFFFF"/>
                          </a:solidFill>
                          <a:latin typeface="Arial"/>
                          <a:ea typeface="Arial"/>
                          <a:cs typeface="Arial"/>
                        </a:rPr>
                        <a:t>Disease</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Control 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950" b="1">
                          <a:solidFill>
                            <a:srgbClr val="FFFFFF"/>
                          </a:solidFill>
                          <a:latin typeface="Arial"/>
                          <a:ea typeface="Arial"/>
                          <a:cs typeface="Arial"/>
                        </a:rPr>
                        <a:t>MixUp/CutMix AP</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529590">
                <a:tc>
                  <a:txBody>
                    <a:bodyPr lIns="95250" tIns="95250" rIns="95250" bIns="95250"/>
                    <a:lstStyle/>
                    <a:p>
                      <a:r>
                        <a:rPr sz="1950" b="0">
                          <a:solidFill>
                            <a:srgbClr val="24352C"/>
                          </a:solidFill>
                          <a:latin typeface="Arial"/>
                          <a:ea typeface="Arial"/>
                          <a:cs typeface="Arial"/>
                        </a:rPr>
                        <a:t>Bacterial leaf spot</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59.18%</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64.17%</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529590">
                <a:tc>
                  <a:txBody>
                    <a:bodyPr lIns="95250" tIns="95250" rIns="95250" bIns="95250"/>
                    <a:lstStyle/>
                    <a:p>
                      <a:r>
                        <a:rPr sz="1950" b="0">
                          <a:solidFill>
                            <a:srgbClr val="24352C"/>
                          </a:solidFill>
                          <a:latin typeface="Arial"/>
                          <a:ea typeface="Arial"/>
                          <a:cs typeface="Arial"/>
                        </a:rPr>
                        <a:t>Septoria leaf spot</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60.18%</a:t>
                      </a:r>
                    </a:p>
                  </a:txBody>
                  <a:tcPr marL="91440" marR="91440" marT="45720" marB="45720" anchor="ctr">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57.91%</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r h="529590">
                <a:tc>
                  <a:txBody>
                    <a:bodyPr lIns="95250" tIns="95250" rIns="95250" bIns="95250"/>
                    <a:lstStyle/>
                    <a:p>
                      <a:r>
                        <a:rPr sz="1950" b="0">
                          <a:solidFill>
                            <a:srgbClr val="24352C"/>
                          </a:solidFill>
                          <a:latin typeface="Arial"/>
                          <a:ea typeface="Arial"/>
                          <a:cs typeface="Arial"/>
                        </a:rPr>
                        <a:t>Rust</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78.13%</a:t>
                      </a:r>
                    </a:p>
                  </a:txBody>
                  <a:tcPr marL="91440" marR="91440" marT="45720" marB="45720" anchor="ctr">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950" b="0">
                          <a:solidFill>
                            <a:srgbClr val="24352C"/>
                          </a:solidFill>
                          <a:latin typeface="Arial"/>
                          <a:ea typeface="Arial"/>
                          <a:cs typeface="Arial"/>
                        </a:rPr>
                        <a:t>83.97%</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529590">
                <a:tc>
                  <a:txBody>
                    <a:bodyPr lIns="95250" tIns="95250" rIns="95250" bIns="95250"/>
                    <a:lstStyle/>
                    <a:p>
                      <a:r>
                        <a:rPr sz="1950" b="0">
                          <a:solidFill>
                            <a:srgbClr val="24352C"/>
                          </a:solidFill>
                          <a:latin typeface="Arial"/>
                          <a:ea typeface="Arial"/>
                          <a:cs typeface="Arial"/>
                        </a:rPr>
                        <a:t>Early blight</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80.43%</a:t>
                      </a:r>
                    </a:p>
                  </a:txBody>
                  <a:tcPr marL="91440" marR="91440" marT="45720" marB="45720" anchor="ctr">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950" b="0">
                          <a:solidFill>
                            <a:srgbClr val="24352C"/>
                          </a:solidFill>
                          <a:latin typeface="Arial"/>
                          <a:ea typeface="Arial"/>
                          <a:cs typeface="Arial"/>
                        </a:rPr>
                        <a:t>95.32%</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bl>
          </a:graphicData>
        </a:graphic>
      </p:graphicFrame>
      <p:sp>
        <p:nvSpPr>
          <p:cNvPr id="5" name="">
            <a:extLst xmlns:a="http://schemas.openxmlformats.org/drawingml/2006/main">
              <a:ext uri="{FF2B5EF4-FFF2-40B4-BE49-F238E27FC236}">
                <a16:creationId xmlns:a16="http://schemas.microsoft.com/office/drawing/2014/main" id="{95B6B273-0FB3-4677-BE0F-7D078FCFE004}"/>
              </a:ext>
            </a:extLst>
          </p:cNvPr>
          <p:cNvSpPr>
            <a:spLocks xmlns:a="http://schemas.openxmlformats.org/drawingml/2006/main" noGrp="1"/>
          </p:cNvSpPr>
          <p:nvPr/>
        </p:nvSpPr>
        <p:spPr>
          <a:xfrm xmlns:a="http://schemas.openxmlformats.org/drawingml/2006/main">
            <a:off x="723900" y="54483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Early blight improved strongly, while septoria leaf spot remained a weakness. More reviewed examples of these classes would be useful.</a:t>
            </a:r>
          </a:p>
        </p:txBody>
      </p:sp>
      <p:sp>
        <p:nvSpPr>
          <p:cNvPr id="6" name="">
            <a:extLst xmlns:a="http://schemas.openxmlformats.org/drawingml/2006/main">
              <a:ext uri="{FF2B5EF4-FFF2-40B4-BE49-F238E27FC236}">
                <a16:creationId xmlns:a16="http://schemas.microsoft.com/office/drawing/2014/main" id="{CC8C4310-5FC0-480E-BF9E-E1298B69DA7B}"/>
              </a:ext>
            </a:extLst>
          </p:cNvPr>
          <p:cNvSpPr>
            <a:spLocks xmlns:a="http://schemas.openxmlformats.org/drawingml/2006/main" noGrp="1"/>
          </p:cNvSpPr>
          <p:nvPr/>
        </p:nvSpPr>
        <p:spPr>
          <a:xfrm xmlns:a="http://schemas.openxmlformats.org/drawingml/2006/main">
            <a:off x="723900" y="6229350"/>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9665D"/>
                </a:solidFill>
                <a:latin typeface="Arial"/>
                <a:ea typeface="Arial"/>
                <a:cs typeface="Arial"/>
              </a:defRPr>
            </a:defPPr>
            <a:lvl1pPr>
              <a:defRPr sz="1425" b="0">
                <a:solidFill>
                  <a:srgbClr val="59665D"/>
                </a:solidFill>
                <a:latin typeface="Arial"/>
                <a:ea typeface="Arial"/>
                <a:cs typeface="Arial"/>
              </a:defRPr>
            </a:lvl1pPr>
            <a:lvl2pPr>
              <a:defRPr sz="1425" b="0">
                <a:solidFill>
                  <a:srgbClr val="59665D"/>
                </a:solidFill>
                <a:latin typeface="Arial"/>
                <a:ea typeface="Arial"/>
                <a:cs typeface="Arial"/>
              </a:defRPr>
            </a:lvl2pPr>
            <a:lvl3pPr>
              <a:defRPr sz="1425" b="0">
                <a:solidFill>
                  <a:srgbClr val="59665D"/>
                </a:solidFill>
                <a:latin typeface="Arial"/>
                <a:ea typeface="Arial"/>
                <a:cs typeface="Arial"/>
              </a:defRPr>
            </a:lvl3pPr>
            <a:lvl4pPr>
              <a:defRPr sz="1425" b="0">
                <a:solidFill>
                  <a:srgbClr val="59665D"/>
                </a:solidFill>
                <a:latin typeface="Arial"/>
                <a:ea typeface="Arial"/>
                <a:cs typeface="Arial"/>
              </a:defRPr>
            </a:lvl4pPr>
            <a:lvl5pPr>
              <a:defRPr sz="1425" b="0">
                <a:solidFill>
                  <a:srgbClr val="59665D"/>
                </a:solidFill>
                <a:latin typeface="Arial"/>
                <a:ea typeface="Arial"/>
                <a:cs typeface="Arial"/>
              </a:defRPr>
            </a:lvl5pPr>
            <a:lvl6pPr>
              <a:defRPr sz="1425" b="0">
                <a:solidFill>
                  <a:srgbClr val="59665D"/>
                </a:solidFill>
                <a:latin typeface="Arial"/>
                <a:ea typeface="Arial"/>
                <a:cs typeface="Arial"/>
              </a:defRPr>
            </a:lvl6pPr>
            <a:lvl7pPr>
              <a:defRPr sz="1425" b="0">
                <a:solidFill>
                  <a:srgbClr val="59665D"/>
                </a:solidFill>
                <a:latin typeface="Arial"/>
                <a:ea typeface="Arial"/>
                <a:cs typeface="Arial"/>
              </a:defRPr>
            </a:lvl7pPr>
            <a:lvl8pPr>
              <a:defRPr sz="1425" b="0">
                <a:solidFill>
                  <a:srgbClr val="59665D"/>
                </a:solidFill>
                <a:latin typeface="Arial"/>
                <a:ea typeface="Arial"/>
                <a:cs typeface="Arial"/>
              </a:defRPr>
            </a:lvl8pPr>
            <a:lvl9pPr>
              <a:defRPr sz="1425" b="0">
                <a:solidFill>
                  <a:srgbClr val="59665D"/>
                </a:solidFill>
                <a:latin typeface="Arial"/>
                <a:ea typeface="Arial"/>
                <a:cs typeface="Arial"/>
              </a:defRPr>
            </a:lvl9pPr>
          </a:lstStyle>
          <a:p xmlns:a="http://schemas.openxmlformats.org/drawingml/2006/main">
            <a:pPr>
              <a:defRPr sz="1425" b="0">
                <a:solidFill>
                  <a:srgbClr val="59665D"/>
                </a:solidFill>
                <a:latin typeface="Arial"/>
                <a:ea typeface="Arial"/>
                <a:cs typeface="Arial"/>
              </a:defRPr>
            </a:pPr>
            <a:r>
              <a:rPr sz="1425" b="0">
                <a:solidFill>
                  <a:srgbClr val="59665D"/>
                </a:solidFill>
                <a:latin typeface="Arial"/>
                <a:ea typeface="Arial"/>
                <a:cs typeface="Arial"/>
              </a:rPr>
              <a:t>Per-class AP on the same 388 validation images, single view. Small class samples make these estimates uncertain.</a:t>
            </a:r>
          </a:p>
        </p:txBody>
      </p:sp>
    </p:spTree>
    <p:extLst>
      <p:ext uri="{BB962C8B-B14F-4D97-AF65-F5344CB8AC3E}">
        <p14:creationId xmlns:p14="http://schemas.microsoft.com/office/powerpoint/2010/main" val="2055951309"/>
      </p:ext>
    </p:extLst>
  </p:cSld>
</p:sld>
</file>

<file path=ppt/slides/slide9.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79B4D68-3710-48CE-9F61-63FE2B4D2279}"/>
              </a:ext>
            </a:extLst>
          </p:cNvPr>
          <p:cNvSpPr>
            <a:spLocks xmlns:a="http://schemas.openxmlformats.org/drawingml/2006/main" noGrp="1"/>
          </p:cNvSpPr>
          <p:nvPr/>
        </p:nvSpPr>
        <p:spPr>
          <a:xfrm xmlns:a="http://schemas.openxmlformats.org/drawingml/2006/main">
            <a:off x="666750" y="4667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Final evaluation</a:t>
            </a:r>
          </a:p>
        </p:txBody>
      </p:sp>
      <p:sp>
        <p:nvSpPr>
          <p:cNvPr id="2" name="">
            <a:extLst xmlns:a="http://schemas.openxmlformats.org/drawingml/2006/main">
              <a:ext uri="{FF2B5EF4-FFF2-40B4-BE49-F238E27FC236}">
                <a16:creationId xmlns:a16="http://schemas.microsoft.com/office/drawing/2014/main" id="{B07EB754-4115-450B-86DB-FC3B67697CC8}"/>
              </a:ext>
            </a:extLst>
          </p:cNvPr>
          <p:cNvSpPr>
            <a:spLocks xmlns:a="http://schemas.openxmlformats.org/drawingml/2006/main" noGrp="1"/>
          </p:cNvSpPr>
          <p:nvPr/>
        </p:nvSpPr>
        <p:spPr>
          <a:xfrm xmlns:a="http://schemas.openxmlformats.org/drawingml/2006/main">
            <a:off x="666750" y="6477000"/>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A67D8268-87E2-46DB-BAB4-D5F94144485F}"/>
              </a:ext>
            </a:extLst>
          </p:cNvPr>
          <p:cNvSpPr>
            <a:spLocks xmlns:a="http://schemas.openxmlformats.org/drawingml/2006/main" noGrp="1"/>
          </p:cNvSpPr>
          <p:nvPr/>
        </p:nvSpPr>
        <p:spPr>
          <a:xfrm xmlns:a="http://schemas.openxmlformats.org/drawingml/2006/main">
            <a:off x="723900" y="1657350"/>
            <a:ext cx="609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500" b="1">
                <a:solidFill>
                  <a:srgbClr val="173E2C"/>
                </a:solidFill>
                <a:latin typeface="Arial"/>
                <a:ea typeface="Arial"/>
                <a:cs typeface="Arial"/>
              </a:defRPr>
            </a:defPPr>
            <a:lvl1pPr>
              <a:defRPr sz="4500" b="1">
                <a:solidFill>
                  <a:srgbClr val="173E2C"/>
                </a:solidFill>
                <a:latin typeface="Arial"/>
                <a:ea typeface="Arial"/>
                <a:cs typeface="Arial"/>
              </a:defRPr>
            </a:lvl1pPr>
            <a:lvl2pPr>
              <a:defRPr sz="4500" b="1">
                <a:solidFill>
                  <a:srgbClr val="173E2C"/>
                </a:solidFill>
                <a:latin typeface="Arial"/>
                <a:ea typeface="Arial"/>
                <a:cs typeface="Arial"/>
              </a:defRPr>
            </a:lvl2pPr>
            <a:lvl3pPr>
              <a:defRPr sz="4500" b="1">
                <a:solidFill>
                  <a:srgbClr val="173E2C"/>
                </a:solidFill>
                <a:latin typeface="Arial"/>
                <a:ea typeface="Arial"/>
                <a:cs typeface="Arial"/>
              </a:defRPr>
            </a:lvl3pPr>
            <a:lvl4pPr>
              <a:defRPr sz="4500" b="1">
                <a:solidFill>
                  <a:srgbClr val="173E2C"/>
                </a:solidFill>
                <a:latin typeface="Arial"/>
                <a:ea typeface="Arial"/>
                <a:cs typeface="Arial"/>
              </a:defRPr>
            </a:lvl4pPr>
            <a:lvl5pPr>
              <a:defRPr sz="4500" b="1">
                <a:solidFill>
                  <a:srgbClr val="173E2C"/>
                </a:solidFill>
                <a:latin typeface="Arial"/>
                <a:ea typeface="Arial"/>
                <a:cs typeface="Arial"/>
              </a:defRPr>
            </a:lvl5pPr>
            <a:lvl6pPr>
              <a:defRPr sz="4500" b="1">
                <a:solidFill>
                  <a:srgbClr val="173E2C"/>
                </a:solidFill>
                <a:latin typeface="Arial"/>
                <a:ea typeface="Arial"/>
                <a:cs typeface="Arial"/>
              </a:defRPr>
            </a:lvl6pPr>
            <a:lvl7pPr>
              <a:defRPr sz="4500" b="1">
                <a:solidFill>
                  <a:srgbClr val="173E2C"/>
                </a:solidFill>
                <a:latin typeface="Arial"/>
                <a:ea typeface="Arial"/>
                <a:cs typeface="Arial"/>
              </a:defRPr>
            </a:lvl7pPr>
            <a:lvl8pPr>
              <a:defRPr sz="4500" b="1">
                <a:solidFill>
                  <a:srgbClr val="173E2C"/>
                </a:solidFill>
                <a:latin typeface="Arial"/>
                <a:ea typeface="Arial"/>
                <a:cs typeface="Arial"/>
              </a:defRPr>
            </a:lvl8pPr>
            <a:lvl9pPr>
              <a:defRPr sz="4500" b="1">
                <a:solidFill>
                  <a:srgbClr val="173E2C"/>
                </a:solidFill>
                <a:latin typeface="Arial"/>
                <a:ea typeface="Arial"/>
                <a:cs typeface="Arial"/>
              </a:defRPr>
            </a:lvl9pPr>
          </a:lstStyle>
          <a:p xmlns:a="http://schemas.openxmlformats.org/drawingml/2006/main">
            <a:pPr>
              <a:defRPr sz="4500" b="1">
                <a:solidFill>
                  <a:srgbClr val="173E2C"/>
                </a:solidFill>
                <a:latin typeface="Arial"/>
                <a:ea typeface="Arial"/>
                <a:cs typeface="Arial"/>
              </a:defRPr>
            </a:pPr>
            <a:r>
              <a:rPr sz="4500" b="1">
                <a:solidFill>
                  <a:srgbClr val="173E2C"/>
                </a:solidFill>
                <a:latin typeface="Arial"/>
                <a:ea typeface="Arial"/>
                <a:cs typeface="Arial"/>
              </a:rPr>
              <a:t>89.41% Top-1</a:t>
            </a:r>
          </a:p>
        </p:txBody>
      </p:sp>
      <p:sp>
        <p:nvSpPr>
          <p:cNvPr id="4" name="">
            <a:extLst xmlns:a="http://schemas.openxmlformats.org/drawingml/2006/main">
              <a:ext uri="{FF2B5EF4-FFF2-40B4-BE49-F238E27FC236}">
                <a16:creationId xmlns:a16="http://schemas.microsoft.com/office/drawing/2014/main" id="{D299D858-63AF-4C37-94F8-5ADAB9F6A212}"/>
              </a:ext>
            </a:extLst>
          </p:cNvPr>
          <p:cNvSpPr>
            <a:spLocks xmlns:a="http://schemas.openxmlformats.org/drawingml/2006/main" noGrp="1"/>
          </p:cNvSpPr>
          <p:nvPr/>
        </p:nvSpPr>
        <p:spPr>
          <a:xfrm xmlns:a="http://schemas.openxmlformats.org/drawingml/2006/main">
            <a:off x="762000" y="2571750"/>
            <a:ext cx="633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24352C"/>
                </a:solidFill>
                <a:latin typeface="Arial"/>
                <a:ea typeface="Arial"/>
                <a:cs typeface="Arial"/>
              </a:defRPr>
            </a:defPPr>
            <a:lvl1pPr>
              <a:defRPr sz="2175" b="0">
                <a:solidFill>
                  <a:srgbClr val="24352C"/>
                </a:solidFill>
                <a:latin typeface="Arial"/>
                <a:ea typeface="Arial"/>
                <a:cs typeface="Arial"/>
              </a:defRPr>
            </a:lvl1pPr>
            <a:lvl2pPr>
              <a:defRPr sz="2175" b="0">
                <a:solidFill>
                  <a:srgbClr val="24352C"/>
                </a:solidFill>
                <a:latin typeface="Arial"/>
                <a:ea typeface="Arial"/>
                <a:cs typeface="Arial"/>
              </a:defRPr>
            </a:lvl2pPr>
            <a:lvl3pPr>
              <a:defRPr sz="2175" b="0">
                <a:solidFill>
                  <a:srgbClr val="24352C"/>
                </a:solidFill>
                <a:latin typeface="Arial"/>
                <a:ea typeface="Arial"/>
                <a:cs typeface="Arial"/>
              </a:defRPr>
            </a:lvl3pPr>
            <a:lvl4pPr>
              <a:defRPr sz="2175" b="0">
                <a:solidFill>
                  <a:srgbClr val="24352C"/>
                </a:solidFill>
                <a:latin typeface="Arial"/>
                <a:ea typeface="Arial"/>
                <a:cs typeface="Arial"/>
              </a:defRPr>
            </a:lvl4pPr>
            <a:lvl5pPr>
              <a:defRPr sz="2175" b="0">
                <a:solidFill>
                  <a:srgbClr val="24352C"/>
                </a:solidFill>
                <a:latin typeface="Arial"/>
                <a:ea typeface="Arial"/>
                <a:cs typeface="Arial"/>
              </a:defRPr>
            </a:lvl5pPr>
            <a:lvl6pPr>
              <a:defRPr sz="2175" b="0">
                <a:solidFill>
                  <a:srgbClr val="24352C"/>
                </a:solidFill>
                <a:latin typeface="Arial"/>
                <a:ea typeface="Arial"/>
                <a:cs typeface="Arial"/>
              </a:defRPr>
            </a:lvl6pPr>
            <a:lvl7pPr>
              <a:defRPr sz="2175" b="0">
                <a:solidFill>
                  <a:srgbClr val="24352C"/>
                </a:solidFill>
                <a:latin typeface="Arial"/>
                <a:ea typeface="Arial"/>
                <a:cs typeface="Arial"/>
              </a:defRPr>
            </a:lvl7pPr>
            <a:lvl8pPr>
              <a:defRPr sz="2175" b="0">
                <a:solidFill>
                  <a:srgbClr val="24352C"/>
                </a:solidFill>
                <a:latin typeface="Arial"/>
                <a:ea typeface="Arial"/>
                <a:cs typeface="Arial"/>
              </a:defRPr>
            </a:lvl8pPr>
            <a:lvl9pPr>
              <a:defRPr sz="2175" b="0">
                <a:solidFill>
                  <a:srgbClr val="24352C"/>
                </a:solidFill>
                <a:latin typeface="Arial"/>
                <a:ea typeface="Arial"/>
                <a:cs typeface="Arial"/>
              </a:defRPr>
            </a:lvl9pPr>
          </a:lstStyle>
          <a:p xmlns:a="http://schemas.openxmlformats.org/drawingml/2006/main">
            <a:pPr>
              <a:defRPr sz="2175" b="0">
                <a:solidFill>
                  <a:srgbClr val="24352C"/>
                </a:solidFill>
                <a:latin typeface="Arial"/>
                <a:ea typeface="Arial"/>
                <a:cs typeface="Arial"/>
              </a:defRPr>
            </a:pPr>
            <a:r>
              <a:rPr sz="2175" b="0">
                <a:solidFill>
                  <a:srgbClr val="24352C"/>
                </a:solidFill>
                <a:latin typeface="Arial"/>
                <a:ea typeface="Arial"/>
                <a:cs typeface="Arial"/>
              </a:rPr>
              <a:t>557 of 623 images classified correctly</a:t>
            </a:r>
          </a:p>
        </p:txBody>
      </p:sp>
      <p:sp>
        <p:nvSpPr>
          <p:cNvPr id="5" name="">
            <a:extLst xmlns:a="http://schemas.openxmlformats.org/drawingml/2006/main">
              <a:ext uri="{FF2B5EF4-FFF2-40B4-BE49-F238E27FC236}">
                <a16:creationId xmlns:a16="http://schemas.microsoft.com/office/drawing/2014/main" id="{D484C638-C6D3-4B31-BC68-B1F16E6620E6}"/>
              </a:ext>
            </a:extLst>
          </p:cNvPr>
          <p:cNvSpPr>
            <a:spLocks xmlns:a="http://schemas.openxmlformats.org/drawingml/2006/main" noGrp="1"/>
          </p:cNvSpPr>
          <p:nvPr/>
        </p:nvSpPr>
        <p:spPr>
          <a:xfrm xmlns:a="http://schemas.openxmlformats.org/drawingml/2006/main">
            <a:off x="7667625" y="1819275"/>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00" b="0">
                <a:solidFill>
                  <a:srgbClr val="24352C"/>
                </a:solidFill>
                <a:latin typeface="Arial"/>
                <a:ea typeface="Arial"/>
                <a:cs typeface="Arial"/>
              </a:defRPr>
            </a:defPPr>
            <a:lvl1pPr>
              <a:defRPr sz="2700" b="0">
                <a:solidFill>
                  <a:srgbClr val="24352C"/>
                </a:solidFill>
                <a:latin typeface="Arial"/>
                <a:ea typeface="Arial"/>
                <a:cs typeface="Arial"/>
              </a:defRPr>
            </a:lvl1pPr>
            <a:lvl2pPr>
              <a:defRPr sz="2700" b="0">
                <a:solidFill>
                  <a:srgbClr val="24352C"/>
                </a:solidFill>
                <a:latin typeface="Arial"/>
                <a:ea typeface="Arial"/>
                <a:cs typeface="Arial"/>
              </a:defRPr>
            </a:lvl2pPr>
            <a:lvl3pPr>
              <a:defRPr sz="2700" b="0">
                <a:solidFill>
                  <a:srgbClr val="24352C"/>
                </a:solidFill>
                <a:latin typeface="Arial"/>
                <a:ea typeface="Arial"/>
                <a:cs typeface="Arial"/>
              </a:defRPr>
            </a:lvl3pPr>
            <a:lvl4pPr>
              <a:defRPr sz="2700" b="0">
                <a:solidFill>
                  <a:srgbClr val="24352C"/>
                </a:solidFill>
                <a:latin typeface="Arial"/>
                <a:ea typeface="Arial"/>
                <a:cs typeface="Arial"/>
              </a:defRPr>
            </a:lvl4pPr>
            <a:lvl5pPr>
              <a:defRPr sz="2700" b="0">
                <a:solidFill>
                  <a:srgbClr val="24352C"/>
                </a:solidFill>
                <a:latin typeface="Arial"/>
                <a:ea typeface="Arial"/>
                <a:cs typeface="Arial"/>
              </a:defRPr>
            </a:lvl5pPr>
            <a:lvl6pPr>
              <a:defRPr sz="2700" b="0">
                <a:solidFill>
                  <a:srgbClr val="24352C"/>
                </a:solidFill>
                <a:latin typeface="Arial"/>
                <a:ea typeface="Arial"/>
                <a:cs typeface="Arial"/>
              </a:defRPr>
            </a:lvl6pPr>
            <a:lvl7pPr>
              <a:defRPr sz="2700" b="0">
                <a:solidFill>
                  <a:srgbClr val="24352C"/>
                </a:solidFill>
                <a:latin typeface="Arial"/>
                <a:ea typeface="Arial"/>
                <a:cs typeface="Arial"/>
              </a:defRPr>
            </a:lvl7pPr>
            <a:lvl8pPr>
              <a:defRPr sz="2700" b="0">
                <a:solidFill>
                  <a:srgbClr val="24352C"/>
                </a:solidFill>
                <a:latin typeface="Arial"/>
                <a:ea typeface="Arial"/>
                <a:cs typeface="Arial"/>
              </a:defRPr>
            </a:lvl8pPr>
            <a:lvl9pPr>
              <a:defRPr sz="2700" b="0">
                <a:solidFill>
                  <a:srgbClr val="24352C"/>
                </a:solidFill>
                <a:latin typeface="Arial"/>
                <a:ea typeface="Arial"/>
                <a:cs typeface="Arial"/>
              </a:defRPr>
            </a:lvl9pPr>
          </a:lstStyle>
          <a:p xmlns:a="http://schemas.openxmlformats.org/drawingml/2006/main">
            <a:pPr>
              <a:defRPr sz="2700" b="0">
                <a:solidFill>
                  <a:srgbClr val="24352C"/>
                </a:solidFill>
                <a:latin typeface="Arial"/>
                <a:ea typeface="Arial"/>
                <a:cs typeface="Arial"/>
              </a:defRPr>
            </a:pPr>
            <a:r>
              <a:rPr sz="2700" b="0">
                <a:solidFill>
                  <a:srgbClr val="24352C"/>
                </a:solidFill>
                <a:latin typeface="Arial"/>
                <a:ea typeface="Arial"/>
                <a:cs typeface="Arial"/>
              </a:rPr>
              <a:t>99.36% Top-5</a:t>
            </a:r>
          </a:p>
        </p:txBody>
      </p:sp>
      <p:sp>
        <p:nvSpPr>
          <p:cNvPr id="6" name="">
            <a:extLst xmlns:a="http://schemas.openxmlformats.org/drawingml/2006/main">
              <a:ext uri="{FF2B5EF4-FFF2-40B4-BE49-F238E27FC236}">
                <a16:creationId xmlns:a16="http://schemas.microsoft.com/office/drawing/2014/main" id="{EAEDED30-7569-4626-AFC5-B74053C21050}"/>
              </a:ext>
            </a:extLst>
          </p:cNvPr>
          <p:cNvSpPr>
            <a:spLocks xmlns:a="http://schemas.openxmlformats.org/drawingml/2006/main" noGrp="1"/>
          </p:cNvSpPr>
          <p:nvPr/>
        </p:nvSpPr>
        <p:spPr>
          <a:xfrm xmlns:a="http://schemas.openxmlformats.org/drawingml/2006/main">
            <a:off x="7667625" y="2628900"/>
            <a:ext cx="3810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24352C"/>
                </a:solidFill>
                <a:latin typeface="Arial"/>
                <a:ea typeface="Arial"/>
                <a:cs typeface="Arial"/>
              </a:defRPr>
            </a:defPPr>
            <a:lvl1pPr>
              <a:defRPr sz="1950" b="0">
                <a:solidFill>
                  <a:srgbClr val="24352C"/>
                </a:solidFill>
                <a:latin typeface="Arial"/>
                <a:ea typeface="Arial"/>
                <a:cs typeface="Arial"/>
              </a:defRPr>
            </a:lvl1pPr>
            <a:lvl2pPr>
              <a:defRPr sz="1950" b="0">
                <a:solidFill>
                  <a:srgbClr val="24352C"/>
                </a:solidFill>
                <a:latin typeface="Arial"/>
                <a:ea typeface="Arial"/>
                <a:cs typeface="Arial"/>
              </a:defRPr>
            </a:lvl2pPr>
            <a:lvl3pPr>
              <a:defRPr sz="1950" b="0">
                <a:solidFill>
                  <a:srgbClr val="24352C"/>
                </a:solidFill>
                <a:latin typeface="Arial"/>
                <a:ea typeface="Arial"/>
                <a:cs typeface="Arial"/>
              </a:defRPr>
            </a:lvl3pPr>
            <a:lvl4pPr>
              <a:defRPr sz="1950" b="0">
                <a:solidFill>
                  <a:srgbClr val="24352C"/>
                </a:solidFill>
                <a:latin typeface="Arial"/>
                <a:ea typeface="Arial"/>
                <a:cs typeface="Arial"/>
              </a:defRPr>
            </a:lvl4pPr>
            <a:lvl5pPr>
              <a:defRPr sz="1950" b="0">
                <a:solidFill>
                  <a:srgbClr val="24352C"/>
                </a:solidFill>
                <a:latin typeface="Arial"/>
                <a:ea typeface="Arial"/>
                <a:cs typeface="Arial"/>
              </a:defRPr>
            </a:lvl5pPr>
            <a:lvl6pPr>
              <a:defRPr sz="1950" b="0">
                <a:solidFill>
                  <a:srgbClr val="24352C"/>
                </a:solidFill>
                <a:latin typeface="Arial"/>
                <a:ea typeface="Arial"/>
                <a:cs typeface="Arial"/>
              </a:defRPr>
            </a:lvl6pPr>
            <a:lvl7pPr>
              <a:defRPr sz="1950" b="0">
                <a:solidFill>
                  <a:srgbClr val="24352C"/>
                </a:solidFill>
                <a:latin typeface="Arial"/>
                <a:ea typeface="Arial"/>
                <a:cs typeface="Arial"/>
              </a:defRPr>
            </a:lvl7pPr>
            <a:lvl8pPr>
              <a:defRPr sz="1950" b="0">
                <a:solidFill>
                  <a:srgbClr val="24352C"/>
                </a:solidFill>
                <a:latin typeface="Arial"/>
                <a:ea typeface="Arial"/>
                <a:cs typeface="Arial"/>
              </a:defRPr>
            </a:lvl8pPr>
            <a:lvl9pPr>
              <a:defRPr sz="1950" b="0">
                <a:solidFill>
                  <a:srgbClr val="24352C"/>
                </a:solidFill>
                <a:latin typeface="Arial"/>
                <a:ea typeface="Arial"/>
                <a:cs typeface="Arial"/>
              </a:defRPr>
            </a:lvl9pPr>
          </a:lstStyle>
          <a:p xmlns:a="http://schemas.openxmlformats.org/drawingml/2006/main">
            <a:pPr>
              <a:defRPr sz="1950" b="0">
                <a:solidFill>
                  <a:srgbClr val="24352C"/>
                </a:solidFill>
                <a:latin typeface="Arial"/>
                <a:ea typeface="Arial"/>
                <a:cs typeface="Arial"/>
              </a:defRPr>
            </a:pPr>
            <a:r>
              <a:rPr sz="1950" b="0">
                <a:solidFill>
                  <a:srgbClr val="24352C"/>
                </a:solidFill>
                <a:latin typeface="Arial"/>
                <a:ea typeface="Arial"/>
                <a:cs typeface="Arial"/>
              </a:rPr>
              <a:t>619 of 623 included the correct class</a:t>
            </a:r>
          </a:p>
        </p:txBody>
      </p:sp>
      <p:sp>
        <p:nvSpPr>
          <p:cNvPr id="7" name="">
            <a:extLst xmlns:a="http://schemas.openxmlformats.org/drawingml/2006/main">
              <a:ext uri="{FF2B5EF4-FFF2-40B4-BE49-F238E27FC236}">
                <a16:creationId xmlns:a16="http://schemas.microsoft.com/office/drawing/2014/main" id="{A4731CFC-2F4D-4978-9016-3622095EE07A}"/>
              </a:ext>
            </a:extLst>
          </p:cNvPr>
          <p:cNvSpPr>
            <a:spLocks xmlns:a="http://schemas.openxmlformats.org/drawingml/2006/main" noGrp="1"/>
          </p:cNvSpPr>
          <p:nvPr/>
        </p:nvSpPr>
        <p:spPr>
          <a:xfrm xmlns:a="http://schemas.openxmlformats.org/drawingml/2006/main">
            <a:off x="723900" y="35528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550" b="0">
                <a:solidFill>
                  <a:srgbClr val="173E2C"/>
                </a:solidFill>
                <a:latin typeface="Arial"/>
                <a:ea typeface="Arial"/>
                <a:cs typeface="Arial"/>
              </a:defRPr>
            </a:defPPr>
            <a:lvl1pPr>
              <a:defRPr sz="2550" b="0">
                <a:solidFill>
                  <a:srgbClr val="173E2C"/>
                </a:solidFill>
                <a:latin typeface="Arial"/>
                <a:ea typeface="Arial"/>
                <a:cs typeface="Arial"/>
              </a:defRPr>
            </a:lvl1pPr>
            <a:lvl2pPr>
              <a:defRPr sz="2550" b="0">
                <a:solidFill>
                  <a:srgbClr val="173E2C"/>
                </a:solidFill>
                <a:latin typeface="Arial"/>
                <a:ea typeface="Arial"/>
                <a:cs typeface="Arial"/>
              </a:defRPr>
            </a:lvl2pPr>
            <a:lvl3pPr>
              <a:defRPr sz="2550" b="0">
                <a:solidFill>
                  <a:srgbClr val="173E2C"/>
                </a:solidFill>
                <a:latin typeface="Arial"/>
                <a:ea typeface="Arial"/>
                <a:cs typeface="Arial"/>
              </a:defRPr>
            </a:lvl3pPr>
            <a:lvl4pPr>
              <a:defRPr sz="2550" b="0">
                <a:solidFill>
                  <a:srgbClr val="173E2C"/>
                </a:solidFill>
                <a:latin typeface="Arial"/>
                <a:ea typeface="Arial"/>
                <a:cs typeface="Arial"/>
              </a:defRPr>
            </a:lvl4pPr>
            <a:lvl5pPr>
              <a:defRPr sz="2550" b="0">
                <a:solidFill>
                  <a:srgbClr val="173E2C"/>
                </a:solidFill>
                <a:latin typeface="Arial"/>
                <a:ea typeface="Arial"/>
                <a:cs typeface="Arial"/>
              </a:defRPr>
            </a:lvl5pPr>
            <a:lvl6pPr>
              <a:defRPr sz="2550" b="0">
                <a:solidFill>
                  <a:srgbClr val="173E2C"/>
                </a:solidFill>
                <a:latin typeface="Arial"/>
                <a:ea typeface="Arial"/>
                <a:cs typeface="Arial"/>
              </a:defRPr>
            </a:lvl6pPr>
            <a:lvl7pPr>
              <a:defRPr sz="2550" b="0">
                <a:solidFill>
                  <a:srgbClr val="173E2C"/>
                </a:solidFill>
                <a:latin typeface="Arial"/>
                <a:ea typeface="Arial"/>
                <a:cs typeface="Arial"/>
              </a:defRPr>
            </a:lvl7pPr>
            <a:lvl8pPr>
              <a:defRPr sz="2550" b="0">
                <a:solidFill>
                  <a:srgbClr val="173E2C"/>
                </a:solidFill>
                <a:latin typeface="Arial"/>
                <a:ea typeface="Arial"/>
                <a:cs typeface="Arial"/>
              </a:defRPr>
            </a:lvl8pPr>
            <a:lvl9pPr>
              <a:defRPr sz="2550" b="0">
                <a:solidFill>
                  <a:srgbClr val="173E2C"/>
                </a:solidFill>
                <a:latin typeface="Arial"/>
                <a:ea typeface="Arial"/>
                <a:cs typeface="Arial"/>
              </a:defRPr>
            </a:lvl9pPr>
          </a:lstStyle>
          <a:p xmlns:a="http://schemas.openxmlformats.org/drawingml/2006/main">
            <a:pPr>
              <a:defRPr sz="2550" b="0">
                <a:solidFill>
                  <a:srgbClr val="173E2C"/>
                </a:solidFill>
                <a:latin typeface="Arial"/>
                <a:ea typeface="Arial"/>
                <a:cs typeface="Arial"/>
              </a:defRPr>
            </a:pPr>
            <a:r>
              <a:rPr sz="2550" b="0">
                <a:solidFill>
                  <a:srgbClr val="173E2C"/>
                </a:solidFill>
                <a:latin typeface="Arial"/>
                <a:ea typeface="Arial"/>
                <a:cs typeface="Arial"/>
              </a:rPr>
              <a:t>Macro mAP: 92.99%</a:t>
            </a:r>
          </a:p>
        </p:txBody>
      </p:sp>
      <p:graphicFrame>
        <p:nvGraphicFramePr>
          <p:cNvPr id="8" name="">
            <a:extLst xmlns:a="http://schemas.openxmlformats.org/drawingml/2006/main">
              <a:ext uri="{FF2B5EF4-FFF2-40B4-BE49-F238E27FC236}">
                <a16:creationId xmlns:a16="http://schemas.microsoft.com/office/drawing/2014/main" id="{AF8F815E-671C-41FC-8A76-EDE28F4EE387}"/>
              </a:ext>
            </a:extLst>
          </p:cNvPr>
          <p:cNvGraphicFramePr/>
          <p:nvPr/>
        </p:nvGraphicFramePr>
        <p:xfrm>
          <a:off xmlns:a="http://schemas.openxmlformats.org/drawingml/2006/main" x="666750" y="4314825"/>
          <a:ext xmlns:a="http://schemas.openxmlformats.org/drawingml/2006/main" cx="10858500" cy="1390650"/>
        </p:xfrm>
        <a:graphic xmlns:a="http://schemas.openxmlformats.org/drawingml/2006/main">
          <a:graphicData uri="http://schemas.openxmlformats.org/drawingml/2006/table">
            <a:tbl>
              <a:tblPr/>
              <a:tblGrid>
                <a:gridCol w="7239000"/>
                <a:gridCol w="3619500"/>
              </a:tblGrid>
              <a:tr h="463550">
                <a:tc>
                  <a:txBody>
                    <a:bodyPr lIns="95250" tIns="95250" rIns="95250" bIns="95250"/>
                    <a:lstStyle/>
                    <a:p>
                      <a:r>
                        <a:rPr sz="1875" b="1">
                          <a:solidFill>
                            <a:srgbClr val="FFFFFF"/>
                          </a:solidFill>
                          <a:latin typeface="Arial"/>
                          <a:ea typeface="Arial"/>
                          <a:cs typeface="Arial"/>
                        </a:rPr>
                        <a:t>System on the same 623 images</a:t>
                      </a:r>
                    </a:p>
                  </a:txBody>
                  <a:tcPr marL="91440" marR="91440" marT="45720" marB="45720" anchor="ctr">
                    <a:lnL w="5715">
                      <a:solidFill>
                        <a:srgbClr val="DCE5DB"/>
                      </a:solidFill>
                      <a:prstDash val="solid"/>
                    </a:lnL>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c>
                  <a:txBody>
                    <a:bodyPr lIns="95250" tIns="95250" rIns="95250" bIns="95250"/>
                    <a:lstStyle/>
                    <a:p>
                      <a:r>
                        <a:rPr sz="1875" b="1">
                          <a:solidFill>
                            <a:srgbClr val="FFFFFF"/>
                          </a:solidFill>
                          <a:latin typeface="Arial"/>
                          <a:ea typeface="Arial"/>
                          <a:cs typeface="Arial"/>
                        </a:rPr>
                        <a:t>Correct Top-1 predictions</a:t>
                      </a:r>
                    </a:p>
                  </a:txBody>
                  <a:tcPr marL="91440" marR="91440" marT="45720" marB="45720" anchor="ctr">
                    <a:lnR w="5715">
                      <a:solidFill>
                        <a:srgbClr val="DCE5DB"/>
                      </a:solidFill>
                      <a:prstDash val="solid"/>
                    </a:lnR>
                    <a:lnT w="5715">
                      <a:solidFill>
                        <a:srgbClr val="DCE5DB"/>
                      </a:solidFill>
                      <a:prstDash val="solid"/>
                    </a:lnT>
                    <a:lnB w="5715">
                      <a:solidFill>
                        <a:srgbClr val="DCE5DB"/>
                      </a:solidFill>
                      <a:prstDash val="solid"/>
                    </a:lnB>
                    <a:solidFill>
                      <a:srgbClr val="173E2C"/>
                    </a:solidFill>
                  </a:tcPr>
                </a:tc>
              </a:tr>
              <a:tr h="463550">
                <a:tc>
                  <a:txBody>
                    <a:bodyPr lIns="95250" tIns="95250" rIns="95250" bIns="95250"/>
                    <a:lstStyle/>
                    <a:p>
                      <a:r>
                        <a:rPr sz="1875" b="0">
                          <a:solidFill>
                            <a:srgbClr val="24352C"/>
                          </a:solidFill>
                          <a:latin typeface="Arial"/>
                          <a:ea typeface="Arial"/>
                          <a:cs typeface="Arial"/>
                        </a:rPr>
                        <a:t>Previous four-model ensemble</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FFFFFF"/>
                    </a:solidFill>
                  </a:tcPr>
                </a:tc>
                <a:tc>
                  <a:txBody>
                    <a:bodyPr lIns="95250" tIns="95250" rIns="95250" bIns="95250"/>
                    <a:lstStyle/>
                    <a:p>
                      <a:r>
                        <a:rPr sz="1875" b="0">
                          <a:solidFill>
                            <a:srgbClr val="24352C"/>
                          </a:solidFill>
                          <a:latin typeface="Arial"/>
                          <a:ea typeface="Arial"/>
                          <a:cs typeface="Arial"/>
                        </a:rPr>
                        <a:t>549</a:t>
                      </a:r>
                    </a:p>
                  </a:txBody>
                  <a:tcPr marL="91440" marR="91440" marT="45720" marB="45720" anchor="ctr">
                    <a:lnR w="5715">
                      <a:solidFill>
                        <a:srgbClr val="DCE5DB"/>
                      </a:solidFill>
                      <a:prstDash val="solid"/>
                    </a:lnR>
                    <a:lnB w="5715">
                      <a:solidFill>
                        <a:srgbClr val="DCE5DB"/>
                      </a:solidFill>
                      <a:prstDash val="solid"/>
                    </a:lnB>
                    <a:solidFill>
                      <a:srgbClr val="FFFFFF"/>
                    </a:solidFill>
                  </a:tcPr>
                </a:tc>
              </a:tr>
              <a:tr h="463550">
                <a:tc>
                  <a:txBody>
                    <a:bodyPr lIns="95250" tIns="95250" rIns="95250" bIns="95250"/>
                    <a:lstStyle/>
                    <a:p>
                      <a:r>
                        <a:rPr sz="1875" b="0">
                          <a:solidFill>
                            <a:srgbClr val="24352C"/>
                          </a:solidFill>
                          <a:latin typeface="Arial"/>
                          <a:ea typeface="Arial"/>
                          <a:cs typeface="Arial"/>
                        </a:rPr>
                        <a:t>Final two-model ensemble</a:t>
                      </a:r>
                    </a:p>
                  </a:txBody>
                  <a:tcPr marL="91440" marR="91440" marT="45720" marB="45720" anchor="ctr">
                    <a:lnL w="5715">
                      <a:solidFill>
                        <a:srgbClr val="DCE5DB"/>
                      </a:solidFill>
                      <a:prstDash val="solid"/>
                    </a:lnL>
                    <a:lnR w="5715">
                      <a:solidFill>
                        <a:srgbClr val="DCE5DB"/>
                      </a:solidFill>
                      <a:prstDash val="solid"/>
                    </a:lnR>
                    <a:lnB w="5715">
                      <a:solidFill>
                        <a:srgbClr val="DCE5DB"/>
                      </a:solidFill>
                      <a:prstDash val="solid"/>
                    </a:lnB>
                    <a:solidFill>
                      <a:srgbClr val="EBEFE7"/>
                    </a:solidFill>
                  </a:tcPr>
                </a:tc>
                <a:tc>
                  <a:txBody>
                    <a:bodyPr lIns="95250" tIns="95250" rIns="95250" bIns="95250"/>
                    <a:lstStyle/>
                    <a:p>
                      <a:r>
                        <a:rPr sz="1875" b="0">
                          <a:solidFill>
                            <a:srgbClr val="24352C"/>
                          </a:solidFill>
                          <a:latin typeface="Arial"/>
                          <a:ea typeface="Arial"/>
                          <a:cs typeface="Arial"/>
                        </a:rPr>
                        <a:t>557</a:t>
                      </a:r>
                    </a:p>
                  </a:txBody>
                  <a:tcPr marL="91440" marR="91440" marT="45720" marB="45720" anchor="ctr">
                    <a:lnR w="5715">
                      <a:solidFill>
                        <a:srgbClr val="DCE5DB"/>
                      </a:solidFill>
                      <a:prstDash val="solid"/>
                    </a:lnR>
                    <a:lnB w="5715">
                      <a:solidFill>
                        <a:srgbClr val="DCE5DB"/>
                      </a:solidFill>
                      <a:prstDash val="solid"/>
                    </a:lnB>
                    <a:solidFill>
                      <a:srgbClr val="EBEFE7"/>
                    </a:solidFill>
                  </a:tcPr>
                </a:tc>
              </a:tr>
            </a:tbl>
          </a:graphicData>
        </a:graphic>
      </p:graphicFrame>
      <p:sp>
        <p:nvSpPr>
          <p:cNvPr id="9" name="">
            <a:extLst xmlns:a="http://schemas.openxmlformats.org/drawingml/2006/main">
              <a:ext uri="{FF2B5EF4-FFF2-40B4-BE49-F238E27FC236}">
                <a16:creationId xmlns:a16="http://schemas.microsoft.com/office/drawing/2014/main" id="{8F19DCA8-68C9-4085-B9E2-463C67921B0C}"/>
              </a:ext>
            </a:extLst>
          </p:cNvPr>
          <p:cNvSpPr>
            <a:spLocks xmlns:a="http://schemas.openxmlformats.org/drawingml/2006/main" noGrp="1"/>
          </p:cNvSpPr>
          <p:nvPr/>
        </p:nvSpPr>
        <p:spPr>
          <a:xfrm xmlns:a="http://schemas.openxmlformats.org/drawingml/2006/main">
            <a:off x="723900" y="59626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AB5A37"/>
                </a:solidFill>
                <a:latin typeface="Arial"/>
                <a:ea typeface="Arial"/>
                <a:cs typeface="Arial"/>
              </a:defRPr>
            </a:defPPr>
            <a:lvl1pPr>
              <a:defRPr sz="1725" b="0">
                <a:solidFill>
                  <a:srgbClr val="AB5A37"/>
                </a:solidFill>
                <a:latin typeface="Arial"/>
                <a:ea typeface="Arial"/>
                <a:cs typeface="Arial"/>
              </a:defRPr>
            </a:lvl1pPr>
            <a:lvl2pPr>
              <a:defRPr sz="1725" b="0">
                <a:solidFill>
                  <a:srgbClr val="AB5A37"/>
                </a:solidFill>
                <a:latin typeface="Arial"/>
                <a:ea typeface="Arial"/>
                <a:cs typeface="Arial"/>
              </a:defRPr>
            </a:lvl2pPr>
            <a:lvl3pPr>
              <a:defRPr sz="1725" b="0">
                <a:solidFill>
                  <a:srgbClr val="AB5A37"/>
                </a:solidFill>
                <a:latin typeface="Arial"/>
                <a:ea typeface="Arial"/>
                <a:cs typeface="Arial"/>
              </a:defRPr>
            </a:lvl3pPr>
            <a:lvl4pPr>
              <a:defRPr sz="1725" b="0">
                <a:solidFill>
                  <a:srgbClr val="AB5A37"/>
                </a:solidFill>
                <a:latin typeface="Arial"/>
                <a:ea typeface="Arial"/>
                <a:cs typeface="Arial"/>
              </a:defRPr>
            </a:lvl4pPr>
            <a:lvl5pPr>
              <a:defRPr sz="1725" b="0">
                <a:solidFill>
                  <a:srgbClr val="AB5A37"/>
                </a:solidFill>
                <a:latin typeface="Arial"/>
                <a:ea typeface="Arial"/>
                <a:cs typeface="Arial"/>
              </a:defRPr>
            </a:lvl5pPr>
            <a:lvl6pPr>
              <a:defRPr sz="1725" b="0">
                <a:solidFill>
                  <a:srgbClr val="AB5A37"/>
                </a:solidFill>
                <a:latin typeface="Arial"/>
                <a:ea typeface="Arial"/>
                <a:cs typeface="Arial"/>
              </a:defRPr>
            </a:lvl6pPr>
            <a:lvl7pPr>
              <a:defRPr sz="1725" b="0">
                <a:solidFill>
                  <a:srgbClr val="AB5A37"/>
                </a:solidFill>
                <a:latin typeface="Arial"/>
                <a:ea typeface="Arial"/>
                <a:cs typeface="Arial"/>
              </a:defRPr>
            </a:lvl7pPr>
            <a:lvl8pPr>
              <a:defRPr sz="1725" b="0">
                <a:solidFill>
                  <a:srgbClr val="AB5A37"/>
                </a:solidFill>
                <a:latin typeface="Arial"/>
                <a:ea typeface="Arial"/>
                <a:cs typeface="Arial"/>
              </a:defRPr>
            </a:lvl8pPr>
            <a:lvl9pPr>
              <a:defRPr sz="1725" b="0">
                <a:solidFill>
                  <a:srgbClr val="AB5A37"/>
                </a:solidFill>
                <a:latin typeface="Arial"/>
                <a:ea typeface="Arial"/>
                <a:cs typeface="Arial"/>
              </a:defRPr>
            </a:lvl9pPr>
          </a:lstStyle>
          <a:p xmlns:a="http://schemas.openxmlformats.org/drawingml/2006/main">
            <a:pPr>
              <a:defRPr sz="1725" b="0">
                <a:solidFill>
                  <a:srgbClr val="AB5A37"/>
                </a:solidFill>
                <a:latin typeface="Arial"/>
                <a:ea typeface="Arial"/>
                <a:cs typeface="Arial"/>
              </a:defRPr>
            </a:pPr>
            <a:r>
              <a:rPr sz="1725" b="0">
                <a:solidFill>
                  <a:srgbClr val="AB5A37"/>
                </a:solidFill>
                <a:latin typeface="Arial"/>
                <a:ea typeface="Arial"/>
                <a:cs typeface="Arial"/>
              </a:rPr>
              <a:t>I fixed the final model choice before this evaluation. The historical holdout had been evaluated earlier, so an independent test is still needed.</a:t>
            </a:r>
          </a:p>
        </p:txBody>
      </p:sp>
    </p:spTree>
    <p:extLst>
      <p:ext uri="{BB962C8B-B14F-4D97-AF65-F5344CB8AC3E}">
        <p14:creationId xmlns:p14="http://schemas.microsoft.com/office/powerpoint/2010/main" val="1240110001"/>
      </p:ext>
    </p:extLst>
  </p:cSld>
</p:sld>
</file>

<file path=ppt/slides/slide10.xml><?xml version="1.0" encoding="utf-8"?>
<p:sld xmlns:p="http://schemas.openxmlformats.org/presentationml/2006/main">
  <p:cSld>
    <p:bg>
      <p:bgPr>
        <a:solidFill xmlns:a="http://schemas.openxmlformats.org/drawingml/2006/main">
          <a:srgbClr val="F6F5E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C61FDF2-B13A-49A0-82FE-F06E592D1AF0}"/>
              </a:ext>
            </a:extLst>
          </p:cNvPr>
          <p:cNvSpPr>
            <a:spLocks xmlns:a="http://schemas.openxmlformats.org/drawingml/2006/main" noGrp="1"/>
          </p:cNvSpPr>
          <p:nvPr/>
        </p:nvSpPr>
        <p:spPr>
          <a:xfrm xmlns:a="http://schemas.openxmlformats.org/drawingml/2006/main">
            <a:off x="666750" y="46672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173E2C"/>
                </a:solidFill>
                <a:latin typeface="Arial"/>
                <a:ea typeface="Arial"/>
                <a:cs typeface="Arial"/>
              </a:defRPr>
            </a:defPPr>
            <a:lvl1pPr>
              <a:defRPr sz="3225" b="1">
                <a:solidFill>
                  <a:srgbClr val="173E2C"/>
                </a:solidFill>
                <a:latin typeface="Arial"/>
                <a:ea typeface="Arial"/>
                <a:cs typeface="Arial"/>
              </a:defRPr>
            </a:lvl1pPr>
            <a:lvl2pPr>
              <a:defRPr sz="3225" b="1">
                <a:solidFill>
                  <a:srgbClr val="173E2C"/>
                </a:solidFill>
                <a:latin typeface="Arial"/>
                <a:ea typeface="Arial"/>
                <a:cs typeface="Arial"/>
              </a:defRPr>
            </a:lvl2pPr>
            <a:lvl3pPr>
              <a:defRPr sz="3225" b="1">
                <a:solidFill>
                  <a:srgbClr val="173E2C"/>
                </a:solidFill>
                <a:latin typeface="Arial"/>
                <a:ea typeface="Arial"/>
                <a:cs typeface="Arial"/>
              </a:defRPr>
            </a:lvl3pPr>
            <a:lvl4pPr>
              <a:defRPr sz="3225" b="1">
                <a:solidFill>
                  <a:srgbClr val="173E2C"/>
                </a:solidFill>
                <a:latin typeface="Arial"/>
                <a:ea typeface="Arial"/>
                <a:cs typeface="Arial"/>
              </a:defRPr>
            </a:lvl4pPr>
            <a:lvl5pPr>
              <a:defRPr sz="3225" b="1">
                <a:solidFill>
                  <a:srgbClr val="173E2C"/>
                </a:solidFill>
                <a:latin typeface="Arial"/>
                <a:ea typeface="Arial"/>
                <a:cs typeface="Arial"/>
              </a:defRPr>
            </a:lvl5pPr>
            <a:lvl6pPr>
              <a:defRPr sz="3225" b="1">
                <a:solidFill>
                  <a:srgbClr val="173E2C"/>
                </a:solidFill>
                <a:latin typeface="Arial"/>
                <a:ea typeface="Arial"/>
                <a:cs typeface="Arial"/>
              </a:defRPr>
            </a:lvl6pPr>
            <a:lvl7pPr>
              <a:defRPr sz="3225" b="1">
                <a:solidFill>
                  <a:srgbClr val="173E2C"/>
                </a:solidFill>
                <a:latin typeface="Arial"/>
                <a:ea typeface="Arial"/>
                <a:cs typeface="Arial"/>
              </a:defRPr>
            </a:lvl7pPr>
            <a:lvl8pPr>
              <a:defRPr sz="3225" b="1">
                <a:solidFill>
                  <a:srgbClr val="173E2C"/>
                </a:solidFill>
                <a:latin typeface="Arial"/>
                <a:ea typeface="Arial"/>
                <a:cs typeface="Arial"/>
              </a:defRPr>
            </a:lvl8pPr>
            <a:lvl9pPr>
              <a:defRPr sz="3225" b="1">
                <a:solidFill>
                  <a:srgbClr val="173E2C"/>
                </a:solidFill>
                <a:latin typeface="Arial"/>
                <a:ea typeface="Arial"/>
                <a:cs typeface="Arial"/>
              </a:defRPr>
            </a:lvl9pPr>
          </a:lstStyle>
          <a:p xmlns:a="http://schemas.openxmlformats.org/drawingml/2006/main">
            <a:pPr>
              <a:defRPr sz="3225" b="1">
                <a:solidFill>
                  <a:srgbClr val="173E2C"/>
                </a:solidFill>
                <a:latin typeface="Arial"/>
                <a:ea typeface="Arial"/>
                <a:cs typeface="Arial"/>
              </a:defRPr>
            </a:pPr>
            <a:r>
              <a:rPr sz="3225" b="1">
                <a:solidFill>
                  <a:srgbClr val="173E2C"/>
                </a:solidFill>
                <a:latin typeface="Arial"/>
                <a:ea typeface="Arial"/>
                <a:cs typeface="Arial"/>
              </a:rPr>
              <a:t>The deployed application</a:t>
            </a:r>
          </a:p>
        </p:txBody>
      </p:sp>
      <p:sp>
        <p:nvSpPr>
          <p:cNvPr id="2" name="">
            <a:extLst xmlns:a="http://schemas.openxmlformats.org/drawingml/2006/main">
              <a:ext uri="{FF2B5EF4-FFF2-40B4-BE49-F238E27FC236}">
                <a16:creationId xmlns:a16="http://schemas.microsoft.com/office/drawing/2014/main" id="{6161BBED-253D-4A72-A922-FD80BA107181}"/>
              </a:ext>
            </a:extLst>
          </p:cNvPr>
          <p:cNvSpPr>
            <a:spLocks xmlns:a="http://schemas.openxmlformats.org/drawingml/2006/main" noGrp="1"/>
          </p:cNvSpPr>
          <p:nvPr/>
        </p:nvSpPr>
        <p:spPr>
          <a:xfrm xmlns:a="http://schemas.openxmlformats.org/drawingml/2006/main">
            <a:off x="11144250" y="64770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9665D"/>
                </a:solidFill>
                <a:latin typeface="Arial"/>
                <a:ea typeface="Arial"/>
                <a:cs typeface="Arial"/>
              </a:defRPr>
            </a:defPPr>
            <a:lvl1pPr>
              <a:defRPr sz="1200" b="0">
                <a:solidFill>
                  <a:srgbClr val="59665D"/>
                </a:solidFill>
                <a:latin typeface="Arial"/>
                <a:ea typeface="Arial"/>
                <a:cs typeface="Arial"/>
              </a:defRPr>
            </a:lvl1pPr>
            <a:lvl2pPr>
              <a:defRPr sz="1200" b="0">
                <a:solidFill>
                  <a:srgbClr val="59665D"/>
                </a:solidFill>
                <a:latin typeface="Arial"/>
                <a:ea typeface="Arial"/>
                <a:cs typeface="Arial"/>
              </a:defRPr>
            </a:lvl2pPr>
            <a:lvl3pPr>
              <a:defRPr sz="1200" b="0">
                <a:solidFill>
                  <a:srgbClr val="59665D"/>
                </a:solidFill>
                <a:latin typeface="Arial"/>
                <a:ea typeface="Arial"/>
                <a:cs typeface="Arial"/>
              </a:defRPr>
            </a:lvl3pPr>
            <a:lvl4pPr>
              <a:defRPr sz="1200" b="0">
                <a:solidFill>
                  <a:srgbClr val="59665D"/>
                </a:solidFill>
                <a:latin typeface="Arial"/>
                <a:ea typeface="Arial"/>
                <a:cs typeface="Arial"/>
              </a:defRPr>
            </a:lvl4pPr>
            <a:lvl5pPr>
              <a:defRPr sz="1200" b="0">
                <a:solidFill>
                  <a:srgbClr val="59665D"/>
                </a:solidFill>
                <a:latin typeface="Arial"/>
                <a:ea typeface="Arial"/>
                <a:cs typeface="Arial"/>
              </a:defRPr>
            </a:lvl5pPr>
            <a:lvl6pPr>
              <a:defRPr sz="1200" b="0">
                <a:solidFill>
                  <a:srgbClr val="59665D"/>
                </a:solidFill>
                <a:latin typeface="Arial"/>
                <a:ea typeface="Arial"/>
                <a:cs typeface="Arial"/>
              </a:defRPr>
            </a:lvl6pPr>
            <a:lvl7pPr>
              <a:defRPr sz="1200" b="0">
                <a:solidFill>
                  <a:srgbClr val="59665D"/>
                </a:solidFill>
                <a:latin typeface="Arial"/>
                <a:ea typeface="Arial"/>
                <a:cs typeface="Arial"/>
              </a:defRPr>
            </a:lvl7pPr>
            <a:lvl8pPr>
              <a:defRPr sz="1200" b="0">
                <a:solidFill>
                  <a:srgbClr val="59665D"/>
                </a:solidFill>
                <a:latin typeface="Arial"/>
                <a:ea typeface="Arial"/>
                <a:cs typeface="Arial"/>
              </a:defRPr>
            </a:lvl8pPr>
            <a:lvl9pPr>
              <a:defRPr sz="1200" b="0">
                <a:solidFill>
                  <a:srgbClr val="59665D"/>
                </a:solidFill>
                <a:latin typeface="Arial"/>
                <a:ea typeface="Arial"/>
                <a:cs typeface="Arial"/>
              </a:defRPr>
            </a:lvl9pPr>
          </a:lstStyle>
          <a:p xmlns:a="http://schemas.openxmlformats.org/drawingml/2006/main">
            <a:pPr>
              <a:defRPr sz="1200" b="0">
                <a:solidFill>
                  <a:srgbClr val="59665D"/>
                </a:solidFill>
                <a:latin typeface="Arial"/>
                <a:ea typeface="Arial"/>
                <a:cs typeface="Arial"/>
              </a:defRPr>
            </a:pPr>
            <a:r>
              <a:rPr sz="1200" b="0">
                <a:solidFill>
                  <a:srgbClr val="59665D"/>
                </a:solidFill>
                <a:latin typeface="Arial"/>
                <a:ea typeface="Arial"/>
                <a:cs typeface="Arial"/>
              </a:rPr>
              <a:t>10</a:t>
            </a:r>
          </a:p>
        </p:txBody>
      </p:sp>
      <p:pic>
        <p:nvPicPr>
          <p:cNvPr id="3" name="">
            <a:extLst xmlns:a="http://schemas.openxmlformats.org/drawingml/2006/main">
              <a:ext uri="{FF2B5EF4-FFF2-40B4-BE49-F238E27FC236}">
                <a16:creationId xmlns:a16="http://schemas.microsoft.com/office/drawing/2014/main" id="{49877F85-37D3-454A-9742-46890857FF7C}"/>
              </a:ext>
            </a:extLst>
          </p:cNvPr>
          <p:cNvPicPr>
            <a:picLocks xmlns:a="http://schemas.openxmlformats.org/drawingml/2006/main" noChangeAspect="1"/>
          </p:cNvPicPr>
          <p:nvPr/>
        </p:nvPicPr>
        <p:blipFill>
          <a:blip xmlns:r="http://schemas.openxmlformats.org/officeDocument/2006/relationships" xmlns:a="http://schemas.openxmlformats.org/drawingml/2006/main" r:embed="R3cab5ed15bbe4337"/>
          <a:stretch xmlns:a="http://schemas.openxmlformats.org/drawingml/2006/main"/>
        </p:blipFill>
        <p:spPr>
          <a:xfrm xmlns:a="http://schemas.openxmlformats.org/drawingml/2006/main">
            <a:off x="1300523" y="1571625"/>
            <a:ext cx="5590453" cy="37623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1AB53A1-7FC6-4211-91D0-C53D155099D2}"/>
              </a:ext>
            </a:extLst>
          </p:cNvPr>
          <p:cNvSpPr>
            <a:spLocks xmlns:a="http://schemas.openxmlformats.org/drawingml/2006/main" noGrp="1"/>
          </p:cNvSpPr>
          <p:nvPr/>
        </p:nvSpPr>
        <p:spPr>
          <a:xfrm xmlns:a="http://schemas.openxmlformats.org/drawingml/2006/main">
            <a:off x="7905750" y="1685925"/>
            <a:ext cx="363855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24352C"/>
                </a:solidFill>
                <a:latin typeface="Arial"/>
                <a:ea typeface="Arial"/>
                <a:cs typeface="Arial"/>
              </a:defRPr>
            </a:defPPr>
            <a:lvl1pPr>
              <a:defRPr sz="2100" b="0">
                <a:solidFill>
                  <a:srgbClr val="24352C"/>
                </a:solidFill>
                <a:latin typeface="Arial"/>
                <a:ea typeface="Arial"/>
                <a:cs typeface="Arial"/>
              </a:defRPr>
            </a:lvl1pPr>
            <a:lvl2pPr>
              <a:defRPr sz="2100" b="0">
                <a:solidFill>
                  <a:srgbClr val="24352C"/>
                </a:solidFill>
                <a:latin typeface="Arial"/>
                <a:ea typeface="Arial"/>
                <a:cs typeface="Arial"/>
              </a:defRPr>
            </a:lvl2pPr>
            <a:lvl3pPr>
              <a:defRPr sz="2100" b="0">
                <a:solidFill>
                  <a:srgbClr val="24352C"/>
                </a:solidFill>
                <a:latin typeface="Arial"/>
                <a:ea typeface="Arial"/>
                <a:cs typeface="Arial"/>
              </a:defRPr>
            </a:lvl3pPr>
            <a:lvl4pPr>
              <a:defRPr sz="2100" b="0">
                <a:solidFill>
                  <a:srgbClr val="24352C"/>
                </a:solidFill>
                <a:latin typeface="Arial"/>
                <a:ea typeface="Arial"/>
                <a:cs typeface="Arial"/>
              </a:defRPr>
            </a:lvl4pPr>
            <a:lvl5pPr>
              <a:defRPr sz="2100" b="0">
                <a:solidFill>
                  <a:srgbClr val="24352C"/>
                </a:solidFill>
                <a:latin typeface="Arial"/>
                <a:ea typeface="Arial"/>
                <a:cs typeface="Arial"/>
              </a:defRPr>
            </a:lvl5pPr>
            <a:lvl6pPr>
              <a:defRPr sz="2100" b="0">
                <a:solidFill>
                  <a:srgbClr val="24352C"/>
                </a:solidFill>
                <a:latin typeface="Arial"/>
                <a:ea typeface="Arial"/>
                <a:cs typeface="Arial"/>
              </a:defRPr>
            </a:lvl6pPr>
            <a:lvl7pPr>
              <a:defRPr sz="2100" b="0">
                <a:solidFill>
                  <a:srgbClr val="24352C"/>
                </a:solidFill>
                <a:latin typeface="Arial"/>
                <a:ea typeface="Arial"/>
                <a:cs typeface="Arial"/>
              </a:defRPr>
            </a:lvl7pPr>
            <a:lvl8pPr>
              <a:defRPr sz="2100" b="0">
                <a:solidFill>
                  <a:srgbClr val="24352C"/>
                </a:solidFill>
                <a:latin typeface="Arial"/>
                <a:ea typeface="Arial"/>
                <a:cs typeface="Arial"/>
              </a:defRPr>
            </a:lvl8pPr>
            <a:lvl9pPr>
              <a:defRPr sz="2100" b="0">
                <a:solidFill>
                  <a:srgbClr val="24352C"/>
                </a:solidFill>
                <a:latin typeface="Arial"/>
                <a:ea typeface="Arial"/>
                <a:cs typeface="Arial"/>
              </a:defRPr>
            </a:lvl9pPr>
          </a:lstStyle>
          <a:p xmlns:a="http://schemas.openxmlformats.org/drawingml/2006/main">
            <a:pPr>
              <a:defRPr sz="2100" b="0">
                <a:solidFill>
                  <a:srgbClr val="24352C"/>
                </a:solidFill>
                <a:latin typeface="Arial"/>
                <a:ea typeface="Arial"/>
                <a:cs typeface="Arial"/>
              </a:defRPr>
            </a:pPr>
            <a:r>
              <a:rPr sz="2100" b="0">
                <a:solidFill>
                  <a:srgbClr val="24352C"/>
                </a:solidFill>
                <a:latin typeface="Arial"/>
                <a:ea typeface="Arial"/>
                <a:cs typeface="Arial"/>
              </a:rPr>
              <a:t>The Gradio app runs on Hugging Face Spaces. Users upload a photo and receive five ranked disease suggestions.</a:t>
            </a:r>
          </a:p>
        </p:txBody>
      </p:sp>
      <p:sp>
        <p:nvSpPr>
          <p:cNvPr id="5" name="">
            <a:extLst xmlns:a="http://schemas.openxmlformats.org/drawingml/2006/main">
              <a:ext uri="{FF2B5EF4-FFF2-40B4-BE49-F238E27FC236}">
                <a16:creationId xmlns:a16="http://schemas.microsoft.com/office/drawing/2014/main" id="{7D007A35-F51D-4816-B80A-012F36458214}"/>
              </a:ext>
            </a:extLst>
          </p:cNvPr>
          <p:cNvSpPr>
            <a:spLocks xmlns:a="http://schemas.openxmlformats.org/drawingml/2006/main" noGrp="1"/>
          </p:cNvSpPr>
          <p:nvPr/>
        </p:nvSpPr>
        <p:spPr>
          <a:xfrm xmlns:a="http://schemas.openxmlformats.org/drawingml/2006/main">
            <a:off x="7905750" y="3505200"/>
            <a:ext cx="3638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4352C"/>
                </a:solidFill>
                <a:latin typeface="Arial"/>
                <a:ea typeface="Arial"/>
                <a:cs typeface="Arial"/>
              </a:defRPr>
            </a:defPPr>
            <a:lvl1pPr>
              <a:defRPr sz="2025" b="0">
                <a:solidFill>
                  <a:srgbClr val="24352C"/>
                </a:solidFill>
                <a:latin typeface="Arial"/>
                <a:ea typeface="Arial"/>
                <a:cs typeface="Arial"/>
              </a:defRPr>
            </a:lvl1pPr>
            <a:lvl2pPr>
              <a:defRPr sz="2025" b="0">
                <a:solidFill>
                  <a:srgbClr val="24352C"/>
                </a:solidFill>
                <a:latin typeface="Arial"/>
                <a:ea typeface="Arial"/>
                <a:cs typeface="Arial"/>
              </a:defRPr>
            </a:lvl2pPr>
            <a:lvl3pPr>
              <a:defRPr sz="2025" b="0">
                <a:solidFill>
                  <a:srgbClr val="24352C"/>
                </a:solidFill>
                <a:latin typeface="Arial"/>
                <a:ea typeface="Arial"/>
                <a:cs typeface="Arial"/>
              </a:defRPr>
            </a:lvl3pPr>
            <a:lvl4pPr>
              <a:defRPr sz="2025" b="0">
                <a:solidFill>
                  <a:srgbClr val="24352C"/>
                </a:solidFill>
                <a:latin typeface="Arial"/>
                <a:ea typeface="Arial"/>
                <a:cs typeface="Arial"/>
              </a:defRPr>
            </a:lvl4pPr>
            <a:lvl5pPr>
              <a:defRPr sz="2025" b="0">
                <a:solidFill>
                  <a:srgbClr val="24352C"/>
                </a:solidFill>
                <a:latin typeface="Arial"/>
                <a:ea typeface="Arial"/>
                <a:cs typeface="Arial"/>
              </a:defRPr>
            </a:lvl5pPr>
            <a:lvl6pPr>
              <a:defRPr sz="2025" b="0">
                <a:solidFill>
                  <a:srgbClr val="24352C"/>
                </a:solidFill>
                <a:latin typeface="Arial"/>
                <a:ea typeface="Arial"/>
                <a:cs typeface="Arial"/>
              </a:defRPr>
            </a:lvl6pPr>
            <a:lvl7pPr>
              <a:defRPr sz="2025" b="0">
                <a:solidFill>
                  <a:srgbClr val="24352C"/>
                </a:solidFill>
                <a:latin typeface="Arial"/>
                <a:ea typeface="Arial"/>
                <a:cs typeface="Arial"/>
              </a:defRPr>
            </a:lvl7pPr>
            <a:lvl8pPr>
              <a:defRPr sz="2025" b="0">
                <a:solidFill>
                  <a:srgbClr val="24352C"/>
                </a:solidFill>
                <a:latin typeface="Arial"/>
                <a:ea typeface="Arial"/>
                <a:cs typeface="Arial"/>
              </a:defRPr>
            </a:lvl8pPr>
            <a:lvl9pPr>
              <a:defRPr sz="2025" b="0">
                <a:solidFill>
                  <a:srgbClr val="24352C"/>
                </a:solidFill>
                <a:latin typeface="Arial"/>
                <a:ea typeface="Arial"/>
                <a:cs typeface="Arial"/>
              </a:defRPr>
            </a:lvl9pPr>
          </a:lstStyle>
          <a:p xmlns:a="http://schemas.openxmlformats.org/drawingml/2006/main">
            <a:pPr>
              <a:defRPr sz="2025" b="0">
                <a:solidFill>
                  <a:srgbClr val="24352C"/>
                </a:solidFill>
                <a:latin typeface="Arial"/>
                <a:ea typeface="Arial"/>
                <a:cs typeface="Arial"/>
              </a:defRPr>
            </a:pPr>
            <a:r>
              <a:rPr sz="2025" b="0">
                <a:solidFill>
                  <a:srgbClr val="24352C"/>
                </a:solidFill>
                <a:latin typeface="Arial"/>
                <a:ea typeface="Arial"/>
                <a:cs typeface="Arial"/>
              </a:rPr>
              <a:t>GitHub includes the app, dependency list, class labels, presentation, and result figures.</a:t>
            </a:r>
          </a:p>
        </p:txBody>
      </p:sp>
      <p:sp>
        <p:nvSpPr>
          <p:cNvPr id="6" name="">
            <a:extLst xmlns:a="http://schemas.openxmlformats.org/drawingml/2006/main">
              <a:ext uri="{FF2B5EF4-FFF2-40B4-BE49-F238E27FC236}">
                <a16:creationId xmlns:a16="http://schemas.microsoft.com/office/drawing/2014/main" id="{E19FCA7A-E943-43C1-B55B-6F36948FC7F1}"/>
              </a:ext>
            </a:extLst>
          </p:cNvPr>
          <p:cNvSpPr>
            <a:spLocks xmlns:a="http://schemas.openxmlformats.org/drawingml/2006/main" noGrp="1"/>
          </p:cNvSpPr>
          <p:nvPr/>
        </p:nvSpPr>
        <p:spPr>
          <a:xfrm xmlns:a="http://schemas.openxmlformats.org/drawingml/2006/main">
            <a:off x="723900" y="5429250"/>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24352C"/>
                </a:solidFill>
                <a:latin typeface="Arial"/>
                <a:ea typeface="Arial"/>
                <a:cs typeface="Arial"/>
              </a:defRPr>
            </a:defPPr>
            <a:lvl1pPr>
              <a:defRPr sz="1950" b="0">
                <a:solidFill>
                  <a:srgbClr val="24352C"/>
                </a:solidFill>
                <a:latin typeface="Arial"/>
                <a:ea typeface="Arial"/>
                <a:cs typeface="Arial"/>
              </a:defRPr>
            </a:lvl1pPr>
            <a:lvl2pPr>
              <a:defRPr sz="1950" b="0">
                <a:solidFill>
                  <a:srgbClr val="24352C"/>
                </a:solidFill>
                <a:latin typeface="Arial"/>
                <a:ea typeface="Arial"/>
                <a:cs typeface="Arial"/>
              </a:defRPr>
            </a:lvl2pPr>
            <a:lvl3pPr>
              <a:defRPr sz="1950" b="0">
                <a:solidFill>
                  <a:srgbClr val="24352C"/>
                </a:solidFill>
                <a:latin typeface="Arial"/>
                <a:ea typeface="Arial"/>
                <a:cs typeface="Arial"/>
              </a:defRPr>
            </a:lvl3pPr>
            <a:lvl4pPr>
              <a:defRPr sz="1950" b="0">
                <a:solidFill>
                  <a:srgbClr val="24352C"/>
                </a:solidFill>
                <a:latin typeface="Arial"/>
                <a:ea typeface="Arial"/>
                <a:cs typeface="Arial"/>
              </a:defRPr>
            </a:lvl4pPr>
            <a:lvl5pPr>
              <a:defRPr sz="1950" b="0">
                <a:solidFill>
                  <a:srgbClr val="24352C"/>
                </a:solidFill>
                <a:latin typeface="Arial"/>
                <a:ea typeface="Arial"/>
                <a:cs typeface="Arial"/>
              </a:defRPr>
            </a:lvl5pPr>
            <a:lvl6pPr>
              <a:defRPr sz="1950" b="0">
                <a:solidFill>
                  <a:srgbClr val="24352C"/>
                </a:solidFill>
                <a:latin typeface="Arial"/>
                <a:ea typeface="Arial"/>
                <a:cs typeface="Arial"/>
              </a:defRPr>
            </a:lvl6pPr>
            <a:lvl7pPr>
              <a:defRPr sz="1950" b="0">
                <a:solidFill>
                  <a:srgbClr val="24352C"/>
                </a:solidFill>
                <a:latin typeface="Arial"/>
                <a:ea typeface="Arial"/>
                <a:cs typeface="Arial"/>
              </a:defRPr>
            </a:lvl7pPr>
            <a:lvl8pPr>
              <a:defRPr sz="1950" b="0">
                <a:solidFill>
                  <a:srgbClr val="24352C"/>
                </a:solidFill>
                <a:latin typeface="Arial"/>
                <a:ea typeface="Arial"/>
                <a:cs typeface="Arial"/>
              </a:defRPr>
            </a:lvl8pPr>
            <a:lvl9pPr>
              <a:defRPr sz="1950" b="0">
                <a:solidFill>
                  <a:srgbClr val="24352C"/>
                </a:solidFill>
                <a:latin typeface="Arial"/>
                <a:ea typeface="Arial"/>
                <a:cs typeface="Arial"/>
              </a:defRPr>
            </a:lvl9pPr>
          </a:lstStyle>
          <a:p xmlns:a="http://schemas.openxmlformats.org/drawingml/2006/main">
            <a:pPr>
              <a:defRPr sz="1950" b="0">
                <a:solidFill>
                  <a:srgbClr val="24352C"/>
                </a:solidFill>
                <a:latin typeface="Arial"/>
                <a:ea typeface="Arial"/>
                <a:cs typeface="Arial"/>
              </a:defRPr>
            </a:pPr>
            <a:r>
              <a:rPr sz="1950" b="0">
                <a:solidFill>
                  <a:srgbClr val="24352C"/>
                </a:solidFill>
                <a:latin typeface="Arial"/>
                <a:ea typeface="Arial"/>
                <a:cs typeface="Arial"/>
              </a:rPr>
              <a:t>Next: collect independent field photos and healthy examples. The current model supports 39 disease categories and has no healthy or unknown class.</a:t>
            </a:r>
          </a:p>
        </p:txBody>
      </p:sp>
      <p:sp>
        <p:nvSpPr>
          <p:cNvPr id="7" name="">
            <a:extLst xmlns:a="http://schemas.openxmlformats.org/drawingml/2006/main">
              <a:ext uri="{FF2B5EF4-FFF2-40B4-BE49-F238E27FC236}">
                <a16:creationId xmlns:a16="http://schemas.microsoft.com/office/drawing/2014/main" id="{F4851394-4372-4172-B07E-BBF30A4FDCA3}"/>
              </a:ext>
            </a:extLst>
          </p:cNvPr>
          <p:cNvSpPr>
            <a:spLocks xmlns:a="http://schemas.openxmlformats.org/drawingml/2006/main" noGrp="1"/>
          </p:cNvSpPr>
          <p:nvPr/>
        </p:nvSpPr>
        <p:spPr>
          <a:xfrm xmlns:a="http://schemas.openxmlformats.org/drawingml/2006/main">
            <a:off x="723900" y="6296025"/>
            <a:ext cx="438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73E2C"/>
                </a:solidFill>
                <a:latin typeface="Arial"/>
                <a:ea typeface="Arial"/>
                <a:cs typeface="Arial"/>
              </a:defRPr>
            </a:defPPr>
            <a:lvl1pPr>
              <a:defRPr sz="1725" b="1">
                <a:solidFill>
                  <a:srgbClr val="173E2C"/>
                </a:solidFill>
                <a:latin typeface="Arial"/>
                <a:ea typeface="Arial"/>
                <a:cs typeface="Arial"/>
              </a:defRPr>
            </a:lvl1pPr>
            <a:lvl2pPr>
              <a:defRPr sz="1725" b="1">
                <a:solidFill>
                  <a:srgbClr val="173E2C"/>
                </a:solidFill>
                <a:latin typeface="Arial"/>
                <a:ea typeface="Arial"/>
                <a:cs typeface="Arial"/>
              </a:defRPr>
            </a:lvl2pPr>
            <a:lvl3pPr>
              <a:defRPr sz="1725" b="1">
                <a:solidFill>
                  <a:srgbClr val="173E2C"/>
                </a:solidFill>
                <a:latin typeface="Arial"/>
                <a:ea typeface="Arial"/>
                <a:cs typeface="Arial"/>
              </a:defRPr>
            </a:lvl3pPr>
            <a:lvl4pPr>
              <a:defRPr sz="1725" b="1">
                <a:solidFill>
                  <a:srgbClr val="173E2C"/>
                </a:solidFill>
                <a:latin typeface="Arial"/>
                <a:ea typeface="Arial"/>
                <a:cs typeface="Arial"/>
              </a:defRPr>
            </a:lvl4pPr>
            <a:lvl5pPr>
              <a:defRPr sz="1725" b="1">
                <a:solidFill>
                  <a:srgbClr val="173E2C"/>
                </a:solidFill>
                <a:latin typeface="Arial"/>
                <a:ea typeface="Arial"/>
                <a:cs typeface="Arial"/>
              </a:defRPr>
            </a:lvl5pPr>
            <a:lvl6pPr>
              <a:defRPr sz="1725" b="1">
                <a:solidFill>
                  <a:srgbClr val="173E2C"/>
                </a:solidFill>
                <a:latin typeface="Arial"/>
                <a:ea typeface="Arial"/>
                <a:cs typeface="Arial"/>
              </a:defRPr>
            </a:lvl6pPr>
            <a:lvl7pPr>
              <a:defRPr sz="1725" b="1">
                <a:solidFill>
                  <a:srgbClr val="173E2C"/>
                </a:solidFill>
                <a:latin typeface="Arial"/>
                <a:ea typeface="Arial"/>
                <a:cs typeface="Arial"/>
              </a:defRPr>
            </a:lvl7pPr>
            <a:lvl8pPr>
              <a:defRPr sz="1725" b="1">
                <a:solidFill>
                  <a:srgbClr val="173E2C"/>
                </a:solidFill>
                <a:latin typeface="Arial"/>
                <a:ea typeface="Arial"/>
                <a:cs typeface="Arial"/>
              </a:defRPr>
            </a:lvl8pPr>
            <a:lvl9pPr>
              <a:defRPr sz="1725" b="1">
                <a:solidFill>
                  <a:srgbClr val="173E2C"/>
                </a:solidFill>
                <a:latin typeface="Arial"/>
                <a:ea typeface="Arial"/>
                <a:cs typeface="Arial"/>
              </a:defRPr>
            </a:lvl9pPr>
          </a:lstStyle>
          <a:p xmlns:a="http://schemas.openxmlformats.org/drawingml/2006/main">
            <a:pPr>
              <a:defRPr sz="1725" b="1">
                <a:solidFill>
                  <a:srgbClr val="173E2C"/>
                </a:solidFill>
                <a:latin typeface="Arial"/>
                <a:ea typeface="Arial"/>
                <a:cs typeface="Arial"/>
              </a:defRPr>
            </a:pPr>
            <a:r>
              <a:rPr sz="1725" b="1">
                <a:solidFill>
                  <a:srgbClr val="173E2C"/>
                </a:solidFill>
                <a:latin typeface="Arial"/>
                <a:ea typeface="Arial"/>
                <a:cs typeface="Arial"/>
                <a:hlinkClick xmlns:r="http://schemas.openxmlformats.org/officeDocument/2006/relationships" r:id="R876f8a7243c94973"/>
              </a:rPr>
              <a:t>Open the application</a:t>
            </a:r>
          </a:p>
        </p:txBody>
      </p:sp>
      <p:sp>
        <p:nvSpPr>
          <p:cNvPr id="8" name="">
            <a:extLst xmlns:a="http://schemas.openxmlformats.org/drawingml/2006/main">
              <a:ext uri="{FF2B5EF4-FFF2-40B4-BE49-F238E27FC236}">
                <a16:creationId xmlns:a16="http://schemas.microsoft.com/office/drawing/2014/main" id="{933A1633-7955-4227-A8A7-4B6C46C9EB98}"/>
              </a:ext>
            </a:extLst>
          </p:cNvPr>
          <p:cNvSpPr>
            <a:spLocks xmlns:a="http://schemas.openxmlformats.org/drawingml/2006/main" noGrp="1"/>
          </p:cNvSpPr>
          <p:nvPr/>
        </p:nvSpPr>
        <p:spPr>
          <a:xfrm xmlns:a="http://schemas.openxmlformats.org/drawingml/2006/main">
            <a:off x="6667500" y="6296025"/>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173E2C"/>
                </a:solidFill>
                <a:latin typeface="Arial"/>
                <a:ea typeface="Arial"/>
                <a:cs typeface="Arial"/>
              </a:defRPr>
            </a:defPPr>
            <a:lvl1pPr>
              <a:defRPr sz="1725" b="1">
                <a:solidFill>
                  <a:srgbClr val="173E2C"/>
                </a:solidFill>
                <a:latin typeface="Arial"/>
                <a:ea typeface="Arial"/>
                <a:cs typeface="Arial"/>
              </a:defRPr>
            </a:lvl1pPr>
            <a:lvl2pPr>
              <a:defRPr sz="1725" b="1">
                <a:solidFill>
                  <a:srgbClr val="173E2C"/>
                </a:solidFill>
                <a:latin typeface="Arial"/>
                <a:ea typeface="Arial"/>
                <a:cs typeface="Arial"/>
              </a:defRPr>
            </a:lvl2pPr>
            <a:lvl3pPr>
              <a:defRPr sz="1725" b="1">
                <a:solidFill>
                  <a:srgbClr val="173E2C"/>
                </a:solidFill>
                <a:latin typeface="Arial"/>
                <a:ea typeface="Arial"/>
                <a:cs typeface="Arial"/>
              </a:defRPr>
            </a:lvl3pPr>
            <a:lvl4pPr>
              <a:defRPr sz="1725" b="1">
                <a:solidFill>
                  <a:srgbClr val="173E2C"/>
                </a:solidFill>
                <a:latin typeface="Arial"/>
                <a:ea typeface="Arial"/>
                <a:cs typeface="Arial"/>
              </a:defRPr>
            </a:lvl4pPr>
            <a:lvl5pPr>
              <a:defRPr sz="1725" b="1">
                <a:solidFill>
                  <a:srgbClr val="173E2C"/>
                </a:solidFill>
                <a:latin typeface="Arial"/>
                <a:ea typeface="Arial"/>
                <a:cs typeface="Arial"/>
              </a:defRPr>
            </a:lvl5pPr>
            <a:lvl6pPr>
              <a:defRPr sz="1725" b="1">
                <a:solidFill>
                  <a:srgbClr val="173E2C"/>
                </a:solidFill>
                <a:latin typeface="Arial"/>
                <a:ea typeface="Arial"/>
                <a:cs typeface="Arial"/>
              </a:defRPr>
            </a:lvl6pPr>
            <a:lvl7pPr>
              <a:defRPr sz="1725" b="1">
                <a:solidFill>
                  <a:srgbClr val="173E2C"/>
                </a:solidFill>
                <a:latin typeface="Arial"/>
                <a:ea typeface="Arial"/>
                <a:cs typeface="Arial"/>
              </a:defRPr>
            </a:lvl7pPr>
            <a:lvl8pPr>
              <a:defRPr sz="1725" b="1">
                <a:solidFill>
                  <a:srgbClr val="173E2C"/>
                </a:solidFill>
                <a:latin typeface="Arial"/>
                <a:ea typeface="Arial"/>
                <a:cs typeface="Arial"/>
              </a:defRPr>
            </a:lvl8pPr>
            <a:lvl9pPr>
              <a:defRPr sz="1725" b="1">
                <a:solidFill>
                  <a:srgbClr val="173E2C"/>
                </a:solidFill>
                <a:latin typeface="Arial"/>
                <a:ea typeface="Arial"/>
                <a:cs typeface="Arial"/>
              </a:defRPr>
            </a:lvl9pPr>
          </a:lstStyle>
          <a:p xmlns:a="http://schemas.openxmlformats.org/drawingml/2006/main">
            <a:pPr>
              <a:defRPr sz="1725" b="1">
                <a:solidFill>
                  <a:srgbClr val="173E2C"/>
                </a:solidFill>
                <a:latin typeface="Arial"/>
                <a:ea typeface="Arial"/>
                <a:cs typeface="Arial"/>
              </a:defRPr>
            </a:pPr>
            <a:r>
              <a:rPr sz="1725" b="1">
                <a:solidFill>
                  <a:srgbClr val="173E2C"/>
                </a:solidFill>
                <a:latin typeface="Arial"/>
                <a:ea typeface="Arial"/>
                <a:cs typeface="Arial"/>
                <a:hlinkClick xmlns:r="http://schemas.openxmlformats.org/officeDocument/2006/relationships" r:id="Rf473512ee4a84ba6"/>
              </a:rPr>
              <a:t>GitHub repository</a:t>
            </a:r>
          </a:p>
        </p:txBody>
      </p:sp>
    </p:spTree>
    <p:extLst>
      <p:ext uri="{BB962C8B-B14F-4D97-AF65-F5344CB8AC3E}">
        <p14:creationId xmlns:p14="http://schemas.microsoft.com/office/powerpoint/2010/main" val="14271507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2026-10-24T20:39:06.3390000Z</dcterms:created>
  <dcterms:modified xsi:type="dcterms:W3CDTF">2026-10-24T20:39:06.3390000Z</dcterms:modified>
</coreProperties>
</file>