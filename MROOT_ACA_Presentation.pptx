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f50788dbdc4097" /><Relationship Type="http://schemas.openxmlformats.org/officeDocument/2006/relationships/extended-properties" Target="/docProps/app.xml" Id="R2f21141269aa4dcb" /><Relationship Type="http://schemas.openxmlformats.org/officeDocument/2006/relationships/officeDocument" Target="/ppt/presentation.xml" Id="Red98f7b8d26a46ca" /></Relationships>
</file>

<file path=ppt/presentation.xml><?xml version="1.0" encoding="utf-8"?>
<p:presentation xmlns:p="http://schemas.openxmlformats.org/presentationml/2006/main">
  <p:sldMasterIdLst>
    <p:sldMasterId xmlns:r="http://schemas.openxmlformats.org/officeDocument/2006/relationships" id="2147483648" r:id="R6d4580604c2e4c56"/>
  </p:sldMasterIdLst>
  <p:notesMasterIdLst>
    <p:notesMasterId xmlns:r="http://schemas.openxmlformats.org/officeDocument/2006/relationships" r:id="Re1ca4a033cff4e7c"/>
  </p:notesMasterIdLst>
  <p:sldIdLst>
    <p:sldId xmlns:r="http://schemas.openxmlformats.org/officeDocument/2006/relationships" id="256" r:id="R5d6231c9fa6e4474"/>
    <p:sldId xmlns:r="http://schemas.openxmlformats.org/officeDocument/2006/relationships" id="257" r:id="R875dc3fd597f439c"/>
    <p:sldId xmlns:r="http://schemas.openxmlformats.org/officeDocument/2006/relationships" id="258" r:id="Rd6475f150e9e42f4"/>
    <p:sldId xmlns:r="http://schemas.openxmlformats.org/officeDocument/2006/relationships" id="259" r:id="R2cbec3330d1544de"/>
    <p:sldId xmlns:r="http://schemas.openxmlformats.org/officeDocument/2006/relationships" id="260" r:id="R7b12924e99ae41cc"/>
    <p:sldId xmlns:r="http://schemas.openxmlformats.org/officeDocument/2006/relationships" id="261" r:id="R3fe184d960814919"/>
    <p:sldId xmlns:r="http://schemas.openxmlformats.org/officeDocument/2006/relationships" id="262" r:id="Rac22450c48554e7a"/>
    <p:sldId xmlns:r="http://schemas.openxmlformats.org/officeDocument/2006/relationships" id="263" r:id="Rf00b8a700320453f"/>
    <p:sldId xmlns:r="http://schemas.openxmlformats.org/officeDocument/2006/relationships" id="264" r:id="R2ce87abfae944b76"/>
    <p:sldId xmlns:r="http://schemas.openxmlformats.org/officeDocument/2006/relationships" id="265" r:id="R831ee7a767a74c25"/>
    <p:sldId xmlns:r="http://schemas.openxmlformats.org/officeDocument/2006/relationships" id="266" r:id="Rcb1165bc15b746cc"/>
    <p:sldId xmlns:r="http://schemas.openxmlformats.org/officeDocument/2006/relationships" id="267" r:id="R52359d37d0744db0"/>
    <p:sldId xmlns:r="http://schemas.openxmlformats.org/officeDocument/2006/relationships" id="268" r:id="R44a6c291acdd47e8"/>
    <p:sldId xmlns:r="http://schemas.openxmlformats.org/officeDocument/2006/relationships" id="269" r:id="R69fd6c7180914007"/>
    <p:sldId xmlns:r="http://schemas.openxmlformats.org/officeDocument/2006/relationships" id="270" r:id="R6c063b4e485a4a9e"/>
    <p:sldId xmlns:r="http://schemas.openxmlformats.org/officeDocument/2006/relationships" id="271" r:id="R0e34e311b2fc4970"/>
    <p:sldId xmlns:r="http://schemas.openxmlformats.org/officeDocument/2006/relationships" id="272" r:id="R14b904436b604082"/>
    <p:sldId xmlns:r="http://schemas.openxmlformats.org/officeDocument/2006/relationships" id="273" r:id="Rb6149571840c48b9"/>
    <p:sldId xmlns:r="http://schemas.openxmlformats.org/officeDocument/2006/relationships" id="274" r:id="R5b67fb28ede64620"/>
    <p:sldId xmlns:r="http://schemas.openxmlformats.org/officeDocument/2006/relationships" id="275" r:id="Re033214826ff497a"/>
    <p:sldId xmlns:r="http://schemas.openxmlformats.org/officeDocument/2006/relationships" id="276" r:id="R020a76d2b2a4493b"/>
    <p:sldId xmlns:r="http://schemas.openxmlformats.org/officeDocument/2006/relationships" id="277" r:id="Re3c26cade21b4bba"/>
    <p:sldId xmlns:r="http://schemas.openxmlformats.org/officeDocument/2006/relationships" id="278" r:id="R06cffe7b11d84a24"/>
    <p:sldId xmlns:r="http://schemas.openxmlformats.org/officeDocument/2006/relationships" id="279" r:id="R25d9a0406cc84af0"/>
    <p:sldId xmlns:r="http://schemas.openxmlformats.org/officeDocument/2006/relationships" id="280" r:id="R9ab48e4cf2ef4f42"/>
    <p:sldId xmlns:r="http://schemas.openxmlformats.org/officeDocument/2006/relationships" id="281" r:id="R37c963ca675b4317"/>
    <p:sldId xmlns:r="http://schemas.openxmlformats.org/officeDocument/2006/relationships" id="282" r:id="Rda62ca14d3a74322"/>
    <p:sldId xmlns:r="http://schemas.openxmlformats.org/officeDocument/2006/relationships" id="283" r:id="R36848a744f404623"/>
    <p:sldId xmlns:r="http://schemas.openxmlformats.org/officeDocument/2006/relationships" id="284" r:id="R236531634da649af"/>
    <p:sldId xmlns:r="http://schemas.openxmlformats.org/officeDocument/2006/relationships" id="285" r:id="Rf4b71a03b10443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e708f40ec4e99" /><Relationship Type="http://schemas.openxmlformats.org/officeDocument/2006/relationships/slideMaster" Target="/ppt/slideMasters/slideMaster1.xml" Id="R6d4580604c2e4c56" /><Relationship Type="http://schemas.openxmlformats.org/officeDocument/2006/relationships/notesMaster" Target="/ppt/notesMasters/notesMaster1.xml" Id="Re1ca4a033cff4e7c" /><Relationship Type="http://schemas.openxmlformats.org/officeDocument/2006/relationships/presProps" Target="/ppt/presProps.xml" Id="Rbf6cfbafdd684559" /><Relationship Type="http://schemas.openxmlformats.org/officeDocument/2006/relationships/tableStyles" Target="/ppt/tableStyles.xml" Id="R98649291e15e4dbc" /><Relationship Type="http://schemas.openxmlformats.org/officeDocument/2006/relationships/slide" Target="/ppt/slides/slide1.xml" Id="R5d6231c9fa6e4474" /><Relationship Type="http://schemas.openxmlformats.org/officeDocument/2006/relationships/slide" Target="/ppt/slides/slide2.xml" Id="R875dc3fd597f439c" /><Relationship Type="http://schemas.openxmlformats.org/officeDocument/2006/relationships/slide" Target="/ppt/slides/slide3.xml" Id="Rd6475f150e9e42f4" /><Relationship Type="http://schemas.openxmlformats.org/officeDocument/2006/relationships/slide" Target="/ppt/slides/slide4.xml" Id="R2cbec3330d1544de" /><Relationship Type="http://schemas.openxmlformats.org/officeDocument/2006/relationships/slide" Target="/ppt/slides/slide5.xml" Id="R7b12924e99ae41cc" /><Relationship Type="http://schemas.openxmlformats.org/officeDocument/2006/relationships/slide" Target="/ppt/slides/slide6.xml" Id="R3fe184d960814919" /><Relationship Type="http://schemas.openxmlformats.org/officeDocument/2006/relationships/slide" Target="/ppt/slides/slide7.xml" Id="Rac22450c48554e7a" /><Relationship Type="http://schemas.openxmlformats.org/officeDocument/2006/relationships/slide" Target="/ppt/slides/slide8.xml" Id="Rf00b8a700320453f" /><Relationship Type="http://schemas.openxmlformats.org/officeDocument/2006/relationships/slide" Target="/ppt/slides/slide9.xml" Id="R2ce87abfae944b76" /><Relationship Type="http://schemas.openxmlformats.org/officeDocument/2006/relationships/slide" Target="/ppt/slides/slide10.xml" Id="R831ee7a767a74c25" /><Relationship Type="http://schemas.openxmlformats.org/officeDocument/2006/relationships/slide" Target="/ppt/slides/slide11.xml" Id="Rcb1165bc15b746cc" /><Relationship Type="http://schemas.openxmlformats.org/officeDocument/2006/relationships/slide" Target="/ppt/slides/slide12.xml" Id="R52359d37d0744db0" /><Relationship Type="http://schemas.openxmlformats.org/officeDocument/2006/relationships/slide" Target="/ppt/slides/slide13.xml" Id="R44a6c291acdd47e8" /><Relationship Type="http://schemas.openxmlformats.org/officeDocument/2006/relationships/slide" Target="/ppt/slides/slide14.xml" Id="R69fd6c7180914007" /><Relationship Type="http://schemas.openxmlformats.org/officeDocument/2006/relationships/slide" Target="/ppt/slides/slide15.xml" Id="R6c063b4e485a4a9e" /><Relationship Type="http://schemas.openxmlformats.org/officeDocument/2006/relationships/slide" Target="/ppt/slides/slide16.xml" Id="R0e34e311b2fc4970" /><Relationship Type="http://schemas.openxmlformats.org/officeDocument/2006/relationships/slide" Target="/ppt/slides/slide17.xml" Id="R14b904436b604082" /><Relationship Type="http://schemas.openxmlformats.org/officeDocument/2006/relationships/slide" Target="/ppt/slides/slide18.xml" Id="Rb6149571840c48b9" /><Relationship Type="http://schemas.openxmlformats.org/officeDocument/2006/relationships/slide" Target="/ppt/slides/slide19.xml" Id="R5b67fb28ede64620" /><Relationship Type="http://schemas.openxmlformats.org/officeDocument/2006/relationships/slide" Target="/ppt/slides/slide20.xml" Id="Re033214826ff497a" /><Relationship Type="http://schemas.openxmlformats.org/officeDocument/2006/relationships/slide" Target="/ppt/slides/slide21.xml" Id="R020a76d2b2a4493b" /><Relationship Type="http://schemas.openxmlformats.org/officeDocument/2006/relationships/slide" Target="/ppt/slides/slide22.xml" Id="Re3c26cade21b4bba" /><Relationship Type="http://schemas.openxmlformats.org/officeDocument/2006/relationships/slide" Target="/ppt/slides/slide23.xml" Id="R06cffe7b11d84a24" /><Relationship Type="http://schemas.openxmlformats.org/officeDocument/2006/relationships/slide" Target="/ppt/slides/slide24.xml" Id="R25d9a0406cc84af0" /><Relationship Type="http://schemas.openxmlformats.org/officeDocument/2006/relationships/slide" Target="/ppt/slides/slide25.xml" Id="R9ab48e4cf2ef4f42" /><Relationship Type="http://schemas.openxmlformats.org/officeDocument/2006/relationships/slide" Target="/ppt/slides/slide26.xml" Id="R37c963ca675b4317" /><Relationship Type="http://schemas.openxmlformats.org/officeDocument/2006/relationships/slide" Target="/ppt/slides/slide27.xml" Id="Rda62ca14d3a74322" /><Relationship Type="http://schemas.openxmlformats.org/officeDocument/2006/relationships/slide" Target="/ppt/slides/slide28.xml" Id="R36848a744f404623" /><Relationship Type="http://schemas.openxmlformats.org/officeDocument/2006/relationships/slide" Target="/ppt/slides/slide29.xml" Id="R236531634da649af" /><Relationship Type="http://schemas.openxmlformats.org/officeDocument/2006/relationships/slide" Target="/ppt/slides/slide30.xml" Id="Rf4b71a03b10443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018d1aebfd4e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ff9e2a86dd407c" /><Relationship Type="http://schemas.openxmlformats.org/officeDocument/2006/relationships/notesMaster" Target="/ppt/notesMasters/notesMaster1.xml" Id="R22dc5cd40d2d49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0ae228d8064895" /><Relationship Type="http://schemas.openxmlformats.org/officeDocument/2006/relationships/notesMaster" Target="/ppt/notesMasters/notesMaster1.xml" Id="R5b6087831ead46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9342bd61b64b2c" /><Relationship Type="http://schemas.openxmlformats.org/officeDocument/2006/relationships/notesMaster" Target="/ppt/notesMasters/notesMaster1.xml" Id="Rf83a4c4a346a4e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5d891617f14dbd" /><Relationship Type="http://schemas.openxmlformats.org/officeDocument/2006/relationships/notesMaster" Target="/ppt/notesMasters/notesMaster1.xml" Id="R736ba51543d146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fae8cbcc6840da" /><Relationship Type="http://schemas.openxmlformats.org/officeDocument/2006/relationships/notesMaster" Target="/ppt/notesMasters/notesMaster1.xml" Id="Rdfedb41d5ac148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5144743bdc4104" /><Relationship Type="http://schemas.openxmlformats.org/officeDocument/2006/relationships/notesMaster" Target="/ppt/notesMasters/notesMaster1.xml" Id="R2bb1290171f64c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c2e809ff094b63" /><Relationship Type="http://schemas.openxmlformats.org/officeDocument/2006/relationships/notesMaster" Target="/ppt/notesMasters/notesMaster1.xml" Id="R4aeb57753d224b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f02c5f1f6e4c69" /><Relationship Type="http://schemas.openxmlformats.org/officeDocument/2006/relationships/notesMaster" Target="/ppt/notesMasters/notesMaster1.xml" Id="R80a846d6ea464d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efdfa937704a86" /><Relationship Type="http://schemas.openxmlformats.org/officeDocument/2006/relationships/notesMaster" Target="/ppt/notesMasters/notesMaster1.xml" Id="R3754e9b3ac3f40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617f5c13414d35" /><Relationship Type="http://schemas.openxmlformats.org/officeDocument/2006/relationships/notesMaster" Target="/ppt/notesMasters/notesMaster1.xml" Id="R569dcd1491cf4b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b908c2450542a7" /><Relationship Type="http://schemas.openxmlformats.org/officeDocument/2006/relationships/notesMaster" Target="/ppt/notesMasters/notesMaster1.xml" Id="R748b48d67e1249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6412ed3ccc4d9f" /><Relationship Type="http://schemas.openxmlformats.org/officeDocument/2006/relationships/notesMaster" Target="/ppt/notesMasters/notesMaster1.xml" Id="R543ea6853ffa41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97a46dd30549c6" /><Relationship Type="http://schemas.openxmlformats.org/officeDocument/2006/relationships/notesMaster" Target="/ppt/notesMasters/notesMaster1.xml" Id="R6f77ca54e77844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8f1f9f166943d9" /><Relationship Type="http://schemas.openxmlformats.org/officeDocument/2006/relationships/notesMaster" Target="/ppt/notesMasters/notesMaster1.xml" Id="Ra8f0381c694748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1f7ddfb7be4c86" /><Relationship Type="http://schemas.openxmlformats.org/officeDocument/2006/relationships/notesMaster" Target="/ppt/notesMasters/notesMaster1.xml" Id="R66972ab1d05e4b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287c1adfb544f7" /><Relationship Type="http://schemas.openxmlformats.org/officeDocument/2006/relationships/notesMaster" Target="/ppt/notesMasters/notesMaster1.xml" Id="Radf503d11ec547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dab4e5bccd4c24" /><Relationship Type="http://schemas.openxmlformats.org/officeDocument/2006/relationships/notesMaster" Target="/ppt/notesMasters/notesMaster1.xml" Id="R297ed1a466b343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d91c20a95f4ead" /><Relationship Type="http://schemas.openxmlformats.org/officeDocument/2006/relationships/notesMaster" Target="/ppt/notesMasters/notesMaster1.xml" Id="Rde1cdba78aa741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d3210852644489" /><Relationship Type="http://schemas.openxmlformats.org/officeDocument/2006/relationships/notesMaster" Target="/ppt/notesMasters/notesMaster1.xml" Id="R4d8d16afe86540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9e9c8f08eb4832" /><Relationship Type="http://schemas.openxmlformats.org/officeDocument/2006/relationships/notesMaster" Target="/ppt/notesMasters/notesMaster1.xml" Id="R2cfb0d45b3524f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af8698592f4175" /><Relationship Type="http://schemas.openxmlformats.org/officeDocument/2006/relationships/notesMaster" Target="/ppt/notesMasters/notesMaster1.xml" Id="R85fefacfae324d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0bf6c4dd2e4f6b" /><Relationship Type="http://schemas.openxmlformats.org/officeDocument/2006/relationships/notesMaster" Target="/ppt/notesMasters/notesMaster1.xml" Id="Rd612fe88b16a45b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12503945ad486f" /><Relationship Type="http://schemas.openxmlformats.org/officeDocument/2006/relationships/notesMaster" Target="/ppt/notesMasters/notesMaster1.xml" Id="Ree72afc7d89141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367ea7b2644da6" /><Relationship Type="http://schemas.openxmlformats.org/officeDocument/2006/relationships/notesMaster" Target="/ppt/notesMasters/notesMaster1.xml" Id="R571ed9b2c99243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98c0cc91d44bb3" /><Relationship Type="http://schemas.openxmlformats.org/officeDocument/2006/relationships/notesMaster" Target="/ppt/notesMasters/notesMaster1.xml" Id="R3aca2274e343469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0cbdfe26e64463" /><Relationship Type="http://schemas.openxmlformats.org/officeDocument/2006/relationships/notesMaster" Target="/ppt/notesMasters/notesMaster1.xml" Id="R7ff9415d537d48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3902ecc0df4cc5" /><Relationship Type="http://schemas.openxmlformats.org/officeDocument/2006/relationships/notesMaster" Target="/ppt/notesMasters/notesMaster1.xml" Id="R46ccb401b30c4d8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e56b41eacd4684" /><Relationship Type="http://schemas.openxmlformats.org/officeDocument/2006/relationships/notesMaster" Target="/ppt/notesMasters/notesMaster1.xml" Id="R482f6056ffb945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00b1a8b7cf4641" /><Relationship Type="http://schemas.openxmlformats.org/officeDocument/2006/relationships/notesMaster" Target="/ppt/notesMasters/notesMaster1.xml" Id="R7adf8be53f1e48a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8b769bf19747d5" /><Relationship Type="http://schemas.openxmlformats.org/officeDocument/2006/relationships/notesMaster" Target="/ppt/notesMasters/notesMaster1.xml" Id="R93993a24796c42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Armen. MROOT is my plant disease image classification project. I will explain how a model learns from photos, why I tried different training methods, and how I chose the final system. The result is a web app that suggests disease categories from an uploaded photo.</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image classification: assigning a picture to one of a fixed set of categories. MROOT has 39 disease labels. A label is the name attached to a training photo, such as rust or septoria leaf spot. The app ranks five suggestions. It predicts the disease category, independently of the plant species. It has no healthy category, so it cannot reliably answer the broader question of whether any plant is healthy.</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 The photo is an original validation example labeled septoria_leaf_spot. It is not a newly generated image or a new model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neural network is a model whose connected layers transform an image into scores. Its parameters, often called weights, are the internal numbers learned during training. A loss is a numerical penalty for a wrong or poor prediction. Training adjusts the parameters to reduce that penalty. Prediction uses the trained parameters to score a new photo. The app does not learn a new model every time someone uploads an image.</a:t>
            </a:r>
          </a:p>
          <a:p xmlns:a="http://schemas.openxmlformats.org/drawingml/2006/main">
            <a:r>
              <a:t/>
            </a:r>
          </a:p>
          <a:p xmlns:a="http://schemas.openxmlformats.org/drawingml/2006/main">
            <a:r>
              <a:t>Sources: Project training configuration and original recorded recipes. General training terminology: 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photos teach the model. Validation photos help me compare training choices without directly training on those photos. A test or holdout set is normally reserved for reporting after choices are fixed. Our final paired experiment used 6,790 training and 388 validation photos. Comparisons with older checkpoints also used a shared 368-image subset of validation. The final report used 623 held-out photos. That holdout had already been evaluated earlier, so it is not a completely new blind test. The original clean split had 6,870 training and 390 validation photos; I keep those counts with the earlier results.</a:t>
            </a:r>
          </a:p>
          <a:p xmlns:a="http://schemas.openxmlformats.org/drawingml/2006/main">
            <a:r>
              <a:t/>
            </a:r>
          </a:p>
          <a:p xmlns:a="http://schemas.openxmlformats.org/drawingml/2006/main">
            <a:r>
              <a:t>Sources: Project reports/raw/class_support.csv, eda_summary.json, split_summary.json, and exact data/manifests CSVs. Original handover explains the source-folder versus manifest distinction. Project reports/raw/FINAL_HOLDOUT_20261024T103253_167194Z/FINAL_HOLDOUT_RESULT.json and FROZEN_SELECTION.json. Comparison with the previous four-model result uses the same 623 images. This holdout was previously 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measures answer a direct user question. Did the model’s first answer match the label, or was the label at least included among its five suggestions? The example is only an illustration. A model can have strong Top-5 and still make noticeably more first-choice errors. That pattern motivated checking which diseases the model confused and whether combining models improved their ranking.</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 Definitions follow the project evaluation code. The second-place example is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precision, or AP, measures ranking quality for one disease. Macro mAP averages AP over all 39 diseases with equal importance. In the toy table, a non-rust photo ranks above a rust photo, reducing the rust AP. This metric is not the fraction of photos with a correct first suggestion. I chose it because common classes should not dominate the score.</a:t>
            </a:r>
          </a:p>
          <a:p xmlns:a="http://schemas.openxmlformats.org/drawingml/2006/main">
            <a:r>
              <a:t/>
            </a:r>
          </a:p>
          <a:p xmlns:a="http://schemas.openxmlformats.org/drawingml/2006/main">
            <a:r>
              <a:t>Sources: Project metric code uses sklearn.metrics.average_precision_score. Definition: https://scikit-learn.org/stable/modules/generated/sklearn.metrics.average_precision_score.html. Any three-photo example in this presentation is invented only to explain the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class is one of the categories the model can predict. In our final training data, powdery mildew had 755 photos while berry blotch had 68. A model could pay much more attention to common classes unless the training method accounts for this difference. That is called class imbalance. It explains why I used a metric that treats classes equally and tested different ways of balancing training. The chart shows a few examples from all 39 classes.</a:t>
            </a:r>
          </a:p>
          <a:p xmlns:a="http://schemas.openxmlformats.org/drawingml/2006/main">
            <a:r>
              <a:t/>
            </a:r>
          </a:p>
          <a:p xmlns:a="http://schemas.openxmlformats.org/drawingml/2006/main">
            <a:r>
              <a:t>Sources: Project reports/raw/class_support.csv, eda_summary.json, split_summary.json, and exact data/manifests CSVs. Original handover explains the source-folder versus manifest distinction.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Matching file hashes finds identical bytes, but a resized copy can have a different hash. If a training photo and its close copy appear in validation, the score may look better than performance on genuinely new photos. Review also found a related photo with conflicting disease labels. We used new manifests, meaning CSV lists of the files allowed in each split, to quarantine detected groups. The final pair used 80 fewer training rows and two fewer validation rows. The original files remained intact. The checks reduced detected overlap; they cannot prove that every possible relationship was removed.</a:t>
            </a:r>
          </a:p>
          <a:p xmlns:a="http://schemas.openxmlformats.org/drawingml/2006/main">
            <a:r>
              <a:t/>
            </a:r>
          </a:p>
          <a:p xmlns:a="http://schemas.openxmlformats.org/drawingml/2006/main">
            <a:r>
              <a:t>Sources: Project reports/raw/class_support.csv, eda_summary.json, split_summary.json, and exact data/manifests CSVs. Original handover explains the source-folder versus manifest distinction. Initial and reviewed audit findings in docs/experiments.md.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train a large image model from zero using only a few thousand photos. I started with pretrained models and fine-tuned them. ViT stands for Vision Transformer. It represents an image through patches and combines information across those patches. EVA-02 is the particular pretrained Transformer family used in MROOT. Small and Base are different model sizes. A larger model has more learned parameters and costs more to run, but it still needs a measured benefit on our task.</a:t>
            </a:r>
          </a:p>
          <a:p xmlns:a="http://schemas.openxmlformats.org/drawingml/2006/main">
            <a:r>
              <a:t/>
            </a:r>
          </a:p>
          <a:p xmlns:a="http://schemas.openxmlformats.org/drawingml/2006/main">
            <a:r>
              <a:t>Sources: Project handover and model identifiers. ViT: https://arxiv.org/abs/2010.11929. EVA-02: https://arxiv.org/abs/2303.11331.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ensemble combines predictions from several trained models. A random seed controls random choices in training, so the same general recipe can produce models with different errors. The original project trained three separate EVA Small models. Their disease probabilities were averaged. The historical clean ViT baseline was about 90.64% macro mAP, two EVA models reached about 93.53%, and the three-model result was 94.72% on the original 390 validation photos. I reproduced that saved reference before trying changes. Averaging helps only when the predictions combine usefully.</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fourth Small model used the same general recipe with different training randomness, but it lowered the ensemble score to about 94.49%. Continuing the first model’s training did not beat its earlier saved result. ConvNeXt V2 Tiny was another image-model architecture, using learned local visual filters instead of the Transformer approach. It reached about 90.54% alone and hurt the EVA combination. These failures kept me from treating more training or more models as automatic progress. The motivations for these historical runs are reconstructed from the setup in the handover.</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sampler decides which training examples are drawn. With replacement sampling, the same rare photo may appear several times while another photo is skipped in that round. A loss tells training how costly its mistakes are. I tested ordinary shuffled sampling and moved the class balancing into the loss penalty. This was a combined sampling-and-loss change, not two separately isolated effects. The new Small model added only about 0.13 percentage points to the original ensemble on the same 390 validation photos. That was a small candidate improvement, not evidence that balancing was solved.</a:t>
            </a:r>
          </a:p>
          <a:p xmlns:a="http://schemas.openxmlformats.org/drawingml/2006/main">
            <a:r>
              <a:t/>
            </a:r>
          </a:p>
          <a:p xmlns:a="http://schemas.openxmlformats.org/drawingml/2006/main">
            <a:r>
              <a:t>Sources: docs/experiments.md and the saved natural-sampling experiment. Original 390-photo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Resolution is the number of input pixels across and down. Increasing it may preserve detail that was harder to see at a smaller input size. I also changed the model size, so this experiment cannot identify a resolution-only effect. Earlier parts of the pretrained model received smaller updates than later parts, to limit how much previous learning was disturbed. This is called layer-wise learning-rate decay. The larger Base contributed usefully in some combinations. Its cost and its contribution both mattered, rather than its size alone.</a:t>
            </a:r>
          </a:p>
          <a:p xmlns:a="http://schemas.openxmlformats.org/drawingml/2006/main">
            <a:r>
              <a:t/>
            </a:r>
          </a:p>
          <a:p xmlns:a="http://schemas.openxmlformats.org/drawingml/2006/main">
            <a:r>
              <a:t>Sources: docs/experiments.md and original Base configuration. EVA-02: https://arxiv.org/abs/2303.11331.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learning rate controls how large an adjustment training makes to its parameters. Large adjustments may move a useful pretrained solution too much, while smaller ones can adapt more gently. I tested smaller rates rather than assuming they would help. The gentler Base improved by itself under the recorded three-view prediction recipe. However, replacing the earlier Base in a predefined ensemble reduced that combination from about 95.12% to 94.92% on the same 390 validation photos. I therefore kept checking how predictions worked together, not just which model had the highest individual score.</a:t>
            </a:r>
          </a:p>
          <a:p xmlns:a="http://schemas.openxmlformats.org/drawingml/2006/main">
            <a:r>
              <a:t/>
            </a:r>
          </a:p>
          <a:p xmlns:a="http://schemas.openxmlformats.org/drawingml/2006/main">
            <a:r>
              <a:t>Sources: reports/raw/gentler_base_result.json and docs/experiments.md. The standalone scores shown use the recorded three-view prediction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image-group review changed the split, I needed a fresh reference trained on that same split. Otherwise, a difference could come from cleaner data rather than the proposed training method. A control is the matched reference for this comparison. Both final models used the same 6,790 training and 388 validation photos and the same saved starting parameters. The candidate added MixUp and CutMix as one policy. I can compare that combined policy with the control, but I cannot claim which mixing method caused the difference on its own. I ran one seed per arm, so repeated-seed variation remains unknown.</a:t>
            </a:r>
          </a:p>
          <a:p xmlns:a="http://schemas.openxmlformats.org/drawingml/2006/main">
            <a:r>
              <a:t/>
            </a:r>
          </a:p>
          <a:p xmlns:a="http://schemas.openxmlformats.org/drawingml/2006/main">
            <a:r>
              <a:t>Sources: Project reports/raw/COMPLETED_COMPARISON.json, control/experiment_config.json, mixup_cutmix/experiment_config.json, paired_validation_intervals.json, and docs/experiments.md. These are saved results, not new evaluations.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augmentation changes training inputs so the model sees variation. A flip or a modest crop can change the picture while keeping the labeled disease visible. The changes need care: an aggressive crop can remove a lesion, and large color changes can remove useful symptoms. Our ordinary augmentations were already in the shared recipe. The last experiment added a mixing policy to test whether stronger variation could help. It did not prove that the model stopped using backgrounds or memorizing photos; that was the hypothesis being tested.</a:t>
            </a:r>
          </a:p>
          <a:p xmlns:a="http://schemas.openxmlformats.org/drawingml/2006/main">
            <a:r>
              <a:t/>
            </a:r>
          </a:p>
          <a:p xmlns:a="http://schemas.openxmlformats.org/drawingml/2006/main">
            <a:r>
              <a:t>Sources: Recorded original and final augmentation configurations. MixUp/CutMix motivation: Zhang et al., https://arxiv.org/abs/1710.09412; Yun et al., https://arxiv.org/abs/1905.04899. Actual MROOT outcome is from the saved final controlled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MixUp uses a blended pair of images and correspondingly blended targets. The 70/30 example is invented to explain the idea, not an actual evaluation result. The model must learn from combinations instead of relying only on complete familiar photos. During normal prediction, the user still uploads an ordinary photo. The public app does not blend the user’s photo with another image.</a:t>
            </a:r>
          </a:p>
          <a:p xmlns:a="http://schemas.openxmlformats.org/drawingml/2006/main">
            <a:r>
              <a:t/>
            </a:r>
          </a:p>
          <a:p xmlns:a="http://schemas.openxmlformats.org/drawingml/2006/main">
            <a:r>
              <a:t>Sources: Zhang et al., https://arxiv.org/abs/1710.09412; Yun et al., https://arxiv.org/abs/1905.04899. Actual MROOT outcome is from the saved final controlled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CutMix changes a region rather than blending every pixel. Its targets are mixed according to patch area. For disease photos this might encourage the model to use more than one local cue, but it can also hide important symptom detail. That is why it needed a validation comparison. Our experiment tested a combined MixUp/CutMix policy. It was not a separate proof of MixUp’s effect and another proof of CutMix’s effect.</a:t>
            </a:r>
          </a:p>
          <a:p xmlns:a="http://schemas.openxmlformats.org/drawingml/2006/main">
            <a:r>
              <a:t/>
            </a:r>
          </a:p>
          <a:p xmlns:a="http://schemas.openxmlformats.org/drawingml/2006/main">
            <a:r>
              <a:t>Sources: Zhang et al., https://arxiv.org/abs/1710.09412; Yun et al., https://arxiv.org/abs/1905.04899. Actual MROOT outcome is from the saved final controlled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388 validation photos, the control scored 94.81% macro mAP and the mixed-image candidate scored 96.07% with one standard prediction view. This was an observed result from a matched comparison. Both models trained only on the training split. I saved the best version using validation rather than simply using the last training version. The result supports keeping the candidate for ensemble checks. It does not prove that the policy will improve every seed or a completely new data source.</a:t>
            </a:r>
          </a:p>
          <a:p xmlns:a="http://schemas.openxmlformats.org/drawingml/2006/main">
            <a:r>
              <a:t/>
            </a:r>
          </a:p>
          <a:p xmlns:a="http://schemas.openxmlformats.org/drawingml/2006/main">
            <a:r>
              <a:t>Sources: Project reports/raw/COMPLETED_COMPARISON.json, control/experiment_config.json, mixup_cutmix/experiment_config.json, paired_validation_intervals.json, and docs/experiments.md. These are saved results, not new evaluations.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Inference means using a trained model to make a prediction. Test-time augmentation repeats inference for different versions of the same input. It is separate from creating varied examples during training. The padded view preserves the full image and adds a plain border to make it square. We used the recorded normal, flipped, and padded recipe so the deployment matched evaluation. It can help some models, but it did not improve every metric in every comparison. The exact view weights are in the implementation rather than on the public slides.</a:t>
            </a:r>
          </a:p>
          <a:p xmlns:a="http://schemas.openxmlformats.org/drawingml/2006/main">
            <a:r>
              <a:t/>
            </a:r>
          </a:p>
          <a:p xmlns:a="http://schemas.openxmlformats.org/drawingml/2006/main">
            <a:r>
              <a:t>Sources: ensemble.json; src/mroot/inference.py; saved normal-view and fixed-view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comparison with older models, I used the same shared 368-photo subset of validation. The mixed-image model alone scored 96.03% macro mAP with the recorded multiple-view recipe. Combining it with the clean control scored 96.48%. Adding an earlier Base or a newer Small did not beat that pair. I chose by macro mAP, the primary metric. A single mixed model with standard single-view prediction had higher Top-1, so the pair was not best on every metric. An uncertainty range estimated by resampling these validation photos includes no improvement, so the small pair-versus-single advantage is uncertain. This is the highest observed mAP among the final comparisons, not a guarantee of an improvement on unseen sources.</a:t>
            </a:r>
          </a:p>
          <a:p xmlns:a="http://schemas.openxmlformats.org/drawingml/2006/main">
            <a:r>
              <a:t/>
            </a:r>
          </a:p>
          <a:p xmlns:a="http://schemas.openxmlformats.org/drawingml/2006/main">
            <a:r>
              <a:t>Sources: Project reports/raw/COMPLETED_COMPARISON.json, control/experiment_config.json, mixup_cutmix/experiment_config.json, paired_validation_intervals.json, and docs/experiments.md. These are saved results, not new evaluations.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pair classified 557 of 623 photos correctly on its first choice, which is 89.41% Top-1 accuracy. It included the true disease in the first five suggestions for 619 photos, or 99.36% Top-5. Its macro mAP was 92.99%. On the same 623 photos, the previous four-model system had 549 correct first choices, so the final pair added eight. This holdout had already been evaluated earlier. We froze the final selection before its last evaluation, but that does not make it a completely new independent test. It also cannot be compared directly with the old V1 score on 670 photos as if the sample sets were identical.</a:t>
            </a:r>
          </a:p>
          <a:p xmlns:a="http://schemas.openxmlformats.org/drawingml/2006/main">
            <a:r>
              <a:t/>
            </a:r>
          </a:p>
          <a:p xmlns:a="http://schemas.openxmlformats.org/drawingml/2006/main">
            <a:r>
              <a:t>Sources: Project reports/raw/FINAL_HOLDOUT_20261024T103253_167194Z/FINAL_HOLDOUT_RESULT.json and FROZEN_SELECTION.json. Comparison with the previous four-model result uses the same 623 images. This holdout was previously 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means putting the trained model into an application other people can use. In the V2 Hugging Face Space, the user uploads a plant photo and clicks Analyze photo. The app returns the five ranked disease scores. The original V1 app remains available. The V2 model files and prediction recipe were checked against the saved versions. If the online service is unavailable during the demonstration, I can show the interface and saved verification, while saying clearly that the live request did not complete.</a:t>
            </a:r>
          </a:p>
          <a:p xmlns:a="http://schemas.openxmlformats.org/drawingml/2006/main">
            <a:r>
              <a:t/>
            </a:r>
          </a:p>
          <a:p xmlns:a="http://schemas.openxmlformats.org/drawingml/2006/main">
            <a:r>
              <a:t>Sources: https://huggingface.co/spaces/Armennnn/mroot-plant-disease-classifier-v2 and reports/live_deployment_verification.json.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Generalization is the ability to work on new examples from the intended use setting. Overfitting is one way that ability can fail. Our validation set is small, and repeated experiment decisions can adapt to its quirks even when validation photos are not used in gradient updates. The old holdout was also exposed earlier. Some class labels overlap visually or remain ambiguous. The model’s output score is not a verified probability that a diagnosis is correct. These limitations are why I would next collect independently reviewed external photos and add healthy or unrelated examples before considering a rejection rule.</a:t>
            </a:r>
          </a:p>
          <a:p xmlns:a="http://schemas.openxmlformats.org/drawingml/2006/main">
            <a:r>
              <a:t/>
            </a:r>
          </a:p>
          <a:p xmlns:a="http://schemas.openxmlformats.org/drawingml/2006/main">
            <a:r>
              <a:t>Sources: Project evaluation history and limitations in docs/evaluation.md and original handover.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main lesson was to turn each training idea into a question I could actually test. Balancing rare classes, increasing the model and image size, reducing adjustment size, and mixing training examples were different hypotheses. Some helped a model alone but not the ensemble. Some failed. The final result is a working app and a recorded experiment history. The next useful improvement is stronger evaluation evidence, rather than simply making the ensemble larger.</a:t>
            </a:r>
          </a:p>
          <a:p xmlns:a="http://schemas.openxmlformats.org/drawingml/2006/main">
            <a:r>
              <a:t/>
            </a:r>
          </a:p>
          <a:p xmlns:a="http://schemas.openxmlformats.org/drawingml/2006/main">
            <a:r>
              <a:t>Sources: Project experiment record. Proposed future work is not completed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keeps the earlier history available for questions. It separates measured historical outcomes from possible explanations. The original successful Base checkpoint was lost, and a later rebuild did not reproduce its score. A checkpoint is simply a file containing a saved model state. The loss of that file means the old score cannot serve as a currently reloadable final model. The present selected checkpoints are backed up. None of these historical figures are new reproductions in this presentation.</a:t>
            </a:r>
          </a:p>
          <a:p xmlns:a="http://schemas.openxmlformats.org/drawingml/2006/main">
            <a:r>
              <a:t/>
            </a:r>
          </a:p>
          <a:p xmlns:a="http://schemas.openxmlformats.org/drawingml/2006/main">
            <a:r>
              <a:t>Sources: Original student-supplied MROOT handover, including the clean ViT baseline, EVA Small seeds, previous failed experiments, historical Base results, data manifests, and V1 evaluation. Rounded historical scores are approximate. Reasons for old runs are reconstructed from the recorded setup where no original proposal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voting weights are different from a model’s learned internal weights. I tried only four choices: equal thirds and each model getting half while the others got one quarter. Five-fold cross-fitting means choosing a candidate using four validation parts and evaluating it on the fifth, then rotating that held-out part. It reused saved predictions and did not train five neural networks. The pooled score was worse than equal weights. Broadly searching 103 subsets of an earlier prediction pool was also exploratory, and cross-fitting that selection was unstable. A favorable full-validation search result is not automatically an independent improvement.</a:t>
            </a:r>
          </a:p>
          <a:p xmlns:a="http://schemas.openxmlformats.org/drawingml/2006/main">
            <a:r>
              <a:t/>
            </a:r>
          </a:p>
          <a:p xmlns:a="http://schemas.openxmlformats.org/drawingml/2006/main">
            <a:r>
              <a:t>Sources: configs/ensemble_weight_grid.json; scripts/crossfit_weights.py; docs/experiments.md. Original 390-photo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 is an average of parameters within a training run. A prediction ensemble combines outputs from trained models. They are different operations. I checked the EMA version at the same validation-selected training point as the raw gentler Base model. It did not beat the raw model in that check, so it was not used in the final pair. This applies to the tested setup and does not establish that EMA always fails.</a:t>
            </a:r>
          </a:p>
          <a:p xmlns:a="http://schemas.openxmlformats.org/drawingml/2006/main">
            <a:r>
              <a:t/>
            </a:r>
          </a:p>
          <a:p xmlns:a="http://schemas.openxmlformats.org/drawingml/2006/main">
            <a:r>
              <a:t>Sources: reports/raw/gentler_base_result.json; docs/experiments.md. Method implementation: https://github.com/huggingface/pytorch-image-models/blob/main/timm/utils/model_ema.py.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count is essential when comparing these values. The first three candidates use the original 390-photo validation set. The last pair uses 388. The single-view column uses one standard input view. The multiple-view column uses the recorded normal, flipped, and padded prediction average. These scores refer to each selected model, not the final ensemble. Exact training steps, optimizer settings, and saved file identifiers remain in the reports. Only measured completed experiments appear here. Other proposed methods remain future ideas.</a:t>
            </a:r>
          </a:p>
          <a:p xmlns:a="http://schemas.openxmlformats.org/drawingml/2006/main">
            <a:r>
              <a:t/>
            </a:r>
          </a:p>
          <a:p xmlns:a="http://schemas.openxmlformats.org/drawingml/2006/main">
            <a:r>
              <a:t>Sources: Project reports/raw/COMPLETED_COMPARISON.json, control/experiment_config.json, mixup_cutmix/experiment_config.json, paired_validation_intervals.json, and docs/experiments.md. These are saved results, not new evaluations. docs/experiments.md.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outcomes come from the original project handover and saved MROOT reports. The method references explain the model family and training ideas. Their published results do not replace our own measurements. The supplied ACA guidelines shaped the data exploration, experimentation, deployment, repository, and presentation coverage.</a:t>
            </a:r>
          </a:p>
          <a:p xmlns:a="http://schemas.openxmlformats.org/drawingml/2006/main">
            <a:r>
              <a:t/>
            </a:r>
          </a:p>
          <a:p xmlns:a="http://schemas.openxmlformats.org/drawingml/2006/main">
            <a:r>
              <a:t>Sources: Original MROOT handover; ML Engineer Project Guidelines.pdf; linked primary references and project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cc4f7facbe46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4be5b629494f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c4b13fce0e4f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51643c133048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3cc309d74c4e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64467b4a9c46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A0C2A8-7A71-42F0-ADFA-D42B02C49F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5A5AE9-1A5B-49B1-9812-15E2271982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B7E6B7-EF36-4643-B2D3-F66DD79CBF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0DF69A-DF05-4B9D-82CE-0B880D183A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7417C3-DE5D-406E-B84C-CF9795017B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B77020-9E04-45EE-8098-B310744D53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58996C-F828-4B08-941D-530EAA306C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5C66CB-CDD6-44D9-8AFF-79DB65EA06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C2C014-8851-4B02-A740-145C524D90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478F2-9E0A-41C1-AAD2-6FAF7F04F5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edaded08da4551" /><Relationship Type="http://schemas.openxmlformats.org/officeDocument/2006/relationships/slideLayout" Target="/ppt/slideLayouts/slideLayout1.xml" Id="Rffebb3f9c9164b95" /><Relationship Type="http://schemas.openxmlformats.org/officeDocument/2006/relationships/slideLayout" Target="/ppt/slideLayouts/slideLayout2.xml" Id="Rdf5ec81cfb664b8e" /><Relationship Type="http://schemas.openxmlformats.org/officeDocument/2006/relationships/slideLayout" Target="/ppt/slideLayouts/slideLayout3.xml" Id="R7fb57df48e084cf5" /><Relationship Type="http://schemas.openxmlformats.org/officeDocument/2006/relationships/slideLayout" Target="/ppt/slideLayouts/slideLayout4.xml" Id="R86a5f1a1e94147c7" /><Relationship Type="http://schemas.openxmlformats.org/officeDocument/2006/relationships/slideLayout" Target="/ppt/slideLayouts/slideLayout5.xml" Id="R170921b939564643" /><Relationship Type="http://schemas.openxmlformats.org/officeDocument/2006/relationships/slideLayout" Target="/ppt/slideLayouts/slideLayout6.xml" Id="R524d210eed7f41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ebb3f9c9164b95"/>
    <p:sldLayoutId xmlns:r="http://schemas.openxmlformats.org/officeDocument/2006/relationships" id="2147483650" r:id="Rdf5ec81cfb664b8e"/>
    <p:sldLayoutId xmlns:r="http://schemas.openxmlformats.org/officeDocument/2006/relationships" id="2147483651" r:id="R7fb57df48e084cf5"/>
    <p:sldLayoutId xmlns:r="http://schemas.openxmlformats.org/officeDocument/2006/relationships" id="2147483652" r:id="R86a5f1a1e94147c7"/>
    <p:sldLayoutId xmlns:r="http://schemas.openxmlformats.org/officeDocument/2006/relationships" id="2147483653" r:id="R170921b939564643"/>
    <p:sldLayoutId xmlns:r="http://schemas.openxmlformats.org/officeDocument/2006/relationships" id="2147483654" r:id="R524d210eed7f41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aea126e8554893" /><Relationship Type="http://schemas.openxmlformats.org/officeDocument/2006/relationships/image" Target="/ppt/media/image.jpeg" Id="R6f9e75c9094a40d2" /><Relationship Type="http://schemas.openxmlformats.org/officeDocument/2006/relationships/notesSlide" Target="/ppt/notesSlides/notesSlide1.xml" Id="R652c1bf8bbcc4f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e2f0749da34d2d" /><Relationship Type="http://schemas.openxmlformats.org/officeDocument/2006/relationships/image" Target="/ppt/media/image2.jpeg" Id="Rcf77ff16ff754be3" /><Relationship Type="http://schemas.openxmlformats.org/officeDocument/2006/relationships/notesSlide" Target="/ppt/notesSlides/notesSlide2.xml" Id="R17870a81c83a4e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0752a881b042a3" /><Relationship Type="http://schemas.openxmlformats.org/officeDocument/2006/relationships/notesSlide" Target="/ppt/notesSlides/notesSlide3.xml" Id="R0593d2e9aaac41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cdcc127f6a4c9a" /><Relationship Type="http://schemas.openxmlformats.org/officeDocument/2006/relationships/notesSlide" Target="/ppt/notesSlides/notesSlide4.xml" Id="Rabc0f24fdeeb4b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12d88728764c9e" /><Relationship Type="http://schemas.openxmlformats.org/officeDocument/2006/relationships/notesSlide" Target="/ppt/notesSlides/notesSlide5.xml" Id="R4d897800caf347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b6e5521a874f7c" /><Relationship Type="http://schemas.openxmlformats.org/officeDocument/2006/relationships/notesSlide" Target="/ppt/notesSlides/notesSlide6.xml" Id="Rd7754b6bc3ac41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22f1faea00438e" /><Relationship Type="http://schemas.openxmlformats.org/officeDocument/2006/relationships/chart" Target="/ppt/slides/charts/chart1.xml" Id="Rfe201f29dbac410d" /><Relationship Type="http://schemas.openxmlformats.org/officeDocument/2006/relationships/notesSlide" Target="/ppt/notesSlides/notesSlide7.xml" Id="R2e5be75b870c42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5100118ab64cef" /><Relationship Type="http://schemas.openxmlformats.org/officeDocument/2006/relationships/notesSlide" Target="/ppt/notesSlides/notesSlide8.xml" Id="Raf7bda056be848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8df1fe6aeb4924" /><Relationship Type="http://schemas.openxmlformats.org/officeDocument/2006/relationships/notesSlide" Target="/ppt/notesSlides/notesSlide9.xml" Id="R46d5c5af726746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8387a1f8774e9d" /><Relationship Type="http://schemas.openxmlformats.org/officeDocument/2006/relationships/chart" Target="/ppt/slides/charts/chart2.xml" Id="Ra7623a581eae46f7" /><Relationship Type="http://schemas.openxmlformats.org/officeDocument/2006/relationships/notesSlide" Target="/ppt/notesSlides/notesSlide10.xml" Id="R1d3d64b7b8c140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7293dc346e4f11" /><Relationship Type="http://schemas.openxmlformats.org/officeDocument/2006/relationships/notesSlide" Target="/ppt/notesSlides/notesSlide11.xml" Id="R1574a75fb82943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301edb8101d4ef8" /><Relationship Type="http://schemas.openxmlformats.org/officeDocument/2006/relationships/notesSlide" Target="/ppt/notesSlides/notesSlide12.xml" Id="R907b0e46c08341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3b1c33b7ee4125" /><Relationship Type="http://schemas.openxmlformats.org/officeDocument/2006/relationships/notesSlide" Target="/ppt/notesSlides/notesSlide13.xml" Id="R3e564b6d8ec443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15d268133c4aec" /><Relationship Type="http://schemas.openxmlformats.org/officeDocument/2006/relationships/notesSlide" Target="/ppt/notesSlides/notesSlide14.xml" Id="R525d863644914e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475acb24bba4674" /><Relationship Type="http://schemas.openxmlformats.org/officeDocument/2006/relationships/notesSlide" Target="/ppt/notesSlides/notesSlide15.xml" Id="R9f0a78d97c9444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cf78ce5f2604708" /><Relationship Type="http://schemas.openxmlformats.org/officeDocument/2006/relationships/notesSlide" Target="/ppt/notesSlides/notesSlide16.xml" Id="R915661d74d3f4a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60e2552583451f" /><Relationship Type="http://schemas.openxmlformats.org/officeDocument/2006/relationships/notesSlide" Target="/ppt/notesSlides/notesSlide17.xml" Id="R3e38a4f916ec40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2a54611f65e4983" /><Relationship Type="http://schemas.openxmlformats.org/officeDocument/2006/relationships/notesSlide" Target="/ppt/notesSlides/notesSlide18.xml" Id="Rbc26a9ece92d49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76e1d755ff4c1f" /><Relationship Type="http://schemas.openxmlformats.org/officeDocument/2006/relationships/notesSlide" Target="/ppt/notesSlides/notesSlide19.xml" Id="Rccb51754ff384a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65fbd17741b4cd4" /><Relationship Type="http://schemas.openxmlformats.org/officeDocument/2006/relationships/notesSlide" Target="/ppt/notesSlides/notesSlide20.xml" Id="Ra66134b226714d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7d4fdb5453243cd" /><Relationship Type="http://schemas.openxmlformats.org/officeDocument/2006/relationships/chart" Target="/ppt/slides/charts/chart3.xml" Id="R01123a0cd5334a65" /><Relationship Type="http://schemas.openxmlformats.org/officeDocument/2006/relationships/notesSlide" Target="/ppt/notesSlides/notesSlide21.xml" Id="R6fb0e7e725f3420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b5e86ae17284461" /><Relationship Type="http://schemas.openxmlformats.org/officeDocument/2006/relationships/notesSlide" Target="/ppt/notesSlides/notesSlide22.xml" Id="Ra4da3e77b0164bc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a1012618c464952" /><Relationship Type="http://schemas.openxmlformats.org/officeDocument/2006/relationships/image" Target="/ppt/media/image3.jpeg" Id="Rae9595ea19f047fc" /><Relationship Type="http://schemas.openxmlformats.org/officeDocument/2006/relationships/hyperlink" Target="https://huggingface.co/spaces/Armennnn/mroot-plant-disease-classifier-v2" TargetMode="External" Id="R52fd41b43abb4a03" /><Relationship Type="http://schemas.openxmlformats.org/officeDocument/2006/relationships/notesSlide" Target="/ppt/notesSlides/notesSlide23.xml" Id="R992b8233afce44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cf1714646244cef" /><Relationship Type="http://schemas.openxmlformats.org/officeDocument/2006/relationships/notesSlide" Target="/ppt/notesSlides/notesSlide24.xml" Id="R881881c7fefd40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d92fb8de2e24a14" /><Relationship Type="http://schemas.openxmlformats.org/officeDocument/2006/relationships/notesSlide" Target="/ppt/notesSlides/notesSlide25.xml" Id="Rfe1dc7963f9a4d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1822af4a26a43bd" /><Relationship Type="http://schemas.openxmlformats.org/officeDocument/2006/relationships/notesSlide" Target="/ppt/notesSlides/notesSlide26.xml" Id="Rfb29d7d72cf34c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4da1746ac3e4ece" /><Relationship Type="http://schemas.openxmlformats.org/officeDocument/2006/relationships/notesSlide" Target="/ppt/notesSlides/notesSlide27.xml" Id="R343e11c67e37411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8fc9e95bb664eff" /><Relationship Type="http://schemas.openxmlformats.org/officeDocument/2006/relationships/notesSlide" Target="/ppt/notesSlides/notesSlide28.xml" Id="R8afcc27d573046b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bd56efc5b9476a" /><Relationship Type="http://schemas.openxmlformats.org/officeDocument/2006/relationships/notesSlide" Target="/ppt/notesSlides/notesSlide29.xml" Id="R4afb19ded13f4d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2cb1f6a2d7c4e98" /><Relationship Type="http://schemas.openxmlformats.org/officeDocument/2006/relationships/hyperlink" Target="https://arxiv.org/abs/2303.11331" TargetMode="External" Id="R65b662c1d6fc4d88" /><Relationship Type="http://schemas.openxmlformats.org/officeDocument/2006/relationships/hyperlink" Target="https://arxiv.org/abs/1710.09412" TargetMode="External" Id="R50939e4d92e84366" /><Relationship Type="http://schemas.openxmlformats.org/officeDocument/2006/relationships/hyperlink" Target="https://arxiv.org/abs/1905.04899" TargetMode="External" Id="R290dc04649a04ceb" /><Relationship Type="http://schemas.openxmlformats.org/officeDocument/2006/relationships/hyperlink" Target="https://github.com/abarseghian2005-collab/mroot-plant-disease-classifier" TargetMode="External" Id="R32ea662fdc704cd1" /><Relationship Type="http://schemas.openxmlformats.org/officeDocument/2006/relationships/hyperlink" Target="https://huggingface.co/spaces/Armennnn/mroot-plant-disease-classifier-v2" TargetMode="External" Id="R6b470907df56446f" /><Relationship Type="http://schemas.openxmlformats.org/officeDocument/2006/relationships/notesSlide" Target="/ppt/notesSlides/notesSlide30.xml" Id="R4ba2f1d7d5984c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Training photos</c:v>
          </c:tx>
          <c:spPr>
            <a:solidFill xmlns:a="http://schemas.openxmlformats.org/drawingml/2006/main">
              <a:srgbClr val="2E6B49"/>
            </a:solidFill>
          </c:spPr>
          <c:invertIfNegative val="0"/>
          <c:cat>
            <c:strRef>
              <c:f>'Chart Data'!$A$2:$A$5</c:f>
              <c:strCache>
                <c:ptCount val="4"/>
                <c:pt idx="0">
                  <c:v>Powdery mildew</c:v>
                </c:pt>
                <c:pt idx="1">
                  <c:v>Rust</c:v>
                </c:pt>
                <c:pt idx="2">
                  <c:v>Bacterial leaf spot</c:v>
                </c:pt>
                <c:pt idx="3">
                  <c:v>Berry blotch</c:v>
                </c:pt>
              </c:strCache>
            </c:strRef>
          </c:cat>
          <c:val>
            <c:numRef>
              <c:f>'Chart Data'!$B$2:$B$5</c:f>
              <c:numCache>
                <c:formatCode>0</c:formatCode>
                <c:ptCount val="4"/>
                <c:pt idx="0">
                  <c:v>755</c:v>
                </c:pt>
                <c:pt idx="1">
                  <c:v>616</c:v>
                </c:pt>
                <c:pt idx="2">
                  <c:v>78</c:v>
                </c:pt>
                <c:pt idx="3">
                  <c:v>68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4352C"/>
                </a:solidFill>
                <a:latin typeface="Arial"/>
                <a:ea typeface="Arial"/>
                <a:cs typeface="Arial"/>
              </a:defRPr>
            </a:pPr>
          </a:p>
        </c:txPr>
        <c:crossAx val="48672768"/>
      </c:catAx>
      <c:valAx>
        <c:axId val="48672768"/>
        <c:scaling>
          <c:orientation val="minMax"/>
          <c:max val="800"/>
          <c:min val="0"/>
        </c:scaling>
        <c:delete val="0"/>
        <c:axPos val="b"/>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1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 mAP</c:v>
          </c:tx>
          <c:spPr>
            <a:solidFill xmlns:a="http://schemas.openxmlformats.org/drawingml/2006/main">
              <a:srgbClr val="2E6B49"/>
            </a:solidFill>
          </c:spPr>
          <c:invertIfNegative val="0"/>
          <c:cat>
            <c:strRef>
              <c:f>'Chart Data'!$A$2:$A$4</c:f>
              <c:strCache>
                <c:ptCount val="3"/>
                <c:pt idx="0">
                  <c:v>Clean ViT baseline</c:v>
                </c:pt>
                <c:pt idx="1">
                  <c:v>Two EVA models</c:v>
                </c:pt>
                <c:pt idx="2">
                  <c:v>Three EVA models</c:v>
                </c:pt>
              </c:strCache>
            </c:strRef>
          </c:cat>
          <c:val>
            <c:numRef>
              <c:f>'Chart Data'!$B$2:$B$4</c:f>
              <c:numCache>
                <c:formatCode>0%</c:formatCode>
                <c:ptCount val="3"/>
                <c:pt idx="0">
                  <c:v>0.9064</c:v>
                </c:pt>
                <c:pt idx="1">
                  <c:v>0.9353</c:v>
                </c:pt>
                <c:pt idx="2">
                  <c:v>0.94717929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4352C"/>
                </a:solidFill>
                <a:latin typeface="Arial"/>
                <a:ea typeface="Arial"/>
                <a:cs typeface="Arial"/>
              </a:defRPr>
            </a:pPr>
          </a:p>
        </c:txPr>
        <c:crossAx val="48672768"/>
      </c:catAx>
      <c:valAx>
        <c:axId val="48672768"/>
        <c:scaling>
          <c:orientation val="minMax"/>
          <c:max val="0.96"/>
          <c:min val="0.9"/>
        </c:scaling>
        <c:delete val="0"/>
        <c:axPos val="b"/>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0.0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 mAP</c:v>
          </c:tx>
          <c:spPr>
            <a:solidFill xmlns:a="http://schemas.openxmlformats.org/drawingml/2006/main">
              <a:srgbClr val="9DAAA0"/>
            </a:solidFill>
          </c:spPr>
          <c:invertIfNegative val="0"/>
          <c:dPt>
            <c:idx val="3"/>
            <c:invertIfNegative val="0"/>
            <c:spPr>
              <a:solidFill xmlns:a="http://schemas.openxmlformats.org/drawingml/2006/main">
                <a:srgbClr val="215F3E"/>
              </a:solidFill>
            </c:spPr>
          </c:dPt>
          <c:cat>
            <c:strRef>
              <c:f>'Chart Data'!$A$2:$A$5</c:f>
              <c:strCache>
                <c:ptCount val="4"/>
                <c:pt idx="0">
                  <c:v>Mixed model alone</c:v>
                </c:pt>
                <c:pt idx="1">
                  <c:v>Mixed + earlier Base</c:v>
                </c:pt>
                <c:pt idx="2">
                  <c:v>Mixed + newer Small</c:v>
                </c:pt>
                <c:pt idx="3">
                  <c:v>Mixed + clean control</c:v>
                </c:pt>
              </c:strCache>
            </c:strRef>
          </c:cat>
          <c:val>
            <c:numRef>
              <c:f>'Chart Data'!$B$2:$B$5</c:f>
              <c:numCache>
                <c:formatCode>0.0%</c:formatCode>
                <c:ptCount val="4"/>
                <c:pt idx="0">
                  <c:v>0.96030764</c:v>
                </c:pt>
                <c:pt idx="1">
                  <c:v>0.96175383</c:v>
                </c:pt>
                <c:pt idx="2">
                  <c:v>0.96032862</c:v>
                </c:pt>
                <c:pt idx="3">
                  <c:v>0.96482545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4352C"/>
                </a:solidFill>
                <a:latin typeface="Arial"/>
                <a:ea typeface="Arial"/>
                <a:cs typeface="Arial"/>
              </a:defRPr>
            </a:pPr>
          </a:p>
        </c:txPr>
        <c:crossAx val="48672768"/>
      </c:catAx>
      <c:valAx>
        <c:axId val="48672768"/>
        <c:scaling>
          <c:orientation val="minMax"/>
          <c:max val="0.97"/>
          <c:min val="0.95"/>
        </c:scaling>
        <c:delete val="0"/>
        <c:axPos val="b"/>
        <c:majorGridlines>
          <c:spPr>
            <a:ln xmlns:a="http://schemas.openxmlformats.org/drawingml/2006/main" w="9525">
              <a:solidFill>
                <a:srgbClr val="DCE5D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0.0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5D6427-37B0-474A-9BBF-A9471292F013}"/>
              </a:ext>
            </a:extLst>
          </p:cNvPr>
          <p:cNvSpPr>
            <a:spLocks xmlns:a="http://schemas.openxmlformats.org/drawingml/2006/main" noGrp="1"/>
          </p:cNvSpPr>
          <p:nvPr/>
        </p:nvSpPr>
        <p:spPr>
          <a:xfrm xmlns:a="http://schemas.openxmlformats.org/drawingml/2006/main">
            <a:off x="666750" y="146685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050" b="1">
                <a:solidFill>
                  <a:srgbClr val="173E2C"/>
                </a:solidFill>
                <a:latin typeface="Arial"/>
                <a:ea typeface="Arial"/>
                <a:cs typeface="Arial"/>
              </a:defRPr>
            </a:defPPr>
            <a:lvl1pPr>
              <a:defRPr sz="7050" b="1">
                <a:solidFill>
                  <a:srgbClr val="173E2C"/>
                </a:solidFill>
                <a:latin typeface="Arial"/>
                <a:ea typeface="Arial"/>
                <a:cs typeface="Arial"/>
              </a:defRPr>
            </a:lvl1pPr>
            <a:lvl2pPr>
              <a:defRPr sz="7050" b="1">
                <a:solidFill>
                  <a:srgbClr val="173E2C"/>
                </a:solidFill>
                <a:latin typeface="Arial"/>
                <a:ea typeface="Arial"/>
                <a:cs typeface="Arial"/>
              </a:defRPr>
            </a:lvl2pPr>
            <a:lvl3pPr>
              <a:defRPr sz="7050" b="1">
                <a:solidFill>
                  <a:srgbClr val="173E2C"/>
                </a:solidFill>
                <a:latin typeface="Arial"/>
                <a:ea typeface="Arial"/>
                <a:cs typeface="Arial"/>
              </a:defRPr>
            </a:lvl3pPr>
            <a:lvl4pPr>
              <a:defRPr sz="7050" b="1">
                <a:solidFill>
                  <a:srgbClr val="173E2C"/>
                </a:solidFill>
                <a:latin typeface="Arial"/>
                <a:ea typeface="Arial"/>
                <a:cs typeface="Arial"/>
              </a:defRPr>
            </a:lvl4pPr>
            <a:lvl5pPr>
              <a:defRPr sz="7050" b="1">
                <a:solidFill>
                  <a:srgbClr val="173E2C"/>
                </a:solidFill>
                <a:latin typeface="Arial"/>
                <a:ea typeface="Arial"/>
                <a:cs typeface="Arial"/>
              </a:defRPr>
            </a:lvl5pPr>
            <a:lvl6pPr>
              <a:defRPr sz="7050" b="1">
                <a:solidFill>
                  <a:srgbClr val="173E2C"/>
                </a:solidFill>
                <a:latin typeface="Arial"/>
                <a:ea typeface="Arial"/>
                <a:cs typeface="Arial"/>
              </a:defRPr>
            </a:lvl6pPr>
            <a:lvl7pPr>
              <a:defRPr sz="7050" b="1">
                <a:solidFill>
                  <a:srgbClr val="173E2C"/>
                </a:solidFill>
                <a:latin typeface="Arial"/>
                <a:ea typeface="Arial"/>
                <a:cs typeface="Arial"/>
              </a:defRPr>
            </a:lvl7pPr>
            <a:lvl8pPr>
              <a:defRPr sz="7050" b="1">
                <a:solidFill>
                  <a:srgbClr val="173E2C"/>
                </a:solidFill>
                <a:latin typeface="Arial"/>
                <a:ea typeface="Arial"/>
                <a:cs typeface="Arial"/>
              </a:defRPr>
            </a:lvl8pPr>
            <a:lvl9pPr>
              <a:defRPr sz="7050" b="1">
                <a:solidFill>
                  <a:srgbClr val="173E2C"/>
                </a:solidFill>
                <a:latin typeface="Arial"/>
                <a:ea typeface="Arial"/>
                <a:cs typeface="Arial"/>
              </a:defRPr>
            </a:lvl9pPr>
          </a:lstStyle>
          <a:p xmlns:a="http://schemas.openxmlformats.org/drawingml/2006/main">
            <a:pPr>
              <a:defRPr sz="7050" b="1">
                <a:solidFill>
                  <a:srgbClr val="173E2C"/>
                </a:solidFill>
                <a:latin typeface="Arial"/>
                <a:ea typeface="Arial"/>
                <a:cs typeface="Arial"/>
              </a:defRPr>
            </a:pPr>
            <a:r>
              <a:rPr sz="7050" b="1">
                <a:solidFill>
                  <a:srgbClr val="173E2C"/>
                </a:solidFill>
                <a:latin typeface="Arial"/>
                <a:ea typeface="Arial"/>
                <a:cs typeface="Arial"/>
              </a:rPr>
              <a:t>MROOT</a:t>
            </a:r>
          </a:p>
        </p:txBody>
      </p:sp>
      <p:sp>
        <p:nvSpPr>
          <p:cNvPr id="2" name="">
            <a:extLst xmlns:a="http://schemas.openxmlformats.org/drawingml/2006/main">
              <a:ext uri="{FF2B5EF4-FFF2-40B4-BE49-F238E27FC236}">
                <a16:creationId xmlns:a16="http://schemas.microsoft.com/office/drawing/2014/main" id="{8121BD8D-6229-4869-9B03-D6485DC21A37}"/>
              </a:ext>
            </a:extLst>
          </p:cNvPr>
          <p:cNvSpPr>
            <a:spLocks xmlns:a="http://schemas.openxmlformats.org/drawingml/2006/main" noGrp="1"/>
          </p:cNvSpPr>
          <p:nvPr/>
        </p:nvSpPr>
        <p:spPr>
          <a:xfrm xmlns:a="http://schemas.openxmlformats.org/drawingml/2006/main">
            <a:off x="723900" y="287655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0">
                <a:solidFill>
                  <a:srgbClr val="24352C"/>
                </a:solidFill>
                <a:latin typeface="Arial"/>
                <a:ea typeface="Arial"/>
                <a:cs typeface="Arial"/>
              </a:defRPr>
            </a:defPPr>
            <a:lvl1pPr>
              <a:defRPr sz="3225" b="0">
                <a:solidFill>
                  <a:srgbClr val="24352C"/>
                </a:solidFill>
                <a:latin typeface="Arial"/>
                <a:ea typeface="Arial"/>
                <a:cs typeface="Arial"/>
              </a:defRPr>
            </a:lvl1pPr>
            <a:lvl2pPr>
              <a:defRPr sz="3225" b="0">
                <a:solidFill>
                  <a:srgbClr val="24352C"/>
                </a:solidFill>
                <a:latin typeface="Arial"/>
                <a:ea typeface="Arial"/>
                <a:cs typeface="Arial"/>
              </a:defRPr>
            </a:lvl2pPr>
            <a:lvl3pPr>
              <a:defRPr sz="3225" b="0">
                <a:solidFill>
                  <a:srgbClr val="24352C"/>
                </a:solidFill>
                <a:latin typeface="Arial"/>
                <a:ea typeface="Arial"/>
                <a:cs typeface="Arial"/>
              </a:defRPr>
            </a:lvl3pPr>
            <a:lvl4pPr>
              <a:defRPr sz="3225" b="0">
                <a:solidFill>
                  <a:srgbClr val="24352C"/>
                </a:solidFill>
                <a:latin typeface="Arial"/>
                <a:ea typeface="Arial"/>
                <a:cs typeface="Arial"/>
              </a:defRPr>
            </a:lvl4pPr>
            <a:lvl5pPr>
              <a:defRPr sz="3225" b="0">
                <a:solidFill>
                  <a:srgbClr val="24352C"/>
                </a:solidFill>
                <a:latin typeface="Arial"/>
                <a:ea typeface="Arial"/>
                <a:cs typeface="Arial"/>
              </a:defRPr>
            </a:lvl5pPr>
            <a:lvl6pPr>
              <a:defRPr sz="3225" b="0">
                <a:solidFill>
                  <a:srgbClr val="24352C"/>
                </a:solidFill>
                <a:latin typeface="Arial"/>
                <a:ea typeface="Arial"/>
                <a:cs typeface="Arial"/>
              </a:defRPr>
            </a:lvl6pPr>
            <a:lvl7pPr>
              <a:defRPr sz="3225" b="0">
                <a:solidFill>
                  <a:srgbClr val="24352C"/>
                </a:solidFill>
                <a:latin typeface="Arial"/>
                <a:ea typeface="Arial"/>
                <a:cs typeface="Arial"/>
              </a:defRPr>
            </a:lvl7pPr>
            <a:lvl8pPr>
              <a:defRPr sz="3225" b="0">
                <a:solidFill>
                  <a:srgbClr val="24352C"/>
                </a:solidFill>
                <a:latin typeface="Arial"/>
                <a:ea typeface="Arial"/>
                <a:cs typeface="Arial"/>
              </a:defRPr>
            </a:lvl8pPr>
            <a:lvl9pPr>
              <a:defRPr sz="3225" b="0">
                <a:solidFill>
                  <a:srgbClr val="24352C"/>
                </a:solidFill>
                <a:latin typeface="Arial"/>
                <a:ea typeface="Arial"/>
                <a:cs typeface="Arial"/>
              </a:defRPr>
            </a:lvl9pPr>
          </a:lstStyle>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Plant disease</a:t>
            </a:r>
          </a:p>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classification</a:t>
            </a:r>
          </a:p>
        </p:txBody>
      </p:sp>
      <p:sp>
        <p:nvSpPr>
          <p:cNvPr id="3" name="">
            <a:extLst xmlns:a="http://schemas.openxmlformats.org/drawingml/2006/main">
              <a:ext uri="{FF2B5EF4-FFF2-40B4-BE49-F238E27FC236}">
                <a16:creationId xmlns:a16="http://schemas.microsoft.com/office/drawing/2014/main" id="{89F16BB9-5650-49BB-8254-9D13FD72D3F0}"/>
              </a:ext>
            </a:extLst>
          </p:cNvPr>
          <p:cNvSpPr>
            <a:spLocks xmlns:a="http://schemas.openxmlformats.org/drawingml/2006/main" noGrp="1"/>
          </p:cNvSpPr>
          <p:nvPr/>
        </p:nvSpPr>
        <p:spPr>
          <a:xfrm xmlns:a="http://schemas.openxmlformats.org/drawingml/2006/main">
            <a:off x="723900" y="521970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65D"/>
                </a:solidFill>
                <a:latin typeface="Arial"/>
                <a:ea typeface="Arial"/>
                <a:cs typeface="Arial"/>
              </a:defRPr>
            </a:defPPr>
            <a:lvl1pPr>
              <a:defRPr sz="1725" b="0">
                <a:solidFill>
                  <a:srgbClr val="59665D"/>
                </a:solidFill>
                <a:latin typeface="Arial"/>
                <a:ea typeface="Arial"/>
                <a:cs typeface="Arial"/>
              </a:defRPr>
            </a:lvl1pPr>
            <a:lvl2pPr>
              <a:defRPr sz="1725" b="0">
                <a:solidFill>
                  <a:srgbClr val="59665D"/>
                </a:solidFill>
                <a:latin typeface="Arial"/>
                <a:ea typeface="Arial"/>
                <a:cs typeface="Arial"/>
              </a:defRPr>
            </a:lvl2pPr>
            <a:lvl3pPr>
              <a:defRPr sz="1725" b="0">
                <a:solidFill>
                  <a:srgbClr val="59665D"/>
                </a:solidFill>
                <a:latin typeface="Arial"/>
                <a:ea typeface="Arial"/>
                <a:cs typeface="Arial"/>
              </a:defRPr>
            </a:lvl3pPr>
            <a:lvl4pPr>
              <a:defRPr sz="1725" b="0">
                <a:solidFill>
                  <a:srgbClr val="59665D"/>
                </a:solidFill>
                <a:latin typeface="Arial"/>
                <a:ea typeface="Arial"/>
                <a:cs typeface="Arial"/>
              </a:defRPr>
            </a:lvl4pPr>
            <a:lvl5pPr>
              <a:defRPr sz="1725" b="0">
                <a:solidFill>
                  <a:srgbClr val="59665D"/>
                </a:solidFill>
                <a:latin typeface="Arial"/>
                <a:ea typeface="Arial"/>
                <a:cs typeface="Arial"/>
              </a:defRPr>
            </a:lvl5pPr>
            <a:lvl6pPr>
              <a:defRPr sz="1725" b="0">
                <a:solidFill>
                  <a:srgbClr val="59665D"/>
                </a:solidFill>
                <a:latin typeface="Arial"/>
                <a:ea typeface="Arial"/>
                <a:cs typeface="Arial"/>
              </a:defRPr>
            </a:lvl6pPr>
            <a:lvl7pPr>
              <a:defRPr sz="1725" b="0">
                <a:solidFill>
                  <a:srgbClr val="59665D"/>
                </a:solidFill>
                <a:latin typeface="Arial"/>
                <a:ea typeface="Arial"/>
                <a:cs typeface="Arial"/>
              </a:defRPr>
            </a:lvl7pPr>
            <a:lvl8pPr>
              <a:defRPr sz="1725" b="0">
                <a:solidFill>
                  <a:srgbClr val="59665D"/>
                </a:solidFill>
                <a:latin typeface="Arial"/>
                <a:ea typeface="Arial"/>
                <a:cs typeface="Arial"/>
              </a:defRPr>
            </a:lvl8pPr>
            <a:lvl9pPr>
              <a:defRPr sz="1725" b="0">
                <a:solidFill>
                  <a:srgbClr val="59665D"/>
                </a:solidFill>
                <a:latin typeface="Arial"/>
                <a:ea typeface="Arial"/>
                <a:cs typeface="Arial"/>
              </a:defRPr>
            </a:lvl9pPr>
          </a:lstStyle>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Armen</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ACA Machine Learning Engineering</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October 2026</a:t>
            </a:r>
          </a:p>
        </p:txBody>
      </p:sp>
      <p:pic>
        <p:nvPicPr>
          <p:cNvPr id="4" name="">
            <a:extLst xmlns:a="http://schemas.openxmlformats.org/drawingml/2006/main">
              <a:ext uri="{FF2B5EF4-FFF2-40B4-BE49-F238E27FC236}">
                <a16:creationId xmlns:a16="http://schemas.microsoft.com/office/drawing/2014/main" id="{D5873509-78D4-4432-8085-123DC309CAF4}"/>
              </a:ext>
            </a:extLst>
          </p:cNvPr>
          <p:cNvPicPr>
            <a:picLocks xmlns:a="http://schemas.openxmlformats.org/drawingml/2006/main" noChangeAspect="1"/>
          </p:cNvPicPr>
          <p:nvPr/>
        </p:nvPicPr>
        <p:blipFill>
          <a:blip xmlns:r="http://schemas.openxmlformats.org/officeDocument/2006/relationships" xmlns:a="http://schemas.openxmlformats.org/drawingml/2006/main" r:embed="R6f9e75c9094a40d2"/>
          <a:stretch xmlns:a="http://schemas.openxmlformats.org/drawingml/2006/main"/>
        </p:blipFill>
        <p:spPr>
          <a:xfrm xmlns:a="http://schemas.openxmlformats.org/drawingml/2006/main">
            <a:off x="6381750" y="1572994"/>
            <a:ext cx="5143500" cy="34262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61FA80-63EA-4D50-A6B8-D8F56E83E739}"/>
              </a:ext>
            </a:extLst>
          </p:cNvPr>
          <p:cNvSpPr>
            <a:spLocks xmlns:a="http://schemas.openxmlformats.org/drawingml/2006/main" noGrp="1"/>
          </p:cNvSpPr>
          <p:nvPr/>
        </p:nvSpPr>
        <p:spPr>
          <a:xfrm xmlns:a="http://schemas.openxmlformats.org/drawingml/2006/main">
            <a:off x="6572250" y="55530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Learning from photos and testing what helps</a:t>
            </a:r>
          </a:p>
        </p:txBody>
      </p:sp>
    </p:spTree>
    <p:extLst>
      <p:ext uri="{BB962C8B-B14F-4D97-AF65-F5344CB8AC3E}">
        <p14:creationId xmlns:p14="http://schemas.microsoft.com/office/powerpoint/2010/main" val="1611165813"/>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DFF4D8-8479-47F6-AB2F-91173B453EBF}"/>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photo becomes a disease suggestion</a:t>
            </a:r>
          </a:p>
        </p:txBody>
      </p:sp>
      <p:sp>
        <p:nvSpPr>
          <p:cNvPr id="2" name="">
            <a:extLst xmlns:a="http://schemas.openxmlformats.org/drawingml/2006/main">
              <a:ext uri="{FF2B5EF4-FFF2-40B4-BE49-F238E27FC236}">
                <a16:creationId xmlns:a16="http://schemas.microsoft.com/office/drawing/2014/main" id="{66AB29DC-CA9E-414F-BDC9-5081B5B14BA8}"/>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02</a:t>
            </a:r>
          </a:p>
        </p:txBody>
      </p:sp>
      <p:sp>
        <p:nvSpPr>
          <p:cNvPr id="3" name="">
            <a:extLst xmlns:a="http://schemas.openxmlformats.org/drawingml/2006/main">
              <a:ext uri="{FF2B5EF4-FFF2-40B4-BE49-F238E27FC236}">
                <a16:creationId xmlns:a16="http://schemas.microsoft.com/office/drawing/2014/main" id="{B87C887E-4B48-4B5F-A1B8-CEBF3DFC68FE}"/>
              </a:ext>
            </a:extLst>
          </p:cNvPr>
          <p:cNvSpPr>
            <a:spLocks xmlns:a="http://schemas.openxmlformats.org/drawingml/2006/main" noGrp="1"/>
          </p:cNvSpPr>
          <p:nvPr/>
        </p:nvSpPr>
        <p:spPr>
          <a:xfrm xmlns:a="http://schemas.openxmlformats.org/drawingml/2006/main">
            <a:off x="723900" y="1695450"/>
            <a:ext cx="5238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73E2C"/>
                </a:solidFill>
                <a:latin typeface="Arial"/>
                <a:ea typeface="Arial"/>
                <a:cs typeface="Arial"/>
              </a:defRPr>
            </a:defPPr>
            <a:lvl1pPr>
              <a:defRPr sz="2550" b="1">
                <a:solidFill>
                  <a:srgbClr val="173E2C"/>
                </a:solidFill>
                <a:latin typeface="Arial"/>
                <a:ea typeface="Arial"/>
                <a:cs typeface="Arial"/>
              </a:defRPr>
            </a:lvl1pPr>
            <a:lvl2pPr>
              <a:defRPr sz="2550" b="1">
                <a:solidFill>
                  <a:srgbClr val="173E2C"/>
                </a:solidFill>
                <a:latin typeface="Arial"/>
                <a:ea typeface="Arial"/>
                <a:cs typeface="Arial"/>
              </a:defRPr>
            </a:lvl2pPr>
            <a:lvl3pPr>
              <a:defRPr sz="2550" b="1">
                <a:solidFill>
                  <a:srgbClr val="173E2C"/>
                </a:solidFill>
                <a:latin typeface="Arial"/>
                <a:ea typeface="Arial"/>
                <a:cs typeface="Arial"/>
              </a:defRPr>
            </a:lvl3pPr>
            <a:lvl4pPr>
              <a:defRPr sz="2550" b="1">
                <a:solidFill>
                  <a:srgbClr val="173E2C"/>
                </a:solidFill>
                <a:latin typeface="Arial"/>
                <a:ea typeface="Arial"/>
                <a:cs typeface="Arial"/>
              </a:defRPr>
            </a:lvl4pPr>
            <a:lvl5pPr>
              <a:defRPr sz="2550" b="1">
                <a:solidFill>
                  <a:srgbClr val="173E2C"/>
                </a:solidFill>
                <a:latin typeface="Arial"/>
                <a:ea typeface="Arial"/>
                <a:cs typeface="Arial"/>
              </a:defRPr>
            </a:lvl5pPr>
            <a:lvl6pPr>
              <a:defRPr sz="2550" b="1">
                <a:solidFill>
                  <a:srgbClr val="173E2C"/>
                </a:solidFill>
                <a:latin typeface="Arial"/>
                <a:ea typeface="Arial"/>
                <a:cs typeface="Arial"/>
              </a:defRPr>
            </a:lvl6pPr>
            <a:lvl7pPr>
              <a:defRPr sz="2550" b="1">
                <a:solidFill>
                  <a:srgbClr val="173E2C"/>
                </a:solidFill>
                <a:latin typeface="Arial"/>
                <a:ea typeface="Arial"/>
                <a:cs typeface="Arial"/>
              </a:defRPr>
            </a:lvl7pPr>
            <a:lvl8pPr>
              <a:defRPr sz="2550" b="1">
                <a:solidFill>
                  <a:srgbClr val="173E2C"/>
                </a:solidFill>
                <a:latin typeface="Arial"/>
                <a:ea typeface="Arial"/>
                <a:cs typeface="Arial"/>
              </a:defRPr>
            </a:lvl8pPr>
            <a:lvl9pPr>
              <a:defRPr sz="2550" b="1">
                <a:solidFill>
                  <a:srgbClr val="173E2C"/>
                </a:solidFill>
                <a:latin typeface="Arial"/>
                <a:ea typeface="Arial"/>
                <a:cs typeface="Arial"/>
              </a:defRPr>
            </a:lvl9pPr>
          </a:lstStyle>
          <a:p xmlns:a="http://schemas.openxmlformats.org/drawingml/2006/main">
            <a:pPr>
              <a:defRPr sz="2550" b="1">
                <a:solidFill>
                  <a:srgbClr val="173E2C"/>
                </a:solidFill>
                <a:latin typeface="Arial"/>
                <a:ea typeface="Arial"/>
                <a:cs typeface="Arial"/>
              </a:defRPr>
            </a:pPr>
            <a:r>
              <a:rPr sz="2550" b="1">
                <a:solidFill>
                  <a:srgbClr val="173E2C"/>
                </a:solidFill>
                <a:latin typeface="Arial"/>
                <a:ea typeface="Arial"/>
                <a:cs typeface="Arial"/>
              </a:rPr>
              <a:t>Classification means assigning a photo to a category.</a:t>
            </a:r>
          </a:p>
        </p:txBody>
      </p:sp>
      <p:sp>
        <p:nvSpPr>
          <p:cNvPr id="4" name="">
            <a:extLst xmlns:a="http://schemas.openxmlformats.org/drawingml/2006/main">
              <a:ext uri="{FF2B5EF4-FFF2-40B4-BE49-F238E27FC236}">
                <a16:creationId xmlns:a16="http://schemas.microsoft.com/office/drawing/2014/main" id="{83E74D27-3B47-43B1-B9BD-3CF5D0414632}"/>
              </a:ext>
            </a:extLst>
          </p:cNvPr>
          <p:cNvSpPr>
            <a:spLocks xmlns:a="http://schemas.openxmlformats.org/drawingml/2006/main" noGrp="1"/>
          </p:cNvSpPr>
          <p:nvPr/>
        </p:nvSpPr>
        <p:spPr>
          <a:xfrm xmlns:a="http://schemas.openxmlformats.org/drawingml/2006/main">
            <a:off x="723900" y="3076575"/>
            <a:ext cx="52387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MROOT has 39 disease categories.</a:t>
            </a:r>
          </a:p>
          <a:p xmlns:a="http://schemas.openxmlformats.org/drawingml/2006/main">
            <a:r>
              <a:t/>
            </a:r>
          </a:p>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label is the known category attached to a training photo.</a:t>
            </a:r>
          </a:p>
          <a:p xmlns:a="http://schemas.openxmlformats.org/drawingml/2006/main">
            <a:r>
              <a:t/>
            </a:r>
          </a:p>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app ranks five suggestions.</a:t>
            </a:r>
          </a:p>
        </p:txBody>
      </p:sp>
      <p:pic>
        <p:nvPicPr>
          <p:cNvPr id="5" name="">
            <a:extLst xmlns:a="http://schemas.openxmlformats.org/drawingml/2006/main">
              <a:ext uri="{FF2B5EF4-FFF2-40B4-BE49-F238E27FC236}">
                <a16:creationId xmlns:a16="http://schemas.microsoft.com/office/drawing/2014/main" id="{66C2F457-7812-4370-A156-569594D34DD1}"/>
              </a:ext>
            </a:extLst>
          </p:cNvPr>
          <p:cNvPicPr>
            <a:picLocks xmlns:a="http://schemas.openxmlformats.org/drawingml/2006/main" noChangeAspect="1"/>
          </p:cNvPicPr>
          <p:nvPr/>
        </p:nvPicPr>
        <p:blipFill>
          <a:blip xmlns:r="http://schemas.openxmlformats.org/officeDocument/2006/relationships" xmlns:a="http://schemas.openxmlformats.org/drawingml/2006/main" r:embed="Rcf77ff16ff754be3"/>
          <a:stretch xmlns:a="http://schemas.openxmlformats.org/drawingml/2006/main"/>
        </p:blipFill>
        <p:spPr>
          <a:xfrm xmlns:a="http://schemas.openxmlformats.org/drawingml/2006/main">
            <a:off x="6667500" y="2008188"/>
            <a:ext cx="4762500" cy="3222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A066BAC-F654-4A42-A18E-61E3C0AB98EC}"/>
              </a:ext>
            </a:extLst>
          </p:cNvPr>
          <p:cNvSpPr>
            <a:spLocks xmlns:a="http://schemas.openxmlformats.org/drawingml/2006/main" noGrp="1"/>
          </p:cNvSpPr>
          <p:nvPr/>
        </p:nvSpPr>
        <p:spPr>
          <a:xfrm xmlns:a="http://schemas.openxmlformats.org/drawingml/2006/main">
            <a:off x="6705600" y="5495925"/>
            <a:ext cx="4714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65D"/>
                </a:solidFill>
                <a:latin typeface="Arial"/>
                <a:ea typeface="Arial"/>
                <a:cs typeface="Arial"/>
              </a:defRPr>
            </a:defPPr>
            <a:lvl1pPr>
              <a:defRPr sz="1725" b="0">
                <a:solidFill>
                  <a:srgbClr val="59665D"/>
                </a:solidFill>
                <a:latin typeface="Arial"/>
                <a:ea typeface="Arial"/>
                <a:cs typeface="Arial"/>
              </a:defRPr>
            </a:lvl1pPr>
            <a:lvl2pPr>
              <a:defRPr sz="1725" b="0">
                <a:solidFill>
                  <a:srgbClr val="59665D"/>
                </a:solidFill>
                <a:latin typeface="Arial"/>
                <a:ea typeface="Arial"/>
                <a:cs typeface="Arial"/>
              </a:defRPr>
            </a:lvl2pPr>
            <a:lvl3pPr>
              <a:defRPr sz="1725" b="0">
                <a:solidFill>
                  <a:srgbClr val="59665D"/>
                </a:solidFill>
                <a:latin typeface="Arial"/>
                <a:ea typeface="Arial"/>
                <a:cs typeface="Arial"/>
              </a:defRPr>
            </a:lvl3pPr>
            <a:lvl4pPr>
              <a:defRPr sz="1725" b="0">
                <a:solidFill>
                  <a:srgbClr val="59665D"/>
                </a:solidFill>
                <a:latin typeface="Arial"/>
                <a:ea typeface="Arial"/>
                <a:cs typeface="Arial"/>
              </a:defRPr>
            </a:lvl4pPr>
            <a:lvl5pPr>
              <a:defRPr sz="1725" b="0">
                <a:solidFill>
                  <a:srgbClr val="59665D"/>
                </a:solidFill>
                <a:latin typeface="Arial"/>
                <a:ea typeface="Arial"/>
                <a:cs typeface="Arial"/>
              </a:defRPr>
            </a:lvl5pPr>
            <a:lvl6pPr>
              <a:defRPr sz="1725" b="0">
                <a:solidFill>
                  <a:srgbClr val="59665D"/>
                </a:solidFill>
                <a:latin typeface="Arial"/>
                <a:ea typeface="Arial"/>
                <a:cs typeface="Arial"/>
              </a:defRPr>
            </a:lvl6pPr>
            <a:lvl7pPr>
              <a:defRPr sz="1725" b="0">
                <a:solidFill>
                  <a:srgbClr val="59665D"/>
                </a:solidFill>
                <a:latin typeface="Arial"/>
                <a:ea typeface="Arial"/>
                <a:cs typeface="Arial"/>
              </a:defRPr>
            </a:lvl7pPr>
            <a:lvl8pPr>
              <a:defRPr sz="1725" b="0">
                <a:solidFill>
                  <a:srgbClr val="59665D"/>
                </a:solidFill>
                <a:latin typeface="Arial"/>
                <a:ea typeface="Arial"/>
                <a:cs typeface="Arial"/>
              </a:defRPr>
            </a:lvl8pPr>
            <a:lvl9pPr>
              <a:defRPr sz="1725" b="0">
                <a:solidFill>
                  <a:srgbClr val="59665D"/>
                </a:solidFill>
                <a:latin typeface="Arial"/>
                <a:ea typeface="Arial"/>
                <a:cs typeface="Arial"/>
              </a:defRPr>
            </a:lvl9pPr>
          </a:lstStyle>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Dataset example: septoria leaf spot</a:t>
            </a:r>
          </a:p>
        </p:txBody>
      </p:sp>
    </p:spTree>
    <p:extLst>
      <p:ext uri="{BB962C8B-B14F-4D97-AF65-F5344CB8AC3E}">
        <p14:creationId xmlns:p14="http://schemas.microsoft.com/office/powerpoint/2010/main" val="877810525"/>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D06514-C6A0-4313-A1F4-9FD9E268E0EE}"/>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training a model means</a:t>
            </a:r>
          </a:p>
        </p:txBody>
      </p:sp>
      <p:sp>
        <p:nvSpPr>
          <p:cNvPr id="2" name="">
            <a:extLst xmlns:a="http://schemas.openxmlformats.org/drawingml/2006/main">
              <a:ext uri="{FF2B5EF4-FFF2-40B4-BE49-F238E27FC236}">
                <a16:creationId xmlns:a16="http://schemas.microsoft.com/office/drawing/2014/main" id="{F213F22B-FB7E-4550-AB2F-7946FFD64287}"/>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03</a:t>
            </a:r>
          </a:p>
        </p:txBody>
      </p:sp>
      <p:sp>
        <p:nvSpPr>
          <p:cNvPr id="3" name="">
            <a:extLst xmlns:a="http://schemas.openxmlformats.org/drawingml/2006/main">
              <a:ext uri="{FF2B5EF4-FFF2-40B4-BE49-F238E27FC236}">
                <a16:creationId xmlns:a16="http://schemas.microsoft.com/office/drawing/2014/main" id="{BD6DE570-0E6E-4F63-9811-2A5B4606B2C9}"/>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Model</a:t>
            </a:r>
          </a:p>
        </p:txBody>
      </p:sp>
      <p:sp>
        <p:nvSpPr>
          <p:cNvPr id="4" name="">
            <a:extLst xmlns:a="http://schemas.openxmlformats.org/drawingml/2006/main">
              <a:ext uri="{FF2B5EF4-FFF2-40B4-BE49-F238E27FC236}">
                <a16:creationId xmlns:a16="http://schemas.microsoft.com/office/drawing/2014/main" id="{FDBFEE03-B65C-4CF7-83B0-9A1523CE7420}"/>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program with learned numerical settings that turn image pixels into disease scores.</a:t>
            </a:r>
          </a:p>
        </p:txBody>
      </p:sp>
      <p:sp>
        <p:nvSpPr>
          <p:cNvPr id="5" name="">
            <a:extLst xmlns:a="http://schemas.openxmlformats.org/drawingml/2006/main">
              <a:ext uri="{FF2B5EF4-FFF2-40B4-BE49-F238E27FC236}">
                <a16:creationId xmlns:a16="http://schemas.microsoft.com/office/drawing/2014/main" id="{1BCBBABC-2239-4DA3-877F-B8632D3DEEE7}"/>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Training</a:t>
            </a:r>
          </a:p>
        </p:txBody>
      </p:sp>
      <p:sp>
        <p:nvSpPr>
          <p:cNvPr id="6" name="">
            <a:extLst xmlns:a="http://schemas.openxmlformats.org/drawingml/2006/main">
              <a:ext uri="{FF2B5EF4-FFF2-40B4-BE49-F238E27FC236}">
                <a16:creationId xmlns:a16="http://schemas.microsoft.com/office/drawing/2014/main" id="{95F8DEC7-4218-4AB0-9439-94A3DE3EA104}"/>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Show labeled examples, measure mistakes, and adjust those settings.</a:t>
            </a:r>
          </a:p>
        </p:txBody>
      </p:sp>
      <p:sp>
        <p:nvSpPr>
          <p:cNvPr id="7" name="">
            <a:extLst xmlns:a="http://schemas.openxmlformats.org/drawingml/2006/main">
              <a:ext uri="{FF2B5EF4-FFF2-40B4-BE49-F238E27FC236}">
                <a16:creationId xmlns:a16="http://schemas.microsoft.com/office/drawing/2014/main" id="{AAD9B9ED-9050-4A72-AE12-A17B5274016E}"/>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25A6B730-DC16-4955-B76E-DF363ECF21C2}"/>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Use the trained settings on a new photo. This step is also called inference.</a:t>
            </a:r>
          </a:p>
        </p:txBody>
      </p:sp>
    </p:spTree>
    <p:extLst>
      <p:ext uri="{BB962C8B-B14F-4D97-AF65-F5344CB8AC3E}">
        <p14:creationId xmlns:p14="http://schemas.microsoft.com/office/powerpoint/2010/main" val="622655970"/>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B4C715-17FF-4BD5-AE12-76DF50F6B6F1}"/>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kept separate photo sets</a:t>
            </a:r>
          </a:p>
        </p:txBody>
      </p:sp>
      <p:sp>
        <p:nvSpPr>
          <p:cNvPr id="2" name="">
            <a:extLst xmlns:a="http://schemas.openxmlformats.org/drawingml/2006/main">
              <a:ext uri="{FF2B5EF4-FFF2-40B4-BE49-F238E27FC236}">
                <a16:creationId xmlns:a16="http://schemas.microsoft.com/office/drawing/2014/main" id="{1AE34A57-BF67-41DF-9DB1-4A4DFAB9CA0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04</a:t>
            </a:r>
          </a:p>
        </p:txBody>
      </p:sp>
      <p:graphicFrame>
        <p:nvGraphicFramePr>
          <p:cNvPr id="3" name="">
            <a:extLst xmlns:a="http://schemas.openxmlformats.org/drawingml/2006/main">
              <a:ext uri="{FF2B5EF4-FFF2-40B4-BE49-F238E27FC236}">
                <a16:creationId xmlns:a16="http://schemas.microsoft.com/office/drawing/2014/main" id="{783F16B2-00FC-4E9A-950B-817FB46DBD4E}"/>
              </a:ext>
            </a:extLst>
          </p:cNvPr>
          <p:cNvGraphicFramePr/>
          <p:nvPr/>
        </p:nvGraphicFramePr>
        <p:xfrm>
          <a:off xmlns:a="http://schemas.openxmlformats.org/drawingml/2006/main" x="666750" y="1676400"/>
          <a:ext xmlns:a="http://schemas.openxmlformats.org/drawingml/2006/main" cx="10858500" cy="3143250"/>
        </p:xfrm>
        <a:graphic xmlns:a="http://schemas.openxmlformats.org/drawingml/2006/main">
          <a:graphicData uri="http://schemas.openxmlformats.org/drawingml/2006/table">
            <a:tbl>
              <a:tblPr/>
              <a:tblGrid>
                <a:gridCol w="3333750"/>
                <a:gridCol w="5334000"/>
                <a:gridCol w="2190750"/>
              </a:tblGrid>
              <a:tr h="785813">
                <a:tc>
                  <a:txBody>
                    <a:bodyPr lIns="95250" tIns="95250" rIns="95250" bIns="95250"/>
                    <a:lstStyle/>
                    <a:p>
                      <a:r>
                        <a:rPr sz="2025" b="1">
                          <a:solidFill>
                            <a:srgbClr val="FFFFFF"/>
                          </a:solidFill>
                          <a:latin typeface="Arial"/>
                          <a:ea typeface="Arial"/>
                          <a:cs typeface="Arial"/>
                        </a:rPr>
                        <a:t>Photos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025" b="1">
                          <a:solidFill>
                            <a:srgbClr val="FFFFFF"/>
                          </a:solidFill>
                          <a:latin typeface="Arial"/>
                          <a:ea typeface="Arial"/>
                          <a:cs typeface="Arial"/>
                        </a:rPr>
                        <a:t>Purpose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025" b="1">
                          <a:solidFill>
                            <a:srgbClr val="FFFFFF"/>
                          </a:solidFill>
                          <a:latin typeface="Arial"/>
                          <a:ea typeface="Arial"/>
                          <a:cs typeface="Arial"/>
                        </a:rPr>
                        <a:t>Final count</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85813">
                <a:tc>
                  <a:txBody>
                    <a:bodyPr lIns="95250" tIns="95250" rIns="95250" bIns="95250"/>
                    <a:lstStyle/>
                    <a:p>
                      <a:r>
                        <a:rPr sz="2025" b="0">
                          <a:solidFill>
                            <a:srgbClr val="24352C"/>
                          </a:solidFill>
                          <a:latin typeface="Arial"/>
                          <a:ea typeface="Arial"/>
                          <a:cs typeface="Arial"/>
                        </a:rPr>
                        <a:t>Training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Teach the model</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6,790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85813">
                <a:tc>
                  <a:txBody>
                    <a:bodyPr lIns="95250" tIns="95250" rIns="95250" bIns="95250"/>
                    <a:lstStyle/>
                    <a:p>
                      <a:r>
                        <a:rPr sz="2025" b="0">
                          <a:solidFill>
                            <a:srgbClr val="24352C"/>
                          </a:solidFill>
                          <a:latin typeface="Arial"/>
                          <a:ea typeface="Arial"/>
                          <a:cs typeface="Arial"/>
                        </a:rPr>
                        <a:t>Validation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025" b="0">
                          <a:solidFill>
                            <a:srgbClr val="24352C"/>
                          </a:solidFill>
                          <a:latin typeface="Arial"/>
                          <a:ea typeface="Arial"/>
                          <a:cs typeface="Arial"/>
                        </a:rPr>
                        <a:t>Choose between approaches</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025"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785813">
                <a:tc>
                  <a:txBody>
                    <a:bodyPr lIns="95250" tIns="95250" rIns="95250" bIns="95250"/>
                    <a:lstStyle/>
                    <a:p>
                      <a:r>
                        <a:rPr sz="2025" b="0">
                          <a:solidFill>
                            <a:srgbClr val="24352C"/>
                          </a:solidFill>
                          <a:latin typeface="Arial"/>
                          <a:ea typeface="Arial"/>
                          <a:cs typeface="Arial"/>
                        </a:rPr>
                        <a:t>Final report / holdout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Report the chosen system</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623</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842D8F6-3E5C-477A-A5C7-910F76BC6963}"/>
              </a:ext>
            </a:extLst>
          </p:cNvPr>
          <p:cNvSpPr>
            <a:spLocks xmlns:a="http://schemas.openxmlformats.org/drawingml/2006/main" noGrp="1"/>
          </p:cNvSpPr>
          <p:nvPr/>
        </p:nvSpPr>
        <p:spPr>
          <a:xfrm xmlns:a="http://schemas.openxmlformats.org/drawingml/2006/main">
            <a:off x="723900" y="5200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Final model comparisons used 368 of the 388 validation photos.</a:t>
            </a:r>
          </a:p>
        </p:txBody>
      </p:sp>
      <p:sp>
        <p:nvSpPr>
          <p:cNvPr id="5" name="">
            <a:extLst xmlns:a="http://schemas.openxmlformats.org/drawingml/2006/main">
              <a:ext uri="{FF2B5EF4-FFF2-40B4-BE49-F238E27FC236}">
                <a16:creationId xmlns:a16="http://schemas.microsoft.com/office/drawing/2014/main" id="{E9C1871B-C318-4AC6-AB2B-2544CE5A8820}"/>
              </a:ext>
            </a:extLst>
          </p:cNvPr>
          <p:cNvSpPr>
            <a:spLocks xmlns:a="http://schemas.openxmlformats.org/drawingml/2006/main" noGrp="1"/>
          </p:cNvSpPr>
          <p:nvPr/>
        </p:nvSpPr>
        <p:spPr>
          <a:xfrm xmlns:a="http://schemas.openxmlformats.org/drawingml/2006/main">
            <a:off x="723900" y="5953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B5A37"/>
                </a:solidFill>
                <a:latin typeface="Arial"/>
                <a:ea typeface="Arial"/>
                <a:cs typeface="Arial"/>
              </a:defRPr>
            </a:defPPr>
            <a:lvl1pPr>
              <a:defRPr sz="1725" b="0">
                <a:solidFill>
                  <a:srgbClr val="AB5A37"/>
                </a:solidFill>
                <a:latin typeface="Arial"/>
                <a:ea typeface="Arial"/>
                <a:cs typeface="Arial"/>
              </a:defRPr>
            </a:lvl1pPr>
            <a:lvl2pPr>
              <a:defRPr sz="1725" b="0">
                <a:solidFill>
                  <a:srgbClr val="AB5A37"/>
                </a:solidFill>
                <a:latin typeface="Arial"/>
                <a:ea typeface="Arial"/>
                <a:cs typeface="Arial"/>
              </a:defRPr>
            </a:lvl2pPr>
            <a:lvl3pPr>
              <a:defRPr sz="1725" b="0">
                <a:solidFill>
                  <a:srgbClr val="AB5A37"/>
                </a:solidFill>
                <a:latin typeface="Arial"/>
                <a:ea typeface="Arial"/>
                <a:cs typeface="Arial"/>
              </a:defRPr>
            </a:lvl3pPr>
            <a:lvl4pPr>
              <a:defRPr sz="1725" b="0">
                <a:solidFill>
                  <a:srgbClr val="AB5A37"/>
                </a:solidFill>
                <a:latin typeface="Arial"/>
                <a:ea typeface="Arial"/>
                <a:cs typeface="Arial"/>
              </a:defRPr>
            </a:lvl4pPr>
            <a:lvl5pPr>
              <a:defRPr sz="1725" b="0">
                <a:solidFill>
                  <a:srgbClr val="AB5A37"/>
                </a:solidFill>
                <a:latin typeface="Arial"/>
                <a:ea typeface="Arial"/>
                <a:cs typeface="Arial"/>
              </a:defRPr>
            </a:lvl5pPr>
            <a:lvl6pPr>
              <a:defRPr sz="1725" b="0">
                <a:solidFill>
                  <a:srgbClr val="AB5A37"/>
                </a:solidFill>
                <a:latin typeface="Arial"/>
                <a:ea typeface="Arial"/>
                <a:cs typeface="Arial"/>
              </a:defRPr>
            </a:lvl6pPr>
            <a:lvl7pPr>
              <a:defRPr sz="1725" b="0">
                <a:solidFill>
                  <a:srgbClr val="AB5A37"/>
                </a:solidFill>
                <a:latin typeface="Arial"/>
                <a:ea typeface="Arial"/>
                <a:cs typeface="Arial"/>
              </a:defRPr>
            </a:lvl7pPr>
            <a:lvl8pPr>
              <a:defRPr sz="1725" b="0">
                <a:solidFill>
                  <a:srgbClr val="AB5A37"/>
                </a:solidFill>
                <a:latin typeface="Arial"/>
                <a:ea typeface="Arial"/>
                <a:cs typeface="Arial"/>
              </a:defRPr>
            </a:lvl8pPr>
            <a:lvl9pPr>
              <a:defRPr sz="1725" b="0">
                <a:solidFill>
                  <a:srgbClr val="AB5A37"/>
                </a:solidFill>
                <a:latin typeface="Arial"/>
                <a:ea typeface="Arial"/>
                <a:cs typeface="Arial"/>
              </a:defRPr>
            </a:lvl9pPr>
          </a:lstStyle>
          <a:p xmlns:a="http://schemas.openxmlformats.org/drawingml/2006/main">
            <a:pPr>
              <a:defRPr sz="1725" b="0">
                <a:solidFill>
                  <a:srgbClr val="AB5A37"/>
                </a:solidFill>
                <a:latin typeface="Arial"/>
                <a:ea typeface="Arial"/>
                <a:cs typeface="Arial"/>
              </a:defRPr>
            </a:pPr>
            <a:r>
              <a:rPr sz="1725" b="0">
                <a:solidFill>
                  <a:srgbClr val="AB5A37"/>
                </a:solidFill>
                <a:latin typeface="Arial"/>
                <a:ea typeface="Arial"/>
                <a:cs typeface="Arial"/>
              </a:rPr>
              <a:t>The holdout had already been evaluated earlier.</a:t>
            </a:r>
          </a:p>
        </p:txBody>
      </p:sp>
    </p:spTree>
    <p:extLst>
      <p:ext uri="{BB962C8B-B14F-4D97-AF65-F5344CB8AC3E}">
        <p14:creationId xmlns:p14="http://schemas.microsoft.com/office/powerpoint/2010/main" val="1248567477"/>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BA1D91-3035-4AEE-8718-B87D5C971644}"/>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Top-1 and Top-5 accuracy mean</a:t>
            </a:r>
          </a:p>
        </p:txBody>
      </p:sp>
      <p:sp>
        <p:nvSpPr>
          <p:cNvPr id="2" name="">
            <a:extLst xmlns:a="http://schemas.openxmlformats.org/drawingml/2006/main">
              <a:ext uri="{FF2B5EF4-FFF2-40B4-BE49-F238E27FC236}">
                <a16:creationId xmlns:a16="http://schemas.microsoft.com/office/drawing/2014/main" id="{089639AE-B1B8-48F0-9D15-7051D0E2F62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05</a:t>
            </a:r>
          </a:p>
        </p:txBody>
      </p:sp>
      <p:sp>
        <p:nvSpPr>
          <p:cNvPr id="3" name="">
            <a:extLst xmlns:a="http://schemas.openxmlformats.org/drawingml/2006/main">
              <a:ext uri="{FF2B5EF4-FFF2-40B4-BE49-F238E27FC236}">
                <a16:creationId xmlns:a16="http://schemas.microsoft.com/office/drawing/2014/main" id="{54123032-4546-451C-A10D-7619BAA9BE47}"/>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Top-1</a:t>
            </a:r>
          </a:p>
        </p:txBody>
      </p:sp>
      <p:sp>
        <p:nvSpPr>
          <p:cNvPr id="4" name="">
            <a:extLst xmlns:a="http://schemas.openxmlformats.org/drawingml/2006/main">
              <a:ext uri="{FF2B5EF4-FFF2-40B4-BE49-F238E27FC236}">
                <a16:creationId xmlns:a16="http://schemas.microsoft.com/office/drawing/2014/main" id="{70F87D7C-9470-46BA-B954-0C0FC9B8E6DB}"/>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first suggestion is the correct disease.</a:t>
            </a:r>
          </a:p>
        </p:txBody>
      </p:sp>
      <p:sp>
        <p:nvSpPr>
          <p:cNvPr id="5" name="">
            <a:extLst xmlns:a="http://schemas.openxmlformats.org/drawingml/2006/main">
              <a:ext uri="{FF2B5EF4-FFF2-40B4-BE49-F238E27FC236}">
                <a16:creationId xmlns:a16="http://schemas.microsoft.com/office/drawing/2014/main" id="{9D754E64-B6D8-4164-9E35-54806B9822C9}"/>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Top-5</a:t>
            </a:r>
          </a:p>
        </p:txBody>
      </p:sp>
      <p:sp>
        <p:nvSpPr>
          <p:cNvPr id="6" name="">
            <a:extLst xmlns:a="http://schemas.openxmlformats.org/drawingml/2006/main">
              <a:ext uri="{FF2B5EF4-FFF2-40B4-BE49-F238E27FC236}">
                <a16:creationId xmlns:a16="http://schemas.microsoft.com/office/drawing/2014/main" id="{5FBEFEC9-93E9-4DE6-A0AC-1C386CC05A07}"/>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correct disease appears anywhere in the five suggestions.</a:t>
            </a:r>
          </a:p>
        </p:txBody>
      </p:sp>
      <p:sp>
        <p:nvSpPr>
          <p:cNvPr id="7" name="">
            <a:extLst xmlns:a="http://schemas.openxmlformats.org/drawingml/2006/main">
              <a:ext uri="{FF2B5EF4-FFF2-40B4-BE49-F238E27FC236}">
                <a16:creationId xmlns:a16="http://schemas.microsoft.com/office/drawing/2014/main" id="{6FFBFF03-4D8D-4C44-93EC-A2DFB43C3081}"/>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Example</a:t>
            </a:r>
          </a:p>
        </p:txBody>
      </p:sp>
      <p:sp>
        <p:nvSpPr>
          <p:cNvPr id="8" name="">
            <a:extLst xmlns:a="http://schemas.openxmlformats.org/drawingml/2006/main">
              <a:ext uri="{FF2B5EF4-FFF2-40B4-BE49-F238E27FC236}">
                <a16:creationId xmlns:a16="http://schemas.microsoft.com/office/drawing/2014/main" id="{9C35BB12-25A0-4EB7-AFA4-6DECED47D4AD}"/>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If the correct disease is second, Top-1 counts a mistake and Top-5 counts a success.</a:t>
            </a:r>
          </a:p>
        </p:txBody>
      </p:sp>
    </p:spTree>
    <p:extLst>
      <p:ext uri="{BB962C8B-B14F-4D97-AF65-F5344CB8AC3E}">
        <p14:creationId xmlns:p14="http://schemas.microsoft.com/office/powerpoint/2010/main" val="10688479"/>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74D898-0D39-4CAC-B907-E8D0ED795168}"/>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Macro mAP gives each disease equal importance</a:t>
            </a:r>
          </a:p>
        </p:txBody>
      </p:sp>
      <p:sp>
        <p:nvSpPr>
          <p:cNvPr id="2" name="">
            <a:extLst xmlns:a="http://schemas.openxmlformats.org/drawingml/2006/main">
              <a:ext uri="{FF2B5EF4-FFF2-40B4-BE49-F238E27FC236}">
                <a16:creationId xmlns:a16="http://schemas.microsoft.com/office/drawing/2014/main" id="{BAABD8A2-9710-4FC4-B6D2-12FE5FB4184E}"/>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06</a:t>
            </a:r>
          </a:p>
        </p:txBody>
      </p:sp>
      <p:sp>
        <p:nvSpPr>
          <p:cNvPr id="3" name="">
            <a:extLst xmlns:a="http://schemas.openxmlformats.org/drawingml/2006/main">
              <a:ext uri="{FF2B5EF4-FFF2-40B4-BE49-F238E27FC236}">
                <a16:creationId xmlns:a16="http://schemas.microsoft.com/office/drawing/2014/main" id="{79465F54-7634-428A-B82E-28B28859B384}"/>
              </a:ext>
            </a:extLst>
          </p:cNvPr>
          <p:cNvSpPr>
            <a:spLocks xmlns:a="http://schemas.openxmlformats.org/drawingml/2006/main" noGrp="1"/>
          </p:cNvSpPr>
          <p:nvPr/>
        </p:nvSpPr>
        <p:spPr>
          <a:xfrm xmlns:a="http://schemas.openxmlformats.org/drawingml/2006/main">
            <a:off x="723900" y="1619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AP means average precision. It measures ranking quality for one disease.</a:t>
            </a:r>
          </a:p>
        </p:txBody>
      </p:sp>
      <p:graphicFrame>
        <p:nvGraphicFramePr>
          <p:cNvPr id="4" name="">
            <a:extLst xmlns:a="http://schemas.openxmlformats.org/drawingml/2006/main">
              <a:ext uri="{FF2B5EF4-FFF2-40B4-BE49-F238E27FC236}">
                <a16:creationId xmlns:a16="http://schemas.microsoft.com/office/drawing/2014/main" id="{674E3EB4-8C9F-4D06-B5C1-23F7EDB970A4}"/>
              </a:ext>
            </a:extLst>
          </p:cNvPr>
          <p:cNvGraphicFramePr/>
          <p:nvPr/>
        </p:nvGraphicFramePr>
        <p:xfrm>
          <a:off xmlns:a="http://schemas.openxmlformats.org/drawingml/2006/main" x="666750" y="2419350"/>
          <a:ext xmlns:a="http://schemas.openxmlformats.org/drawingml/2006/main" cx="10858500" cy="2076450"/>
        </p:xfrm>
        <a:graphic xmlns:a="http://schemas.openxmlformats.org/drawingml/2006/main">
          <a:graphicData uri="http://schemas.openxmlformats.org/drawingml/2006/table">
            <a:tbl>
              <a:tblPr/>
              <a:tblGrid>
                <a:gridCol w="4476750"/>
                <a:gridCol w="2571750"/>
                <a:gridCol w="3810000"/>
              </a:tblGrid>
              <a:tr h="519113">
                <a:tc>
                  <a:txBody>
                    <a:bodyPr lIns="95250" tIns="95250" rIns="95250" bIns="95250"/>
                    <a:lstStyle/>
                    <a:p>
                      <a:r>
                        <a:rPr sz="2025" b="1">
                          <a:solidFill>
                            <a:srgbClr val="FFFFFF"/>
                          </a:solidFill>
                          <a:latin typeface="Arial"/>
                          <a:ea typeface="Arial"/>
                          <a:cs typeface="Arial"/>
                        </a:rPr>
                        <a:t>Ranked photo</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025" b="1">
                          <a:solidFill>
                            <a:srgbClr val="FFFFFF"/>
                          </a:solidFill>
                          <a:latin typeface="Arial"/>
                          <a:ea typeface="Arial"/>
                          <a:cs typeface="Arial"/>
                        </a:rPr>
                        <a:t>Rust score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025" b="1">
                          <a:solidFill>
                            <a:srgbClr val="FFFFFF"/>
                          </a:solidFill>
                          <a:latin typeface="Arial"/>
                          <a:ea typeface="Arial"/>
                          <a:cs typeface="Arial"/>
                        </a:rPr>
                        <a:t>Actual label</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19113">
                <a:tc>
                  <a:txBody>
                    <a:bodyPr lIns="95250" tIns="95250" rIns="95250" bIns="95250"/>
                    <a:lstStyle/>
                    <a:p>
                      <a:r>
                        <a:rPr sz="2025" b="0">
                          <a:solidFill>
                            <a:srgbClr val="24352C"/>
                          </a:solidFill>
                          <a:latin typeface="Arial"/>
                          <a:ea typeface="Arial"/>
                          <a:cs typeface="Arial"/>
                        </a:rPr>
                        <a:t>A</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0.90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Rust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19113">
                <a:tc>
                  <a:txBody>
                    <a:bodyPr lIns="95250" tIns="95250" rIns="95250" bIns="95250"/>
                    <a:lstStyle/>
                    <a:p>
                      <a:r>
                        <a:rPr sz="2025" b="0">
                          <a:solidFill>
                            <a:srgbClr val="24352C"/>
                          </a:solidFill>
                          <a:latin typeface="Arial"/>
                          <a:ea typeface="Arial"/>
                          <a:cs typeface="Arial"/>
                        </a:rPr>
                        <a:t>B</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025" b="0">
                          <a:solidFill>
                            <a:srgbClr val="24352C"/>
                          </a:solidFill>
                          <a:latin typeface="Arial"/>
                          <a:ea typeface="Arial"/>
                          <a:cs typeface="Arial"/>
                        </a:rPr>
                        <a:t>0.80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025" b="0">
                          <a:solidFill>
                            <a:srgbClr val="24352C"/>
                          </a:solidFill>
                          <a:latin typeface="Arial"/>
                          <a:ea typeface="Arial"/>
                          <a:cs typeface="Arial"/>
                        </a:rPr>
                        <a:t>Another disease</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19113">
                <a:tc>
                  <a:txBody>
                    <a:bodyPr lIns="95250" tIns="95250" rIns="95250" bIns="95250"/>
                    <a:lstStyle/>
                    <a:p>
                      <a:r>
                        <a:rPr sz="2025" b="0">
                          <a:solidFill>
                            <a:srgbClr val="24352C"/>
                          </a:solidFill>
                          <a:latin typeface="Arial"/>
                          <a:ea typeface="Arial"/>
                          <a:cs typeface="Arial"/>
                        </a:rPr>
                        <a:t>C</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0.70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025" b="0">
                          <a:solidFill>
                            <a:srgbClr val="24352C"/>
                          </a:solidFill>
                          <a:latin typeface="Arial"/>
                          <a:ea typeface="Arial"/>
                          <a:cs typeface="Arial"/>
                        </a:rPr>
                        <a:t>Rust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D20B00-31E1-42AF-9CE5-03372D579E2F}"/>
              </a:ext>
            </a:extLst>
          </p:cNvPr>
          <p:cNvSpPr>
            <a:spLocks xmlns:a="http://schemas.openxmlformats.org/drawingml/2006/main" noGrp="1"/>
          </p:cNvSpPr>
          <p:nvPr/>
        </p:nvSpPr>
        <p:spPr>
          <a:xfrm xmlns:a="http://schemas.openxmlformats.org/drawingml/2006/main">
            <a:off x="723900" y="4705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52C"/>
                </a:solidFill>
                <a:latin typeface="Arial"/>
                <a:ea typeface="Arial"/>
                <a:cs typeface="Arial"/>
              </a:defRPr>
            </a:defPPr>
            <a:lvl1pPr>
              <a:defRPr sz="2025" b="0">
                <a:solidFill>
                  <a:srgbClr val="24352C"/>
                </a:solidFill>
                <a:latin typeface="Arial"/>
                <a:ea typeface="Arial"/>
                <a:cs typeface="Arial"/>
              </a:defRPr>
            </a:lvl1pPr>
            <a:lvl2pPr>
              <a:defRPr sz="2025" b="0">
                <a:solidFill>
                  <a:srgbClr val="24352C"/>
                </a:solidFill>
                <a:latin typeface="Arial"/>
                <a:ea typeface="Arial"/>
                <a:cs typeface="Arial"/>
              </a:defRPr>
            </a:lvl2pPr>
            <a:lvl3pPr>
              <a:defRPr sz="2025" b="0">
                <a:solidFill>
                  <a:srgbClr val="24352C"/>
                </a:solidFill>
                <a:latin typeface="Arial"/>
                <a:ea typeface="Arial"/>
                <a:cs typeface="Arial"/>
              </a:defRPr>
            </a:lvl3pPr>
            <a:lvl4pPr>
              <a:defRPr sz="2025" b="0">
                <a:solidFill>
                  <a:srgbClr val="24352C"/>
                </a:solidFill>
                <a:latin typeface="Arial"/>
                <a:ea typeface="Arial"/>
                <a:cs typeface="Arial"/>
              </a:defRPr>
            </a:lvl4pPr>
            <a:lvl5pPr>
              <a:defRPr sz="2025" b="0">
                <a:solidFill>
                  <a:srgbClr val="24352C"/>
                </a:solidFill>
                <a:latin typeface="Arial"/>
                <a:ea typeface="Arial"/>
                <a:cs typeface="Arial"/>
              </a:defRPr>
            </a:lvl5pPr>
            <a:lvl6pPr>
              <a:defRPr sz="2025" b="0">
                <a:solidFill>
                  <a:srgbClr val="24352C"/>
                </a:solidFill>
                <a:latin typeface="Arial"/>
                <a:ea typeface="Arial"/>
                <a:cs typeface="Arial"/>
              </a:defRPr>
            </a:lvl6pPr>
            <a:lvl7pPr>
              <a:defRPr sz="2025" b="0">
                <a:solidFill>
                  <a:srgbClr val="24352C"/>
                </a:solidFill>
                <a:latin typeface="Arial"/>
                <a:ea typeface="Arial"/>
                <a:cs typeface="Arial"/>
              </a:defRPr>
            </a:lvl7pPr>
            <a:lvl8pPr>
              <a:defRPr sz="2025" b="0">
                <a:solidFill>
                  <a:srgbClr val="24352C"/>
                </a:solidFill>
                <a:latin typeface="Arial"/>
                <a:ea typeface="Arial"/>
                <a:cs typeface="Arial"/>
              </a:defRPr>
            </a:lvl8pPr>
            <a:lvl9pPr>
              <a:defRPr sz="2025" b="0">
                <a:solidFill>
                  <a:srgbClr val="24352C"/>
                </a:solidFill>
                <a:latin typeface="Arial"/>
                <a:ea typeface="Arial"/>
                <a:cs typeface="Arial"/>
              </a:defRPr>
            </a:lvl9pPr>
          </a:lstStyle>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At A: 1 of 1 is rust. At C: 2 of 3 are rust.</a:t>
            </a:r>
          </a:p>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Rust AP averages these: (100% + 66.7%) / 2 = 83.3%.</a:t>
            </a:r>
          </a:p>
        </p:txBody>
      </p:sp>
      <p:sp>
        <p:nvSpPr>
          <p:cNvPr id="6" name="">
            <a:extLst xmlns:a="http://schemas.openxmlformats.org/drawingml/2006/main">
              <a:ext uri="{FF2B5EF4-FFF2-40B4-BE49-F238E27FC236}">
                <a16:creationId xmlns:a16="http://schemas.microsoft.com/office/drawing/2014/main" id="{A3E3C494-216F-435A-81D4-D6E69F44F6CF}"/>
              </a:ext>
            </a:extLst>
          </p:cNvPr>
          <p:cNvSpPr>
            <a:spLocks xmlns:a="http://schemas.openxmlformats.org/drawingml/2006/main" noGrp="1"/>
          </p:cNvSpPr>
          <p:nvPr/>
        </p:nvSpPr>
        <p:spPr>
          <a:xfrm xmlns:a="http://schemas.openxmlformats.org/drawingml/2006/main">
            <a:off x="723900" y="55816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rPr>
              <a:t>Macro mAP averages all 39 disease AP scores equally.</a:t>
            </a:r>
          </a:p>
        </p:txBody>
      </p:sp>
      <p:sp>
        <p:nvSpPr>
          <p:cNvPr id="7" name="">
            <a:extLst xmlns:a="http://schemas.openxmlformats.org/drawingml/2006/main">
              <a:ext uri="{FF2B5EF4-FFF2-40B4-BE49-F238E27FC236}">
                <a16:creationId xmlns:a16="http://schemas.microsoft.com/office/drawing/2014/main" id="{8521B4D6-8551-4346-92A7-B4084864EEB2}"/>
              </a:ext>
            </a:extLst>
          </p:cNvPr>
          <p:cNvSpPr>
            <a:spLocks xmlns:a="http://schemas.openxmlformats.org/drawingml/2006/main" noGrp="1"/>
          </p:cNvSpPr>
          <p:nvPr/>
        </p:nvSpPr>
        <p:spPr>
          <a:xfrm xmlns:a="http://schemas.openxmlformats.org/drawingml/2006/main">
            <a:off x="7239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Toy example only. These are not MROOT predictions.</a:t>
            </a:r>
          </a:p>
        </p:txBody>
      </p:sp>
    </p:spTree>
    <p:extLst>
      <p:ext uri="{BB962C8B-B14F-4D97-AF65-F5344CB8AC3E}">
        <p14:creationId xmlns:p14="http://schemas.microsoft.com/office/powerpoint/2010/main" val="1127917587"/>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FC2971-AF1A-4C52-A332-2217EF56D722}"/>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Some diseases had far fewer training examples</a:t>
            </a:r>
          </a:p>
        </p:txBody>
      </p:sp>
      <p:sp>
        <p:nvSpPr>
          <p:cNvPr id="2" name="">
            <a:extLst xmlns:a="http://schemas.openxmlformats.org/drawingml/2006/main">
              <a:ext uri="{FF2B5EF4-FFF2-40B4-BE49-F238E27FC236}">
                <a16:creationId xmlns:a16="http://schemas.microsoft.com/office/drawing/2014/main" id="{1A2F2F5B-C105-49CC-98F8-2B838403EFC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07</a:t>
            </a:r>
          </a:p>
        </p:txBody>
      </p:sp>
      <p:graphicFrame>
        <p:nvGraphicFramePr>
          <p:cNvPr id="3" name="Chart">
            <a:extLst xmlns:a="http://schemas.openxmlformats.org/drawingml/2006/main">
              <a:ext uri="{FF2B5EF4-FFF2-40B4-BE49-F238E27FC236}">
                <a16:creationId xmlns:a16="http://schemas.microsoft.com/office/drawing/2014/main" id="{6A24419E-C052-40B3-89AC-04B08A5585EA}"/>
              </a:ext>
            </a:extLst>
          </p:cNvPr>
          <p:cNvGraphicFramePr/>
          <p:nvPr/>
        </p:nvGraphicFramePr>
        <p:xfrm>
          <a:off xmlns:a="http://schemas.openxmlformats.org/drawingml/2006/main" x="666750" y="1666875"/>
          <a:ext xmlns:a="http://schemas.openxmlformats.org/drawingml/2006/main" cx="10668000" cy="3381375"/>
        </p:xfrm>
        <a:graphic xmlns:a="http://schemas.openxmlformats.org/drawingml/2006/main">
          <a:graphicData uri="http://schemas.openxmlformats.org/drawingml/2006/chart">
            <c:chart xmlns:r="http://schemas.openxmlformats.org/officeDocument/2006/relationships" xmlns:c="http://schemas.openxmlformats.org/drawingml/2006/chart" r:id="Rfe201f29dbac410d"/>
          </a:graphicData>
        </a:graphic>
      </p:graphicFrame>
      <p:sp>
        <p:nvSpPr>
          <p:cNvPr id="4" name="">
            <a:extLst xmlns:a="http://schemas.openxmlformats.org/drawingml/2006/main">
              <a:ext uri="{FF2B5EF4-FFF2-40B4-BE49-F238E27FC236}">
                <a16:creationId xmlns:a16="http://schemas.microsoft.com/office/drawing/2014/main" id="{F73A9BAA-F748-4DA1-AF33-0ADCD4C49A4F}"/>
              </a:ext>
            </a:extLst>
          </p:cNvPr>
          <p:cNvSpPr>
            <a:spLocks xmlns:a="http://schemas.openxmlformats.org/drawingml/2006/main" noGrp="1"/>
          </p:cNvSpPr>
          <p:nvPr/>
        </p:nvSpPr>
        <p:spPr>
          <a:xfrm xmlns:a="http://schemas.openxmlformats.org/drawingml/2006/main">
            <a:off x="723900" y="5353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E2C"/>
                </a:solidFill>
                <a:latin typeface="Arial"/>
                <a:ea typeface="Arial"/>
                <a:cs typeface="Arial"/>
              </a:defRPr>
            </a:defPPr>
            <a:lvl1pPr>
              <a:defRPr sz="2175" b="1">
                <a:solidFill>
                  <a:srgbClr val="173E2C"/>
                </a:solidFill>
                <a:latin typeface="Arial"/>
                <a:ea typeface="Arial"/>
                <a:cs typeface="Arial"/>
              </a:defRPr>
            </a:lvl1pPr>
            <a:lvl2pPr>
              <a:defRPr sz="2175" b="1">
                <a:solidFill>
                  <a:srgbClr val="173E2C"/>
                </a:solidFill>
                <a:latin typeface="Arial"/>
                <a:ea typeface="Arial"/>
                <a:cs typeface="Arial"/>
              </a:defRPr>
            </a:lvl2pPr>
            <a:lvl3pPr>
              <a:defRPr sz="2175" b="1">
                <a:solidFill>
                  <a:srgbClr val="173E2C"/>
                </a:solidFill>
                <a:latin typeface="Arial"/>
                <a:ea typeface="Arial"/>
                <a:cs typeface="Arial"/>
              </a:defRPr>
            </a:lvl3pPr>
            <a:lvl4pPr>
              <a:defRPr sz="2175" b="1">
                <a:solidFill>
                  <a:srgbClr val="173E2C"/>
                </a:solidFill>
                <a:latin typeface="Arial"/>
                <a:ea typeface="Arial"/>
                <a:cs typeface="Arial"/>
              </a:defRPr>
            </a:lvl4pPr>
            <a:lvl5pPr>
              <a:defRPr sz="2175" b="1">
                <a:solidFill>
                  <a:srgbClr val="173E2C"/>
                </a:solidFill>
                <a:latin typeface="Arial"/>
                <a:ea typeface="Arial"/>
                <a:cs typeface="Arial"/>
              </a:defRPr>
            </a:lvl5pPr>
            <a:lvl6pPr>
              <a:defRPr sz="2175" b="1">
                <a:solidFill>
                  <a:srgbClr val="173E2C"/>
                </a:solidFill>
                <a:latin typeface="Arial"/>
                <a:ea typeface="Arial"/>
                <a:cs typeface="Arial"/>
              </a:defRPr>
            </a:lvl6pPr>
            <a:lvl7pPr>
              <a:defRPr sz="2175" b="1">
                <a:solidFill>
                  <a:srgbClr val="173E2C"/>
                </a:solidFill>
                <a:latin typeface="Arial"/>
                <a:ea typeface="Arial"/>
                <a:cs typeface="Arial"/>
              </a:defRPr>
            </a:lvl7pPr>
            <a:lvl8pPr>
              <a:defRPr sz="2175" b="1">
                <a:solidFill>
                  <a:srgbClr val="173E2C"/>
                </a:solidFill>
                <a:latin typeface="Arial"/>
                <a:ea typeface="Arial"/>
                <a:cs typeface="Arial"/>
              </a:defRPr>
            </a:lvl8pPr>
            <a:lvl9pPr>
              <a:defRPr sz="2175" b="1">
                <a:solidFill>
                  <a:srgbClr val="173E2C"/>
                </a:solidFill>
                <a:latin typeface="Arial"/>
                <a:ea typeface="Arial"/>
                <a:cs typeface="Arial"/>
              </a:defRPr>
            </a:lvl9pPr>
          </a:lstStyle>
          <a:p xmlns:a="http://schemas.openxmlformats.org/drawingml/2006/main">
            <a:pPr>
              <a:defRPr sz="2175" b="1">
                <a:solidFill>
                  <a:srgbClr val="173E2C"/>
                </a:solidFill>
                <a:latin typeface="Arial"/>
                <a:ea typeface="Arial"/>
                <a:cs typeface="Arial"/>
              </a:defRPr>
            </a:pPr>
            <a:r>
              <a:rPr sz="2175" b="1">
                <a:solidFill>
                  <a:srgbClr val="173E2C"/>
                </a:solidFill>
                <a:latin typeface="Arial"/>
                <a:ea typeface="Arial"/>
                <a:cs typeface="Arial"/>
              </a:rPr>
              <a:t>Class imbalance means unequal training counts across categories.</a:t>
            </a:r>
          </a:p>
        </p:txBody>
      </p:sp>
      <p:sp>
        <p:nvSpPr>
          <p:cNvPr id="5" name="">
            <a:extLst xmlns:a="http://schemas.openxmlformats.org/drawingml/2006/main">
              <a:ext uri="{FF2B5EF4-FFF2-40B4-BE49-F238E27FC236}">
                <a16:creationId xmlns:a16="http://schemas.microsoft.com/office/drawing/2014/main" id="{2D92168F-9E88-4015-A5D3-1FEDD26E2872}"/>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Selected classes from the final training split.</a:t>
            </a:r>
          </a:p>
        </p:txBody>
      </p:sp>
    </p:spTree>
    <p:extLst>
      <p:ext uri="{BB962C8B-B14F-4D97-AF65-F5344CB8AC3E}">
        <p14:creationId xmlns:p14="http://schemas.microsoft.com/office/powerpoint/2010/main" val="1563896892"/>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B1A58F-FF63-498E-AC1D-9A456D9ECDA4}"/>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Related photos can make an evaluation too easy</a:t>
            </a:r>
          </a:p>
        </p:txBody>
      </p:sp>
      <p:sp>
        <p:nvSpPr>
          <p:cNvPr id="2" name="">
            <a:extLst xmlns:a="http://schemas.openxmlformats.org/drawingml/2006/main">
              <a:ext uri="{FF2B5EF4-FFF2-40B4-BE49-F238E27FC236}">
                <a16:creationId xmlns:a16="http://schemas.microsoft.com/office/drawing/2014/main" id="{5396DD6B-46F8-4C22-ABCE-C3907C6A2778}"/>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08</a:t>
            </a:r>
          </a:p>
        </p:txBody>
      </p:sp>
      <p:sp>
        <p:nvSpPr>
          <p:cNvPr id="3" name="">
            <a:extLst xmlns:a="http://schemas.openxmlformats.org/drawingml/2006/main">
              <a:ext uri="{FF2B5EF4-FFF2-40B4-BE49-F238E27FC236}">
                <a16:creationId xmlns:a16="http://schemas.microsoft.com/office/drawing/2014/main" id="{4CF5FFDF-1A5A-4829-85D4-94BC4E403D76}"/>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Near duplicate</a:t>
            </a:r>
          </a:p>
        </p:txBody>
      </p:sp>
      <p:sp>
        <p:nvSpPr>
          <p:cNvPr id="4" name="">
            <a:extLst xmlns:a="http://schemas.openxmlformats.org/drawingml/2006/main">
              <a:ext uri="{FF2B5EF4-FFF2-40B4-BE49-F238E27FC236}">
                <a16:creationId xmlns:a16="http://schemas.microsoft.com/office/drawing/2014/main" id="{3FD044E8-A4FC-4DE1-BFEF-31CC388BD520}"/>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resized, cropped, or compressed version of the same underlying photo.</a:t>
            </a:r>
          </a:p>
        </p:txBody>
      </p:sp>
      <p:sp>
        <p:nvSpPr>
          <p:cNvPr id="5" name="">
            <a:extLst xmlns:a="http://schemas.openxmlformats.org/drawingml/2006/main">
              <a:ext uri="{FF2B5EF4-FFF2-40B4-BE49-F238E27FC236}">
                <a16:creationId xmlns:a16="http://schemas.microsoft.com/office/drawing/2014/main" id="{78E11844-B8A7-4F59-BA7D-8FC16E342516}"/>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Leakage</a:t>
            </a:r>
          </a:p>
        </p:txBody>
      </p:sp>
      <p:sp>
        <p:nvSpPr>
          <p:cNvPr id="6" name="">
            <a:extLst xmlns:a="http://schemas.openxmlformats.org/drawingml/2006/main">
              <a:ext uri="{FF2B5EF4-FFF2-40B4-BE49-F238E27FC236}">
                <a16:creationId xmlns:a16="http://schemas.microsoft.com/office/drawing/2014/main" id="{1050D30C-DEE2-43A6-9A1D-4DDF4F4A93E3}"/>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Information from evaluation examples reaches training, making the check less independent.</a:t>
            </a:r>
          </a:p>
        </p:txBody>
      </p:sp>
      <p:sp>
        <p:nvSpPr>
          <p:cNvPr id="7" name="">
            <a:extLst xmlns:a="http://schemas.openxmlformats.org/drawingml/2006/main">
              <a:ext uri="{FF2B5EF4-FFF2-40B4-BE49-F238E27FC236}">
                <a16:creationId xmlns:a16="http://schemas.microsoft.com/office/drawing/2014/main" id="{5CC5E83C-5535-40FD-A8E8-88AC1FCCBC24}"/>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Our response</a:t>
            </a:r>
          </a:p>
        </p:txBody>
      </p:sp>
      <p:sp>
        <p:nvSpPr>
          <p:cNvPr id="8" name="">
            <a:extLst xmlns:a="http://schemas.openxmlformats.org/drawingml/2006/main">
              <a:ext uri="{FF2B5EF4-FFF2-40B4-BE49-F238E27FC236}">
                <a16:creationId xmlns:a16="http://schemas.microsoft.com/office/drawing/2014/main" id="{1D23C967-2DAC-4D34-8F06-5E49E76985CE}"/>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Review related images and conflicting labels, then exclude detected groups using new file lists.</a:t>
            </a:r>
          </a:p>
        </p:txBody>
      </p:sp>
    </p:spTree>
    <p:extLst>
      <p:ext uri="{BB962C8B-B14F-4D97-AF65-F5344CB8AC3E}">
        <p14:creationId xmlns:p14="http://schemas.microsoft.com/office/powerpoint/2010/main" val="1037297991"/>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5B42CD-2B7D-44C1-8ED8-662C883EE730}"/>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I adapted models that already knew visual patterns</a:t>
            </a:r>
          </a:p>
        </p:txBody>
      </p:sp>
      <p:sp>
        <p:nvSpPr>
          <p:cNvPr id="2" name="">
            <a:extLst xmlns:a="http://schemas.openxmlformats.org/drawingml/2006/main">
              <a:ext uri="{FF2B5EF4-FFF2-40B4-BE49-F238E27FC236}">
                <a16:creationId xmlns:a16="http://schemas.microsoft.com/office/drawing/2014/main" id="{EA736F7B-E34A-4E13-A7D3-F5A832B9281E}"/>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09</a:t>
            </a:r>
          </a:p>
        </p:txBody>
      </p:sp>
      <p:sp>
        <p:nvSpPr>
          <p:cNvPr id="3" name="">
            <a:extLst xmlns:a="http://schemas.openxmlformats.org/drawingml/2006/main">
              <a:ext uri="{FF2B5EF4-FFF2-40B4-BE49-F238E27FC236}">
                <a16:creationId xmlns:a16="http://schemas.microsoft.com/office/drawing/2014/main" id="{E13B6B4C-B958-4B5D-A483-0816B583690B}"/>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Pretraining</a:t>
            </a:r>
          </a:p>
        </p:txBody>
      </p:sp>
      <p:sp>
        <p:nvSpPr>
          <p:cNvPr id="4" name="">
            <a:extLst xmlns:a="http://schemas.openxmlformats.org/drawingml/2006/main">
              <a:ext uri="{FF2B5EF4-FFF2-40B4-BE49-F238E27FC236}">
                <a16:creationId xmlns:a16="http://schemas.microsoft.com/office/drawing/2014/main" id="{283D09F3-5390-45EF-9F5B-2002423EC5EB}"/>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Learn general visual patterns from another large image dataset first.</a:t>
            </a:r>
          </a:p>
        </p:txBody>
      </p:sp>
      <p:sp>
        <p:nvSpPr>
          <p:cNvPr id="5" name="">
            <a:extLst xmlns:a="http://schemas.openxmlformats.org/drawingml/2006/main">
              <a:ext uri="{FF2B5EF4-FFF2-40B4-BE49-F238E27FC236}">
                <a16:creationId xmlns:a16="http://schemas.microsoft.com/office/drawing/2014/main" id="{E77A874E-A954-4CFE-B549-921E851753FF}"/>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Fine-tuning</a:t>
            </a:r>
          </a:p>
        </p:txBody>
      </p:sp>
      <p:sp>
        <p:nvSpPr>
          <p:cNvPr id="6" name="">
            <a:extLst xmlns:a="http://schemas.openxmlformats.org/drawingml/2006/main">
              <a:ext uri="{FF2B5EF4-FFF2-40B4-BE49-F238E27FC236}">
                <a16:creationId xmlns:a16="http://schemas.microsoft.com/office/drawing/2014/main" id="{20854F0C-9760-4327-947C-A886AFADB14B}"/>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Adjust that pretrained model using MROOT’s labeled plant photos.</a:t>
            </a:r>
          </a:p>
        </p:txBody>
      </p:sp>
      <p:sp>
        <p:nvSpPr>
          <p:cNvPr id="7" name="">
            <a:extLst xmlns:a="http://schemas.openxmlformats.org/drawingml/2006/main">
              <a:ext uri="{FF2B5EF4-FFF2-40B4-BE49-F238E27FC236}">
                <a16:creationId xmlns:a16="http://schemas.microsoft.com/office/drawing/2014/main" id="{E926A70F-7D45-4D9A-A4AE-59C9CBAB9D2F}"/>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EVA-02</a:t>
            </a:r>
          </a:p>
        </p:txBody>
      </p:sp>
      <p:sp>
        <p:nvSpPr>
          <p:cNvPr id="8" name="">
            <a:extLst xmlns:a="http://schemas.openxmlformats.org/drawingml/2006/main">
              <a:ext uri="{FF2B5EF4-FFF2-40B4-BE49-F238E27FC236}">
                <a16:creationId xmlns:a16="http://schemas.microsoft.com/office/drawing/2014/main" id="{261D1D8E-DC91-4641-837C-4E80B1E32406}"/>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pretrained model family I used. It is a Vision Transformer (ViT), which combines information from image patches.</a:t>
            </a:r>
          </a:p>
        </p:txBody>
      </p:sp>
    </p:spTree>
    <p:extLst>
      <p:ext uri="{BB962C8B-B14F-4D97-AF65-F5344CB8AC3E}">
        <p14:creationId xmlns:p14="http://schemas.microsoft.com/office/powerpoint/2010/main" val="542972289"/>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FA598B-A426-4B47-9A48-67386719F081}"/>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combining models helped at first</a:t>
            </a:r>
          </a:p>
        </p:txBody>
      </p:sp>
      <p:sp>
        <p:nvSpPr>
          <p:cNvPr id="2" name="">
            <a:extLst xmlns:a="http://schemas.openxmlformats.org/drawingml/2006/main">
              <a:ext uri="{FF2B5EF4-FFF2-40B4-BE49-F238E27FC236}">
                <a16:creationId xmlns:a16="http://schemas.microsoft.com/office/drawing/2014/main" id="{9C377DBB-6E42-4AE8-9D4A-1ADCD3FED395}"/>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10</a:t>
            </a:r>
          </a:p>
        </p:txBody>
      </p:sp>
      <p:sp>
        <p:nvSpPr>
          <p:cNvPr id="3" name="">
            <a:extLst xmlns:a="http://schemas.openxmlformats.org/drawingml/2006/main">
              <a:ext uri="{FF2B5EF4-FFF2-40B4-BE49-F238E27FC236}">
                <a16:creationId xmlns:a16="http://schemas.microsoft.com/office/drawing/2014/main" id="{F2341D63-CE1F-4E05-B5FE-E9EFEDC0691B}"/>
              </a:ext>
            </a:extLst>
          </p:cNvPr>
          <p:cNvSpPr>
            <a:spLocks xmlns:a="http://schemas.openxmlformats.org/drawingml/2006/main" noGrp="1"/>
          </p:cNvSpPr>
          <p:nvPr/>
        </p:nvSpPr>
        <p:spPr>
          <a:xfrm xmlns:a="http://schemas.openxmlformats.org/drawingml/2006/main">
            <a:off x="723900" y="153352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An ensemble averages several models’ disease scores. A seed controls random choices in training.</a:t>
            </a:r>
          </a:p>
        </p:txBody>
      </p:sp>
      <p:graphicFrame>
        <p:nvGraphicFramePr>
          <p:cNvPr id="4" name="Chart">
            <a:extLst xmlns:a="http://schemas.openxmlformats.org/drawingml/2006/main">
              <a:ext uri="{FF2B5EF4-FFF2-40B4-BE49-F238E27FC236}">
                <a16:creationId xmlns:a16="http://schemas.microsoft.com/office/drawing/2014/main" id="{EE312050-F5E8-4125-9DD6-27BCECA8C5DB}"/>
              </a:ext>
            </a:extLst>
          </p:cNvPr>
          <p:cNvGraphicFramePr/>
          <p:nvPr/>
        </p:nvGraphicFramePr>
        <p:xfrm>
          <a:off xmlns:a="http://schemas.openxmlformats.org/drawingml/2006/main" x="666750" y="2714625"/>
          <a:ext xmlns:a="http://schemas.openxmlformats.org/drawingml/2006/main" cx="10668000" cy="2933700"/>
        </p:xfrm>
        <a:graphic xmlns:a="http://schemas.openxmlformats.org/drawingml/2006/main">
          <a:graphicData uri="http://schemas.openxmlformats.org/drawingml/2006/chart">
            <c:chart xmlns:r="http://schemas.openxmlformats.org/officeDocument/2006/relationships" xmlns:c="http://schemas.openxmlformats.org/drawingml/2006/chart" r:id="Ra7623a581eae46f7"/>
          </a:graphicData>
        </a:graphic>
      </p:graphicFrame>
      <p:sp>
        <p:nvSpPr>
          <p:cNvPr id="5" name="">
            <a:extLst xmlns:a="http://schemas.openxmlformats.org/drawingml/2006/main">
              <a:ext uri="{FF2B5EF4-FFF2-40B4-BE49-F238E27FC236}">
                <a16:creationId xmlns:a16="http://schemas.microsoft.com/office/drawing/2014/main" id="{F9ACEA82-5C05-48F9-98B2-E569FF8F38D4}"/>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Original validation: 390 photos. Historical rounded scores are approximate.</a:t>
            </a:r>
          </a:p>
        </p:txBody>
      </p:sp>
    </p:spTree>
    <p:extLst>
      <p:ext uri="{BB962C8B-B14F-4D97-AF65-F5344CB8AC3E}">
        <p14:creationId xmlns:p14="http://schemas.microsoft.com/office/powerpoint/2010/main" val="1252610477"/>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C38E6D-6E1D-42D7-BAF8-65B534EAF2CA}"/>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More training and more models did not always help</a:t>
            </a:r>
          </a:p>
        </p:txBody>
      </p:sp>
      <p:sp>
        <p:nvSpPr>
          <p:cNvPr id="2" name="">
            <a:extLst xmlns:a="http://schemas.openxmlformats.org/drawingml/2006/main">
              <a:ext uri="{FF2B5EF4-FFF2-40B4-BE49-F238E27FC236}">
                <a16:creationId xmlns:a16="http://schemas.microsoft.com/office/drawing/2014/main" id="{EA498E8C-CAE2-4F3F-8E18-A87EBEF70A9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11</a:t>
            </a:r>
          </a:p>
        </p:txBody>
      </p:sp>
      <p:graphicFrame>
        <p:nvGraphicFramePr>
          <p:cNvPr id="3" name="">
            <a:extLst xmlns:a="http://schemas.openxmlformats.org/drawingml/2006/main">
              <a:ext uri="{FF2B5EF4-FFF2-40B4-BE49-F238E27FC236}">
                <a16:creationId xmlns:a16="http://schemas.microsoft.com/office/drawing/2014/main" id="{4D8F6913-D18C-4DEA-9A9D-E76D48C92491}"/>
              </a:ext>
            </a:extLst>
          </p:cNvPr>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a:tblGrid>
                <a:gridCol w="3143250"/>
                <a:gridCol w="4191000"/>
                <a:gridCol w="3524250"/>
              </a:tblGrid>
              <a:tr h="869156">
                <a:tc>
                  <a:txBody>
                    <a:bodyPr lIns="95250" tIns="95250" rIns="95250" bIns="95250"/>
                    <a:lstStyle/>
                    <a:p>
                      <a:r>
                        <a:rPr sz="1875" b="1">
                          <a:solidFill>
                            <a:srgbClr val="FFFFFF"/>
                          </a:solidFill>
                          <a:latin typeface="Arial"/>
                          <a:ea typeface="Arial"/>
                          <a:cs typeface="Arial"/>
                        </a:rPr>
                        <a:t>What I tried</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Why I tried it</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What happened</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869156">
                <a:tc>
                  <a:txBody>
                    <a:bodyPr lIns="95250" tIns="95250" rIns="95250" bIns="95250"/>
                    <a:lstStyle/>
                    <a:p>
                      <a:r>
                        <a:rPr sz="1875" b="0">
                          <a:solidFill>
                            <a:srgbClr val="24352C"/>
                          </a:solidFill>
                          <a:latin typeface="Arial"/>
                          <a:ea typeface="Arial"/>
                          <a:cs typeface="Arial"/>
                        </a:rPr>
                        <a:t>Another seed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See if another training run corrects different mistakes</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The ensemble got worse</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869156">
                <a:tc>
                  <a:txBody>
                    <a:bodyPr lIns="95250" tIns="95250" rIns="95250" bIns="95250"/>
                    <a:lstStyle/>
                    <a:p>
                      <a:r>
                        <a:rPr sz="1875" b="0">
                          <a:solidFill>
                            <a:srgbClr val="24352C"/>
                          </a:solidFill>
                          <a:latin typeface="Arial"/>
                          <a:ea typeface="Arial"/>
                          <a:cs typeface="Arial"/>
                        </a:rPr>
                        <a:t>Continue training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Check whether more training still improves the first model</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No improvement over its saved version</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869156">
                <a:tc>
                  <a:txBody>
                    <a:bodyPr lIns="95250" tIns="95250" rIns="95250" bIns="95250"/>
                    <a:lstStyle/>
                    <a:p>
                      <a:r>
                        <a:rPr sz="1875" b="0">
                          <a:solidFill>
                            <a:srgbClr val="24352C"/>
                          </a:solidFill>
                          <a:latin typeface="Arial"/>
                          <a:ea typeface="Arial"/>
                          <a:cs typeface="Arial"/>
                        </a:rPr>
                        <a:t>ConvNeXt V2 Tiny</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Try another type of model for a different set of mistakes</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Did not help the EVA combination</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6592E5-7F05-4858-B515-618A90562218}"/>
              </a:ext>
            </a:extLst>
          </p:cNvPr>
          <p:cNvSpPr>
            <a:spLocks xmlns:a="http://schemas.openxmlformats.org/drawingml/2006/main" noGrp="1"/>
          </p:cNvSpPr>
          <p:nvPr/>
        </p:nvSpPr>
        <p:spPr>
          <a:xfrm xmlns:a="http://schemas.openxmlformats.org/drawingml/2006/main">
            <a:off x="723900" y="5543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E2C"/>
                </a:solidFill>
                <a:latin typeface="Arial"/>
                <a:ea typeface="Arial"/>
                <a:cs typeface="Arial"/>
              </a:defRPr>
            </a:defPPr>
            <a:lvl1pPr>
              <a:defRPr sz="2175" b="1">
                <a:solidFill>
                  <a:srgbClr val="173E2C"/>
                </a:solidFill>
                <a:latin typeface="Arial"/>
                <a:ea typeface="Arial"/>
                <a:cs typeface="Arial"/>
              </a:defRPr>
            </a:lvl1pPr>
            <a:lvl2pPr>
              <a:defRPr sz="2175" b="1">
                <a:solidFill>
                  <a:srgbClr val="173E2C"/>
                </a:solidFill>
                <a:latin typeface="Arial"/>
                <a:ea typeface="Arial"/>
                <a:cs typeface="Arial"/>
              </a:defRPr>
            </a:lvl2pPr>
            <a:lvl3pPr>
              <a:defRPr sz="2175" b="1">
                <a:solidFill>
                  <a:srgbClr val="173E2C"/>
                </a:solidFill>
                <a:latin typeface="Arial"/>
                <a:ea typeface="Arial"/>
                <a:cs typeface="Arial"/>
              </a:defRPr>
            </a:lvl3pPr>
            <a:lvl4pPr>
              <a:defRPr sz="2175" b="1">
                <a:solidFill>
                  <a:srgbClr val="173E2C"/>
                </a:solidFill>
                <a:latin typeface="Arial"/>
                <a:ea typeface="Arial"/>
                <a:cs typeface="Arial"/>
              </a:defRPr>
            </a:lvl4pPr>
            <a:lvl5pPr>
              <a:defRPr sz="2175" b="1">
                <a:solidFill>
                  <a:srgbClr val="173E2C"/>
                </a:solidFill>
                <a:latin typeface="Arial"/>
                <a:ea typeface="Arial"/>
                <a:cs typeface="Arial"/>
              </a:defRPr>
            </a:lvl5pPr>
            <a:lvl6pPr>
              <a:defRPr sz="2175" b="1">
                <a:solidFill>
                  <a:srgbClr val="173E2C"/>
                </a:solidFill>
                <a:latin typeface="Arial"/>
                <a:ea typeface="Arial"/>
                <a:cs typeface="Arial"/>
              </a:defRPr>
            </a:lvl6pPr>
            <a:lvl7pPr>
              <a:defRPr sz="2175" b="1">
                <a:solidFill>
                  <a:srgbClr val="173E2C"/>
                </a:solidFill>
                <a:latin typeface="Arial"/>
                <a:ea typeface="Arial"/>
                <a:cs typeface="Arial"/>
              </a:defRPr>
            </a:lvl7pPr>
            <a:lvl8pPr>
              <a:defRPr sz="2175" b="1">
                <a:solidFill>
                  <a:srgbClr val="173E2C"/>
                </a:solidFill>
                <a:latin typeface="Arial"/>
                <a:ea typeface="Arial"/>
                <a:cs typeface="Arial"/>
              </a:defRPr>
            </a:lvl8pPr>
            <a:lvl9pPr>
              <a:defRPr sz="2175" b="1">
                <a:solidFill>
                  <a:srgbClr val="173E2C"/>
                </a:solidFill>
                <a:latin typeface="Arial"/>
                <a:ea typeface="Arial"/>
                <a:cs typeface="Arial"/>
              </a:defRPr>
            </a:lvl9pPr>
          </a:lstStyle>
          <a:p xmlns:a="http://schemas.openxmlformats.org/drawingml/2006/main">
            <a:pPr>
              <a:defRPr sz="2175" b="1">
                <a:solidFill>
                  <a:srgbClr val="173E2C"/>
                </a:solidFill>
                <a:latin typeface="Arial"/>
                <a:ea typeface="Arial"/>
                <a:cs typeface="Arial"/>
              </a:defRPr>
            </a:pPr>
            <a:r>
              <a:rPr sz="2175" b="1">
                <a:solidFill>
                  <a:srgbClr val="173E2C"/>
                </a:solidFill>
                <a:latin typeface="Arial"/>
                <a:ea typeface="Arial"/>
                <a:cs typeface="Arial"/>
              </a:rPr>
              <a:t>Each test checked whether the new predictions improved the result on other photos.</a:t>
            </a:r>
          </a:p>
        </p:txBody>
      </p:sp>
    </p:spTree>
    <p:extLst>
      <p:ext uri="{BB962C8B-B14F-4D97-AF65-F5344CB8AC3E}">
        <p14:creationId xmlns:p14="http://schemas.microsoft.com/office/powerpoint/2010/main" val="913343928"/>
      </p:ext>
    </p:extLst>
  </p:cSld>
</p:sld>
</file>

<file path=ppt/slides/slide1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69BA7C-1452-4045-8B39-322D4381939F}"/>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Two ways to give rare diseases more attention</a:t>
            </a:r>
          </a:p>
        </p:txBody>
      </p:sp>
      <p:sp>
        <p:nvSpPr>
          <p:cNvPr id="2" name="">
            <a:extLst xmlns:a="http://schemas.openxmlformats.org/drawingml/2006/main">
              <a:ext uri="{FF2B5EF4-FFF2-40B4-BE49-F238E27FC236}">
                <a16:creationId xmlns:a16="http://schemas.microsoft.com/office/drawing/2014/main" id="{B33B9829-582A-499C-991E-BAB0AFEFDDF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12</a:t>
            </a:r>
          </a:p>
        </p:txBody>
      </p:sp>
      <p:sp>
        <p:nvSpPr>
          <p:cNvPr id="3" name="">
            <a:extLst xmlns:a="http://schemas.openxmlformats.org/drawingml/2006/main">
              <a:ext uri="{FF2B5EF4-FFF2-40B4-BE49-F238E27FC236}">
                <a16:creationId xmlns:a16="http://schemas.microsoft.com/office/drawing/2014/main" id="{AC660FCD-E91D-469C-A55B-F085A2DE7027}"/>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Sampling</a:t>
            </a:r>
          </a:p>
        </p:txBody>
      </p:sp>
      <p:sp>
        <p:nvSpPr>
          <p:cNvPr id="4" name="">
            <a:extLst xmlns:a="http://schemas.openxmlformats.org/drawingml/2006/main">
              <a:ext uri="{FF2B5EF4-FFF2-40B4-BE49-F238E27FC236}">
                <a16:creationId xmlns:a16="http://schemas.microsoft.com/office/drawing/2014/main" id="{8C64F084-AA14-42B3-9C31-9B0141FAE715}"/>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Choose which photos appear during training. Balanced sampling shows rare classes more often.</a:t>
            </a:r>
          </a:p>
        </p:txBody>
      </p:sp>
      <p:sp>
        <p:nvSpPr>
          <p:cNvPr id="5" name="">
            <a:extLst xmlns:a="http://schemas.openxmlformats.org/drawingml/2006/main">
              <a:ext uri="{FF2B5EF4-FFF2-40B4-BE49-F238E27FC236}">
                <a16:creationId xmlns:a16="http://schemas.microsoft.com/office/drawing/2014/main" id="{B68C7468-60FC-4AC2-BA18-B9792AB5F723}"/>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Weighted loss</a:t>
            </a:r>
          </a:p>
        </p:txBody>
      </p:sp>
      <p:sp>
        <p:nvSpPr>
          <p:cNvPr id="6" name="">
            <a:extLst xmlns:a="http://schemas.openxmlformats.org/drawingml/2006/main">
              <a:ext uri="{FF2B5EF4-FFF2-40B4-BE49-F238E27FC236}">
                <a16:creationId xmlns:a16="http://schemas.microsoft.com/office/drawing/2014/main" id="{7610FDE3-B7F4-425F-8C67-4336CFFA2896}"/>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Give rare-class mistakes a larger penalty while adjusting the model.</a:t>
            </a:r>
          </a:p>
        </p:txBody>
      </p:sp>
      <p:sp>
        <p:nvSpPr>
          <p:cNvPr id="7" name="">
            <a:extLst xmlns:a="http://schemas.openxmlformats.org/drawingml/2006/main">
              <a:ext uri="{FF2B5EF4-FFF2-40B4-BE49-F238E27FC236}">
                <a16:creationId xmlns:a16="http://schemas.microsoft.com/office/drawing/2014/main" id="{02AB55B9-9221-4C72-9705-71DAEE029202}"/>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Experiment</a:t>
            </a:r>
          </a:p>
        </p:txBody>
      </p:sp>
      <p:sp>
        <p:nvSpPr>
          <p:cNvPr id="8" name="">
            <a:extLst xmlns:a="http://schemas.openxmlformats.org/drawingml/2006/main">
              <a:ext uri="{FF2B5EF4-FFF2-40B4-BE49-F238E27FC236}">
                <a16:creationId xmlns:a16="http://schemas.microsoft.com/office/drawing/2014/main" id="{237394C6-9076-46B5-BFC6-1946CA111666}"/>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Use a normal shuffled pass through the photos with a weighted loss. The ensemble rose slightly: 94.72% to 94.85%.</a:t>
            </a:r>
          </a:p>
        </p:txBody>
      </p:sp>
    </p:spTree>
    <p:extLst>
      <p:ext uri="{BB962C8B-B14F-4D97-AF65-F5344CB8AC3E}">
        <p14:creationId xmlns:p14="http://schemas.microsoft.com/office/powerpoint/2010/main" val="1963782162"/>
      </p:ext>
    </p:extLst>
  </p:cSld>
</p:sld>
</file>

<file path=ppt/slides/slide1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3435A8-6AA1-4E0A-AA15-9B48FE44F818}"/>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Could a larger model use finer image detail?</a:t>
            </a:r>
          </a:p>
        </p:txBody>
      </p:sp>
      <p:sp>
        <p:nvSpPr>
          <p:cNvPr id="2" name="">
            <a:extLst xmlns:a="http://schemas.openxmlformats.org/drawingml/2006/main">
              <a:ext uri="{FF2B5EF4-FFF2-40B4-BE49-F238E27FC236}">
                <a16:creationId xmlns:a16="http://schemas.microsoft.com/office/drawing/2014/main" id="{0349D2A4-C5BB-4339-9677-395F399416B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13</a:t>
            </a:r>
          </a:p>
        </p:txBody>
      </p:sp>
      <p:sp>
        <p:nvSpPr>
          <p:cNvPr id="3" name="">
            <a:extLst xmlns:a="http://schemas.openxmlformats.org/drawingml/2006/main">
              <a:ext uri="{FF2B5EF4-FFF2-40B4-BE49-F238E27FC236}">
                <a16:creationId xmlns:a16="http://schemas.microsoft.com/office/drawing/2014/main" id="{9899E713-9FEE-4CDD-A0FD-6FC0D56A2F18}"/>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Resolution</a:t>
            </a:r>
          </a:p>
        </p:txBody>
      </p:sp>
      <p:sp>
        <p:nvSpPr>
          <p:cNvPr id="4" name="">
            <a:extLst xmlns:a="http://schemas.openxmlformats.org/drawingml/2006/main">
              <a:ext uri="{FF2B5EF4-FFF2-40B4-BE49-F238E27FC236}">
                <a16:creationId xmlns:a16="http://schemas.microsoft.com/office/drawing/2014/main" id="{560B922D-B1A7-4325-8D5C-507AEBE41EBE}"/>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Pixels are the image’s tiny colored dots. I used 448 × 448 instead of 336 × 336 to retain finer detail.</a:t>
            </a:r>
          </a:p>
        </p:txBody>
      </p:sp>
      <p:sp>
        <p:nvSpPr>
          <p:cNvPr id="5" name="">
            <a:extLst xmlns:a="http://schemas.openxmlformats.org/drawingml/2006/main">
              <a:ext uri="{FF2B5EF4-FFF2-40B4-BE49-F238E27FC236}">
                <a16:creationId xmlns:a16="http://schemas.microsoft.com/office/drawing/2014/main" id="{F52F0506-C4D4-4F84-BC40-0BA4D52FAFAE}"/>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Model size</a:t>
            </a:r>
          </a:p>
        </p:txBody>
      </p:sp>
      <p:sp>
        <p:nvSpPr>
          <p:cNvPr id="6" name="">
            <a:extLst xmlns:a="http://schemas.openxmlformats.org/drawingml/2006/main">
              <a:ext uri="{FF2B5EF4-FFF2-40B4-BE49-F238E27FC236}">
                <a16:creationId xmlns:a16="http://schemas.microsoft.com/office/drawing/2014/main" id="{184CD10A-5C0F-4909-ADD5-5F66FB46C943}"/>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I also changed from EVA Small to the larger EVA Base model.</a:t>
            </a:r>
          </a:p>
        </p:txBody>
      </p:sp>
      <p:sp>
        <p:nvSpPr>
          <p:cNvPr id="7" name="">
            <a:extLst xmlns:a="http://schemas.openxmlformats.org/drawingml/2006/main">
              <a:ext uri="{FF2B5EF4-FFF2-40B4-BE49-F238E27FC236}">
                <a16:creationId xmlns:a16="http://schemas.microsoft.com/office/drawing/2014/main" id="{9E98060A-1949-4687-A010-1F89CC645BAE}"/>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7EBBE690-F6C2-4CEF-9F0A-ABCC2327048C}"/>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combination including the new Small and Base models reached 95.07% mAP on the original validation set.</a:t>
            </a:r>
          </a:p>
        </p:txBody>
      </p:sp>
      <p:sp>
        <p:nvSpPr>
          <p:cNvPr id="9" name="">
            <a:extLst xmlns:a="http://schemas.openxmlformats.org/drawingml/2006/main">
              <a:ext uri="{FF2B5EF4-FFF2-40B4-BE49-F238E27FC236}">
                <a16:creationId xmlns:a16="http://schemas.microsoft.com/office/drawing/2014/main" id="{C68694E9-6D22-4AD0-B8AA-015224A7C21F}"/>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Both the model size and input resolution changed.</a:t>
            </a:r>
          </a:p>
        </p:txBody>
      </p:sp>
    </p:spTree>
    <p:extLst>
      <p:ext uri="{BB962C8B-B14F-4D97-AF65-F5344CB8AC3E}">
        <p14:creationId xmlns:p14="http://schemas.microsoft.com/office/powerpoint/2010/main" val="846080737"/>
      </p:ext>
    </p:extLst>
  </p:cSld>
</p:sld>
</file>

<file path=ppt/slides/slide1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F06184-0078-4B64-AD92-7B17A052A1A4}"/>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Smaller training adjustments helped one model</a:t>
            </a:r>
          </a:p>
        </p:txBody>
      </p:sp>
      <p:sp>
        <p:nvSpPr>
          <p:cNvPr id="2" name="">
            <a:extLst xmlns:a="http://schemas.openxmlformats.org/drawingml/2006/main">
              <a:ext uri="{FF2B5EF4-FFF2-40B4-BE49-F238E27FC236}">
                <a16:creationId xmlns:a16="http://schemas.microsoft.com/office/drawing/2014/main" id="{DBF04ACA-1512-4F1E-AE81-CB28FA898D1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14</a:t>
            </a:r>
          </a:p>
        </p:txBody>
      </p:sp>
      <p:sp>
        <p:nvSpPr>
          <p:cNvPr id="3" name="">
            <a:extLst xmlns:a="http://schemas.openxmlformats.org/drawingml/2006/main">
              <a:ext uri="{FF2B5EF4-FFF2-40B4-BE49-F238E27FC236}">
                <a16:creationId xmlns:a16="http://schemas.microsoft.com/office/drawing/2014/main" id="{8F49D289-EE5F-4293-8F4B-5C666933C4EC}"/>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Learning rate</a:t>
            </a:r>
          </a:p>
        </p:txBody>
      </p:sp>
      <p:sp>
        <p:nvSpPr>
          <p:cNvPr id="4" name="">
            <a:extLst xmlns:a="http://schemas.openxmlformats.org/drawingml/2006/main">
              <a:ext uri="{FF2B5EF4-FFF2-40B4-BE49-F238E27FC236}">
                <a16:creationId xmlns:a16="http://schemas.microsoft.com/office/drawing/2014/main" id="{DEA676B9-BBA1-4C14-9FAF-616768697E0C}"/>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setting that controls the size of each training adjustment.</a:t>
            </a:r>
          </a:p>
        </p:txBody>
      </p:sp>
      <p:sp>
        <p:nvSpPr>
          <p:cNvPr id="5" name="">
            <a:extLst xmlns:a="http://schemas.openxmlformats.org/drawingml/2006/main">
              <a:ext uri="{FF2B5EF4-FFF2-40B4-BE49-F238E27FC236}">
                <a16:creationId xmlns:a16="http://schemas.microsoft.com/office/drawing/2014/main" id="{11C111B4-F3E9-499A-AC41-3990D19B83EF}"/>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Experiment</a:t>
            </a:r>
          </a:p>
        </p:txBody>
      </p:sp>
      <p:sp>
        <p:nvSpPr>
          <p:cNvPr id="6" name="">
            <a:extLst xmlns:a="http://schemas.openxmlformats.org/drawingml/2006/main">
              <a:ext uri="{FF2B5EF4-FFF2-40B4-BE49-F238E27FC236}">
                <a16:creationId xmlns:a16="http://schemas.microsoft.com/office/drawing/2014/main" id="{204B6178-CA98-4744-8515-FADD91F8E8F6}"/>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Start from the same pretrained model and use learning rates three times smaller.</a:t>
            </a:r>
          </a:p>
        </p:txBody>
      </p:sp>
      <p:sp>
        <p:nvSpPr>
          <p:cNvPr id="7" name="">
            <a:extLst xmlns:a="http://schemas.openxmlformats.org/drawingml/2006/main">
              <a:ext uri="{FF2B5EF4-FFF2-40B4-BE49-F238E27FC236}">
                <a16:creationId xmlns:a16="http://schemas.microsoft.com/office/drawing/2014/main" id="{3AA464F3-679F-47AE-B711-1D0B905B1D60}"/>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Lesson</a:t>
            </a:r>
          </a:p>
        </p:txBody>
      </p:sp>
      <p:sp>
        <p:nvSpPr>
          <p:cNvPr id="8" name="">
            <a:extLst xmlns:a="http://schemas.openxmlformats.org/drawingml/2006/main">
              <a:ext uri="{FF2B5EF4-FFF2-40B4-BE49-F238E27FC236}">
                <a16:creationId xmlns:a16="http://schemas.microsoft.com/office/drawing/2014/main" id="{163A14FB-0F30-47CC-BBE0-D0BE3C630E29}"/>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model improved alone, from 94.22% to 94.66% mAP, but its planned ensemble replacement got worse.</a:t>
            </a:r>
          </a:p>
        </p:txBody>
      </p:sp>
    </p:spTree>
    <p:extLst>
      <p:ext uri="{BB962C8B-B14F-4D97-AF65-F5344CB8AC3E}">
        <p14:creationId xmlns:p14="http://schemas.microsoft.com/office/powerpoint/2010/main" val="92089220"/>
      </p:ext>
    </p:extLst>
  </p:cSld>
</p:sld>
</file>

<file path=ppt/slides/slide1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4EFF5D-AD23-4399-B5CA-1D2E830A1B9B}"/>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fair comparison needs a matched reference</a:t>
            </a:r>
          </a:p>
        </p:txBody>
      </p:sp>
      <p:sp>
        <p:nvSpPr>
          <p:cNvPr id="2" name="">
            <a:extLst xmlns:a="http://schemas.openxmlformats.org/drawingml/2006/main">
              <a:ext uri="{FF2B5EF4-FFF2-40B4-BE49-F238E27FC236}">
                <a16:creationId xmlns:a16="http://schemas.microsoft.com/office/drawing/2014/main" id="{4FC51364-BE79-4DB4-A81D-A9EA55802C1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15</a:t>
            </a:r>
          </a:p>
        </p:txBody>
      </p:sp>
      <p:sp>
        <p:nvSpPr>
          <p:cNvPr id="3" name="">
            <a:extLst xmlns:a="http://schemas.openxmlformats.org/drawingml/2006/main">
              <a:ext uri="{FF2B5EF4-FFF2-40B4-BE49-F238E27FC236}">
                <a16:creationId xmlns:a16="http://schemas.microsoft.com/office/drawing/2014/main" id="{1140FBFA-902B-4529-8CC1-1C4688329196}"/>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Control</a:t>
            </a:r>
          </a:p>
        </p:txBody>
      </p:sp>
      <p:sp>
        <p:nvSpPr>
          <p:cNvPr id="4" name="">
            <a:extLst xmlns:a="http://schemas.openxmlformats.org/drawingml/2006/main">
              <a:ext uri="{FF2B5EF4-FFF2-40B4-BE49-F238E27FC236}">
                <a16:creationId xmlns:a16="http://schemas.microsoft.com/office/drawing/2014/main" id="{9017325F-4659-4D07-BF5A-A0DF0E12C022}"/>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Reference training run used to judge the proposed change.</a:t>
            </a:r>
          </a:p>
        </p:txBody>
      </p:sp>
      <p:sp>
        <p:nvSpPr>
          <p:cNvPr id="5" name="">
            <a:extLst xmlns:a="http://schemas.openxmlformats.org/drawingml/2006/main">
              <a:ext uri="{FF2B5EF4-FFF2-40B4-BE49-F238E27FC236}">
                <a16:creationId xmlns:a16="http://schemas.microsoft.com/office/drawing/2014/main" id="{53814F01-F2D4-41A7-BE45-5C4A030896A8}"/>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Matched setup</a:t>
            </a:r>
          </a:p>
        </p:txBody>
      </p:sp>
      <p:sp>
        <p:nvSpPr>
          <p:cNvPr id="6" name="">
            <a:extLst xmlns:a="http://schemas.openxmlformats.org/drawingml/2006/main">
              <a:ext uri="{FF2B5EF4-FFF2-40B4-BE49-F238E27FC236}">
                <a16:creationId xmlns:a16="http://schemas.microsoft.com/office/drawing/2014/main" id="{7212ACA5-3DB1-4938-B582-58FCDAD14A3F}"/>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same photos, starting model, training randomness, and ordinary training settings.</a:t>
            </a:r>
          </a:p>
        </p:txBody>
      </p:sp>
      <p:sp>
        <p:nvSpPr>
          <p:cNvPr id="7" name="">
            <a:extLst xmlns:a="http://schemas.openxmlformats.org/drawingml/2006/main">
              <a:ext uri="{FF2B5EF4-FFF2-40B4-BE49-F238E27FC236}">
                <a16:creationId xmlns:a16="http://schemas.microsoft.com/office/drawing/2014/main" id="{EFE03330-2C64-4DA8-B41E-FDD55DFA1E4E}"/>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One policy change</a:t>
            </a:r>
          </a:p>
        </p:txBody>
      </p:sp>
      <p:sp>
        <p:nvSpPr>
          <p:cNvPr id="8" name="">
            <a:extLst xmlns:a="http://schemas.openxmlformats.org/drawingml/2006/main">
              <a:ext uri="{FF2B5EF4-FFF2-40B4-BE49-F238E27FC236}">
                <a16:creationId xmlns:a16="http://schemas.microsoft.com/office/drawing/2014/main" id="{0E2A6DDF-BB17-4319-9678-AEF68E610185}"/>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Add the combined image-mixing policy while retaining the same recipe.</a:t>
            </a:r>
          </a:p>
        </p:txBody>
      </p:sp>
    </p:spTree>
    <p:extLst>
      <p:ext uri="{BB962C8B-B14F-4D97-AF65-F5344CB8AC3E}">
        <p14:creationId xmlns:p14="http://schemas.microsoft.com/office/powerpoint/2010/main" val="818202639"/>
      </p:ext>
    </p:extLst>
  </p:cSld>
</p:sld>
</file>

<file path=ppt/slides/slide1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4E6A4E-CB77-4F4C-9A22-EB32E27A1759}"/>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Augmentation creates varied training examples</a:t>
            </a:r>
          </a:p>
        </p:txBody>
      </p:sp>
      <p:sp>
        <p:nvSpPr>
          <p:cNvPr id="2" name="">
            <a:extLst xmlns:a="http://schemas.openxmlformats.org/drawingml/2006/main">
              <a:ext uri="{FF2B5EF4-FFF2-40B4-BE49-F238E27FC236}">
                <a16:creationId xmlns:a16="http://schemas.microsoft.com/office/drawing/2014/main" id="{96DC22FB-7A29-4111-BEBE-14B55B30D6DF}"/>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16</a:t>
            </a:r>
          </a:p>
        </p:txBody>
      </p:sp>
      <p:sp>
        <p:nvSpPr>
          <p:cNvPr id="3" name="">
            <a:extLst xmlns:a="http://schemas.openxmlformats.org/drawingml/2006/main">
              <a:ext uri="{FF2B5EF4-FFF2-40B4-BE49-F238E27FC236}">
                <a16:creationId xmlns:a16="http://schemas.microsoft.com/office/drawing/2014/main" id="{9F949C84-57D0-4785-A524-17C83E790655}"/>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Meaning</a:t>
            </a:r>
          </a:p>
        </p:txBody>
      </p:sp>
      <p:sp>
        <p:nvSpPr>
          <p:cNvPr id="4" name="">
            <a:extLst xmlns:a="http://schemas.openxmlformats.org/drawingml/2006/main">
              <a:ext uri="{FF2B5EF4-FFF2-40B4-BE49-F238E27FC236}">
                <a16:creationId xmlns:a16="http://schemas.microsoft.com/office/drawing/2014/main" id="{44FDE4FD-60F3-441D-99D7-C78B5FE58C65}"/>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Change a training photo to provide another view without collecting a new photo.</a:t>
            </a:r>
          </a:p>
        </p:txBody>
      </p:sp>
      <p:sp>
        <p:nvSpPr>
          <p:cNvPr id="5" name="">
            <a:extLst xmlns:a="http://schemas.openxmlformats.org/drawingml/2006/main">
              <a:ext uri="{FF2B5EF4-FFF2-40B4-BE49-F238E27FC236}">
                <a16:creationId xmlns:a16="http://schemas.microsoft.com/office/drawing/2014/main" id="{7DF75C7E-096E-40A5-ABAC-2BB142C9F7EC}"/>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Examples</a:t>
            </a:r>
          </a:p>
        </p:txBody>
      </p:sp>
      <p:sp>
        <p:nvSpPr>
          <p:cNvPr id="6" name="">
            <a:extLst xmlns:a="http://schemas.openxmlformats.org/drawingml/2006/main">
              <a:ext uri="{FF2B5EF4-FFF2-40B4-BE49-F238E27FC236}">
                <a16:creationId xmlns:a16="http://schemas.microsoft.com/office/drawing/2014/main" id="{03FF8837-48B0-45A2-B574-F27E0CAFBAE3}"/>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Small crops, flips, and modest color changes. The disease label should remain useful.</a:t>
            </a:r>
          </a:p>
        </p:txBody>
      </p:sp>
      <p:sp>
        <p:nvSpPr>
          <p:cNvPr id="7" name="">
            <a:extLst xmlns:a="http://schemas.openxmlformats.org/drawingml/2006/main">
              <a:ext uri="{FF2B5EF4-FFF2-40B4-BE49-F238E27FC236}">
                <a16:creationId xmlns:a16="http://schemas.microsoft.com/office/drawing/2014/main" id="{AB8C1E85-C395-4CD1-8866-9701936490ED}"/>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Why try more?</a:t>
            </a:r>
          </a:p>
        </p:txBody>
      </p:sp>
      <p:sp>
        <p:nvSpPr>
          <p:cNvPr id="8" name="">
            <a:extLst xmlns:a="http://schemas.openxmlformats.org/drawingml/2006/main">
              <a:ext uri="{FF2B5EF4-FFF2-40B4-BE49-F238E27FC236}">
                <a16:creationId xmlns:a16="http://schemas.microsoft.com/office/drawing/2014/main" id="{10CD4CDB-6997-4B77-B863-BC67CB213E82}"/>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model that relies on one exact photo or background may struggle with new photos.</a:t>
            </a:r>
          </a:p>
        </p:txBody>
      </p:sp>
    </p:spTree>
    <p:extLst>
      <p:ext uri="{BB962C8B-B14F-4D97-AF65-F5344CB8AC3E}">
        <p14:creationId xmlns:p14="http://schemas.microsoft.com/office/powerpoint/2010/main" val="924509005"/>
      </p:ext>
    </p:extLst>
  </p:cSld>
</p:sld>
</file>

<file path=ppt/slides/slide1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4CBC4B-0425-4F66-BDBA-37B44DEA1CB3}"/>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MixUp blends two examples and their labels</a:t>
            </a:r>
          </a:p>
        </p:txBody>
      </p:sp>
      <p:sp>
        <p:nvSpPr>
          <p:cNvPr id="2" name="">
            <a:extLst xmlns:a="http://schemas.openxmlformats.org/drawingml/2006/main">
              <a:ext uri="{FF2B5EF4-FFF2-40B4-BE49-F238E27FC236}">
                <a16:creationId xmlns:a16="http://schemas.microsoft.com/office/drawing/2014/main" id="{F0F627C5-87E7-4DF7-A444-0D1CE0FCA3B7}"/>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17</a:t>
            </a:r>
          </a:p>
        </p:txBody>
      </p:sp>
      <p:sp>
        <p:nvSpPr>
          <p:cNvPr id="3" name="">
            <a:extLst xmlns:a="http://schemas.openxmlformats.org/drawingml/2006/main">
              <a:ext uri="{FF2B5EF4-FFF2-40B4-BE49-F238E27FC236}">
                <a16:creationId xmlns:a16="http://schemas.microsoft.com/office/drawing/2014/main" id="{F4B5D2F3-B914-49D1-A7BB-BC911B25CF63}"/>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Image</a:t>
            </a:r>
          </a:p>
        </p:txBody>
      </p:sp>
      <p:sp>
        <p:nvSpPr>
          <p:cNvPr id="4" name="">
            <a:extLst xmlns:a="http://schemas.openxmlformats.org/drawingml/2006/main">
              <a:ext uri="{FF2B5EF4-FFF2-40B4-BE49-F238E27FC236}">
                <a16:creationId xmlns:a16="http://schemas.microsoft.com/office/drawing/2014/main" id="{A1FE4579-BC89-4571-8FAE-4C8C2903DE62}"/>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Blend two training photos, such as a rust photo and a scab photo.</a:t>
            </a:r>
          </a:p>
        </p:txBody>
      </p:sp>
      <p:sp>
        <p:nvSpPr>
          <p:cNvPr id="5" name="">
            <a:extLst xmlns:a="http://schemas.openxmlformats.org/drawingml/2006/main">
              <a:ext uri="{FF2B5EF4-FFF2-40B4-BE49-F238E27FC236}">
                <a16:creationId xmlns:a16="http://schemas.microsoft.com/office/drawing/2014/main" id="{223556C3-3D6A-42BD-9255-A25AE3B91D40}"/>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Target example</a:t>
            </a:r>
          </a:p>
        </p:txBody>
      </p:sp>
      <p:sp>
        <p:nvSpPr>
          <p:cNvPr id="6" name="">
            <a:extLst xmlns:a="http://schemas.openxmlformats.org/drawingml/2006/main">
              <a:ext uri="{FF2B5EF4-FFF2-40B4-BE49-F238E27FC236}">
                <a16:creationId xmlns:a16="http://schemas.microsoft.com/office/drawing/2014/main" id="{26B6C958-0195-42AE-9374-9483723CC3B4}"/>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70/30 image blend uses a target of 70% rust and 30% scab.</a:t>
            </a:r>
          </a:p>
        </p:txBody>
      </p:sp>
      <p:sp>
        <p:nvSpPr>
          <p:cNvPr id="7" name="">
            <a:extLst xmlns:a="http://schemas.openxmlformats.org/drawingml/2006/main">
              <a:ext uri="{FF2B5EF4-FFF2-40B4-BE49-F238E27FC236}">
                <a16:creationId xmlns:a16="http://schemas.microsoft.com/office/drawing/2014/main" id="{28C3B07E-91F7-4537-A3DB-503CED5B8300}"/>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Why try it?</a:t>
            </a:r>
          </a:p>
        </p:txBody>
      </p:sp>
      <p:sp>
        <p:nvSpPr>
          <p:cNvPr id="8" name="">
            <a:extLst xmlns:a="http://schemas.openxmlformats.org/drawingml/2006/main">
              <a:ext uri="{FF2B5EF4-FFF2-40B4-BE49-F238E27FC236}">
                <a16:creationId xmlns:a16="http://schemas.microsoft.com/office/drawing/2014/main" id="{A2096151-E167-4F95-8030-DFE3EE05F6DC}"/>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Test whether varied image combinations improve predictions on other photos.</a:t>
            </a:r>
          </a:p>
        </p:txBody>
      </p:sp>
      <p:sp>
        <p:nvSpPr>
          <p:cNvPr id="9" name="">
            <a:extLst xmlns:a="http://schemas.openxmlformats.org/drawingml/2006/main">
              <a:ext uri="{FF2B5EF4-FFF2-40B4-BE49-F238E27FC236}">
                <a16:creationId xmlns:a16="http://schemas.microsoft.com/office/drawing/2014/main" id="{037B662E-A92C-40E3-818D-C31C677BEE6E}"/>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Illustrative example. Mixing happens during training.</a:t>
            </a:r>
          </a:p>
        </p:txBody>
      </p:sp>
    </p:spTree>
    <p:extLst>
      <p:ext uri="{BB962C8B-B14F-4D97-AF65-F5344CB8AC3E}">
        <p14:creationId xmlns:p14="http://schemas.microsoft.com/office/powerpoint/2010/main" val="637537164"/>
      </p:ext>
    </p:extLst>
  </p:cSld>
</p:sld>
</file>

<file path=ppt/slides/slide1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7AC1A5-8C78-47D4-A8F1-627938D6ABC0}"/>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CutMix replaces a region with part of another photo</a:t>
            </a:r>
          </a:p>
        </p:txBody>
      </p:sp>
      <p:sp>
        <p:nvSpPr>
          <p:cNvPr id="2" name="">
            <a:extLst xmlns:a="http://schemas.openxmlformats.org/drawingml/2006/main">
              <a:ext uri="{FF2B5EF4-FFF2-40B4-BE49-F238E27FC236}">
                <a16:creationId xmlns:a16="http://schemas.microsoft.com/office/drawing/2014/main" id="{BFB9E1E2-F695-4C09-8D1D-FA82E7F4D36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18</a:t>
            </a:r>
          </a:p>
        </p:txBody>
      </p:sp>
      <p:sp>
        <p:nvSpPr>
          <p:cNvPr id="3" name="">
            <a:extLst xmlns:a="http://schemas.openxmlformats.org/drawingml/2006/main">
              <a:ext uri="{FF2B5EF4-FFF2-40B4-BE49-F238E27FC236}">
                <a16:creationId xmlns:a16="http://schemas.microsoft.com/office/drawing/2014/main" id="{FB2412D8-7C1A-49D8-994B-E8A29704C1D9}"/>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Image</a:t>
            </a:r>
          </a:p>
        </p:txBody>
      </p:sp>
      <p:sp>
        <p:nvSpPr>
          <p:cNvPr id="4" name="">
            <a:extLst xmlns:a="http://schemas.openxmlformats.org/drawingml/2006/main">
              <a:ext uri="{FF2B5EF4-FFF2-40B4-BE49-F238E27FC236}">
                <a16:creationId xmlns:a16="http://schemas.microsoft.com/office/drawing/2014/main" id="{EEC26692-11B8-4180-B311-67E1454DEA35}"/>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Paste a region from a second training photo into the first.</a:t>
            </a:r>
          </a:p>
        </p:txBody>
      </p:sp>
      <p:sp>
        <p:nvSpPr>
          <p:cNvPr id="5" name="">
            <a:extLst xmlns:a="http://schemas.openxmlformats.org/drawingml/2006/main">
              <a:ext uri="{FF2B5EF4-FFF2-40B4-BE49-F238E27FC236}">
                <a16:creationId xmlns:a16="http://schemas.microsoft.com/office/drawing/2014/main" id="{B205B3CB-16AC-4C49-87BB-5A70C15E2382}"/>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Target example</a:t>
            </a:r>
          </a:p>
        </p:txBody>
      </p:sp>
      <p:sp>
        <p:nvSpPr>
          <p:cNvPr id="6" name="">
            <a:extLst xmlns:a="http://schemas.openxmlformats.org/drawingml/2006/main">
              <a:ext uri="{FF2B5EF4-FFF2-40B4-BE49-F238E27FC236}">
                <a16:creationId xmlns:a16="http://schemas.microsoft.com/office/drawing/2014/main" id="{2F0076FC-561B-45EA-8EBD-D30C38D9C3F3}"/>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patch covering 25% of the image contributes 25% of its label to the target.</a:t>
            </a:r>
          </a:p>
        </p:txBody>
      </p:sp>
      <p:sp>
        <p:nvSpPr>
          <p:cNvPr id="7" name="">
            <a:extLst xmlns:a="http://schemas.openxmlformats.org/drawingml/2006/main">
              <a:ext uri="{FF2B5EF4-FFF2-40B4-BE49-F238E27FC236}">
                <a16:creationId xmlns:a16="http://schemas.microsoft.com/office/drawing/2014/main" id="{A2371123-FECA-4883-9DA4-9F932E9098D2}"/>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Why try it?</a:t>
            </a:r>
          </a:p>
        </p:txBody>
      </p:sp>
      <p:sp>
        <p:nvSpPr>
          <p:cNvPr id="8" name="">
            <a:extLst xmlns:a="http://schemas.openxmlformats.org/drawingml/2006/main">
              <a:ext uri="{FF2B5EF4-FFF2-40B4-BE49-F238E27FC236}">
                <a16:creationId xmlns:a16="http://schemas.microsoft.com/office/drawing/2014/main" id="{9C520B36-3238-489B-8A4A-30805218E14B}"/>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Test whether varied local patterns help the model recognize disease symptoms.</a:t>
            </a:r>
          </a:p>
        </p:txBody>
      </p:sp>
    </p:spTree>
    <p:extLst>
      <p:ext uri="{BB962C8B-B14F-4D97-AF65-F5344CB8AC3E}">
        <p14:creationId xmlns:p14="http://schemas.microsoft.com/office/powerpoint/2010/main" val="1904633280"/>
      </p:ext>
    </p:extLst>
  </p:cSld>
</p:sld>
</file>

<file path=ppt/slides/slide1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6BF0C5-A87B-4B2C-8F73-468C51AE6F3C}"/>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Results of the matched comparison</a:t>
            </a:r>
          </a:p>
        </p:txBody>
      </p:sp>
      <p:sp>
        <p:nvSpPr>
          <p:cNvPr id="2" name="">
            <a:extLst xmlns:a="http://schemas.openxmlformats.org/drawingml/2006/main">
              <a:ext uri="{FF2B5EF4-FFF2-40B4-BE49-F238E27FC236}">
                <a16:creationId xmlns:a16="http://schemas.microsoft.com/office/drawing/2014/main" id="{4E6BBC86-D66B-4DAD-9BD2-37AEDBAE10B4}"/>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19</a:t>
            </a:r>
          </a:p>
        </p:txBody>
      </p:sp>
      <p:graphicFrame>
        <p:nvGraphicFramePr>
          <p:cNvPr id="3" name="">
            <a:extLst xmlns:a="http://schemas.openxmlformats.org/drawingml/2006/main">
              <a:ext uri="{FF2B5EF4-FFF2-40B4-BE49-F238E27FC236}">
                <a16:creationId xmlns:a16="http://schemas.microsoft.com/office/drawing/2014/main" id="{A07BFFA0-5E35-40D9-8A43-8DB96247A152}"/>
              </a:ext>
            </a:extLst>
          </p:cNvPr>
          <p:cNvGraphicFramePr/>
          <p:nvPr/>
        </p:nvGraphicFramePr>
        <p:xfrm>
          <a:off xmlns:a="http://schemas.openxmlformats.org/drawingml/2006/main" x="666750" y="1762125"/>
          <a:ext xmlns:a="http://schemas.openxmlformats.org/drawingml/2006/main" cx="10858500" cy="2762250"/>
        </p:xfrm>
        <a:graphic xmlns:a="http://schemas.openxmlformats.org/drawingml/2006/main">
          <a:graphicData uri="http://schemas.openxmlformats.org/drawingml/2006/table">
            <a:tbl>
              <a:tblPr/>
              <a:tblGrid>
                <a:gridCol w="8143875"/>
                <a:gridCol w="2714625"/>
              </a:tblGrid>
              <a:tr h="920750">
                <a:tc>
                  <a:txBody>
                    <a:bodyPr lIns="95250" tIns="95250" rIns="95250" bIns="95250"/>
                    <a:lstStyle/>
                    <a:p>
                      <a:r>
                        <a:rPr sz="2175" b="1">
                          <a:solidFill>
                            <a:srgbClr val="FFFFFF"/>
                          </a:solidFill>
                          <a:latin typeface="Arial"/>
                          <a:ea typeface="Arial"/>
                          <a:cs typeface="Arial"/>
                        </a:rPr>
                        <a:t>Same 388 validation photos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175" b="1">
                          <a:solidFill>
                            <a:srgbClr val="FFFFFF"/>
                          </a:solidFill>
                          <a:latin typeface="Arial"/>
                          <a:ea typeface="Arial"/>
                          <a:cs typeface="Arial"/>
                        </a:rPr>
                        <a:t>Macro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920750">
                <a:tc>
                  <a:txBody>
                    <a:bodyPr lIns="95250" tIns="95250" rIns="95250" bIns="95250"/>
                    <a:lstStyle/>
                    <a:p>
                      <a:r>
                        <a:rPr sz="2175" b="0">
                          <a:solidFill>
                            <a:srgbClr val="24352C"/>
                          </a:solidFill>
                          <a:latin typeface="Arial"/>
                          <a:ea typeface="Arial"/>
                          <a:cs typeface="Arial"/>
                        </a:rPr>
                        <a:t>Matched reference model: control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175" b="0">
                          <a:solidFill>
                            <a:srgbClr val="24352C"/>
                          </a:solidFill>
                          <a:latin typeface="Arial"/>
                          <a:ea typeface="Arial"/>
                          <a:cs typeface="Arial"/>
                        </a:rPr>
                        <a:t>94.81%</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920750">
                <a:tc>
                  <a:txBody>
                    <a:bodyPr lIns="95250" tIns="95250" rIns="95250" bIns="95250"/>
                    <a:lstStyle/>
                    <a:p>
                      <a:r>
                        <a:rPr sz="2175" b="0">
                          <a:solidFill>
                            <a:srgbClr val="24352C"/>
                          </a:solidFill>
                          <a:latin typeface="Arial"/>
                          <a:ea typeface="Arial"/>
                          <a:cs typeface="Arial"/>
                        </a:rPr>
                        <a:t>Candidate with MixUp/CutMix</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175" b="0">
                          <a:solidFill>
                            <a:srgbClr val="24352C"/>
                          </a:solidFill>
                          <a:latin typeface="Arial"/>
                          <a:ea typeface="Arial"/>
                          <a:cs typeface="Arial"/>
                        </a:rPr>
                        <a:t>96.07%</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
            <a:extLst xmlns:a="http://schemas.openxmlformats.org/drawingml/2006/main">
              <a:ext uri="{FF2B5EF4-FFF2-40B4-BE49-F238E27FC236}">
                <a16:creationId xmlns:a16="http://schemas.microsoft.com/office/drawing/2014/main" id="{0A2F1222-CE0C-4CBF-A5F4-A8DAA2CF70B7}"/>
              </a:ext>
            </a:extLst>
          </p:cNvPr>
          <p:cNvSpPr>
            <a:spLocks xmlns:a="http://schemas.openxmlformats.org/drawingml/2006/main" noGrp="1"/>
          </p:cNvSpPr>
          <p:nvPr/>
        </p:nvSpPr>
        <p:spPr>
          <a:xfrm xmlns:a="http://schemas.openxmlformats.org/drawingml/2006/main">
            <a:off x="723900" y="49815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3E2C"/>
                </a:solidFill>
                <a:latin typeface="Arial"/>
                <a:ea typeface="Arial"/>
                <a:cs typeface="Arial"/>
              </a:defRPr>
            </a:defPPr>
            <a:lvl1pPr>
              <a:defRPr sz="2400" b="1">
                <a:solidFill>
                  <a:srgbClr val="173E2C"/>
                </a:solidFill>
                <a:latin typeface="Arial"/>
                <a:ea typeface="Arial"/>
                <a:cs typeface="Arial"/>
              </a:defRPr>
            </a:lvl1pPr>
            <a:lvl2pPr>
              <a:defRPr sz="2400" b="1">
                <a:solidFill>
                  <a:srgbClr val="173E2C"/>
                </a:solidFill>
                <a:latin typeface="Arial"/>
                <a:ea typeface="Arial"/>
                <a:cs typeface="Arial"/>
              </a:defRPr>
            </a:lvl2pPr>
            <a:lvl3pPr>
              <a:defRPr sz="2400" b="1">
                <a:solidFill>
                  <a:srgbClr val="173E2C"/>
                </a:solidFill>
                <a:latin typeface="Arial"/>
                <a:ea typeface="Arial"/>
                <a:cs typeface="Arial"/>
              </a:defRPr>
            </a:lvl3pPr>
            <a:lvl4pPr>
              <a:defRPr sz="2400" b="1">
                <a:solidFill>
                  <a:srgbClr val="173E2C"/>
                </a:solidFill>
                <a:latin typeface="Arial"/>
                <a:ea typeface="Arial"/>
                <a:cs typeface="Arial"/>
              </a:defRPr>
            </a:lvl4pPr>
            <a:lvl5pPr>
              <a:defRPr sz="2400" b="1">
                <a:solidFill>
                  <a:srgbClr val="173E2C"/>
                </a:solidFill>
                <a:latin typeface="Arial"/>
                <a:ea typeface="Arial"/>
                <a:cs typeface="Arial"/>
              </a:defRPr>
            </a:lvl5pPr>
            <a:lvl6pPr>
              <a:defRPr sz="2400" b="1">
                <a:solidFill>
                  <a:srgbClr val="173E2C"/>
                </a:solidFill>
                <a:latin typeface="Arial"/>
                <a:ea typeface="Arial"/>
                <a:cs typeface="Arial"/>
              </a:defRPr>
            </a:lvl6pPr>
            <a:lvl7pPr>
              <a:defRPr sz="2400" b="1">
                <a:solidFill>
                  <a:srgbClr val="173E2C"/>
                </a:solidFill>
                <a:latin typeface="Arial"/>
                <a:ea typeface="Arial"/>
                <a:cs typeface="Arial"/>
              </a:defRPr>
            </a:lvl7pPr>
            <a:lvl8pPr>
              <a:defRPr sz="2400" b="1">
                <a:solidFill>
                  <a:srgbClr val="173E2C"/>
                </a:solidFill>
                <a:latin typeface="Arial"/>
                <a:ea typeface="Arial"/>
                <a:cs typeface="Arial"/>
              </a:defRPr>
            </a:lvl8pPr>
            <a:lvl9pPr>
              <a:defRPr sz="2400" b="1">
                <a:solidFill>
                  <a:srgbClr val="173E2C"/>
                </a:solidFill>
                <a:latin typeface="Arial"/>
                <a:ea typeface="Arial"/>
                <a:cs typeface="Arial"/>
              </a:defRPr>
            </a:lvl9pPr>
          </a:lstStyle>
          <a:p xmlns:a="http://schemas.openxmlformats.org/drawingml/2006/main">
            <a:pPr>
              <a:defRPr sz="2400" b="1">
                <a:solidFill>
                  <a:srgbClr val="173E2C"/>
                </a:solidFill>
                <a:latin typeface="Arial"/>
                <a:ea typeface="Arial"/>
                <a:cs typeface="Arial"/>
              </a:defRPr>
            </a:pPr>
            <a:r>
              <a:rPr sz="2400" b="1">
                <a:solidFill>
                  <a:srgbClr val="173E2C"/>
                </a:solidFill>
                <a:latin typeface="Arial"/>
                <a:ea typeface="Arial"/>
                <a:cs typeface="Arial"/>
              </a:rPr>
              <a:t>The combined mixing policy had the higher observed score in this matched comparison.</a:t>
            </a:r>
          </a:p>
        </p:txBody>
      </p:sp>
      <p:sp>
        <p:nvSpPr>
          <p:cNvPr id="5" name="">
            <a:extLst xmlns:a="http://schemas.openxmlformats.org/drawingml/2006/main">
              <a:ext uri="{FF2B5EF4-FFF2-40B4-BE49-F238E27FC236}">
                <a16:creationId xmlns:a16="http://schemas.microsoft.com/office/drawing/2014/main" id="{999D89E4-B7C0-4849-9B59-088BD1517491}"/>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Same 388 validation photos and standard single-view prediction.</a:t>
            </a:r>
          </a:p>
        </p:txBody>
      </p:sp>
    </p:spTree>
    <p:extLst>
      <p:ext uri="{BB962C8B-B14F-4D97-AF65-F5344CB8AC3E}">
        <p14:creationId xmlns:p14="http://schemas.microsoft.com/office/powerpoint/2010/main" val="631220963"/>
      </p:ext>
    </p:extLst>
  </p:cSld>
</p:sld>
</file>

<file path=ppt/slides/slide2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669D56-18BB-4487-BF01-DDCBA614D3C9}"/>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At prediction time, I also average several views</a:t>
            </a:r>
          </a:p>
        </p:txBody>
      </p:sp>
      <p:sp>
        <p:nvSpPr>
          <p:cNvPr id="2" name="">
            <a:extLst xmlns:a="http://schemas.openxmlformats.org/drawingml/2006/main">
              <a:ext uri="{FF2B5EF4-FFF2-40B4-BE49-F238E27FC236}">
                <a16:creationId xmlns:a16="http://schemas.microsoft.com/office/drawing/2014/main" id="{B2B8B794-3AC3-4CC7-8FA3-4D0437AC727C}"/>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20</a:t>
            </a:r>
          </a:p>
        </p:txBody>
      </p:sp>
      <p:sp>
        <p:nvSpPr>
          <p:cNvPr id="3" name="">
            <a:extLst xmlns:a="http://schemas.openxmlformats.org/drawingml/2006/main">
              <a:ext uri="{FF2B5EF4-FFF2-40B4-BE49-F238E27FC236}">
                <a16:creationId xmlns:a16="http://schemas.microsoft.com/office/drawing/2014/main" id="{201840F1-FF29-4E5F-A909-71A68B5A5B16}"/>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Three views</a:t>
            </a:r>
          </a:p>
        </p:txBody>
      </p:sp>
      <p:sp>
        <p:nvSpPr>
          <p:cNvPr id="4" name="">
            <a:extLst xmlns:a="http://schemas.openxmlformats.org/drawingml/2006/main">
              <a:ext uri="{FF2B5EF4-FFF2-40B4-BE49-F238E27FC236}">
                <a16:creationId xmlns:a16="http://schemas.microsoft.com/office/drawing/2014/main" id="{4BDAABFE-7BBF-43FD-9829-845C1083694F}"/>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resized photo, a mirrored view, and the whole photo with a plain border so it fits a square.</a:t>
            </a:r>
          </a:p>
        </p:txBody>
      </p:sp>
      <p:sp>
        <p:nvSpPr>
          <p:cNvPr id="5" name="">
            <a:extLst xmlns:a="http://schemas.openxmlformats.org/drawingml/2006/main">
              <a:ext uri="{FF2B5EF4-FFF2-40B4-BE49-F238E27FC236}">
                <a16:creationId xmlns:a16="http://schemas.microsoft.com/office/drawing/2014/main" id="{639A2497-DC43-4E59-8BDC-41193BEE990A}"/>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One model</a:t>
            </a:r>
          </a:p>
        </p:txBody>
      </p:sp>
      <p:sp>
        <p:nvSpPr>
          <p:cNvPr id="6" name="">
            <a:extLst xmlns:a="http://schemas.openxmlformats.org/drawingml/2006/main">
              <a:ext uri="{FF2B5EF4-FFF2-40B4-BE49-F238E27FC236}">
                <a16:creationId xmlns:a16="http://schemas.microsoft.com/office/drawing/2014/main" id="{36174FC6-FBC0-48AD-87D0-0AE284C153B5}"/>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Average its disease scores over these views. This is test-time augmentation, or TTA.</a:t>
            </a:r>
          </a:p>
        </p:txBody>
      </p:sp>
      <p:sp>
        <p:nvSpPr>
          <p:cNvPr id="7" name="">
            <a:extLst xmlns:a="http://schemas.openxmlformats.org/drawingml/2006/main">
              <a:ext uri="{FF2B5EF4-FFF2-40B4-BE49-F238E27FC236}">
                <a16:creationId xmlns:a16="http://schemas.microsoft.com/office/drawing/2014/main" id="{75A3B79C-1393-46D8-8321-1E8495FC6038}"/>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Two models</a:t>
            </a:r>
          </a:p>
        </p:txBody>
      </p:sp>
      <p:sp>
        <p:nvSpPr>
          <p:cNvPr id="8" name="">
            <a:extLst xmlns:a="http://schemas.openxmlformats.org/drawingml/2006/main">
              <a:ext uri="{FF2B5EF4-FFF2-40B4-BE49-F238E27FC236}">
                <a16:creationId xmlns:a16="http://schemas.microsoft.com/office/drawing/2014/main" id="{1799EAB2-46EA-45CC-992B-884498FDA7BA}"/>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Average the two models’ resulting scores equally to obtain the final ranking.</a:t>
            </a:r>
          </a:p>
        </p:txBody>
      </p:sp>
    </p:spTree>
    <p:extLst>
      <p:ext uri="{BB962C8B-B14F-4D97-AF65-F5344CB8AC3E}">
        <p14:creationId xmlns:p14="http://schemas.microsoft.com/office/powerpoint/2010/main" val="17625770"/>
      </p:ext>
    </p:extLst>
  </p:cSld>
</p:sld>
</file>

<file path=ppt/slides/slide2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67204B-85C5-47AF-BFDE-C120A17B3194}"/>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chose a two-model ensemble</a:t>
            </a:r>
          </a:p>
        </p:txBody>
      </p:sp>
      <p:sp>
        <p:nvSpPr>
          <p:cNvPr id="2" name="">
            <a:extLst xmlns:a="http://schemas.openxmlformats.org/drawingml/2006/main">
              <a:ext uri="{FF2B5EF4-FFF2-40B4-BE49-F238E27FC236}">
                <a16:creationId xmlns:a16="http://schemas.microsoft.com/office/drawing/2014/main" id="{C20F7825-0E3A-471B-B963-FFC16941D09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21</a:t>
            </a:r>
          </a:p>
        </p:txBody>
      </p:sp>
      <p:graphicFrame>
        <p:nvGraphicFramePr>
          <p:cNvPr id="3" name="Chart">
            <a:extLst xmlns:a="http://schemas.openxmlformats.org/drawingml/2006/main">
              <a:ext uri="{FF2B5EF4-FFF2-40B4-BE49-F238E27FC236}">
                <a16:creationId xmlns:a16="http://schemas.microsoft.com/office/drawing/2014/main" id="{06CA14F4-EB81-446D-A68D-669C3EDD8788}"/>
              </a:ext>
            </a:extLst>
          </p:cNvPr>
          <p:cNvGraphicFramePr/>
          <p:nvPr/>
        </p:nvGraphicFramePr>
        <p:xfrm>
          <a:off xmlns:a="http://schemas.openxmlformats.org/drawingml/2006/main" x="666750" y="1714500"/>
          <a:ext xmlns:a="http://schemas.openxmlformats.org/drawingml/2006/main" cx="10668000" cy="3714750"/>
        </p:xfrm>
        <a:graphic xmlns:a="http://schemas.openxmlformats.org/drawingml/2006/main">
          <a:graphicData uri="http://schemas.openxmlformats.org/drawingml/2006/chart">
            <c:chart xmlns:r="http://schemas.openxmlformats.org/officeDocument/2006/relationships" xmlns:c="http://schemas.openxmlformats.org/drawingml/2006/chart" r:id="R01123a0cd5334a65"/>
          </a:graphicData>
        </a:graphic>
      </p:graphicFrame>
      <p:sp>
        <p:nvSpPr>
          <p:cNvPr id="4" name="">
            <a:extLst xmlns:a="http://schemas.openxmlformats.org/drawingml/2006/main">
              <a:ext uri="{FF2B5EF4-FFF2-40B4-BE49-F238E27FC236}">
                <a16:creationId xmlns:a16="http://schemas.microsoft.com/office/drawing/2014/main" id="{84E0FC21-18CC-4B69-B82A-2D2875533102}"/>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Same 368 validation photos. The pair led on mAP; a single model led on first-choice accuracy.</a:t>
            </a:r>
          </a:p>
        </p:txBody>
      </p:sp>
    </p:spTree>
    <p:extLst>
      <p:ext uri="{BB962C8B-B14F-4D97-AF65-F5344CB8AC3E}">
        <p14:creationId xmlns:p14="http://schemas.microsoft.com/office/powerpoint/2010/main" val="203779409"/>
      </p:ext>
    </p:extLst>
  </p:cSld>
</p:sld>
</file>

<file path=ppt/slides/slide2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465726-3A2C-442F-88B0-A56759E12485}"/>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Final reporting on 623 held-out photos</a:t>
            </a:r>
          </a:p>
        </p:txBody>
      </p:sp>
      <p:sp>
        <p:nvSpPr>
          <p:cNvPr id="2" name="">
            <a:extLst xmlns:a="http://schemas.openxmlformats.org/drawingml/2006/main">
              <a:ext uri="{FF2B5EF4-FFF2-40B4-BE49-F238E27FC236}">
                <a16:creationId xmlns:a16="http://schemas.microsoft.com/office/drawing/2014/main" id="{A945FC68-9A9D-4CAF-84BD-57137526E907}"/>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22</a:t>
            </a:r>
          </a:p>
        </p:txBody>
      </p:sp>
      <p:sp>
        <p:nvSpPr>
          <p:cNvPr id="3" name="">
            <a:extLst xmlns:a="http://schemas.openxmlformats.org/drawingml/2006/main">
              <a:ext uri="{FF2B5EF4-FFF2-40B4-BE49-F238E27FC236}">
                <a16:creationId xmlns:a16="http://schemas.microsoft.com/office/drawing/2014/main" id="{B5810540-0E88-4415-B65F-97B2897472FE}"/>
              </a:ext>
            </a:extLst>
          </p:cNvPr>
          <p:cNvSpPr>
            <a:spLocks xmlns:a="http://schemas.openxmlformats.org/drawingml/2006/main" noGrp="1"/>
          </p:cNvSpPr>
          <p:nvPr/>
        </p:nvSpPr>
        <p:spPr>
          <a:xfrm xmlns:a="http://schemas.openxmlformats.org/drawingml/2006/main">
            <a:off x="723900" y="1638300"/>
            <a:ext cx="5715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173E2C"/>
                </a:solidFill>
                <a:latin typeface="Arial"/>
                <a:ea typeface="Arial"/>
                <a:cs typeface="Arial"/>
              </a:defRPr>
            </a:defPPr>
            <a:lvl1pPr>
              <a:defRPr sz="5775" b="1">
                <a:solidFill>
                  <a:srgbClr val="173E2C"/>
                </a:solidFill>
                <a:latin typeface="Arial"/>
                <a:ea typeface="Arial"/>
                <a:cs typeface="Arial"/>
              </a:defRPr>
            </a:lvl1pPr>
            <a:lvl2pPr>
              <a:defRPr sz="5775" b="1">
                <a:solidFill>
                  <a:srgbClr val="173E2C"/>
                </a:solidFill>
                <a:latin typeface="Arial"/>
                <a:ea typeface="Arial"/>
                <a:cs typeface="Arial"/>
              </a:defRPr>
            </a:lvl2pPr>
            <a:lvl3pPr>
              <a:defRPr sz="5775" b="1">
                <a:solidFill>
                  <a:srgbClr val="173E2C"/>
                </a:solidFill>
                <a:latin typeface="Arial"/>
                <a:ea typeface="Arial"/>
                <a:cs typeface="Arial"/>
              </a:defRPr>
            </a:lvl3pPr>
            <a:lvl4pPr>
              <a:defRPr sz="5775" b="1">
                <a:solidFill>
                  <a:srgbClr val="173E2C"/>
                </a:solidFill>
                <a:latin typeface="Arial"/>
                <a:ea typeface="Arial"/>
                <a:cs typeface="Arial"/>
              </a:defRPr>
            </a:lvl4pPr>
            <a:lvl5pPr>
              <a:defRPr sz="5775" b="1">
                <a:solidFill>
                  <a:srgbClr val="173E2C"/>
                </a:solidFill>
                <a:latin typeface="Arial"/>
                <a:ea typeface="Arial"/>
                <a:cs typeface="Arial"/>
              </a:defRPr>
            </a:lvl5pPr>
            <a:lvl6pPr>
              <a:defRPr sz="5775" b="1">
                <a:solidFill>
                  <a:srgbClr val="173E2C"/>
                </a:solidFill>
                <a:latin typeface="Arial"/>
                <a:ea typeface="Arial"/>
                <a:cs typeface="Arial"/>
              </a:defRPr>
            </a:lvl6pPr>
            <a:lvl7pPr>
              <a:defRPr sz="5775" b="1">
                <a:solidFill>
                  <a:srgbClr val="173E2C"/>
                </a:solidFill>
                <a:latin typeface="Arial"/>
                <a:ea typeface="Arial"/>
                <a:cs typeface="Arial"/>
              </a:defRPr>
            </a:lvl7pPr>
            <a:lvl8pPr>
              <a:defRPr sz="5775" b="1">
                <a:solidFill>
                  <a:srgbClr val="173E2C"/>
                </a:solidFill>
                <a:latin typeface="Arial"/>
                <a:ea typeface="Arial"/>
                <a:cs typeface="Arial"/>
              </a:defRPr>
            </a:lvl8pPr>
            <a:lvl9pPr>
              <a:defRPr sz="5775" b="1">
                <a:solidFill>
                  <a:srgbClr val="173E2C"/>
                </a:solidFill>
                <a:latin typeface="Arial"/>
                <a:ea typeface="Arial"/>
                <a:cs typeface="Arial"/>
              </a:defRPr>
            </a:lvl9pPr>
          </a:lstStyle>
          <a:p xmlns:a="http://schemas.openxmlformats.org/drawingml/2006/main">
            <a:pPr>
              <a:defRPr sz="5775" b="1">
                <a:solidFill>
                  <a:srgbClr val="173E2C"/>
                </a:solidFill>
                <a:latin typeface="Arial"/>
                <a:ea typeface="Arial"/>
                <a:cs typeface="Arial"/>
              </a:defRPr>
            </a:pPr>
            <a:r>
              <a:rPr sz="5775" b="1">
                <a:solidFill>
                  <a:srgbClr val="173E2C"/>
                </a:solidFill>
                <a:latin typeface="Arial"/>
                <a:ea typeface="Arial"/>
                <a:cs typeface="Arial"/>
              </a:rPr>
              <a:t>89.41%</a:t>
            </a:r>
          </a:p>
        </p:txBody>
      </p:sp>
      <p:sp>
        <p:nvSpPr>
          <p:cNvPr id="4" name="">
            <a:extLst xmlns:a="http://schemas.openxmlformats.org/drawingml/2006/main">
              <a:ext uri="{FF2B5EF4-FFF2-40B4-BE49-F238E27FC236}">
                <a16:creationId xmlns:a16="http://schemas.microsoft.com/office/drawing/2014/main" id="{47A171C7-C7D6-4D71-BE7B-D073F1C723A0}"/>
              </a:ext>
            </a:extLst>
          </p:cNvPr>
          <p:cNvSpPr>
            <a:spLocks xmlns:a="http://schemas.openxmlformats.org/drawingml/2006/main" noGrp="1"/>
          </p:cNvSpPr>
          <p:nvPr/>
        </p:nvSpPr>
        <p:spPr>
          <a:xfrm xmlns:a="http://schemas.openxmlformats.org/drawingml/2006/main">
            <a:off x="762000" y="26860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557 of 623 correct first suggestions</a:t>
            </a:r>
          </a:p>
        </p:txBody>
      </p:sp>
      <p:sp>
        <p:nvSpPr>
          <p:cNvPr id="5" name="">
            <a:extLst xmlns:a="http://schemas.openxmlformats.org/drawingml/2006/main">
              <a:ext uri="{FF2B5EF4-FFF2-40B4-BE49-F238E27FC236}">
                <a16:creationId xmlns:a16="http://schemas.microsoft.com/office/drawing/2014/main" id="{F248AA39-9447-437D-A90E-FF7F1D4EFA3A}"/>
              </a:ext>
            </a:extLst>
          </p:cNvPr>
          <p:cNvSpPr>
            <a:spLocks xmlns:a="http://schemas.openxmlformats.org/drawingml/2006/main" noGrp="1"/>
          </p:cNvSpPr>
          <p:nvPr/>
        </p:nvSpPr>
        <p:spPr>
          <a:xfrm xmlns:a="http://schemas.openxmlformats.org/drawingml/2006/main">
            <a:off x="7524750" y="18097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0">
                <a:solidFill>
                  <a:srgbClr val="24352C"/>
                </a:solidFill>
                <a:latin typeface="Arial"/>
                <a:ea typeface="Arial"/>
                <a:cs typeface="Arial"/>
              </a:defRPr>
            </a:defPPr>
            <a:lvl1pPr>
              <a:defRPr sz="2775" b="0">
                <a:solidFill>
                  <a:srgbClr val="24352C"/>
                </a:solidFill>
                <a:latin typeface="Arial"/>
                <a:ea typeface="Arial"/>
                <a:cs typeface="Arial"/>
              </a:defRPr>
            </a:lvl1pPr>
            <a:lvl2pPr>
              <a:defRPr sz="2775" b="0">
                <a:solidFill>
                  <a:srgbClr val="24352C"/>
                </a:solidFill>
                <a:latin typeface="Arial"/>
                <a:ea typeface="Arial"/>
                <a:cs typeface="Arial"/>
              </a:defRPr>
            </a:lvl2pPr>
            <a:lvl3pPr>
              <a:defRPr sz="2775" b="0">
                <a:solidFill>
                  <a:srgbClr val="24352C"/>
                </a:solidFill>
                <a:latin typeface="Arial"/>
                <a:ea typeface="Arial"/>
                <a:cs typeface="Arial"/>
              </a:defRPr>
            </a:lvl3pPr>
            <a:lvl4pPr>
              <a:defRPr sz="2775" b="0">
                <a:solidFill>
                  <a:srgbClr val="24352C"/>
                </a:solidFill>
                <a:latin typeface="Arial"/>
                <a:ea typeface="Arial"/>
                <a:cs typeface="Arial"/>
              </a:defRPr>
            </a:lvl4pPr>
            <a:lvl5pPr>
              <a:defRPr sz="2775" b="0">
                <a:solidFill>
                  <a:srgbClr val="24352C"/>
                </a:solidFill>
                <a:latin typeface="Arial"/>
                <a:ea typeface="Arial"/>
                <a:cs typeface="Arial"/>
              </a:defRPr>
            </a:lvl5pPr>
            <a:lvl6pPr>
              <a:defRPr sz="2775" b="0">
                <a:solidFill>
                  <a:srgbClr val="24352C"/>
                </a:solidFill>
                <a:latin typeface="Arial"/>
                <a:ea typeface="Arial"/>
                <a:cs typeface="Arial"/>
              </a:defRPr>
            </a:lvl6pPr>
            <a:lvl7pPr>
              <a:defRPr sz="2775" b="0">
                <a:solidFill>
                  <a:srgbClr val="24352C"/>
                </a:solidFill>
                <a:latin typeface="Arial"/>
                <a:ea typeface="Arial"/>
                <a:cs typeface="Arial"/>
              </a:defRPr>
            </a:lvl7pPr>
            <a:lvl8pPr>
              <a:defRPr sz="2775" b="0">
                <a:solidFill>
                  <a:srgbClr val="24352C"/>
                </a:solidFill>
                <a:latin typeface="Arial"/>
                <a:ea typeface="Arial"/>
                <a:cs typeface="Arial"/>
              </a:defRPr>
            </a:lvl8pPr>
            <a:lvl9pPr>
              <a:defRPr sz="2775" b="0">
                <a:solidFill>
                  <a:srgbClr val="24352C"/>
                </a:solidFill>
                <a:latin typeface="Arial"/>
                <a:ea typeface="Arial"/>
                <a:cs typeface="Arial"/>
              </a:defRPr>
            </a:lvl9pPr>
          </a:lstStyle>
          <a:p xmlns:a="http://schemas.openxmlformats.org/drawingml/2006/main">
            <a:pPr>
              <a:defRPr sz="2775" b="0">
                <a:solidFill>
                  <a:srgbClr val="24352C"/>
                </a:solidFill>
                <a:latin typeface="Arial"/>
                <a:ea typeface="Arial"/>
                <a:cs typeface="Arial"/>
              </a:defRPr>
            </a:pPr>
            <a:r>
              <a:rPr sz="2775" b="0">
                <a:solidFill>
                  <a:srgbClr val="24352C"/>
                </a:solidFill>
                <a:latin typeface="Arial"/>
                <a:ea typeface="Arial"/>
                <a:cs typeface="Arial"/>
              </a:rPr>
              <a:t>99.36% Top-5</a:t>
            </a:r>
          </a:p>
        </p:txBody>
      </p:sp>
      <p:sp>
        <p:nvSpPr>
          <p:cNvPr id="6" name="">
            <a:extLst xmlns:a="http://schemas.openxmlformats.org/drawingml/2006/main">
              <a:ext uri="{FF2B5EF4-FFF2-40B4-BE49-F238E27FC236}">
                <a16:creationId xmlns:a16="http://schemas.microsoft.com/office/drawing/2014/main" id="{22A102F3-D9C6-4B10-B992-A81D2C79373F}"/>
              </a:ext>
            </a:extLst>
          </p:cNvPr>
          <p:cNvSpPr>
            <a:spLocks xmlns:a="http://schemas.openxmlformats.org/drawingml/2006/main" noGrp="1"/>
          </p:cNvSpPr>
          <p:nvPr/>
        </p:nvSpPr>
        <p:spPr>
          <a:xfrm xmlns:a="http://schemas.openxmlformats.org/drawingml/2006/main">
            <a:off x="7524750" y="260985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619 of 623 within five suggestions</a:t>
            </a:r>
          </a:p>
        </p:txBody>
      </p:sp>
      <p:sp>
        <p:nvSpPr>
          <p:cNvPr id="7" name="">
            <a:extLst xmlns:a="http://schemas.openxmlformats.org/drawingml/2006/main">
              <a:ext uri="{FF2B5EF4-FFF2-40B4-BE49-F238E27FC236}">
                <a16:creationId xmlns:a16="http://schemas.microsoft.com/office/drawing/2014/main" id="{B9477D93-5302-4043-9677-FAC4F41FA3B8}"/>
              </a:ext>
            </a:extLst>
          </p:cNvPr>
          <p:cNvSpPr>
            <a:spLocks xmlns:a="http://schemas.openxmlformats.org/drawingml/2006/main" noGrp="1"/>
          </p:cNvSpPr>
          <p:nvPr/>
        </p:nvSpPr>
        <p:spPr>
          <a:xfrm xmlns:a="http://schemas.openxmlformats.org/drawingml/2006/main">
            <a:off x="723900" y="35528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73E2C"/>
                </a:solidFill>
                <a:latin typeface="Arial"/>
                <a:ea typeface="Arial"/>
                <a:cs typeface="Arial"/>
              </a:defRPr>
            </a:defPPr>
            <a:lvl1pPr>
              <a:defRPr sz="2550" b="0">
                <a:solidFill>
                  <a:srgbClr val="173E2C"/>
                </a:solidFill>
                <a:latin typeface="Arial"/>
                <a:ea typeface="Arial"/>
                <a:cs typeface="Arial"/>
              </a:defRPr>
            </a:lvl1pPr>
            <a:lvl2pPr>
              <a:defRPr sz="2550" b="0">
                <a:solidFill>
                  <a:srgbClr val="173E2C"/>
                </a:solidFill>
                <a:latin typeface="Arial"/>
                <a:ea typeface="Arial"/>
                <a:cs typeface="Arial"/>
              </a:defRPr>
            </a:lvl2pPr>
            <a:lvl3pPr>
              <a:defRPr sz="2550" b="0">
                <a:solidFill>
                  <a:srgbClr val="173E2C"/>
                </a:solidFill>
                <a:latin typeface="Arial"/>
                <a:ea typeface="Arial"/>
                <a:cs typeface="Arial"/>
              </a:defRPr>
            </a:lvl3pPr>
            <a:lvl4pPr>
              <a:defRPr sz="2550" b="0">
                <a:solidFill>
                  <a:srgbClr val="173E2C"/>
                </a:solidFill>
                <a:latin typeface="Arial"/>
                <a:ea typeface="Arial"/>
                <a:cs typeface="Arial"/>
              </a:defRPr>
            </a:lvl4pPr>
            <a:lvl5pPr>
              <a:defRPr sz="2550" b="0">
                <a:solidFill>
                  <a:srgbClr val="173E2C"/>
                </a:solidFill>
                <a:latin typeface="Arial"/>
                <a:ea typeface="Arial"/>
                <a:cs typeface="Arial"/>
              </a:defRPr>
            </a:lvl5pPr>
            <a:lvl6pPr>
              <a:defRPr sz="2550" b="0">
                <a:solidFill>
                  <a:srgbClr val="173E2C"/>
                </a:solidFill>
                <a:latin typeface="Arial"/>
                <a:ea typeface="Arial"/>
                <a:cs typeface="Arial"/>
              </a:defRPr>
            </a:lvl6pPr>
            <a:lvl7pPr>
              <a:defRPr sz="2550" b="0">
                <a:solidFill>
                  <a:srgbClr val="173E2C"/>
                </a:solidFill>
                <a:latin typeface="Arial"/>
                <a:ea typeface="Arial"/>
                <a:cs typeface="Arial"/>
              </a:defRPr>
            </a:lvl7pPr>
            <a:lvl8pPr>
              <a:defRPr sz="2550" b="0">
                <a:solidFill>
                  <a:srgbClr val="173E2C"/>
                </a:solidFill>
                <a:latin typeface="Arial"/>
                <a:ea typeface="Arial"/>
                <a:cs typeface="Arial"/>
              </a:defRPr>
            </a:lvl8pPr>
            <a:lvl9pPr>
              <a:defRPr sz="2550" b="0">
                <a:solidFill>
                  <a:srgbClr val="173E2C"/>
                </a:solidFill>
                <a:latin typeface="Arial"/>
                <a:ea typeface="Arial"/>
                <a:cs typeface="Arial"/>
              </a:defRPr>
            </a:lvl9pPr>
          </a:lstStyle>
          <a:p xmlns:a="http://schemas.openxmlformats.org/drawingml/2006/main">
            <a:pPr>
              <a:defRPr sz="2550" b="0">
                <a:solidFill>
                  <a:srgbClr val="173E2C"/>
                </a:solidFill>
                <a:latin typeface="Arial"/>
                <a:ea typeface="Arial"/>
                <a:cs typeface="Arial"/>
              </a:defRPr>
            </a:pPr>
            <a:r>
              <a:rPr sz="2550" b="0">
                <a:solidFill>
                  <a:srgbClr val="173E2C"/>
                </a:solidFill>
                <a:latin typeface="Arial"/>
                <a:ea typeface="Arial"/>
                <a:cs typeface="Arial"/>
              </a:rPr>
              <a:t>Macro mAP: 92.99%</a:t>
            </a:r>
          </a:p>
        </p:txBody>
      </p:sp>
      <p:graphicFrame>
        <p:nvGraphicFramePr>
          <p:cNvPr id="8" name="">
            <a:extLst xmlns:a="http://schemas.openxmlformats.org/drawingml/2006/main">
              <a:ext uri="{FF2B5EF4-FFF2-40B4-BE49-F238E27FC236}">
                <a16:creationId xmlns:a16="http://schemas.microsoft.com/office/drawing/2014/main" id="{327CC882-424F-4C55-BFB1-C3B99CE64F56}"/>
              </a:ext>
            </a:extLst>
          </p:cNvPr>
          <p:cNvGraphicFramePr/>
          <p:nvPr/>
        </p:nvGraphicFramePr>
        <p:xfrm>
          <a:off xmlns:a="http://schemas.openxmlformats.org/drawingml/2006/main" x="666750" y="4267200"/>
          <a:ext xmlns:a="http://schemas.openxmlformats.org/drawingml/2006/main" cx="10858500" cy="1552575"/>
        </p:xfrm>
        <a:graphic xmlns:a="http://schemas.openxmlformats.org/drawingml/2006/main">
          <a:graphicData uri="http://schemas.openxmlformats.org/drawingml/2006/table">
            <a:tbl>
              <a:tblPr/>
              <a:tblGrid>
                <a:gridCol w="7239000"/>
                <a:gridCol w="3619500"/>
              </a:tblGrid>
              <a:tr h="517525">
                <a:tc>
                  <a:txBody>
                    <a:bodyPr lIns="95250" tIns="95250" rIns="95250" bIns="95250"/>
                    <a:lstStyle/>
                    <a:p>
                      <a:r>
                        <a:rPr sz="1950" b="1">
                          <a:solidFill>
                            <a:srgbClr val="FFFFFF"/>
                          </a:solidFill>
                          <a:latin typeface="Arial"/>
                          <a:ea typeface="Arial"/>
                          <a:cs typeface="Arial"/>
                        </a:rPr>
                        <a:t>Same 623 photos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Correct first suggestions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17525">
                <a:tc>
                  <a:txBody>
                    <a:bodyPr lIns="95250" tIns="95250" rIns="95250" bIns="95250"/>
                    <a:lstStyle/>
                    <a:p>
                      <a:r>
                        <a:rPr sz="1950" b="0">
                          <a:solidFill>
                            <a:srgbClr val="24352C"/>
                          </a:solidFill>
                          <a:latin typeface="Arial"/>
                          <a:ea typeface="Arial"/>
                          <a:cs typeface="Arial"/>
                        </a:rPr>
                        <a:t>Previous four-model system</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549</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17525">
                <a:tc>
                  <a:txBody>
                    <a:bodyPr lIns="95250" tIns="95250" rIns="95250" bIns="95250"/>
                    <a:lstStyle/>
                    <a:p>
                      <a:r>
                        <a:rPr sz="1950" b="0">
                          <a:solidFill>
                            <a:srgbClr val="24352C"/>
                          </a:solidFill>
                          <a:latin typeface="Arial"/>
                          <a:ea typeface="Arial"/>
                          <a:cs typeface="Arial"/>
                        </a:rPr>
                        <a:t>Final two-model system</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557</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9" name="">
            <a:extLst xmlns:a="http://schemas.openxmlformats.org/drawingml/2006/main">
              <a:ext uri="{FF2B5EF4-FFF2-40B4-BE49-F238E27FC236}">
                <a16:creationId xmlns:a16="http://schemas.microsoft.com/office/drawing/2014/main" id="{C01631CC-14D6-459F-A20E-E29D42C99060}"/>
              </a:ext>
            </a:extLst>
          </p:cNvPr>
          <p:cNvSpPr>
            <a:spLocks xmlns:a="http://schemas.openxmlformats.org/drawingml/2006/main" noGrp="1"/>
          </p:cNvSpPr>
          <p:nvPr/>
        </p:nvSpPr>
        <p:spPr>
          <a:xfrm xmlns:a="http://schemas.openxmlformats.org/drawingml/2006/main">
            <a:off x="723900" y="59531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B5A37"/>
                </a:solidFill>
                <a:latin typeface="Arial"/>
                <a:ea typeface="Arial"/>
                <a:cs typeface="Arial"/>
              </a:defRPr>
            </a:defPPr>
            <a:lvl1pPr>
              <a:defRPr sz="1500" b="0">
                <a:solidFill>
                  <a:srgbClr val="AB5A37"/>
                </a:solidFill>
                <a:latin typeface="Arial"/>
                <a:ea typeface="Arial"/>
                <a:cs typeface="Arial"/>
              </a:defRPr>
            </a:lvl1pPr>
            <a:lvl2pPr>
              <a:defRPr sz="1500" b="0">
                <a:solidFill>
                  <a:srgbClr val="AB5A37"/>
                </a:solidFill>
                <a:latin typeface="Arial"/>
                <a:ea typeface="Arial"/>
                <a:cs typeface="Arial"/>
              </a:defRPr>
            </a:lvl2pPr>
            <a:lvl3pPr>
              <a:defRPr sz="1500" b="0">
                <a:solidFill>
                  <a:srgbClr val="AB5A37"/>
                </a:solidFill>
                <a:latin typeface="Arial"/>
                <a:ea typeface="Arial"/>
                <a:cs typeface="Arial"/>
              </a:defRPr>
            </a:lvl3pPr>
            <a:lvl4pPr>
              <a:defRPr sz="1500" b="0">
                <a:solidFill>
                  <a:srgbClr val="AB5A37"/>
                </a:solidFill>
                <a:latin typeface="Arial"/>
                <a:ea typeface="Arial"/>
                <a:cs typeface="Arial"/>
              </a:defRPr>
            </a:lvl4pPr>
            <a:lvl5pPr>
              <a:defRPr sz="1500" b="0">
                <a:solidFill>
                  <a:srgbClr val="AB5A37"/>
                </a:solidFill>
                <a:latin typeface="Arial"/>
                <a:ea typeface="Arial"/>
                <a:cs typeface="Arial"/>
              </a:defRPr>
            </a:lvl5pPr>
            <a:lvl6pPr>
              <a:defRPr sz="1500" b="0">
                <a:solidFill>
                  <a:srgbClr val="AB5A37"/>
                </a:solidFill>
                <a:latin typeface="Arial"/>
                <a:ea typeface="Arial"/>
                <a:cs typeface="Arial"/>
              </a:defRPr>
            </a:lvl6pPr>
            <a:lvl7pPr>
              <a:defRPr sz="1500" b="0">
                <a:solidFill>
                  <a:srgbClr val="AB5A37"/>
                </a:solidFill>
                <a:latin typeface="Arial"/>
                <a:ea typeface="Arial"/>
                <a:cs typeface="Arial"/>
              </a:defRPr>
            </a:lvl7pPr>
            <a:lvl8pPr>
              <a:defRPr sz="1500" b="0">
                <a:solidFill>
                  <a:srgbClr val="AB5A37"/>
                </a:solidFill>
                <a:latin typeface="Arial"/>
                <a:ea typeface="Arial"/>
                <a:cs typeface="Arial"/>
              </a:defRPr>
            </a:lvl8pPr>
            <a:lvl9pPr>
              <a:defRPr sz="1500" b="0">
                <a:solidFill>
                  <a:srgbClr val="AB5A37"/>
                </a:solidFill>
                <a:latin typeface="Arial"/>
                <a:ea typeface="Arial"/>
                <a:cs typeface="Arial"/>
              </a:defRPr>
            </a:lvl9pPr>
          </a:lstStyle>
          <a:p xmlns:a="http://schemas.openxmlformats.org/drawingml/2006/main">
            <a:pPr>
              <a:defRPr sz="1500" b="0">
                <a:solidFill>
                  <a:srgbClr val="AB5A37"/>
                </a:solidFill>
                <a:latin typeface="Arial"/>
                <a:ea typeface="Arial"/>
                <a:cs typeface="Arial"/>
              </a:defRPr>
            </a:pPr>
            <a:r>
              <a:rPr sz="1500" b="0">
                <a:solidFill>
                  <a:srgbClr val="AB5A37"/>
                </a:solidFill>
                <a:latin typeface="Arial"/>
                <a:ea typeface="Arial"/>
                <a:cs typeface="Arial"/>
              </a:rPr>
              <a:t>This holdout had been evaluated before. A new external set is still needed for an independent final estimate.</a:t>
            </a:r>
          </a:p>
        </p:txBody>
      </p:sp>
    </p:spTree>
    <p:extLst>
      <p:ext uri="{BB962C8B-B14F-4D97-AF65-F5344CB8AC3E}">
        <p14:creationId xmlns:p14="http://schemas.microsoft.com/office/powerpoint/2010/main" val="270278458"/>
      </p:ext>
    </p:extLst>
  </p:cSld>
</p:sld>
</file>

<file path=ppt/slides/slide2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392330-5B52-4365-9C02-8EE42C032284}"/>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Using the trained model in a web app</a:t>
            </a:r>
          </a:p>
        </p:txBody>
      </p:sp>
      <p:sp>
        <p:nvSpPr>
          <p:cNvPr id="2" name="">
            <a:extLst xmlns:a="http://schemas.openxmlformats.org/drawingml/2006/main">
              <a:ext uri="{FF2B5EF4-FFF2-40B4-BE49-F238E27FC236}">
                <a16:creationId xmlns:a16="http://schemas.microsoft.com/office/drawing/2014/main" id="{112B3F82-2909-42E7-8614-9B7F175961CB}"/>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23</a:t>
            </a:r>
          </a:p>
        </p:txBody>
      </p:sp>
      <p:sp>
        <p:nvSpPr>
          <p:cNvPr id="3" name="">
            <a:extLst xmlns:a="http://schemas.openxmlformats.org/drawingml/2006/main">
              <a:ext uri="{FF2B5EF4-FFF2-40B4-BE49-F238E27FC236}">
                <a16:creationId xmlns:a16="http://schemas.microsoft.com/office/drawing/2014/main" id="{5D12C4B5-ACDF-425A-994D-692F29E946B4}"/>
              </a:ext>
            </a:extLst>
          </p:cNvPr>
          <p:cNvSpPr>
            <a:spLocks xmlns:a="http://schemas.openxmlformats.org/drawingml/2006/main" noGrp="1"/>
          </p:cNvSpPr>
          <p:nvPr/>
        </p:nvSpPr>
        <p:spPr>
          <a:xfrm xmlns:a="http://schemas.openxmlformats.org/drawingml/2006/main">
            <a:off x="723900" y="15525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Deployment means putting the trained model into a usable application.</a:t>
            </a:r>
          </a:p>
        </p:txBody>
      </p:sp>
      <p:pic>
        <p:nvPicPr>
          <p:cNvPr id="4" name="">
            <a:extLst xmlns:a="http://schemas.openxmlformats.org/drawingml/2006/main">
              <a:ext uri="{FF2B5EF4-FFF2-40B4-BE49-F238E27FC236}">
                <a16:creationId xmlns:a16="http://schemas.microsoft.com/office/drawing/2014/main" id="{0E59708C-22CA-4ECA-8237-F59846FE9C4B}"/>
              </a:ext>
            </a:extLst>
          </p:cNvPr>
          <p:cNvPicPr>
            <a:picLocks xmlns:a="http://schemas.openxmlformats.org/drawingml/2006/main" noChangeAspect="1"/>
          </p:cNvPicPr>
          <p:nvPr/>
        </p:nvPicPr>
        <p:blipFill>
          <a:blip xmlns:r="http://schemas.openxmlformats.org/officeDocument/2006/relationships" xmlns:a="http://schemas.openxmlformats.org/drawingml/2006/main" r:embed="Rae9595ea19f047fc"/>
          <a:stretch xmlns:a="http://schemas.openxmlformats.org/drawingml/2006/main"/>
        </p:blipFill>
        <p:spPr>
          <a:xfrm xmlns:a="http://schemas.openxmlformats.org/drawingml/2006/main">
            <a:off x="1776773" y="2286000"/>
            <a:ext cx="5590453"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CCAD39-57B6-41FC-BD3D-D3301EAB487F}"/>
              </a:ext>
            </a:extLst>
          </p:cNvPr>
          <p:cNvSpPr>
            <a:spLocks xmlns:a="http://schemas.openxmlformats.org/drawingml/2006/main" noGrp="1"/>
          </p:cNvSpPr>
          <p:nvPr/>
        </p:nvSpPr>
        <p:spPr>
          <a:xfrm xmlns:a="http://schemas.openxmlformats.org/drawingml/2006/main">
            <a:off x="8896350" y="2628900"/>
            <a:ext cx="2667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52C"/>
                </a:solidFill>
                <a:latin typeface="Arial"/>
                <a:ea typeface="Arial"/>
                <a:cs typeface="Arial"/>
              </a:defRPr>
            </a:defPPr>
            <a:lvl1pPr>
              <a:defRPr sz="2025" b="0">
                <a:solidFill>
                  <a:srgbClr val="24352C"/>
                </a:solidFill>
                <a:latin typeface="Arial"/>
                <a:ea typeface="Arial"/>
                <a:cs typeface="Arial"/>
              </a:defRPr>
            </a:lvl1pPr>
            <a:lvl2pPr>
              <a:defRPr sz="2025" b="0">
                <a:solidFill>
                  <a:srgbClr val="24352C"/>
                </a:solidFill>
                <a:latin typeface="Arial"/>
                <a:ea typeface="Arial"/>
                <a:cs typeface="Arial"/>
              </a:defRPr>
            </a:lvl2pPr>
            <a:lvl3pPr>
              <a:defRPr sz="2025" b="0">
                <a:solidFill>
                  <a:srgbClr val="24352C"/>
                </a:solidFill>
                <a:latin typeface="Arial"/>
                <a:ea typeface="Arial"/>
                <a:cs typeface="Arial"/>
              </a:defRPr>
            </a:lvl3pPr>
            <a:lvl4pPr>
              <a:defRPr sz="2025" b="0">
                <a:solidFill>
                  <a:srgbClr val="24352C"/>
                </a:solidFill>
                <a:latin typeface="Arial"/>
                <a:ea typeface="Arial"/>
                <a:cs typeface="Arial"/>
              </a:defRPr>
            </a:lvl4pPr>
            <a:lvl5pPr>
              <a:defRPr sz="2025" b="0">
                <a:solidFill>
                  <a:srgbClr val="24352C"/>
                </a:solidFill>
                <a:latin typeface="Arial"/>
                <a:ea typeface="Arial"/>
                <a:cs typeface="Arial"/>
              </a:defRPr>
            </a:lvl5pPr>
            <a:lvl6pPr>
              <a:defRPr sz="2025" b="0">
                <a:solidFill>
                  <a:srgbClr val="24352C"/>
                </a:solidFill>
                <a:latin typeface="Arial"/>
                <a:ea typeface="Arial"/>
                <a:cs typeface="Arial"/>
              </a:defRPr>
            </a:lvl6pPr>
            <a:lvl7pPr>
              <a:defRPr sz="2025" b="0">
                <a:solidFill>
                  <a:srgbClr val="24352C"/>
                </a:solidFill>
                <a:latin typeface="Arial"/>
                <a:ea typeface="Arial"/>
                <a:cs typeface="Arial"/>
              </a:defRPr>
            </a:lvl7pPr>
            <a:lvl8pPr>
              <a:defRPr sz="2025" b="0">
                <a:solidFill>
                  <a:srgbClr val="24352C"/>
                </a:solidFill>
                <a:latin typeface="Arial"/>
                <a:ea typeface="Arial"/>
                <a:cs typeface="Arial"/>
              </a:defRPr>
            </a:lvl8pPr>
            <a:lvl9pPr>
              <a:defRPr sz="2025" b="0">
                <a:solidFill>
                  <a:srgbClr val="24352C"/>
                </a:solidFill>
                <a:latin typeface="Arial"/>
                <a:ea typeface="Arial"/>
                <a:cs typeface="Arial"/>
              </a:defRPr>
            </a:lvl9pPr>
          </a:lstStyle>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Upload a photo</a:t>
            </a:r>
          </a:p>
          <a:p xmlns:a="http://schemas.openxmlformats.org/drawingml/2006/main">
            <a:r>
              <a:t/>
            </a:r>
          </a:p>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Click Analyze photo</a:t>
            </a:r>
          </a:p>
          <a:p xmlns:a="http://schemas.openxmlformats.org/drawingml/2006/main">
            <a:r>
              <a:t/>
            </a:r>
          </a:p>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Read the suggestions</a:t>
            </a:r>
          </a:p>
        </p:txBody>
      </p:sp>
      <p:sp>
        <p:nvSpPr>
          <p:cNvPr id="6" name="">
            <a:extLst xmlns:a="http://schemas.openxmlformats.org/drawingml/2006/main">
              <a:ext uri="{FF2B5EF4-FFF2-40B4-BE49-F238E27FC236}">
                <a16:creationId xmlns:a16="http://schemas.microsoft.com/office/drawing/2014/main" id="{E77D9046-3FFC-46C5-B7B3-C0848D391B76}"/>
              </a:ext>
            </a:extLst>
          </p:cNvPr>
          <p:cNvSpPr>
            <a:spLocks xmlns:a="http://schemas.openxmlformats.org/drawingml/2006/main" noGrp="1"/>
          </p:cNvSpPr>
          <p:nvPr/>
        </p:nvSpPr>
        <p:spPr>
          <a:xfrm xmlns:a="http://schemas.openxmlformats.org/drawingml/2006/main">
            <a:off x="8915400" y="5334000"/>
            <a:ext cx="2647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52fd41b43abb4a03"/>
              </a:rPr>
              <a:t>Open MROOT V2</a:t>
            </a:r>
          </a:p>
        </p:txBody>
      </p:sp>
    </p:spTree>
    <p:extLst>
      <p:ext uri="{BB962C8B-B14F-4D97-AF65-F5344CB8AC3E}">
        <p14:creationId xmlns:p14="http://schemas.microsoft.com/office/powerpoint/2010/main" val="565371514"/>
      </p:ext>
    </p:extLst>
  </p:cSld>
</p:sld>
</file>

<file path=ppt/slides/slide2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46AA58-BF56-44E1-87A5-D3D2A3980F81}"/>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these results still cannot establish</a:t>
            </a:r>
          </a:p>
        </p:txBody>
      </p:sp>
      <p:sp>
        <p:nvSpPr>
          <p:cNvPr id="2" name="">
            <a:extLst xmlns:a="http://schemas.openxmlformats.org/drawingml/2006/main">
              <a:ext uri="{FF2B5EF4-FFF2-40B4-BE49-F238E27FC236}">
                <a16:creationId xmlns:a16="http://schemas.microsoft.com/office/drawing/2014/main" id="{B5CBA6AE-58C2-4188-9684-C9BD526344B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24</a:t>
            </a:r>
          </a:p>
        </p:txBody>
      </p:sp>
      <p:sp>
        <p:nvSpPr>
          <p:cNvPr id="3" name="">
            <a:extLst xmlns:a="http://schemas.openxmlformats.org/drawingml/2006/main">
              <a:ext uri="{FF2B5EF4-FFF2-40B4-BE49-F238E27FC236}">
                <a16:creationId xmlns:a16="http://schemas.microsoft.com/office/drawing/2014/main" id="{47876398-3787-40E9-A1BB-A60943620C4E}"/>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New photos</a:t>
            </a:r>
          </a:p>
        </p:txBody>
      </p:sp>
      <p:sp>
        <p:nvSpPr>
          <p:cNvPr id="4" name="">
            <a:extLst xmlns:a="http://schemas.openxmlformats.org/drawingml/2006/main">
              <a:ext uri="{FF2B5EF4-FFF2-40B4-BE49-F238E27FC236}">
                <a16:creationId xmlns:a16="http://schemas.microsoft.com/office/drawing/2014/main" id="{93445451-F72D-458F-89E2-ED5DEBA7563C}"/>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Generalization means working on photos beyond the examples used to develop the system.</a:t>
            </a:r>
          </a:p>
        </p:txBody>
      </p:sp>
      <p:sp>
        <p:nvSpPr>
          <p:cNvPr id="5" name="">
            <a:extLst xmlns:a="http://schemas.openxmlformats.org/drawingml/2006/main">
              <a:ext uri="{FF2B5EF4-FFF2-40B4-BE49-F238E27FC236}">
                <a16:creationId xmlns:a16="http://schemas.microsoft.com/office/drawing/2014/main" id="{86A24D98-1904-4F2D-8124-9725E6FDE69E}"/>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Memorization risk</a:t>
            </a:r>
          </a:p>
        </p:txBody>
      </p:sp>
      <p:sp>
        <p:nvSpPr>
          <p:cNvPr id="6" name="">
            <a:extLst xmlns:a="http://schemas.openxmlformats.org/drawingml/2006/main">
              <a:ext uri="{FF2B5EF4-FFF2-40B4-BE49-F238E27FC236}">
                <a16:creationId xmlns:a16="http://schemas.microsoft.com/office/drawing/2014/main" id="{11A34913-443E-4486-8A0A-5F63D1FED0DB}"/>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Overfitting means fitting familiar examples too closely and performing worse on new ones.</a:t>
            </a:r>
          </a:p>
        </p:txBody>
      </p:sp>
      <p:sp>
        <p:nvSpPr>
          <p:cNvPr id="7" name="">
            <a:extLst xmlns:a="http://schemas.openxmlformats.org/drawingml/2006/main">
              <a:ext uri="{FF2B5EF4-FFF2-40B4-BE49-F238E27FC236}">
                <a16:creationId xmlns:a16="http://schemas.microsoft.com/office/drawing/2014/main" id="{0B46B088-CE5F-43C9-9DC9-E1612C5443E2}"/>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Product limits</a:t>
            </a:r>
          </a:p>
        </p:txBody>
      </p:sp>
      <p:sp>
        <p:nvSpPr>
          <p:cNvPr id="8" name="">
            <a:extLst xmlns:a="http://schemas.openxmlformats.org/drawingml/2006/main">
              <a:ext uri="{FF2B5EF4-FFF2-40B4-BE49-F238E27FC236}">
                <a16:creationId xmlns:a16="http://schemas.microsoft.com/office/drawing/2014/main" id="{38D7FECD-676A-42BB-9062-BC8A51D2B2CB}"/>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validation set is small and reused. The model has no healthy or unknown category, and a high score can still be wrong.</a:t>
            </a:r>
          </a:p>
        </p:txBody>
      </p:sp>
    </p:spTree>
    <p:extLst>
      <p:ext uri="{BB962C8B-B14F-4D97-AF65-F5344CB8AC3E}">
        <p14:creationId xmlns:p14="http://schemas.microsoft.com/office/powerpoint/2010/main" val="977708567"/>
      </p:ext>
    </p:extLst>
  </p:cSld>
</p:sld>
</file>

<file path=ppt/slides/slide2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5B8288-8CEF-4901-9A0B-BAED25D8E1D7}"/>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I learned from the project</a:t>
            </a:r>
          </a:p>
        </p:txBody>
      </p:sp>
      <p:sp>
        <p:nvSpPr>
          <p:cNvPr id="2" name="">
            <a:extLst xmlns:a="http://schemas.openxmlformats.org/drawingml/2006/main">
              <a:ext uri="{FF2B5EF4-FFF2-40B4-BE49-F238E27FC236}">
                <a16:creationId xmlns:a16="http://schemas.microsoft.com/office/drawing/2014/main" id="{442829AA-B9B2-48D0-97D7-7F6F045F931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25</a:t>
            </a:r>
          </a:p>
        </p:txBody>
      </p:sp>
      <p:sp>
        <p:nvSpPr>
          <p:cNvPr id="3" name="">
            <a:extLst xmlns:a="http://schemas.openxmlformats.org/drawingml/2006/main">
              <a:ext uri="{FF2B5EF4-FFF2-40B4-BE49-F238E27FC236}">
                <a16:creationId xmlns:a16="http://schemas.microsoft.com/office/drawing/2014/main" id="{1083A4A7-4C08-46C4-A25F-0C89DA3EDF8D}"/>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Data first</a:t>
            </a:r>
          </a:p>
        </p:txBody>
      </p:sp>
      <p:sp>
        <p:nvSpPr>
          <p:cNvPr id="4" name="">
            <a:extLst xmlns:a="http://schemas.openxmlformats.org/drawingml/2006/main">
              <a:ext uri="{FF2B5EF4-FFF2-40B4-BE49-F238E27FC236}">
                <a16:creationId xmlns:a16="http://schemas.microsoft.com/office/drawing/2014/main" id="{A761BE89-5284-4FCA-86FB-B42775FBB45D}"/>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score is useful only when the labels and the separation of photos make sense.</a:t>
            </a:r>
          </a:p>
        </p:txBody>
      </p:sp>
      <p:sp>
        <p:nvSpPr>
          <p:cNvPr id="5" name="">
            <a:extLst xmlns:a="http://schemas.openxmlformats.org/drawingml/2006/main">
              <a:ext uri="{FF2B5EF4-FFF2-40B4-BE49-F238E27FC236}">
                <a16:creationId xmlns:a16="http://schemas.microsoft.com/office/drawing/2014/main" id="{B91E0080-50FE-4E87-8730-6058066A5DE8}"/>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Useful changes</a:t>
            </a:r>
          </a:p>
        </p:txBody>
      </p:sp>
      <p:sp>
        <p:nvSpPr>
          <p:cNvPr id="6" name="">
            <a:extLst xmlns:a="http://schemas.openxmlformats.org/drawingml/2006/main">
              <a:ext uri="{FF2B5EF4-FFF2-40B4-BE49-F238E27FC236}">
                <a16:creationId xmlns:a16="http://schemas.microsoft.com/office/drawing/2014/main" id="{521D3788-21E4-4DD8-A0E5-0A3D480F296F}"/>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An extra model helps only if its predictions improve the combination.</a:t>
            </a:r>
          </a:p>
        </p:txBody>
      </p:sp>
      <p:sp>
        <p:nvSpPr>
          <p:cNvPr id="7" name="">
            <a:extLst xmlns:a="http://schemas.openxmlformats.org/drawingml/2006/main">
              <a:ext uri="{FF2B5EF4-FFF2-40B4-BE49-F238E27FC236}">
                <a16:creationId xmlns:a16="http://schemas.microsoft.com/office/drawing/2014/main" id="{B039372A-F211-4174-9B2F-B795CDAA6332}"/>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58D45260-6E84-49DF-AF11-2A1EADFA5422}"/>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Collect a new independent photo set and review healthy and unknown examples before expanding the demo.</a:t>
            </a:r>
          </a:p>
        </p:txBody>
      </p:sp>
    </p:spTree>
    <p:extLst>
      <p:ext uri="{BB962C8B-B14F-4D97-AF65-F5344CB8AC3E}">
        <p14:creationId xmlns:p14="http://schemas.microsoft.com/office/powerpoint/2010/main" val="2019960518"/>
      </p:ext>
    </p:extLst>
  </p:cSld>
</p:sld>
</file>

<file path=ppt/slides/slide2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E40180-3EDA-4638-8C1E-914D8F1A3123}"/>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Earlier experiments from the project history</a:t>
            </a:r>
          </a:p>
        </p:txBody>
      </p:sp>
      <p:sp>
        <p:nvSpPr>
          <p:cNvPr id="2" name="">
            <a:extLst xmlns:a="http://schemas.openxmlformats.org/drawingml/2006/main">
              <a:ext uri="{FF2B5EF4-FFF2-40B4-BE49-F238E27FC236}">
                <a16:creationId xmlns:a16="http://schemas.microsoft.com/office/drawing/2014/main" id="{729DC943-8863-4A96-B05E-F65C27D7110C}"/>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Optional  26</a:t>
            </a:r>
          </a:p>
        </p:txBody>
      </p:sp>
      <p:graphicFrame>
        <p:nvGraphicFramePr>
          <p:cNvPr id="3" name="">
            <a:extLst xmlns:a="http://schemas.openxmlformats.org/drawingml/2006/main">
              <a:ext uri="{FF2B5EF4-FFF2-40B4-BE49-F238E27FC236}">
                <a16:creationId xmlns:a16="http://schemas.microsoft.com/office/drawing/2014/main" id="{1361394F-EF11-4B43-B252-C6302C02DFFE}"/>
              </a:ext>
            </a:extLst>
          </p:cNvPr>
          <p:cNvGraphicFramePr/>
          <p:nvPr/>
        </p:nvGraphicFramePr>
        <p:xfrm>
          <a:off xmlns:a="http://schemas.openxmlformats.org/drawingml/2006/main" x="666750" y="1676400"/>
          <a:ext xmlns:a="http://schemas.openxmlformats.org/drawingml/2006/main" cx="10858500" cy="3429000"/>
        </p:xfrm>
        <a:graphic xmlns:a="http://schemas.openxmlformats.org/drawingml/2006/main">
          <a:graphicData uri="http://schemas.openxmlformats.org/drawingml/2006/table">
            <a:tbl>
              <a:tblPr/>
              <a:tblGrid>
                <a:gridCol w="3810000"/>
                <a:gridCol w="3524250"/>
                <a:gridCol w="3524250"/>
              </a:tblGrid>
              <a:tr h="857250">
                <a:tc>
                  <a:txBody>
                    <a:bodyPr lIns="95250" tIns="95250" rIns="95250" bIns="95250"/>
                    <a:lstStyle/>
                    <a:p>
                      <a:r>
                        <a:rPr sz="1800" b="1">
                          <a:solidFill>
                            <a:srgbClr val="FFFFFF"/>
                          </a:solidFill>
                          <a:latin typeface="Arial"/>
                          <a:ea typeface="Arial"/>
                          <a:cs typeface="Arial"/>
                        </a:rPr>
                        <a:t>Historical model</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Individual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Combined result</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857250">
                <a:tc>
                  <a:txBody>
                    <a:bodyPr lIns="95250" tIns="95250" rIns="95250" bIns="95250"/>
                    <a:lstStyle/>
                    <a:p>
                      <a:r>
                        <a:rPr sz="1800" b="0">
                          <a:solidFill>
                            <a:srgbClr val="24352C"/>
                          </a:solidFill>
                          <a:latin typeface="Arial"/>
                          <a:ea typeface="Arial"/>
                          <a:cs typeface="Arial"/>
                        </a:rPr>
                        <a:t>Three original Small runs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about 92.00%, 92.38%, 91.09% with one view</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Three-model recipe: 94.72%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857250">
                <a:tc>
                  <a:txBody>
                    <a:bodyPr lIns="95250" tIns="95250" rIns="95250" bIns="95250"/>
                    <a:lstStyle/>
                    <a:p>
                      <a:r>
                        <a:rPr sz="1800" b="0">
                          <a:solidFill>
                            <a:srgbClr val="24352C"/>
                          </a:solidFill>
                          <a:latin typeface="Arial"/>
                          <a:ea typeface="Arial"/>
                          <a:cs typeface="Arial"/>
                        </a:rPr>
                        <a:t>Historical 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about 93.55%</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With Small models: about 94.82%</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857250">
                <a:tc>
                  <a:txBody>
                    <a:bodyPr lIns="95250" tIns="95250" rIns="95250" bIns="95250"/>
                    <a:lstStyle/>
                    <a:p>
                      <a:r>
                        <a:rPr sz="1800" b="0">
                          <a:solidFill>
                            <a:srgbClr val="24352C"/>
                          </a:solidFill>
                          <a:latin typeface="Arial"/>
                          <a:ea typeface="Arial"/>
                          <a:cs typeface="Arial"/>
                        </a:rPr>
                        <a:t>Later Base rebuild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about 93.12%</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With Small models: about 94.54%</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0FF6E56-E137-419E-A8DB-E5CC0DE22EEB}"/>
              </a:ext>
            </a:extLst>
          </p:cNvPr>
          <p:cNvSpPr>
            <a:spLocks xmlns:a="http://schemas.openxmlformats.org/drawingml/2006/main" noGrp="1"/>
          </p:cNvSpPr>
          <p:nvPr/>
        </p:nvSpPr>
        <p:spPr>
          <a:xfrm xmlns:a="http://schemas.openxmlformats.org/drawingml/2006/main">
            <a:off x="723900" y="5467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9665D"/>
                </a:solidFill>
                <a:latin typeface="Arial"/>
                <a:ea typeface="Arial"/>
                <a:cs typeface="Arial"/>
              </a:defRPr>
            </a:defPPr>
            <a:lvl1pPr>
              <a:defRPr sz="2025" b="0">
                <a:solidFill>
                  <a:srgbClr val="59665D"/>
                </a:solidFill>
                <a:latin typeface="Arial"/>
                <a:ea typeface="Arial"/>
                <a:cs typeface="Arial"/>
              </a:defRPr>
            </a:lvl1pPr>
            <a:lvl2pPr>
              <a:defRPr sz="2025" b="0">
                <a:solidFill>
                  <a:srgbClr val="59665D"/>
                </a:solidFill>
                <a:latin typeface="Arial"/>
                <a:ea typeface="Arial"/>
                <a:cs typeface="Arial"/>
              </a:defRPr>
            </a:lvl2pPr>
            <a:lvl3pPr>
              <a:defRPr sz="2025" b="0">
                <a:solidFill>
                  <a:srgbClr val="59665D"/>
                </a:solidFill>
                <a:latin typeface="Arial"/>
                <a:ea typeface="Arial"/>
                <a:cs typeface="Arial"/>
              </a:defRPr>
            </a:lvl3pPr>
            <a:lvl4pPr>
              <a:defRPr sz="2025" b="0">
                <a:solidFill>
                  <a:srgbClr val="59665D"/>
                </a:solidFill>
                <a:latin typeface="Arial"/>
                <a:ea typeface="Arial"/>
                <a:cs typeface="Arial"/>
              </a:defRPr>
            </a:lvl4pPr>
            <a:lvl5pPr>
              <a:defRPr sz="2025" b="0">
                <a:solidFill>
                  <a:srgbClr val="59665D"/>
                </a:solidFill>
                <a:latin typeface="Arial"/>
                <a:ea typeface="Arial"/>
                <a:cs typeface="Arial"/>
              </a:defRPr>
            </a:lvl5pPr>
            <a:lvl6pPr>
              <a:defRPr sz="2025" b="0">
                <a:solidFill>
                  <a:srgbClr val="59665D"/>
                </a:solidFill>
                <a:latin typeface="Arial"/>
                <a:ea typeface="Arial"/>
                <a:cs typeface="Arial"/>
              </a:defRPr>
            </a:lvl6pPr>
            <a:lvl7pPr>
              <a:defRPr sz="2025" b="0">
                <a:solidFill>
                  <a:srgbClr val="59665D"/>
                </a:solidFill>
                <a:latin typeface="Arial"/>
                <a:ea typeface="Arial"/>
                <a:cs typeface="Arial"/>
              </a:defRPr>
            </a:lvl7pPr>
            <a:lvl8pPr>
              <a:defRPr sz="2025" b="0">
                <a:solidFill>
                  <a:srgbClr val="59665D"/>
                </a:solidFill>
                <a:latin typeface="Arial"/>
                <a:ea typeface="Arial"/>
                <a:cs typeface="Arial"/>
              </a:defRPr>
            </a:lvl8pPr>
            <a:lvl9pPr>
              <a:defRPr sz="2025" b="0">
                <a:solidFill>
                  <a:srgbClr val="59665D"/>
                </a:solidFill>
                <a:latin typeface="Arial"/>
                <a:ea typeface="Arial"/>
                <a:cs typeface="Arial"/>
              </a:defRPr>
            </a:lvl9pPr>
          </a:lstStyle>
          <a:p xmlns:a="http://schemas.openxmlformats.org/drawingml/2006/main">
            <a:pPr>
              <a:defRPr sz="2025" b="0">
                <a:solidFill>
                  <a:srgbClr val="59665D"/>
                </a:solidFill>
                <a:latin typeface="Arial"/>
                <a:ea typeface="Arial"/>
                <a:cs typeface="Arial"/>
              </a:defRPr>
            </a:pPr>
            <a:r>
              <a:rPr sz="2025" b="0">
                <a:solidFill>
                  <a:srgbClr val="59665D"/>
                </a:solidFill>
                <a:latin typeface="Arial"/>
                <a:ea typeface="Arial"/>
                <a:cs typeface="Arial"/>
              </a:rPr>
              <a:t>A checkpoint is a saved model file. The exact stronger historical Base file was lost, so its score was not reproduced.</a:t>
            </a:r>
          </a:p>
        </p:txBody>
      </p:sp>
    </p:spTree>
    <p:extLst>
      <p:ext uri="{BB962C8B-B14F-4D97-AF65-F5344CB8AC3E}">
        <p14:creationId xmlns:p14="http://schemas.microsoft.com/office/powerpoint/2010/main" val="2111438462"/>
      </p:ext>
    </p:extLst>
  </p:cSld>
</p:sld>
</file>

<file path=ppt/slides/slide2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50F0BF-99C9-4DF7-BDC1-70EC39FD341A}"/>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small test of ensemble voting weights</a:t>
            </a:r>
          </a:p>
        </p:txBody>
      </p:sp>
      <p:sp>
        <p:nvSpPr>
          <p:cNvPr id="2" name="">
            <a:extLst xmlns:a="http://schemas.openxmlformats.org/drawingml/2006/main">
              <a:ext uri="{FF2B5EF4-FFF2-40B4-BE49-F238E27FC236}">
                <a16:creationId xmlns:a16="http://schemas.microsoft.com/office/drawing/2014/main" id="{C65F2ED7-E4D0-404F-BF47-63393BA7305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Optional  27</a:t>
            </a:r>
          </a:p>
        </p:txBody>
      </p:sp>
      <p:sp>
        <p:nvSpPr>
          <p:cNvPr id="3" name="">
            <a:extLst xmlns:a="http://schemas.openxmlformats.org/drawingml/2006/main">
              <a:ext uri="{FF2B5EF4-FFF2-40B4-BE49-F238E27FC236}">
                <a16:creationId xmlns:a16="http://schemas.microsoft.com/office/drawing/2014/main" id="{FC53855C-FAB8-4D87-9EFB-0C3952042DA3}"/>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Voting weights</a:t>
            </a:r>
          </a:p>
        </p:txBody>
      </p:sp>
      <p:sp>
        <p:nvSpPr>
          <p:cNvPr id="4" name="">
            <a:extLst xmlns:a="http://schemas.openxmlformats.org/drawingml/2006/main">
              <a:ext uri="{FF2B5EF4-FFF2-40B4-BE49-F238E27FC236}">
                <a16:creationId xmlns:a16="http://schemas.microsoft.com/office/drawing/2014/main" id="{C042C84B-5F35-4E69-9962-39A0A65E4F1E}"/>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Decide how much each trained model contributes to the averaged prediction.</a:t>
            </a:r>
          </a:p>
        </p:txBody>
      </p:sp>
      <p:sp>
        <p:nvSpPr>
          <p:cNvPr id="5" name="">
            <a:extLst xmlns:a="http://schemas.openxmlformats.org/drawingml/2006/main">
              <a:ext uri="{FF2B5EF4-FFF2-40B4-BE49-F238E27FC236}">
                <a16:creationId xmlns:a16="http://schemas.microsoft.com/office/drawing/2014/main" id="{0E99896E-8380-4D47-AB6B-4DFFC160F875}"/>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Safer check</a:t>
            </a:r>
          </a:p>
        </p:txBody>
      </p:sp>
      <p:sp>
        <p:nvSpPr>
          <p:cNvPr id="6" name="">
            <a:extLst xmlns:a="http://schemas.openxmlformats.org/drawingml/2006/main">
              <a:ext uri="{FF2B5EF4-FFF2-40B4-BE49-F238E27FC236}">
                <a16:creationId xmlns:a16="http://schemas.microsoft.com/office/drawing/2014/main" id="{DB7DF2A2-F046-44E8-A909-D9A5A337B5BA}"/>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Choose weights using part of validation, then check them on another part. Repeat across five parts.</a:t>
            </a:r>
          </a:p>
        </p:txBody>
      </p:sp>
      <p:sp>
        <p:nvSpPr>
          <p:cNvPr id="7" name="">
            <a:extLst xmlns:a="http://schemas.openxmlformats.org/drawingml/2006/main">
              <a:ext uri="{FF2B5EF4-FFF2-40B4-BE49-F238E27FC236}">
                <a16:creationId xmlns:a16="http://schemas.microsoft.com/office/drawing/2014/main" id="{73CDAD3C-C8E2-44BA-AE5F-49EEE156C034}"/>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9536E99F-F9D5-48E1-B050-3E32F626AE33}"/>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The pooled check scored 94.51% mAP, below 94.72% with equal weights. I kept equal weights.</a:t>
            </a:r>
          </a:p>
        </p:txBody>
      </p:sp>
    </p:spTree>
    <p:extLst>
      <p:ext uri="{BB962C8B-B14F-4D97-AF65-F5344CB8AC3E}">
        <p14:creationId xmlns:p14="http://schemas.microsoft.com/office/powerpoint/2010/main" val="684649306"/>
      </p:ext>
    </p:extLst>
  </p:cSld>
</p:sld>
</file>

<file path=ppt/slides/slide2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EBD0B-ED77-423F-8F03-18759BEBB371}"/>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Averaging parameters is different from averaging predictions</a:t>
            </a:r>
          </a:p>
        </p:txBody>
      </p:sp>
      <p:sp>
        <p:nvSpPr>
          <p:cNvPr id="2" name="">
            <a:extLst xmlns:a="http://schemas.openxmlformats.org/drawingml/2006/main">
              <a:ext uri="{FF2B5EF4-FFF2-40B4-BE49-F238E27FC236}">
                <a16:creationId xmlns:a16="http://schemas.microsoft.com/office/drawing/2014/main" id="{24DBBFC2-8446-483C-800A-80ED178A61F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Optional  28</a:t>
            </a:r>
          </a:p>
        </p:txBody>
      </p:sp>
      <p:sp>
        <p:nvSpPr>
          <p:cNvPr id="3" name="">
            <a:extLst xmlns:a="http://schemas.openxmlformats.org/drawingml/2006/main">
              <a:ext uri="{FF2B5EF4-FFF2-40B4-BE49-F238E27FC236}">
                <a16:creationId xmlns:a16="http://schemas.microsoft.com/office/drawing/2014/main" id="{5BF7087B-9368-45DB-A951-8CA1EF1303FB}"/>
              </a:ext>
            </a:extLst>
          </p:cNvPr>
          <p:cNvSpPr>
            <a:spLocks xmlns:a="http://schemas.openxmlformats.org/drawingml/2006/main" noGrp="1"/>
          </p:cNvSpPr>
          <p:nvPr/>
        </p:nvSpPr>
        <p:spPr>
          <a:xfrm xmlns:a="http://schemas.openxmlformats.org/drawingml/2006/main">
            <a:off x="685800" y="165735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EMA</a:t>
            </a:r>
          </a:p>
        </p:txBody>
      </p:sp>
      <p:sp>
        <p:nvSpPr>
          <p:cNvPr id="4" name="">
            <a:extLst xmlns:a="http://schemas.openxmlformats.org/drawingml/2006/main">
              <a:ext uri="{FF2B5EF4-FFF2-40B4-BE49-F238E27FC236}">
                <a16:creationId xmlns:a16="http://schemas.microsoft.com/office/drawing/2014/main" id="{1393681A-F1B6-465F-AC21-AB1F36881ACF}"/>
              </a:ext>
            </a:extLst>
          </p:cNvPr>
          <p:cNvSpPr>
            <a:spLocks xmlns:a="http://schemas.openxmlformats.org/drawingml/2006/main" noGrp="1"/>
          </p:cNvSpPr>
          <p:nvPr/>
        </p:nvSpPr>
        <p:spPr>
          <a:xfrm xmlns:a="http://schemas.openxmlformats.org/drawingml/2006/main">
            <a:off x="2495550" y="165735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Exponential moving average keeps a running average of a model’s learned parameters during training.</a:t>
            </a:r>
          </a:p>
        </p:txBody>
      </p:sp>
      <p:sp>
        <p:nvSpPr>
          <p:cNvPr id="5" name="">
            <a:extLst xmlns:a="http://schemas.openxmlformats.org/drawingml/2006/main">
              <a:ext uri="{FF2B5EF4-FFF2-40B4-BE49-F238E27FC236}">
                <a16:creationId xmlns:a16="http://schemas.microsoft.com/office/drawing/2014/main" id="{555D782F-93A1-464C-99F4-1AFBAFB58ABC}"/>
              </a:ext>
            </a:extLst>
          </p:cNvPr>
          <p:cNvSpPr>
            <a:spLocks xmlns:a="http://schemas.openxmlformats.org/drawingml/2006/main" noGrp="1"/>
          </p:cNvSpPr>
          <p:nvPr/>
        </p:nvSpPr>
        <p:spPr>
          <a:xfrm xmlns:a="http://schemas.openxmlformats.org/drawingml/2006/main">
            <a:off x="685800" y="3095625"/>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Hypothesis</a:t>
            </a:r>
          </a:p>
        </p:txBody>
      </p:sp>
      <p:sp>
        <p:nvSpPr>
          <p:cNvPr id="6" name="">
            <a:extLst xmlns:a="http://schemas.openxmlformats.org/drawingml/2006/main">
              <a:ext uri="{FF2B5EF4-FFF2-40B4-BE49-F238E27FC236}">
                <a16:creationId xmlns:a16="http://schemas.microsoft.com/office/drawing/2014/main" id="{EB18743A-AC3B-401E-89A2-60F5F5BF98A8}"/>
              </a:ext>
            </a:extLst>
          </p:cNvPr>
          <p:cNvSpPr>
            <a:spLocks xmlns:a="http://schemas.openxmlformats.org/drawingml/2006/main" noGrp="1"/>
          </p:cNvSpPr>
          <p:nvPr/>
        </p:nvSpPr>
        <p:spPr>
          <a:xfrm xmlns:a="http://schemas.openxmlformats.org/drawingml/2006/main">
            <a:off x="2495550" y="3095625"/>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Smoothing those parameters might reduce the effect of noisy training adjustments.</a:t>
            </a:r>
          </a:p>
        </p:txBody>
      </p:sp>
      <p:sp>
        <p:nvSpPr>
          <p:cNvPr id="7" name="">
            <a:extLst xmlns:a="http://schemas.openxmlformats.org/drawingml/2006/main">
              <a:ext uri="{FF2B5EF4-FFF2-40B4-BE49-F238E27FC236}">
                <a16:creationId xmlns:a16="http://schemas.microsoft.com/office/drawing/2014/main" id="{84588016-E315-4942-A2F4-4D154F6BD669}"/>
              </a:ext>
            </a:extLst>
          </p:cNvPr>
          <p:cNvSpPr>
            <a:spLocks xmlns:a="http://schemas.openxmlformats.org/drawingml/2006/main" noGrp="1"/>
          </p:cNvSpPr>
          <p:nvPr/>
        </p:nvSpPr>
        <p:spPr>
          <a:xfrm xmlns:a="http://schemas.openxmlformats.org/drawingml/2006/main">
            <a:off x="685800" y="4533900"/>
            <a:ext cx="1685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Outcome</a:t>
            </a:r>
          </a:p>
        </p:txBody>
      </p:sp>
      <p:sp>
        <p:nvSpPr>
          <p:cNvPr id="8" name="">
            <a:extLst xmlns:a="http://schemas.openxmlformats.org/drawingml/2006/main">
              <a:ext uri="{FF2B5EF4-FFF2-40B4-BE49-F238E27FC236}">
                <a16:creationId xmlns:a16="http://schemas.microsoft.com/office/drawing/2014/main" id="{84614944-241A-4355-BEB6-4DC1CB2484D3}"/>
              </a:ext>
            </a:extLst>
          </p:cNvPr>
          <p:cNvSpPr>
            <a:spLocks xmlns:a="http://schemas.openxmlformats.org/drawingml/2006/main" noGrp="1"/>
          </p:cNvSpPr>
          <p:nvPr/>
        </p:nvSpPr>
        <p:spPr>
          <a:xfrm xmlns:a="http://schemas.openxmlformats.org/drawingml/2006/main">
            <a:off x="2495550" y="4533900"/>
            <a:ext cx="8991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In the matched check, the averaged version scored 94.05% mAP versus 94.66% for the ordinary saved model.</a:t>
            </a:r>
          </a:p>
        </p:txBody>
      </p:sp>
    </p:spTree>
    <p:extLst>
      <p:ext uri="{BB962C8B-B14F-4D97-AF65-F5344CB8AC3E}">
        <p14:creationId xmlns:p14="http://schemas.microsoft.com/office/powerpoint/2010/main" val="1686209890"/>
      </p:ext>
    </p:extLst>
  </p:cSld>
</p:sld>
</file>

<file path=ppt/slides/slide2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DA9CE8-9453-423B-AFD4-751ED062770B}"/>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new training comparisons in one place</a:t>
            </a:r>
          </a:p>
        </p:txBody>
      </p:sp>
      <p:sp>
        <p:nvSpPr>
          <p:cNvPr id="2" name="">
            <a:extLst xmlns:a="http://schemas.openxmlformats.org/drawingml/2006/main">
              <a:ext uri="{FF2B5EF4-FFF2-40B4-BE49-F238E27FC236}">
                <a16:creationId xmlns:a16="http://schemas.microsoft.com/office/drawing/2014/main" id="{A718623C-9D67-4948-AF5B-C07DB6D4D9A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Optional  29</a:t>
            </a:r>
          </a:p>
        </p:txBody>
      </p:sp>
      <p:graphicFrame>
        <p:nvGraphicFramePr>
          <p:cNvPr id="3" name="">
            <a:extLst xmlns:a="http://schemas.openxmlformats.org/drawingml/2006/main">
              <a:ext uri="{FF2B5EF4-FFF2-40B4-BE49-F238E27FC236}">
                <a16:creationId xmlns:a16="http://schemas.microsoft.com/office/drawing/2014/main" id="{961F7056-D2FA-4DAF-A54E-7B4823DE69A6}"/>
              </a:ext>
            </a:extLst>
          </p:cNvPr>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a:tblGrid>
                <a:gridCol w="4333875"/>
                <a:gridCol w="1952625"/>
                <a:gridCol w="2190750"/>
                <a:gridCol w="2381250"/>
              </a:tblGrid>
              <a:tr h="579438">
                <a:tc>
                  <a:txBody>
                    <a:bodyPr lIns="95250" tIns="95250" rIns="95250" bIns="95250"/>
                    <a:lstStyle/>
                    <a:p>
                      <a:r>
                        <a:rPr sz="1800" b="1">
                          <a:solidFill>
                            <a:srgbClr val="FFFFFF"/>
                          </a:solidFill>
                          <a:latin typeface="Arial"/>
                          <a:ea typeface="Arial"/>
                          <a:cs typeface="Arial"/>
                        </a:rPr>
                        <a:t>New training approach</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Validation photos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One view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Multiple views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79438">
                <a:tc>
                  <a:txBody>
                    <a:bodyPr lIns="95250" tIns="95250" rIns="95250" bIns="95250"/>
                    <a:lstStyle/>
                    <a:p>
                      <a:r>
                        <a:rPr sz="1800" b="0">
                          <a:solidFill>
                            <a:srgbClr val="24352C"/>
                          </a:solidFill>
                          <a:latin typeface="Arial"/>
                          <a:ea typeface="Arial"/>
                          <a:cs typeface="Arial"/>
                        </a:rPr>
                        <a:t>Natural sampling + weighted loss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92.37%</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92.72%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79438">
                <a:tc>
                  <a:txBody>
                    <a:bodyPr lIns="95250" tIns="95250" rIns="95250" bIns="95250"/>
                    <a:lstStyle/>
                    <a:p>
                      <a:r>
                        <a:rPr sz="1800" b="0">
                          <a:solidFill>
                            <a:srgbClr val="24352C"/>
                          </a:solidFill>
                          <a:latin typeface="Arial"/>
                          <a:ea typeface="Arial"/>
                          <a:cs typeface="Arial"/>
                        </a:rPr>
                        <a:t>New Base at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93.86%</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94.22%</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79438">
                <a:tc>
                  <a:txBody>
                    <a:bodyPr lIns="95250" tIns="95250" rIns="95250" bIns="95250"/>
                    <a:lstStyle/>
                    <a:p>
                      <a:r>
                        <a:rPr sz="1800" b="0">
                          <a:solidFill>
                            <a:srgbClr val="24352C"/>
                          </a:solidFill>
                          <a:latin typeface="Arial"/>
                          <a:ea typeface="Arial"/>
                          <a:cs typeface="Arial"/>
                        </a:rPr>
                        <a:t>Gentler Base adjustments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94.47%</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94.66%</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79438">
                <a:tc>
                  <a:txBody>
                    <a:bodyPr lIns="95250" tIns="95250" rIns="95250" bIns="95250"/>
                    <a:lstStyle/>
                    <a:p>
                      <a:r>
                        <a:rPr sz="1800" b="0">
                          <a:solidFill>
                            <a:srgbClr val="24352C"/>
                          </a:solidFill>
                          <a:latin typeface="Arial"/>
                          <a:ea typeface="Arial"/>
                          <a:cs typeface="Arial"/>
                        </a:rPr>
                        <a:t>Clean control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94.81%</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94.97%</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79438">
                <a:tc>
                  <a:txBody>
                    <a:bodyPr lIns="95250" tIns="95250" rIns="95250" bIns="95250"/>
                    <a:lstStyle/>
                    <a:p>
                      <a:r>
                        <a:rPr sz="1800" b="0">
                          <a:solidFill>
                            <a:srgbClr val="24352C"/>
                          </a:solidFill>
                          <a:latin typeface="Arial"/>
                          <a:ea typeface="Arial"/>
                          <a:cs typeface="Arial"/>
                        </a:rPr>
                        <a:t>MixUp/CutMix candidate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96.07%</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96.05%</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88FA585-A31C-4FDA-8A78-6DC95FC2FF0B}"/>
              </a:ext>
            </a:extLst>
          </p:cNvPr>
          <p:cNvSpPr>
            <a:spLocks xmlns:a="http://schemas.openxmlformats.org/drawingml/2006/main" noGrp="1"/>
          </p:cNvSpPr>
          <p:nvPr/>
        </p:nvSpPr>
        <p:spPr>
          <a:xfrm xmlns:a="http://schemas.openxmlformats.org/drawingml/2006/main">
            <a:off x="723900" y="5543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rPr>
              <a:t>Keep the validation set and prediction recipe the same when comparing scores.</a:t>
            </a:r>
          </a:p>
        </p:txBody>
      </p:sp>
    </p:spTree>
    <p:extLst>
      <p:ext uri="{BB962C8B-B14F-4D97-AF65-F5344CB8AC3E}">
        <p14:creationId xmlns:p14="http://schemas.microsoft.com/office/powerpoint/2010/main" val="36295324"/>
      </p:ext>
    </p:extLst>
  </p:cSld>
</p:sld>
</file>

<file path=ppt/slides/slide3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BF7914-8524-47D4-9575-BD079CE7C8C6}"/>
              </a:ext>
            </a:extLst>
          </p:cNvPr>
          <p:cNvSpPr>
            <a:spLocks xmlns:a="http://schemas.openxmlformats.org/drawingml/2006/main" noGrp="1"/>
          </p:cNvSpPr>
          <p:nvPr/>
        </p:nvSpPr>
        <p:spPr>
          <a:xfrm xmlns:a="http://schemas.openxmlformats.org/drawingml/2006/main">
            <a:off x="666750" y="4572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Project evidence and method sources</a:t>
            </a:r>
          </a:p>
        </p:txBody>
      </p:sp>
      <p:sp>
        <p:nvSpPr>
          <p:cNvPr id="2" name="">
            <a:extLst xmlns:a="http://schemas.openxmlformats.org/drawingml/2006/main">
              <a:ext uri="{FF2B5EF4-FFF2-40B4-BE49-F238E27FC236}">
                <a16:creationId xmlns:a16="http://schemas.microsoft.com/office/drawing/2014/main" id="{7B9ECD8A-FD90-4005-AE04-5FEB6ED9EC6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Optional  30</a:t>
            </a:r>
          </a:p>
        </p:txBody>
      </p:sp>
      <p:sp>
        <p:nvSpPr>
          <p:cNvPr id="3" name="">
            <a:extLst xmlns:a="http://schemas.openxmlformats.org/drawingml/2006/main">
              <a:ext uri="{FF2B5EF4-FFF2-40B4-BE49-F238E27FC236}">
                <a16:creationId xmlns:a16="http://schemas.microsoft.com/office/drawing/2014/main" id="{68740F95-F153-4CE3-B23A-7C18C2285A90}"/>
              </a:ext>
            </a:extLst>
          </p:cNvPr>
          <p:cNvSpPr>
            <a:spLocks xmlns:a="http://schemas.openxmlformats.org/drawingml/2006/main" noGrp="1"/>
          </p:cNvSpPr>
          <p:nvPr/>
        </p:nvSpPr>
        <p:spPr>
          <a:xfrm xmlns:a="http://schemas.openxmlformats.org/drawingml/2006/main">
            <a:off x="723900" y="16764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3E2C"/>
                </a:solidFill>
                <a:latin typeface="Arial"/>
                <a:ea typeface="Arial"/>
                <a:cs typeface="Arial"/>
              </a:defRPr>
            </a:defPPr>
            <a:lvl1pPr>
              <a:defRPr sz="2100" b="0">
                <a:solidFill>
                  <a:srgbClr val="173E2C"/>
                </a:solidFill>
                <a:latin typeface="Arial"/>
                <a:ea typeface="Arial"/>
                <a:cs typeface="Arial"/>
              </a:defRPr>
            </a:lvl1pPr>
            <a:lvl2pPr>
              <a:defRPr sz="2100" b="0">
                <a:solidFill>
                  <a:srgbClr val="173E2C"/>
                </a:solidFill>
                <a:latin typeface="Arial"/>
                <a:ea typeface="Arial"/>
                <a:cs typeface="Arial"/>
              </a:defRPr>
            </a:lvl2pPr>
            <a:lvl3pPr>
              <a:defRPr sz="2100" b="0">
                <a:solidFill>
                  <a:srgbClr val="173E2C"/>
                </a:solidFill>
                <a:latin typeface="Arial"/>
                <a:ea typeface="Arial"/>
                <a:cs typeface="Arial"/>
              </a:defRPr>
            </a:lvl3pPr>
            <a:lvl4pPr>
              <a:defRPr sz="2100" b="0">
                <a:solidFill>
                  <a:srgbClr val="173E2C"/>
                </a:solidFill>
                <a:latin typeface="Arial"/>
                <a:ea typeface="Arial"/>
                <a:cs typeface="Arial"/>
              </a:defRPr>
            </a:lvl4pPr>
            <a:lvl5pPr>
              <a:defRPr sz="2100" b="0">
                <a:solidFill>
                  <a:srgbClr val="173E2C"/>
                </a:solidFill>
                <a:latin typeface="Arial"/>
                <a:ea typeface="Arial"/>
                <a:cs typeface="Arial"/>
              </a:defRPr>
            </a:lvl5pPr>
            <a:lvl6pPr>
              <a:defRPr sz="2100" b="0">
                <a:solidFill>
                  <a:srgbClr val="173E2C"/>
                </a:solidFill>
                <a:latin typeface="Arial"/>
                <a:ea typeface="Arial"/>
                <a:cs typeface="Arial"/>
              </a:defRPr>
            </a:lvl6pPr>
            <a:lvl7pPr>
              <a:defRPr sz="2100" b="0">
                <a:solidFill>
                  <a:srgbClr val="173E2C"/>
                </a:solidFill>
                <a:latin typeface="Arial"/>
                <a:ea typeface="Arial"/>
                <a:cs typeface="Arial"/>
              </a:defRPr>
            </a:lvl7pPr>
            <a:lvl8pPr>
              <a:defRPr sz="2100" b="0">
                <a:solidFill>
                  <a:srgbClr val="173E2C"/>
                </a:solidFill>
                <a:latin typeface="Arial"/>
                <a:ea typeface="Arial"/>
                <a:cs typeface="Arial"/>
              </a:defRPr>
            </a:lvl8pPr>
            <a:lvl9pPr>
              <a:defRPr sz="2100" b="0">
                <a:solidFill>
                  <a:srgbClr val="173E2C"/>
                </a:solidFill>
                <a:latin typeface="Arial"/>
                <a:ea typeface="Arial"/>
                <a:cs typeface="Arial"/>
              </a:defRPr>
            </a:lvl9pPr>
          </a:lstStyle>
          <a:p xmlns:a="http://schemas.openxmlformats.org/drawingml/2006/main">
            <a:pPr>
              <a:defRPr sz="2100" b="0">
                <a:solidFill>
                  <a:srgbClr val="173E2C"/>
                </a:solidFill>
                <a:latin typeface="Arial"/>
                <a:ea typeface="Arial"/>
                <a:cs typeface="Arial"/>
              </a:defRPr>
            </a:pPr>
            <a:r>
              <a:rPr sz="2100" b="0">
                <a:solidFill>
                  <a:srgbClr val="173E2C"/>
                </a:solidFill>
                <a:latin typeface="Arial"/>
                <a:ea typeface="Arial"/>
                <a:cs typeface="Arial"/>
              </a:rPr>
              <a:t>Project experiment reports and original handover</a:t>
            </a:r>
          </a:p>
        </p:txBody>
      </p:sp>
      <p:sp>
        <p:nvSpPr>
          <p:cNvPr id="4" name="">
            <a:extLst xmlns:a="http://schemas.openxmlformats.org/drawingml/2006/main">
              <a:ext uri="{FF2B5EF4-FFF2-40B4-BE49-F238E27FC236}">
                <a16:creationId xmlns:a16="http://schemas.microsoft.com/office/drawing/2014/main" id="{A5AEB2E0-51B5-4029-83A9-7CBC60F05FD7}"/>
              </a:ext>
            </a:extLst>
          </p:cNvPr>
          <p:cNvSpPr>
            <a:spLocks xmlns:a="http://schemas.openxmlformats.org/drawingml/2006/main" noGrp="1"/>
          </p:cNvSpPr>
          <p:nvPr/>
        </p:nvSpPr>
        <p:spPr>
          <a:xfrm xmlns:a="http://schemas.openxmlformats.org/drawingml/2006/main">
            <a:off x="723900" y="23907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65b662c1d6fc4d88"/>
              </a:rPr>
              <a:t>Vision Transformer and EVA-02</a:t>
            </a:r>
          </a:p>
        </p:txBody>
      </p:sp>
      <p:sp>
        <p:nvSpPr>
          <p:cNvPr id="5" name="">
            <a:extLst xmlns:a="http://schemas.openxmlformats.org/drawingml/2006/main">
              <a:ext uri="{FF2B5EF4-FFF2-40B4-BE49-F238E27FC236}">
                <a16:creationId xmlns:a16="http://schemas.microsoft.com/office/drawing/2014/main" id="{DC8AEE6E-26DC-4ED4-AE15-7982DD1E92DC}"/>
              </a:ext>
            </a:extLst>
          </p:cNvPr>
          <p:cNvSpPr>
            <a:spLocks xmlns:a="http://schemas.openxmlformats.org/drawingml/2006/main" noGrp="1"/>
          </p:cNvSpPr>
          <p:nvPr/>
        </p:nvSpPr>
        <p:spPr>
          <a:xfrm xmlns:a="http://schemas.openxmlformats.org/drawingml/2006/main">
            <a:off x="723900" y="3105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50939e4d92e84366"/>
              </a:rPr>
              <a:t>MixUp</a:t>
            </a:r>
          </a:p>
        </p:txBody>
      </p:sp>
      <p:sp>
        <p:nvSpPr>
          <p:cNvPr id="6" name="">
            <a:extLst xmlns:a="http://schemas.openxmlformats.org/drawingml/2006/main">
              <a:ext uri="{FF2B5EF4-FFF2-40B4-BE49-F238E27FC236}">
                <a16:creationId xmlns:a16="http://schemas.microsoft.com/office/drawing/2014/main" id="{E610939E-0306-4942-A67E-49E3F2176DDB}"/>
              </a:ext>
            </a:extLst>
          </p:cNvPr>
          <p:cNvSpPr>
            <a:spLocks xmlns:a="http://schemas.openxmlformats.org/drawingml/2006/main" noGrp="1"/>
          </p:cNvSpPr>
          <p:nvPr/>
        </p:nvSpPr>
        <p:spPr>
          <a:xfrm xmlns:a="http://schemas.openxmlformats.org/drawingml/2006/main">
            <a:off x="723900" y="3819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290dc04649a04ceb"/>
              </a:rPr>
              <a:t>CutMix</a:t>
            </a:r>
          </a:p>
        </p:txBody>
      </p:sp>
      <p:sp>
        <p:nvSpPr>
          <p:cNvPr id="7" name="">
            <a:extLst xmlns:a="http://schemas.openxmlformats.org/drawingml/2006/main">
              <a:ext uri="{FF2B5EF4-FFF2-40B4-BE49-F238E27FC236}">
                <a16:creationId xmlns:a16="http://schemas.microsoft.com/office/drawing/2014/main" id="{4747D3C6-7113-4103-AB85-BA551A2B71E7}"/>
              </a:ext>
            </a:extLst>
          </p:cNvPr>
          <p:cNvSpPr>
            <a:spLocks xmlns:a="http://schemas.openxmlformats.org/drawingml/2006/main" noGrp="1"/>
          </p:cNvSpPr>
          <p:nvPr/>
        </p:nvSpPr>
        <p:spPr>
          <a:xfrm xmlns:a="http://schemas.openxmlformats.org/drawingml/2006/main">
            <a:off x="723900" y="45339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32ea662fdc704cd1"/>
              </a:rPr>
              <a:t>Project repository</a:t>
            </a:r>
          </a:p>
        </p:txBody>
      </p:sp>
      <p:sp>
        <p:nvSpPr>
          <p:cNvPr id="8" name="">
            <a:extLst xmlns:a="http://schemas.openxmlformats.org/drawingml/2006/main">
              <a:ext uri="{FF2B5EF4-FFF2-40B4-BE49-F238E27FC236}">
                <a16:creationId xmlns:a16="http://schemas.microsoft.com/office/drawing/2014/main" id="{0119DA9F-273E-4205-8634-30C006B12B9B}"/>
              </a:ext>
            </a:extLst>
          </p:cNvPr>
          <p:cNvSpPr>
            <a:spLocks xmlns:a="http://schemas.openxmlformats.org/drawingml/2006/main" noGrp="1"/>
          </p:cNvSpPr>
          <p:nvPr/>
        </p:nvSpPr>
        <p:spPr>
          <a:xfrm xmlns:a="http://schemas.openxmlformats.org/drawingml/2006/main">
            <a:off x="723900" y="52482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6b470907df56446f"/>
              </a:rPr>
              <a:t>Live application</a:t>
            </a:r>
          </a:p>
        </p:txBody>
      </p:sp>
    </p:spTree>
    <p:extLst>
      <p:ext uri="{BB962C8B-B14F-4D97-AF65-F5344CB8AC3E}">
        <p14:creationId xmlns:p14="http://schemas.microsoft.com/office/powerpoint/2010/main" val="1607431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2026-10-24T15:54:28.0420000Z</dcterms:created>
  <dcterms:modified xsi:type="dcterms:W3CDTF">2026-10-24T15:54:28.0420000Z</dcterms:modified>
</coreProperties>
</file>