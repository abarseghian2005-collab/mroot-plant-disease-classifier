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834339b195a4d7a" /><Relationship Type="http://schemas.openxmlformats.org/officeDocument/2006/relationships/extended-properties" Target="/docProps/app.xml" Id="R524e083b32e7422c" /><Relationship Type="http://schemas.openxmlformats.org/officeDocument/2006/relationships/officeDocument" Target="/ppt/presentation.xml" Id="R3fd2636442924b0b" /></Relationships>
</file>

<file path=ppt/presentation.xml><?xml version="1.0" encoding="utf-8"?>
<p:presentation xmlns:p="http://schemas.openxmlformats.org/presentationml/2006/main">
  <p:sldMasterIdLst>
    <p:sldMasterId xmlns:r="http://schemas.openxmlformats.org/officeDocument/2006/relationships" id="2147483648" r:id="Rc728a2b54c22491c"/>
  </p:sldMasterIdLst>
  <p:notesMasterIdLst>
    <p:notesMasterId xmlns:r="http://schemas.openxmlformats.org/officeDocument/2006/relationships" r:id="Ra19723a0e9f44ada"/>
  </p:notesMasterIdLst>
  <p:sldIdLst>
    <p:sldId xmlns:r="http://schemas.openxmlformats.org/officeDocument/2006/relationships" id="256" r:id="R241b52eb8e934653"/>
    <p:sldId xmlns:r="http://schemas.openxmlformats.org/officeDocument/2006/relationships" id="257" r:id="Re84c3613f4a7445f"/>
    <p:sldId xmlns:r="http://schemas.openxmlformats.org/officeDocument/2006/relationships" id="258" r:id="R2e95c1b8e92d4dd2"/>
    <p:sldId xmlns:r="http://schemas.openxmlformats.org/officeDocument/2006/relationships" id="259" r:id="R7ae81541c3ae46c3"/>
    <p:sldId xmlns:r="http://schemas.openxmlformats.org/officeDocument/2006/relationships" id="260" r:id="Rdf17dc754ef24671"/>
    <p:sldId xmlns:r="http://schemas.openxmlformats.org/officeDocument/2006/relationships" id="261" r:id="R9aba02ee16b24b8f"/>
    <p:sldId xmlns:r="http://schemas.openxmlformats.org/officeDocument/2006/relationships" id="262" r:id="Rc9bc69d3a6cc4167"/>
    <p:sldId xmlns:r="http://schemas.openxmlformats.org/officeDocument/2006/relationships" id="263" r:id="R9beab2c8f0334cae"/>
    <p:sldId xmlns:r="http://schemas.openxmlformats.org/officeDocument/2006/relationships" id="264" r:id="Rb08c9660b89c4248"/>
    <p:sldId xmlns:r="http://schemas.openxmlformats.org/officeDocument/2006/relationships" id="265" r:id="R031e64b7cea74a5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ce60c76b22f48cb" /><Relationship Type="http://schemas.openxmlformats.org/officeDocument/2006/relationships/slideMaster" Target="/ppt/slideMasters/slideMaster1.xml" Id="Rc728a2b54c22491c" /><Relationship Type="http://schemas.openxmlformats.org/officeDocument/2006/relationships/notesMaster" Target="/ppt/notesMasters/notesMaster1.xml" Id="Ra19723a0e9f44ada" /><Relationship Type="http://schemas.openxmlformats.org/officeDocument/2006/relationships/presProps" Target="/ppt/presProps.xml" Id="R2af54cc11d1b48a5" /><Relationship Type="http://schemas.openxmlformats.org/officeDocument/2006/relationships/tableStyles" Target="/ppt/tableStyles.xml" Id="R3bce3cd0500242d7" /><Relationship Type="http://schemas.openxmlformats.org/officeDocument/2006/relationships/slide" Target="/ppt/slides/slide1.xml" Id="R241b52eb8e934653" /><Relationship Type="http://schemas.openxmlformats.org/officeDocument/2006/relationships/slide" Target="/ppt/slides/slide2.xml" Id="Re84c3613f4a7445f" /><Relationship Type="http://schemas.openxmlformats.org/officeDocument/2006/relationships/slide" Target="/ppt/slides/slide3.xml" Id="R2e95c1b8e92d4dd2" /><Relationship Type="http://schemas.openxmlformats.org/officeDocument/2006/relationships/slide" Target="/ppt/slides/slide4.xml" Id="R7ae81541c3ae46c3" /><Relationship Type="http://schemas.openxmlformats.org/officeDocument/2006/relationships/slide" Target="/ppt/slides/slide5.xml" Id="Rdf17dc754ef24671" /><Relationship Type="http://schemas.openxmlformats.org/officeDocument/2006/relationships/slide" Target="/ppt/slides/slide6.xml" Id="R9aba02ee16b24b8f" /><Relationship Type="http://schemas.openxmlformats.org/officeDocument/2006/relationships/slide" Target="/ppt/slides/slide7.xml" Id="Rc9bc69d3a6cc4167" /><Relationship Type="http://schemas.openxmlformats.org/officeDocument/2006/relationships/slide" Target="/ppt/slides/slide8.xml" Id="R9beab2c8f0334cae" /><Relationship Type="http://schemas.openxmlformats.org/officeDocument/2006/relationships/slide" Target="/ppt/slides/slide9.xml" Id="Rb08c9660b89c4248" /><Relationship Type="http://schemas.openxmlformats.org/officeDocument/2006/relationships/slide" Target="/ppt/slides/slide10.xml" Id="R031e64b7cea74a5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896ea22db94492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e91ba9f4bf14b40" /><Relationship Type="http://schemas.openxmlformats.org/officeDocument/2006/relationships/notesMaster" Target="/ppt/notesMasters/notesMaster1.xml" Id="R5a289f21a4904501" /></Relationships>
</file>

<file path=ppt/notesSlides/_rels/notesSlide2.xml.rels>&#65279;<?xml version="1.0" encoding="utf-8"?><Relationships xmlns="http://schemas.openxmlformats.org/package/2006/relationships"><Relationship Type="http://schemas.openxmlformats.org/officeDocument/2006/relationships/slide" Target="/ppt/slides/slide2.xml" Id="R63476abf489c45aa" /><Relationship Type="http://schemas.openxmlformats.org/officeDocument/2006/relationships/notesMaster" Target="/ppt/notesMasters/notesMaster1.xml" Id="R630ed01a4f284ae8" /></Relationships>
</file>

<file path=ppt/notesSlides/_rels/notesSlide3.xml.rels>&#65279;<?xml version="1.0" encoding="utf-8"?><Relationships xmlns="http://schemas.openxmlformats.org/package/2006/relationships"><Relationship Type="http://schemas.openxmlformats.org/officeDocument/2006/relationships/slide" Target="/ppt/slides/slide3.xml" Id="Rdd765a5ea97a49f2" /><Relationship Type="http://schemas.openxmlformats.org/officeDocument/2006/relationships/notesMaster" Target="/ppt/notesMasters/notesMaster1.xml" Id="R9cba029409584056" /></Relationships>
</file>

<file path=ppt/notesSlides/_rels/notesSlide4.xml.rels>&#65279;<?xml version="1.0" encoding="utf-8"?><Relationships xmlns="http://schemas.openxmlformats.org/package/2006/relationships"><Relationship Type="http://schemas.openxmlformats.org/officeDocument/2006/relationships/slide" Target="/ppt/slides/slide4.xml" Id="R73b3e36714ee4c1a" /><Relationship Type="http://schemas.openxmlformats.org/officeDocument/2006/relationships/notesMaster" Target="/ppt/notesMasters/notesMaster1.xml" Id="R20c29a70bbec4991" /></Relationships>
</file>

<file path=ppt/notesSlides/_rels/notesSlide5.xml.rels>&#65279;<?xml version="1.0" encoding="utf-8"?><Relationships xmlns="http://schemas.openxmlformats.org/package/2006/relationships"><Relationship Type="http://schemas.openxmlformats.org/officeDocument/2006/relationships/slide" Target="/ppt/slides/slide5.xml" Id="R9d6eeb9ca6a9428d" /><Relationship Type="http://schemas.openxmlformats.org/officeDocument/2006/relationships/notesMaster" Target="/ppt/notesMasters/notesMaster1.xml" Id="Re76de1c539c04534" /></Relationships>
</file>

<file path=ppt/notesSlides/_rels/notesSlide6.xml.rels>&#65279;<?xml version="1.0" encoding="utf-8"?><Relationships xmlns="http://schemas.openxmlformats.org/package/2006/relationships"><Relationship Type="http://schemas.openxmlformats.org/officeDocument/2006/relationships/slide" Target="/ppt/slides/slide6.xml" Id="R6ae4a8d588b142a4" /><Relationship Type="http://schemas.openxmlformats.org/officeDocument/2006/relationships/notesMaster" Target="/ppt/notesMasters/notesMaster1.xml" Id="Rdff3c4264d2441f8" /></Relationships>
</file>

<file path=ppt/notesSlides/_rels/notesSlide7.xml.rels>&#65279;<?xml version="1.0" encoding="utf-8"?><Relationships xmlns="http://schemas.openxmlformats.org/package/2006/relationships"><Relationship Type="http://schemas.openxmlformats.org/officeDocument/2006/relationships/slide" Target="/ppt/slides/slide7.xml" Id="R08b1ed4039844c31" /><Relationship Type="http://schemas.openxmlformats.org/officeDocument/2006/relationships/notesMaster" Target="/ppt/notesMasters/notesMaster1.xml" Id="Ra7d30d5f7494482c" /></Relationships>
</file>

<file path=ppt/notesSlides/_rels/notesSlide8.xml.rels>&#65279;<?xml version="1.0" encoding="utf-8"?><Relationships xmlns="http://schemas.openxmlformats.org/package/2006/relationships"><Relationship Type="http://schemas.openxmlformats.org/officeDocument/2006/relationships/slide" Target="/ppt/slides/slide8.xml" Id="R370091892a7144c8" /><Relationship Type="http://schemas.openxmlformats.org/officeDocument/2006/relationships/notesMaster" Target="/ppt/notesMasters/notesMaster1.xml" Id="Rbf84318016c146c0" /></Relationships>
</file>

<file path=ppt/notesSlides/_rels/notesSlide9.xml.rels>&#65279;<?xml version="1.0" encoding="utf-8"?><Relationships xmlns="http://schemas.openxmlformats.org/package/2006/relationships"><Relationship Type="http://schemas.openxmlformats.org/officeDocument/2006/relationships/slide" Target="/ppt/slides/slide9.xml" Id="R74aac69a485048fa" /><Relationship Type="http://schemas.openxmlformats.org/officeDocument/2006/relationships/notesMaster" Target="/ppt/notesMasters/notesMaster1.xml" Id="R831fcab66b76475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ddfc16582354228" /><Relationship Type="http://schemas.openxmlformats.org/officeDocument/2006/relationships/notesMaster" Target="/ppt/notesMasters/notesMaster1.xml" Id="Re497cc406fda469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MROOT-ը իմ ACA ավարտական նախագիծն է։ Նկարի հիման վրա համակարգը ընտրում է 39 հիվանդություններից հավանական տարբերակները և ցույց է տալիս առաջին հինգը։ Սկզբում ունեինք երեք EVA-02 Small մոդել։ Հետագա փորձերի նպատակն էր հասկանալ՝ ինչպես ստանալ ավելի լավ կանխատեսումներ, և արդյոք դրա համար պետք են ավելի շատ մոդելներ։ Վերջնական տարբերակում ընտրեցինք երկու Base մոդել և տեղադրեցինք աշխատող հավելվածում։</a:t>
            </a:r>
          </a:p>
          <a:p xmlns:a="http://schemas.openxmlformats.org/drawingml/2006/main">
            <a:r>
              <a:t/>
            </a:r>
          </a:p>
          <a:p xmlns:a="http://schemas.openxmlformats.org/drawingml/2006/main">
            <a:r>
              <a:t>Sources: Saved MROOT experiment reports, class_support.csv, validation_class_comparison.csv, FINAL_HOLDOUT_RESULT.json. Methods: https://arxiv.org/abs/2303.11331, https://arxiv.org/abs/1710.09412, https://arxiv.org/abs/1905.04899.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Սկզբում ստուգեցինք՝ նկարները բացվո՞ւմ են, պիտակներն ամբողջակա՞ն են, դասերի միջև քանի նկար կա, և արդյոք տարբեր բաժիններում նույն կամ շատ նման նկարներ կան։ Դասերը անհավասար էին ներկայացված. օրինակ՝ powdery mildew-ի 755 ուսուցման նկար կար, իսկ bacterial leaf spot-ի՝ 78։ Քիչ նկար ունենալը հնարավոր խնդիր է, բայց ինքնին չի ապացուցում, որ այդ դասի արդյունքը վատ է։ Կապակցված նկարների և մեկ պիտակի հակասության ստուգումից հետո վերջին երկու փորձերի համար օգտագործեցինք 6790 train և 388 validation նկար։ Բնօրինակ ֆայլերը չջնջեցինք, փոխեցինք օգտագործվող ցուցակները։ Ուսուցման ընթացքում կիրառեցինք պատահական crop, շրջումներ, փոքր պտույտ և գունային փոփոխություններ, նաև RandAugment և Random Erasing։ Validation-ի վրա պատահական training փոփոխություններ չկիրառեցինք։ Holdout-ը առանձին էր։</a:t>
            </a:r>
          </a:p>
          <a:p xmlns:a="http://schemas.openxmlformats.org/drawingml/2006/main">
            <a:r>
              <a:t/>
            </a:r>
          </a:p>
          <a:p xmlns:a="http://schemas.openxmlformats.org/drawingml/2006/main">
            <a:r>
              <a:t>Sources: Saved MROOT experiment reports, class_support.csv, validation_class_comparison.csv, FINAL_HOLDOUT_RESULT.json. Methods: https://arxiv.org/abs/2303.11331, https://arxiv.org/abs/1710.09412, https://arxiv.org/abs/1905.04899.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Միայն ընդհանուր միավորը նայելը բավարար չէր. ստուգեցինք նաև ամեն հիվանդության արդյունքը։ Այստեղ վերջին control և MixUp/CutMix մոդելների արդյունքներն են նույն 388 validation նկարների վրա՝ մեկ դիտումով։ Control-ի ամենացածր AP-ները bacterial leaf spot-ն ու septoria leaf spot-ն էին, հետո rust-ը և early blight-ը։ AP-ն տվյալ դասի գնահատականների դասավորման որակն է, այն ճիշտ պատասխանների տոկոսը չէ։ Mixing-ը early blight-ի արդյունքը բարձրացրեց, բայց septoria leaf spot-ին չօգնեց։ Սա ցույց է տալիս, որ ընդհանուր միավորի լավացումը չի նշանակում բոլոր հիվանդությունների լավացում։ Տեսողական նմանությունը և քիչ օրինակները հնարավոր բացատրություններ են, ոչ հաստատված պատճառներ։ Քիչ validation օրինակների պատճառով դասային թվերը զգայուն են։</a:t>
            </a:r>
          </a:p>
          <a:p xmlns:a="http://schemas.openxmlformats.org/drawingml/2006/main">
            <a:r>
              <a:t/>
            </a:r>
          </a:p>
          <a:p xmlns:a="http://schemas.openxmlformats.org/drawingml/2006/main">
            <a:r>
              <a:t>Sources: Saved MROOT experiment reports, class_support.csv, validation_class_comparison.csv, FINAL_HOLDOUT_RESULT.json. Methods: https://arxiv.org/abs/2303.11331, https://arxiv.org/abs/1710.09412, https://arxiv.org/abs/1905.04899.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Սկզբնական երեք մոդելները EVA-02 Small էին, յուրաքանչյուրի մուտքը՝ 336×336։ Նրանց կանխատեսումները միջինացնում էինք։ Small և Base անունները նկարագրում են մոդելի տարբերակը, իսկ 336 և 448 թվերը՝ մուտքի չափը։ Այս նախագծում Base-ը օգտագործեցինք 448×448 չափով։ Նախապես ուսուցված մոդելը հարմարեցրինք մեր 39 դասերին։ Վաղ շերտերի learning rate-ը փոքր էր, որ արդեն սովորած ընդհանուր պատկերային հատկանիշները կտրուկ չփոխվեն, իսկ վերջի շերտերը ավելի շատ հարմարվեն մեր խնդրին։ Նախկին փորձերում լրացուցիչ նույնատիպ Small-ը, ավելի երկար ուսուցումը և ConvNeXt-ը ընտրված ensemble-ը չլավացրին։ Դրա համար պարզապես ավելի շատ մոդել ավելացնելը նպատակ չդարձրինք։</a:t>
            </a:r>
          </a:p>
          <a:p xmlns:a="http://schemas.openxmlformats.org/drawingml/2006/main">
            <a:r>
              <a:t/>
            </a:r>
          </a:p>
          <a:p xmlns:a="http://schemas.openxmlformats.org/drawingml/2006/main">
            <a:r>
              <a:t>Sources: Saved MROOT experiment reports, class_support.csv, validation_class_comparison.csv, FINAL_HOLDOUT_RESULT.json. Methods: https://arxiv.org/abs/2303.11331, https://arxiv.org/abs/1710.09412, https://arxiv.org/abs/1905.04899.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Սկզբնական երեքից բացի ուսուցանեցինք ևս մեկ Small 336՝ փոխելով օրինակների ընտրությունն ու loss-ը. նկարները խառնում էինք սովորական հերթականությամբ, իսկ քիչ ներկայացված դասերի սխալներին loss-ում ավելի մեծ կշիռ էինք տալիս։ Ավելացնելիս ensemble-ը միայն փոքր լավացում ստացավ։ Հետո փորձեցինք ավելի մեծ Base մոդել՝ 448 մուտքով. միաժամանակ փոխվեցին մոդելի չափն ու մուտքի չափը, ուստի չենք կարող ասել, որ միայն resolution-ն օգնեց։ Հաջորդ Base փորձը սկսեցինք նույն սկզբնական կշիռներից՝ բոլոր learning rate-երը երեք անգամ փոքրացնելով։ Դա արդեն ուսուցված Base-ի շարունակություն չէր։ Այն առանձին լավացավ, բայց նախապես ընտրված ensemble-ում հինը փոխարինելիս արդյունքը վատացավ։ Ստուգեցինք նաև EMA-ն՝ ուսուցման ընթացքում կշիռների շարժվող միջինը, և կանխատեսումների մի քանի պարզ կշիռներ։ Դրանք իրենց համեմատության ելակետը չգերազանցեցին։ Այս երեք նոր մոդելներից ոչ մեկը վերջնական զույգում չկա։</a:t>
            </a:r>
          </a:p>
          <a:p xmlns:a="http://schemas.openxmlformats.org/drawingml/2006/main">
            <a:r>
              <a:t/>
            </a:r>
          </a:p>
          <a:p xmlns:a="http://schemas.openxmlformats.org/drawingml/2006/main">
            <a:r>
              <a:t>Sources: Saved MROOT experiment reports, class_support.csv, validation_class_comparison.csv, FINAL_HOLDOUT_RESULT.json. Methods: https://arxiv.org/abs/2303.11331, https://arxiv.org/abs/1710.09412, https://arxiv.org/abs/1905.04899.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Վերջում արեցինք համեմատելի երկու նոր ուսուցում։ Control-ը հղման մոդելն է՝ սովորական augmentation-ներով։ Մյուսը սկսվեց նույն սկզբնական կշիռներից, նույն տվյալներով և նույն կարգավորումներով, բայց ավելացրինք MixUp/CutMix քաղաքականությունը։ MixUp-ը երկու training նկար խառնում է իրար, և թիրախային պիտակները նույն համամասնությամբ խառնում է։ CutMix-ը մի նկարի հատվածը դնում է մյուսի մեջ, իսկ պիտակների բաժինը որոշում է հատվածի մակերեսով։ Օրինակ՝ պատկերի մոտ 30 տոկոսը մեկ այլ դասից վերցնելիս այդ դասը նույնպես մասնակցում է թիրախին։ Այդ տոկոսը ֆիքսված չէր։ Ամեն batch-ի համար mixing-ը կիրառելու հավանականությունը 50 տոկոս էր, և կիրառելիս ընտրում էր MixUp կամ CutMix։ Դրանք պարտադիր իրար հետևից չէին արվում։ Validation նկարները չէինք խառնում։ Յուրաքանչյուր epoch-ից հետո validation էինք անում և պահում տվյալ run-ի լավագույն տարբերակը։ Control-ի macro mAP-ը 94.81 էր, mixing-ի՝ 96.07։ Մեկական run արեցինք, հետևաբար սա բոլոր seed-երի համար երաշխավորված շահույթ չէ։</a:t>
            </a:r>
          </a:p>
          <a:p xmlns:a="http://schemas.openxmlformats.org/drawingml/2006/main">
            <a:r>
              <a:t/>
            </a:r>
          </a:p>
          <a:p xmlns:a="http://schemas.openxmlformats.org/drawingml/2006/main">
            <a:r>
              <a:t>Sources: Saved MROOT experiment reports, class_support.csv, validation_class_comparison.csv, FINAL_HOLDOUT_RESULT.json. Methods: https://arxiv.org/abs/2303.11331, https://arxiv.org/abs/1710.09412, https://arxiv.org/abs/1905.04899.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Ուսուցումից հետո արդեն պատրաստ մոդելների կանխատեսումները համադրեցինք։ Սա ուրիշ քայլ է. MixUp/CutMix-ը տեղի էր ունենում ուսուցման ժամանակ, իսկ ensemble-ը պատրաստ մոդելների պատասխանների միջինացումն է։ Յուրաքանչյուր մոդել նույն նկարը դիտում է սովորական ձևով, հորիզոնական շրջված և ամբողջ նկարը padding-ով տեղավորած։ Այդ երեք կանխատեսումները համադրվում են, հետո երկու մոդելների պատասխանները՝ 50/50։ Հին մոդելների հետ արդար համեմատության համար 388-ից օգտագործեցինք 368 նկար՝ բացառելով հին training պատմության մեջ կապակցված օրինակներ ունեցող 20-ը։ Այդ պատճառով նախորդ սլայդի թվերի հետ ուղիղ համեմատություն չենք անում։ Լավագույն չափված macro mAP-ը 96.48 էր control և mixing Base զույգի համար։ Վերջնական հավելվածում Small չկա։ Ավելի փոքր շահույթի վստահությունը սահմանափակ է, և առանձին mixed մոդելը որոշ կարգավորումներով ավելի բարձր Top-1 ուներ. ընտրությունը արեցինք հիմնական macro mAP-ով։</a:t>
            </a:r>
          </a:p>
          <a:p xmlns:a="http://schemas.openxmlformats.org/drawingml/2006/main">
            <a:r>
              <a:t/>
            </a:r>
          </a:p>
          <a:p xmlns:a="http://schemas.openxmlformats.org/drawingml/2006/main">
            <a:r>
              <a:t>Sources: Saved MROOT experiment reports, class_support.csv, validation_class_comparison.csv, FINAL_HOLDOUT_RESULT.json. Methods: https://arxiv.org/abs/2303.11331, https://arxiv.org/abs/1710.09412, https://arxiv.org/abs/1905.04899.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Վերջնական զույգը ֆիքսելուց հետո գնահատեցինք նույն նախապես ընտրված 623 reporting նկարների վրա։ Սկզբնական holdout-ը 670 էր, և նախկին ստուգումներով 47 կապակցված օրինակ դուրս էր մնացել այս reporting ցուցակից։ Դրանք նորից չէինք ընտրում ըստ արդյունքների։ Առաջին կանխատեսումը ճիշտ էր 557 նկարում՝ 89.41 տոկոս։ Ճիշտ հիվանդությունը առաջին հինգի մեջ կար 619 նկարում՝ 99.36 տոկոս։ Macro mAP-ը 92.99 տոկոս էր. դա accuracy չէ, դասերի ranking-ի միջին ցուցանիշն է՝ յուրաքանչյուր դասին հավասար կշռով։ Նույն 623 նկարի վրա նախկին չորս մոդելների համակարգը 549 ճիշտ առաջին պատասխան ուներ։ Այսպիսով ավելացրինք ութ ճիշտ պատասխան։ Holdout-ը արդեն նախկինում գնահատված էր, ուստի սա նոր, երբեք չտեսած անկախ test-ի արդյունք չենք ներկայացնում։ Հաջորդ կարևոր ստուգումը նոր անկախ նկարների հավաքածուով է։</a:t>
            </a:r>
          </a:p>
          <a:p xmlns:a="http://schemas.openxmlformats.org/drawingml/2006/main">
            <a:r>
              <a:t/>
            </a:r>
          </a:p>
          <a:p xmlns:a="http://schemas.openxmlformats.org/drawingml/2006/main">
            <a:r>
              <a:t>Sources: Saved MROOT experiment reports, class_support.csv, validation_class_comparison.csv, FINAL_HOLDOUT_RESULT.json. Methods: https://arxiv.org/abs/2303.11331, https://arxiv.org/abs/1710.09412, https://arxiv.org/abs/1905.04899.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Ընտրված երկու checkpoint-ները պահեցինք և տեղադրեցինք Hugging Face Spaces-ում առանձին V2 հավելվածով։ Նախկին V1-ը պահպանեցինք։ Օգտատերը նկար է բեռնում, app.py-ն կատարում է նույն preprocessing-ը և երկու մոդելով կանխատեսումը, հետո վերադարձնում հինգ տարբերակ։ Gradio-ն տալիս է պարզ վեբ ինտերֆեյսը։ GitHub-ում կան app.py-ն, դասերի mapping-ը, կախվածությունները, README-ն և այս ներկայացումը։ Մեծ checkpoint-ները GitHub-ում չենք պահում. հավելվածը ներբեռնում է ֆիքսված տարբերակը և ստուգում checksum-ը։ Ներկայացման ժամանակ կարող եմ մեկ նկարով ցույց տալ ամբողջ ընթացքը։ Մոդելի բարձր score-ը ինքնին բժշկական կամ ագրոնոմիական հաստատում չէ։</a:t>
            </a:r>
          </a:p>
          <a:p xmlns:a="http://schemas.openxmlformats.org/drawingml/2006/main">
            <a:r>
              <a:t/>
            </a:r>
          </a:p>
          <a:p xmlns:a="http://schemas.openxmlformats.org/drawingml/2006/main">
            <a:r>
              <a:t>Sources: Saved MROOT experiment reports, class_support.csv, validation_class_comparison.csv, FINAL_HOLDOUT_RESULT.json. Methods: https://arxiv.org/abs/2303.11331, https://arxiv.org/abs/1710.09412, https://arxiv.org/abs/1905.04899.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Իմ հիմնական եզրակացությունն այն է, որ առանձին ավելի ուժեղ մոդելը միշտ չէ, որ բարելավում է համադրությունը։ Պետք է նույն տվյալներով ստուգել նաև ամբողջ համակարգը։ Վերջում երեք Small-ից և հաջորդ փորձերից եկանք երկու Base մոդելի համադրության։ Աշխատող հավելված ունենք, բայց որոշ հիվանդությունների վրա սխալները մնում են, validation-ը փոքր է ու բազմիցս օգտագործված, իսկ holdout-ը նախկինում բացված էր։ Համակարգը չունի healthy կամ unknown դաս. այն կարող է հիվանդության անուն տալ նաև ոչ համապատասխան նկարին։ Հետագա քայլը նոր, ստուգված դաշտային նկարների հավաքումն է՝ ներառյալ առողջ բույսերը, և ֆիքսված մոդելի անկախ գնահատումը։</a:t>
            </a:r>
          </a:p>
          <a:p xmlns:a="http://schemas.openxmlformats.org/drawingml/2006/main">
            <a:r>
              <a:t/>
            </a:r>
          </a:p>
          <a:p xmlns:a="http://schemas.openxmlformats.org/drawingml/2006/main">
            <a:r>
              <a:t>Sources: Saved MROOT experiment reports, class_support.csv, validation_class_comparison.csv, FINAL_HOLDOUT_RESULT.json. Methods: https://arxiv.org/abs/2303.11331, https://arxiv.org/abs/1710.09412, https://arxiv.org/abs/1905.04899.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da875f603e5492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15fe93dac50416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68d1d4bdc3847d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755785605ce493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b8909da9ce74e6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8ab1316a266400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988733D-3055-41F8-88B1-1975A885F10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954A98A-A812-427C-8164-88DB3408B25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E69BBC9-39FC-4A0F-B125-69C0946E6A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23C177C-DAEA-417E-A4BF-1C4496CFD71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EA823E4-2792-4261-9CC3-C9D78491D1C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AEC7BE6-BB5D-470B-9267-6461BD9110D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EB1F930-7876-482C-91B3-D873A170274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0560A0C-3263-415E-BE59-783F417BB42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DACB02C-9581-4DDA-9318-1008408C66D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7EEE4E9-509B-4BAE-AF30-7748FD5F40A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a7c4b64e5744322" /><Relationship Type="http://schemas.openxmlformats.org/officeDocument/2006/relationships/slideLayout" Target="/ppt/slideLayouts/slideLayout1.xml" Id="Rf4504fbea77e43a5" /><Relationship Type="http://schemas.openxmlformats.org/officeDocument/2006/relationships/slideLayout" Target="/ppt/slideLayouts/slideLayout2.xml" Id="R74ead65d51464ca6" /><Relationship Type="http://schemas.openxmlformats.org/officeDocument/2006/relationships/slideLayout" Target="/ppt/slideLayouts/slideLayout3.xml" Id="Refb94e8bfe624e47" /><Relationship Type="http://schemas.openxmlformats.org/officeDocument/2006/relationships/slideLayout" Target="/ppt/slideLayouts/slideLayout4.xml" Id="R21892fe0f6b14256" /><Relationship Type="http://schemas.openxmlformats.org/officeDocument/2006/relationships/slideLayout" Target="/ppt/slideLayouts/slideLayout5.xml" Id="R1a2b444fd3e8427c" /><Relationship Type="http://schemas.openxmlformats.org/officeDocument/2006/relationships/slideLayout" Target="/ppt/slideLayouts/slideLayout6.xml" Id="R33ad05fa380348b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4504fbea77e43a5"/>
    <p:sldLayoutId xmlns:r="http://schemas.openxmlformats.org/officeDocument/2006/relationships" id="2147483650" r:id="R74ead65d51464ca6"/>
    <p:sldLayoutId xmlns:r="http://schemas.openxmlformats.org/officeDocument/2006/relationships" id="2147483651" r:id="Refb94e8bfe624e47"/>
    <p:sldLayoutId xmlns:r="http://schemas.openxmlformats.org/officeDocument/2006/relationships" id="2147483652" r:id="R21892fe0f6b14256"/>
    <p:sldLayoutId xmlns:r="http://schemas.openxmlformats.org/officeDocument/2006/relationships" id="2147483653" r:id="R1a2b444fd3e8427c"/>
    <p:sldLayoutId xmlns:r="http://schemas.openxmlformats.org/officeDocument/2006/relationships" id="2147483654" r:id="R33ad05fa380348b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0af401ce2004586" /><Relationship Type="http://schemas.openxmlformats.org/officeDocument/2006/relationships/image" Target="/ppt/media/image.jpeg" Id="R6bd2a03e64ad42ab" /><Relationship Type="http://schemas.openxmlformats.org/officeDocument/2006/relationships/notesSlide" Target="/ppt/notesSlides/notesSlide1.xml" Id="Ra6c3c4ab8d3549d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de8969bde7d41c7" /><Relationship Type="http://schemas.openxmlformats.org/officeDocument/2006/relationships/chart" Target="/ppt/slides/charts/chart1.xml" Id="R2faf91020cfa4701" /><Relationship Type="http://schemas.openxmlformats.org/officeDocument/2006/relationships/notesSlide" Target="/ppt/notesSlides/notesSlide2.xml" Id="R7220f05313e644d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3f48887674a44fd" /><Relationship Type="http://schemas.openxmlformats.org/officeDocument/2006/relationships/notesSlide" Target="/ppt/notesSlides/notesSlide3.xml" Id="Rbcd7387da9e64a1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7dd58398af04eb5" /><Relationship Type="http://schemas.openxmlformats.org/officeDocument/2006/relationships/notesSlide" Target="/ppt/notesSlides/notesSlide4.xml" Id="R84f576663673489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7b496e250694358" /><Relationship Type="http://schemas.openxmlformats.org/officeDocument/2006/relationships/notesSlide" Target="/ppt/notesSlides/notesSlide5.xml" Id="Re675c4c2b29f496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a21b74a0b5046bc" /><Relationship Type="http://schemas.openxmlformats.org/officeDocument/2006/relationships/notesSlide" Target="/ppt/notesSlides/notesSlide6.xml" Id="R18ff8aa3a28245a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61ef44ff8434161" /><Relationship Type="http://schemas.openxmlformats.org/officeDocument/2006/relationships/notesSlide" Target="/ppt/notesSlides/notesSlide7.xml" Id="R15ff5058402248b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b61ef2c925e4d24" /><Relationship Type="http://schemas.openxmlformats.org/officeDocument/2006/relationships/notesSlide" Target="/ppt/notesSlides/notesSlide8.xml" Id="Rf472fbfa4932406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6ce59bd02e34c37" /><Relationship Type="http://schemas.openxmlformats.org/officeDocument/2006/relationships/image" Target="/ppt/media/image2.jpeg" Id="R9142db861ada42cb" /><Relationship Type="http://schemas.openxmlformats.org/officeDocument/2006/relationships/hyperlink" Target="https://huggingface.co/spaces/Armennnn/mroot-plant-disease-classifier-v2" TargetMode="External" Id="R4ef89b26497b4664" /><Relationship Type="http://schemas.openxmlformats.org/officeDocument/2006/relationships/hyperlink" Target="https://github.com/abarseghian2005-collab/mroot-plant-disease-classifier" TargetMode="External" Id="Rf2c20e78d1434505" /><Relationship Type="http://schemas.openxmlformats.org/officeDocument/2006/relationships/notesSlide" Target="/ppt/notesSlides/notesSlide9.xml" Id="Rb311db6d84664e5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3cb692a4d944e85" /><Relationship Type="http://schemas.openxmlformats.org/officeDocument/2006/relationships/hyperlink" Target="https://arxiv.org/abs/2303.11331" TargetMode="External" Id="R9e0efb8f7d1a4960" /><Relationship Type="http://schemas.openxmlformats.org/officeDocument/2006/relationships/hyperlink" Target="https://arxiv.org/abs/1710.09412" TargetMode="External" Id="R7e03783b07c34320" /><Relationship Type="http://schemas.openxmlformats.org/officeDocument/2006/relationships/hyperlink" Target="https://arxiv.org/abs/1905.04899" TargetMode="External" Id="R5ebfd5b95bf541e3" /><Relationship Type="http://schemas.openxmlformats.org/officeDocument/2006/relationships/hyperlink" Target="https://github.com/abarseghian2005-collab/mroot-plant-disease-classifier/tree/f046ab5" TargetMode="External" Id="R2b87fee6618a47e5" /><Relationship Type="http://schemas.openxmlformats.org/officeDocument/2006/relationships/notesSlide" Target="/ppt/notesSlides/notesSlide10.xml" Id="R5dc12dd1353c4b5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Training photos</c:v>
          </c:tx>
          <c:spPr>
            <a:solidFill xmlns:a="http://schemas.openxmlformats.org/drawingml/2006/main">
              <a:srgbClr val="2E6B49"/>
            </a:solidFill>
          </c:spPr>
          <c:invertIfNegative val="0"/>
          <c:cat>
            <c:strRef>
              <c:f>'Chart Data'!$A$2:$A$5</c:f>
              <c:strCache>
                <c:ptCount val="4"/>
                <c:pt idx="0">
                  <c:v>Powdery mildew</c:v>
                </c:pt>
                <c:pt idx="1">
                  <c:v>Rust</c:v>
                </c:pt>
                <c:pt idx="2">
                  <c:v>Bacterial leaf spot</c:v>
                </c:pt>
                <c:pt idx="3">
                  <c:v>Berry blotch</c:v>
                </c:pt>
              </c:strCache>
            </c:strRef>
          </c:cat>
          <c:val>
            <c:numRef>
              <c:f>'Chart Data'!$B$2:$B$5</c:f>
              <c:numCache>
                <c:formatCode>0</c:formatCode>
                <c:ptCount val="4"/>
                <c:pt idx="0">
                  <c:v>755</c:v>
                </c:pt>
                <c:pt idx="1">
                  <c:v>616</c:v>
                </c:pt>
                <c:pt idx="2">
                  <c:v>78</c:v>
                </c:pt>
                <c:pt idx="3">
                  <c:v>68</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650" b="1">
                  <a:solidFill>
                    <a:srgbClr val="173E2C"/>
                  </a:solidFill>
                  <a:latin typeface="Arial"/>
                  <a:ea typeface="Arial"/>
                  <a:cs typeface="Arial"/>
                </a:defRPr>
              </a:pPr>
            </a:p>
          </c:txPr>
          <c:dLblPos val="outEnd"/>
          <c:showLegendKey val="0"/>
          <c:showVal val="1"/>
          <c:showCatName val="0"/>
          <c:showSerName val="0"/>
          <c:showPercent val="0"/>
          <c:showBubbleSize val="0"/>
          <c:showLeaderLines val="0"/>
        </c:dLbls>
        <c:gapWidth val="85"/>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4352C"/>
                </a:solidFill>
                <a:latin typeface="Arial"/>
                <a:ea typeface="Arial"/>
                <a:cs typeface="Arial"/>
              </a:defRPr>
            </a:pPr>
          </a:p>
        </c:txPr>
        <c:crossAx val="48672768"/>
      </c:catAx>
      <c:valAx>
        <c:axId val="48672768"/>
        <c:scaling>
          <c:orientation val="minMax"/>
          <c:max val="800"/>
          <c:min val="0"/>
        </c:scaling>
        <c:delete val="0"/>
        <c:axPos val="b"/>
        <c:majorGridlines>
          <c:spPr>
            <a:ln xmlns:a="http://schemas.openxmlformats.org/drawingml/2006/main" w="9525">
              <a:solidFill>
                <a:srgbClr val="DCE5DB"/>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24352C"/>
                </a:solidFill>
                <a:latin typeface="Arial"/>
                <a:ea typeface="Arial"/>
                <a:cs typeface="Arial"/>
              </a:defRPr>
            </a:pPr>
          </a:p>
        </c:txPr>
        <c:crossAx val="48650112"/>
        <c:crossBetween val="between"/>
        <c:majorUnit val="200"/>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6F5E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554E977-A769-4E0F-96F3-11CA0190C18C}"/>
              </a:ext>
            </a:extLst>
          </p:cNvPr>
          <p:cNvSpPr>
            <a:spLocks xmlns:a="http://schemas.openxmlformats.org/drawingml/2006/main" noGrp="1"/>
          </p:cNvSpPr>
          <p:nvPr/>
        </p:nvSpPr>
        <p:spPr>
          <a:xfrm xmlns:a="http://schemas.openxmlformats.org/drawingml/2006/main">
            <a:off x="666750" y="1466850"/>
            <a:ext cx="5238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7050" b="1">
                <a:solidFill>
                  <a:srgbClr val="173E2C"/>
                </a:solidFill>
                <a:latin typeface="Arial"/>
                <a:ea typeface="Arial"/>
                <a:cs typeface="Arial"/>
              </a:defRPr>
            </a:defPPr>
            <a:lvl1pPr>
              <a:defRPr sz="7050" b="1">
                <a:solidFill>
                  <a:srgbClr val="173E2C"/>
                </a:solidFill>
                <a:latin typeface="Arial"/>
                <a:ea typeface="Arial"/>
                <a:cs typeface="Arial"/>
              </a:defRPr>
            </a:lvl1pPr>
            <a:lvl2pPr>
              <a:defRPr sz="7050" b="1">
                <a:solidFill>
                  <a:srgbClr val="173E2C"/>
                </a:solidFill>
                <a:latin typeface="Arial"/>
                <a:ea typeface="Arial"/>
                <a:cs typeface="Arial"/>
              </a:defRPr>
            </a:lvl2pPr>
            <a:lvl3pPr>
              <a:defRPr sz="7050" b="1">
                <a:solidFill>
                  <a:srgbClr val="173E2C"/>
                </a:solidFill>
                <a:latin typeface="Arial"/>
                <a:ea typeface="Arial"/>
                <a:cs typeface="Arial"/>
              </a:defRPr>
            </a:lvl3pPr>
            <a:lvl4pPr>
              <a:defRPr sz="7050" b="1">
                <a:solidFill>
                  <a:srgbClr val="173E2C"/>
                </a:solidFill>
                <a:latin typeface="Arial"/>
                <a:ea typeface="Arial"/>
                <a:cs typeface="Arial"/>
              </a:defRPr>
            </a:lvl4pPr>
            <a:lvl5pPr>
              <a:defRPr sz="7050" b="1">
                <a:solidFill>
                  <a:srgbClr val="173E2C"/>
                </a:solidFill>
                <a:latin typeface="Arial"/>
                <a:ea typeface="Arial"/>
                <a:cs typeface="Arial"/>
              </a:defRPr>
            </a:lvl5pPr>
            <a:lvl6pPr>
              <a:defRPr sz="7050" b="1">
                <a:solidFill>
                  <a:srgbClr val="173E2C"/>
                </a:solidFill>
                <a:latin typeface="Arial"/>
                <a:ea typeface="Arial"/>
                <a:cs typeface="Arial"/>
              </a:defRPr>
            </a:lvl6pPr>
            <a:lvl7pPr>
              <a:defRPr sz="7050" b="1">
                <a:solidFill>
                  <a:srgbClr val="173E2C"/>
                </a:solidFill>
                <a:latin typeface="Arial"/>
                <a:ea typeface="Arial"/>
                <a:cs typeface="Arial"/>
              </a:defRPr>
            </a:lvl7pPr>
            <a:lvl8pPr>
              <a:defRPr sz="7050" b="1">
                <a:solidFill>
                  <a:srgbClr val="173E2C"/>
                </a:solidFill>
                <a:latin typeface="Arial"/>
                <a:ea typeface="Arial"/>
                <a:cs typeface="Arial"/>
              </a:defRPr>
            </a:lvl8pPr>
            <a:lvl9pPr>
              <a:defRPr sz="7050" b="1">
                <a:solidFill>
                  <a:srgbClr val="173E2C"/>
                </a:solidFill>
                <a:latin typeface="Arial"/>
                <a:ea typeface="Arial"/>
                <a:cs typeface="Arial"/>
              </a:defRPr>
            </a:lvl9pPr>
          </a:lstStyle>
          <a:p xmlns:a="http://schemas.openxmlformats.org/drawingml/2006/main">
            <a:pPr>
              <a:defRPr sz="7050" b="1">
                <a:solidFill>
                  <a:srgbClr val="173E2C"/>
                </a:solidFill>
                <a:latin typeface="Arial"/>
                <a:ea typeface="Arial"/>
                <a:cs typeface="Arial"/>
              </a:defRPr>
            </a:pPr>
            <a:r>
              <a:rPr sz="7050" b="1">
                <a:solidFill>
                  <a:srgbClr val="173E2C"/>
                </a:solidFill>
                <a:latin typeface="Arial"/>
                <a:ea typeface="Arial"/>
                <a:cs typeface="Arial"/>
              </a:rPr>
              <a:t>MROOT</a:t>
            </a:r>
          </a:p>
        </p:txBody>
      </p:sp>
      <p:sp>
        <p:nvSpPr>
          <p:cNvPr id="2" name="">
            <a:extLst xmlns:a="http://schemas.openxmlformats.org/drawingml/2006/main">
              <a:ext uri="{FF2B5EF4-FFF2-40B4-BE49-F238E27FC236}">
                <a16:creationId xmlns:a16="http://schemas.microsoft.com/office/drawing/2014/main" id="{9B59541C-1603-4A80-B8B6-7D92C883E7A2}"/>
              </a:ext>
            </a:extLst>
          </p:cNvPr>
          <p:cNvSpPr>
            <a:spLocks xmlns:a="http://schemas.openxmlformats.org/drawingml/2006/main" noGrp="1"/>
          </p:cNvSpPr>
          <p:nvPr/>
        </p:nvSpPr>
        <p:spPr>
          <a:xfrm xmlns:a="http://schemas.openxmlformats.org/drawingml/2006/main">
            <a:off x="723900" y="2876550"/>
            <a:ext cx="5143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0">
                <a:solidFill>
                  <a:srgbClr val="24352C"/>
                </a:solidFill>
                <a:latin typeface="Arial"/>
                <a:ea typeface="Arial"/>
                <a:cs typeface="Arial"/>
              </a:defRPr>
            </a:defPPr>
            <a:lvl1pPr>
              <a:defRPr sz="3225" b="0">
                <a:solidFill>
                  <a:srgbClr val="24352C"/>
                </a:solidFill>
                <a:latin typeface="Arial"/>
                <a:ea typeface="Arial"/>
                <a:cs typeface="Arial"/>
              </a:defRPr>
            </a:lvl1pPr>
            <a:lvl2pPr>
              <a:defRPr sz="3225" b="0">
                <a:solidFill>
                  <a:srgbClr val="24352C"/>
                </a:solidFill>
                <a:latin typeface="Arial"/>
                <a:ea typeface="Arial"/>
                <a:cs typeface="Arial"/>
              </a:defRPr>
            </a:lvl2pPr>
            <a:lvl3pPr>
              <a:defRPr sz="3225" b="0">
                <a:solidFill>
                  <a:srgbClr val="24352C"/>
                </a:solidFill>
                <a:latin typeface="Arial"/>
                <a:ea typeface="Arial"/>
                <a:cs typeface="Arial"/>
              </a:defRPr>
            </a:lvl3pPr>
            <a:lvl4pPr>
              <a:defRPr sz="3225" b="0">
                <a:solidFill>
                  <a:srgbClr val="24352C"/>
                </a:solidFill>
                <a:latin typeface="Arial"/>
                <a:ea typeface="Arial"/>
                <a:cs typeface="Arial"/>
              </a:defRPr>
            </a:lvl4pPr>
            <a:lvl5pPr>
              <a:defRPr sz="3225" b="0">
                <a:solidFill>
                  <a:srgbClr val="24352C"/>
                </a:solidFill>
                <a:latin typeface="Arial"/>
                <a:ea typeface="Arial"/>
                <a:cs typeface="Arial"/>
              </a:defRPr>
            </a:lvl5pPr>
            <a:lvl6pPr>
              <a:defRPr sz="3225" b="0">
                <a:solidFill>
                  <a:srgbClr val="24352C"/>
                </a:solidFill>
                <a:latin typeface="Arial"/>
                <a:ea typeface="Arial"/>
                <a:cs typeface="Arial"/>
              </a:defRPr>
            </a:lvl6pPr>
            <a:lvl7pPr>
              <a:defRPr sz="3225" b="0">
                <a:solidFill>
                  <a:srgbClr val="24352C"/>
                </a:solidFill>
                <a:latin typeface="Arial"/>
                <a:ea typeface="Arial"/>
                <a:cs typeface="Arial"/>
              </a:defRPr>
            </a:lvl7pPr>
            <a:lvl8pPr>
              <a:defRPr sz="3225" b="0">
                <a:solidFill>
                  <a:srgbClr val="24352C"/>
                </a:solidFill>
                <a:latin typeface="Arial"/>
                <a:ea typeface="Arial"/>
                <a:cs typeface="Arial"/>
              </a:defRPr>
            </a:lvl8pPr>
            <a:lvl9pPr>
              <a:defRPr sz="3225" b="0">
                <a:solidFill>
                  <a:srgbClr val="24352C"/>
                </a:solidFill>
                <a:latin typeface="Arial"/>
                <a:ea typeface="Arial"/>
                <a:cs typeface="Arial"/>
              </a:defRPr>
            </a:lvl9pPr>
          </a:lstStyle>
          <a:p xmlns:a="http://schemas.openxmlformats.org/drawingml/2006/main">
            <a:pPr>
              <a:defRPr sz="3225" b="0">
                <a:solidFill>
                  <a:srgbClr val="24352C"/>
                </a:solidFill>
                <a:latin typeface="Arial"/>
                <a:ea typeface="Arial"/>
                <a:cs typeface="Arial"/>
              </a:defRPr>
            </a:pPr>
            <a:r>
              <a:rPr sz="3225" b="0">
                <a:solidFill>
                  <a:srgbClr val="24352C"/>
                </a:solidFill>
                <a:latin typeface="Arial"/>
                <a:ea typeface="Arial"/>
                <a:cs typeface="Arial"/>
              </a:rPr>
              <a:t>Plant disease</a:t>
            </a:r>
          </a:p>
          <a:p xmlns:a="http://schemas.openxmlformats.org/drawingml/2006/main">
            <a:pPr>
              <a:defRPr sz="3225" b="0">
                <a:solidFill>
                  <a:srgbClr val="24352C"/>
                </a:solidFill>
                <a:latin typeface="Arial"/>
                <a:ea typeface="Arial"/>
                <a:cs typeface="Arial"/>
              </a:defRPr>
            </a:pPr>
            <a:r>
              <a:rPr sz="3225" b="0">
                <a:solidFill>
                  <a:srgbClr val="24352C"/>
                </a:solidFill>
                <a:latin typeface="Arial"/>
                <a:ea typeface="Arial"/>
                <a:cs typeface="Arial"/>
              </a:rPr>
              <a:t>classification</a:t>
            </a:r>
          </a:p>
        </p:txBody>
      </p:sp>
      <p:sp>
        <p:nvSpPr>
          <p:cNvPr id="3" name="">
            <a:extLst xmlns:a="http://schemas.openxmlformats.org/drawingml/2006/main">
              <a:ext uri="{FF2B5EF4-FFF2-40B4-BE49-F238E27FC236}">
                <a16:creationId xmlns:a16="http://schemas.microsoft.com/office/drawing/2014/main" id="{23627052-2A24-48E7-8724-FDB32E326CD3}"/>
              </a:ext>
            </a:extLst>
          </p:cNvPr>
          <p:cNvSpPr>
            <a:spLocks xmlns:a="http://schemas.openxmlformats.org/drawingml/2006/main" noGrp="1"/>
          </p:cNvSpPr>
          <p:nvPr/>
        </p:nvSpPr>
        <p:spPr>
          <a:xfrm xmlns:a="http://schemas.openxmlformats.org/drawingml/2006/main">
            <a:off x="723900" y="4429125"/>
            <a:ext cx="5334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24352C"/>
                </a:solidFill>
                <a:latin typeface="Arial"/>
                <a:ea typeface="Arial"/>
                <a:cs typeface="Arial"/>
              </a:defRPr>
            </a:defPPr>
            <a:lvl1pPr>
              <a:defRPr sz="2025" b="0">
                <a:solidFill>
                  <a:srgbClr val="24352C"/>
                </a:solidFill>
                <a:latin typeface="Arial"/>
                <a:ea typeface="Arial"/>
                <a:cs typeface="Arial"/>
              </a:defRPr>
            </a:lvl1pPr>
            <a:lvl2pPr>
              <a:defRPr sz="2025" b="0">
                <a:solidFill>
                  <a:srgbClr val="24352C"/>
                </a:solidFill>
                <a:latin typeface="Arial"/>
                <a:ea typeface="Arial"/>
                <a:cs typeface="Arial"/>
              </a:defRPr>
            </a:lvl2pPr>
            <a:lvl3pPr>
              <a:defRPr sz="2025" b="0">
                <a:solidFill>
                  <a:srgbClr val="24352C"/>
                </a:solidFill>
                <a:latin typeface="Arial"/>
                <a:ea typeface="Arial"/>
                <a:cs typeface="Arial"/>
              </a:defRPr>
            </a:lvl3pPr>
            <a:lvl4pPr>
              <a:defRPr sz="2025" b="0">
                <a:solidFill>
                  <a:srgbClr val="24352C"/>
                </a:solidFill>
                <a:latin typeface="Arial"/>
                <a:ea typeface="Arial"/>
                <a:cs typeface="Arial"/>
              </a:defRPr>
            </a:lvl4pPr>
            <a:lvl5pPr>
              <a:defRPr sz="2025" b="0">
                <a:solidFill>
                  <a:srgbClr val="24352C"/>
                </a:solidFill>
                <a:latin typeface="Arial"/>
                <a:ea typeface="Arial"/>
                <a:cs typeface="Arial"/>
              </a:defRPr>
            </a:lvl5pPr>
            <a:lvl6pPr>
              <a:defRPr sz="2025" b="0">
                <a:solidFill>
                  <a:srgbClr val="24352C"/>
                </a:solidFill>
                <a:latin typeface="Arial"/>
                <a:ea typeface="Arial"/>
                <a:cs typeface="Arial"/>
              </a:defRPr>
            </a:lvl6pPr>
            <a:lvl7pPr>
              <a:defRPr sz="2025" b="0">
                <a:solidFill>
                  <a:srgbClr val="24352C"/>
                </a:solidFill>
                <a:latin typeface="Arial"/>
                <a:ea typeface="Arial"/>
                <a:cs typeface="Arial"/>
              </a:defRPr>
            </a:lvl7pPr>
            <a:lvl8pPr>
              <a:defRPr sz="2025" b="0">
                <a:solidFill>
                  <a:srgbClr val="24352C"/>
                </a:solidFill>
                <a:latin typeface="Arial"/>
                <a:ea typeface="Arial"/>
                <a:cs typeface="Arial"/>
              </a:defRPr>
            </a:lvl8pPr>
            <a:lvl9pPr>
              <a:defRPr sz="2025" b="0">
                <a:solidFill>
                  <a:srgbClr val="24352C"/>
                </a:solidFill>
                <a:latin typeface="Arial"/>
                <a:ea typeface="Arial"/>
                <a:cs typeface="Arial"/>
              </a:defRPr>
            </a:lvl9pPr>
          </a:lstStyle>
          <a:p xmlns:a="http://schemas.openxmlformats.org/drawingml/2006/main">
            <a:pPr>
              <a:defRPr sz="2025" b="0">
                <a:solidFill>
                  <a:srgbClr val="24352C"/>
                </a:solidFill>
                <a:latin typeface="Arial"/>
                <a:ea typeface="Arial"/>
                <a:cs typeface="Arial"/>
              </a:defRPr>
            </a:pPr>
            <a:r>
              <a:rPr sz="2025" b="0">
                <a:solidFill>
                  <a:srgbClr val="24352C"/>
                </a:solidFill>
                <a:latin typeface="Arial"/>
                <a:ea typeface="Arial"/>
                <a:cs typeface="Arial"/>
              </a:rPr>
              <a:t>A photo in, five disease suggestions out.</a:t>
            </a:r>
          </a:p>
          <a:p xmlns:a="http://schemas.openxmlformats.org/drawingml/2006/main">
            <a:pPr>
              <a:defRPr sz="2025" b="0">
                <a:solidFill>
                  <a:srgbClr val="24352C"/>
                </a:solidFill>
                <a:latin typeface="Arial"/>
                <a:ea typeface="Arial"/>
                <a:cs typeface="Arial"/>
              </a:defRPr>
            </a:pPr>
            <a:r>
              <a:rPr sz="2025" b="0">
                <a:solidFill>
                  <a:srgbClr val="24352C"/>
                </a:solidFill>
                <a:latin typeface="Arial"/>
                <a:ea typeface="Arial"/>
                <a:cs typeface="Arial"/>
              </a:rPr>
              <a:t>From model experiments to a working app.</a:t>
            </a:r>
          </a:p>
        </p:txBody>
      </p:sp>
      <p:sp>
        <p:nvSpPr>
          <p:cNvPr id="4" name="">
            <a:extLst xmlns:a="http://schemas.openxmlformats.org/drawingml/2006/main">
              <a:ext uri="{FF2B5EF4-FFF2-40B4-BE49-F238E27FC236}">
                <a16:creationId xmlns:a16="http://schemas.microsoft.com/office/drawing/2014/main" id="{15144393-A309-4DB4-B1D0-73A3621B471E}"/>
              </a:ext>
            </a:extLst>
          </p:cNvPr>
          <p:cNvSpPr>
            <a:spLocks xmlns:a="http://schemas.openxmlformats.org/drawingml/2006/main" noGrp="1"/>
          </p:cNvSpPr>
          <p:nvPr/>
        </p:nvSpPr>
        <p:spPr>
          <a:xfrm xmlns:a="http://schemas.openxmlformats.org/drawingml/2006/main">
            <a:off x="723900" y="5638800"/>
            <a:ext cx="5429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59665D"/>
                </a:solidFill>
                <a:latin typeface="Arial"/>
                <a:ea typeface="Arial"/>
                <a:cs typeface="Arial"/>
              </a:defRPr>
            </a:defPPr>
            <a:lvl1pPr>
              <a:defRPr sz="1875" b="0">
                <a:solidFill>
                  <a:srgbClr val="59665D"/>
                </a:solidFill>
                <a:latin typeface="Arial"/>
                <a:ea typeface="Arial"/>
                <a:cs typeface="Arial"/>
              </a:defRPr>
            </a:lvl1pPr>
            <a:lvl2pPr>
              <a:defRPr sz="1875" b="0">
                <a:solidFill>
                  <a:srgbClr val="59665D"/>
                </a:solidFill>
                <a:latin typeface="Arial"/>
                <a:ea typeface="Arial"/>
                <a:cs typeface="Arial"/>
              </a:defRPr>
            </a:lvl2pPr>
            <a:lvl3pPr>
              <a:defRPr sz="1875" b="0">
                <a:solidFill>
                  <a:srgbClr val="59665D"/>
                </a:solidFill>
                <a:latin typeface="Arial"/>
                <a:ea typeface="Arial"/>
                <a:cs typeface="Arial"/>
              </a:defRPr>
            </a:lvl3pPr>
            <a:lvl4pPr>
              <a:defRPr sz="1875" b="0">
                <a:solidFill>
                  <a:srgbClr val="59665D"/>
                </a:solidFill>
                <a:latin typeface="Arial"/>
                <a:ea typeface="Arial"/>
                <a:cs typeface="Arial"/>
              </a:defRPr>
            </a:lvl4pPr>
            <a:lvl5pPr>
              <a:defRPr sz="1875" b="0">
                <a:solidFill>
                  <a:srgbClr val="59665D"/>
                </a:solidFill>
                <a:latin typeface="Arial"/>
                <a:ea typeface="Arial"/>
                <a:cs typeface="Arial"/>
              </a:defRPr>
            </a:lvl5pPr>
            <a:lvl6pPr>
              <a:defRPr sz="1875" b="0">
                <a:solidFill>
                  <a:srgbClr val="59665D"/>
                </a:solidFill>
                <a:latin typeface="Arial"/>
                <a:ea typeface="Arial"/>
                <a:cs typeface="Arial"/>
              </a:defRPr>
            </a:lvl6pPr>
            <a:lvl7pPr>
              <a:defRPr sz="1875" b="0">
                <a:solidFill>
                  <a:srgbClr val="59665D"/>
                </a:solidFill>
                <a:latin typeface="Arial"/>
                <a:ea typeface="Arial"/>
                <a:cs typeface="Arial"/>
              </a:defRPr>
            </a:lvl7pPr>
            <a:lvl8pPr>
              <a:defRPr sz="1875" b="0">
                <a:solidFill>
                  <a:srgbClr val="59665D"/>
                </a:solidFill>
                <a:latin typeface="Arial"/>
                <a:ea typeface="Arial"/>
                <a:cs typeface="Arial"/>
              </a:defRPr>
            </a:lvl8pPr>
            <a:lvl9pPr>
              <a:defRPr sz="1875" b="0">
                <a:solidFill>
                  <a:srgbClr val="59665D"/>
                </a:solidFill>
                <a:latin typeface="Arial"/>
                <a:ea typeface="Arial"/>
                <a:cs typeface="Arial"/>
              </a:defRPr>
            </a:lvl9pPr>
          </a:lstStyle>
          <a:p xmlns:a="http://schemas.openxmlformats.org/drawingml/2006/main">
            <a:pPr>
              <a:defRPr sz="1875" b="0">
                <a:solidFill>
                  <a:srgbClr val="59665D"/>
                </a:solidFill>
                <a:latin typeface="Arial"/>
                <a:ea typeface="Arial"/>
                <a:cs typeface="Arial"/>
              </a:defRPr>
            </a:pPr>
            <a:r>
              <a:rPr sz="1875" b="0">
                <a:solidFill>
                  <a:srgbClr val="59665D"/>
                </a:solidFill>
                <a:latin typeface="Arial"/>
                <a:ea typeface="Arial"/>
                <a:cs typeface="Arial"/>
              </a:rPr>
              <a:t>Armen</a:t>
            </a:r>
          </a:p>
          <a:p xmlns:a="http://schemas.openxmlformats.org/drawingml/2006/main">
            <a:pPr>
              <a:defRPr sz="1875" b="0">
                <a:solidFill>
                  <a:srgbClr val="59665D"/>
                </a:solidFill>
                <a:latin typeface="Arial"/>
                <a:ea typeface="Arial"/>
                <a:cs typeface="Arial"/>
              </a:defRPr>
            </a:pPr>
            <a:r>
              <a:rPr sz="1875" b="0">
                <a:solidFill>
                  <a:srgbClr val="59665D"/>
                </a:solidFill>
                <a:latin typeface="Arial"/>
                <a:ea typeface="Arial"/>
                <a:cs typeface="Arial"/>
              </a:rPr>
              <a:t>Armenian Code Academy</a:t>
            </a:r>
          </a:p>
        </p:txBody>
      </p:sp>
      <p:pic>
        <p:nvPicPr>
          <p:cNvPr id="5" name="">
            <a:extLst xmlns:a="http://schemas.openxmlformats.org/drawingml/2006/main">
              <a:ext uri="{FF2B5EF4-FFF2-40B4-BE49-F238E27FC236}">
                <a16:creationId xmlns:a16="http://schemas.microsoft.com/office/drawing/2014/main" id="{FC97A9E6-2B61-432A-AF7C-F5C61260F3B7}"/>
              </a:ext>
            </a:extLst>
          </p:cNvPr>
          <p:cNvPicPr>
            <a:picLocks xmlns:a="http://schemas.openxmlformats.org/drawingml/2006/main" noChangeAspect="1"/>
          </p:cNvPicPr>
          <p:nvPr/>
        </p:nvPicPr>
        <p:blipFill>
          <a:blip xmlns:r="http://schemas.openxmlformats.org/officeDocument/2006/relationships" xmlns:a="http://schemas.openxmlformats.org/drawingml/2006/main" r:embed="R6bd2a03e64ad42ab"/>
          <a:stretch xmlns:a="http://schemas.openxmlformats.org/drawingml/2006/main"/>
        </p:blipFill>
        <p:spPr>
          <a:xfrm xmlns:a="http://schemas.openxmlformats.org/drawingml/2006/main">
            <a:off x="6381750" y="1801594"/>
            <a:ext cx="5143500" cy="3426261"/>
          </a:xfrm>
          <a:prstGeom xmlns:a="http://schemas.openxmlformats.org/drawingml/2006/main" prst="rect">
            <a:avLst/>
          </a:prstGeom>
        </p:spPr>
      </p:pic>
    </p:spTree>
    <p:extLst>
      <p:ext uri="{BB962C8B-B14F-4D97-AF65-F5344CB8AC3E}">
        <p14:creationId xmlns:p14="http://schemas.microsoft.com/office/powerpoint/2010/main" val="1694727511"/>
      </p:ext>
    </p:extLst>
  </p:cSld>
</p:sld>
</file>

<file path=ppt/slides/slide2.xml><?xml version="1.0" encoding="utf-8"?>
<p:sld xmlns:p="http://schemas.openxmlformats.org/presentationml/2006/main">
  <p:cSld>
    <p:bg>
      <p:bgPr>
        <a:solidFill xmlns:a="http://schemas.openxmlformats.org/drawingml/2006/main">
          <a:srgbClr val="F6F5E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0079827-4966-4343-9551-5B481343DC48}"/>
              </a:ext>
            </a:extLst>
          </p:cNvPr>
          <p:cNvSpPr>
            <a:spLocks xmlns:a="http://schemas.openxmlformats.org/drawingml/2006/main" noGrp="1"/>
          </p:cNvSpPr>
          <p:nvPr/>
        </p:nvSpPr>
        <p:spPr>
          <a:xfrm xmlns:a="http://schemas.openxmlformats.org/drawingml/2006/main">
            <a:off x="666750" y="45720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173E2C"/>
                </a:solidFill>
                <a:latin typeface="Arial"/>
                <a:ea typeface="Arial"/>
                <a:cs typeface="Arial"/>
              </a:defRPr>
            </a:defPPr>
            <a:lvl1pPr>
              <a:defRPr sz="3225" b="1">
                <a:solidFill>
                  <a:srgbClr val="173E2C"/>
                </a:solidFill>
                <a:latin typeface="Arial"/>
                <a:ea typeface="Arial"/>
                <a:cs typeface="Arial"/>
              </a:defRPr>
            </a:lvl1pPr>
            <a:lvl2pPr>
              <a:defRPr sz="3225" b="1">
                <a:solidFill>
                  <a:srgbClr val="173E2C"/>
                </a:solidFill>
                <a:latin typeface="Arial"/>
                <a:ea typeface="Arial"/>
                <a:cs typeface="Arial"/>
              </a:defRPr>
            </a:lvl2pPr>
            <a:lvl3pPr>
              <a:defRPr sz="3225" b="1">
                <a:solidFill>
                  <a:srgbClr val="173E2C"/>
                </a:solidFill>
                <a:latin typeface="Arial"/>
                <a:ea typeface="Arial"/>
                <a:cs typeface="Arial"/>
              </a:defRPr>
            </a:lvl3pPr>
            <a:lvl4pPr>
              <a:defRPr sz="3225" b="1">
                <a:solidFill>
                  <a:srgbClr val="173E2C"/>
                </a:solidFill>
                <a:latin typeface="Arial"/>
                <a:ea typeface="Arial"/>
                <a:cs typeface="Arial"/>
              </a:defRPr>
            </a:lvl4pPr>
            <a:lvl5pPr>
              <a:defRPr sz="3225" b="1">
                <a:solidFill>
                  <a:srgbClr val="173E2C"/>
                </a:solidFill>
                <a:latin typeface="Arial"/>
                <a:ea typeface="Arial"/>
                <a:cs typeface="Arial"/>
              </a:defRPr>
            </a:lvl5pPr>
            <a:lvl6pPr>
              <a:defRPr sz="3225" b="1">
                <a:solidFill>
                  <a:srgbClr val="173E2C"/>
                </a:solidFill>
                <a:latin typeface="Arial"/>
                <a:ea typeface="Arial"/>
                <a:cs typeface="Arial"/>
              </a:defRPr>
            </a:lvl6pPr>
            <a:lvl7pPr>
              <a:defRPr sz="3225" b="1">
                <a:solidFill>
                  <a:srgbClr val="173E2C"/>
                </a:solidFill>
                <a:latin typeface="Arial"/>
                <a:ea typeface="Arial"/>
                <a:cs typeface="Arial"/>
              </a:defRPr>
            </a:lvl7pPr>
            <a:lvl8pPr>
              <a:defRPr sz="3225" b="1">
                <a:solidFill>
                  <a:srgbClr val="173E2C"/>
                </a:solidFill>
                <a:latin typeface="Arial"/>
                <a:ea typeface="Arial"/>
                <a:cs typeface="Arial"/>
              </a:defRPr>
            </a:lvl8pPr>
            <a:lvl9pPr>
              <a:defRPr sz="3225" b="1">
                <a:solidFill>
                  <a:srgbClr val="173E2C"/>
                </a:solidFill>
                <a:latin typeface="Arial"/>
                <a:ea typeface="Arial"/>
                <a:cs typeface="Arial"/>
              </a:defRPr>
            </a:lvl9pPr>
          </a:lstStyle>
          <a:p xmlns:a="http://schemas.openxmlformats.org/drawingml/2006/main">
            <a:pPr>
              <a:defRPr sz="3225" b="1">
                <a:solidFill>
                  <a:srgbClr val="173E2C"/>
                </a:solidFill>
                <a:latin typeface="Arial"/>
                <a:ea typeface="Arial"/>
                <a:cs typeface="Arial"/>
              </a:defRPr>
            </a:pPr>
            <a:r>
              <a:rPr sz="3225" b="1">
                <a:solidFill>
                  <a:srgbClr val="173E2C"/>
                </a:solidFill>
                <a:latin typeface="Arial"/>
                <a:ea typeface="Arial"/>
                <a:cs typeface="Arial"/>
              </a:rPr>
              <a:t>Data: what we checked before training</a:t>
            </a:r>
          </a:p>
        </p:txBody>
      </p:sp>
      <p:sp>
        <p:nvSpPr>
          <p:cNvPr id="2" name="">
            <a:extLst xmlns:a="http://schemas.openxmlformats.org/drawingml/2006/main">
              <a:ext uri="{FF2B5EF4-FFF2-40B4-BE49-F238E27FC236}">
                <a16:creationId xmlns:a16="http://schemas.microsoft.com/office/drawing/2014/main" id="{EFAA8C05-567A-48C5-A173-5DF80CBEB9F9}"/>
              </a:ext>
            </a:extLst>
          </p:cNvPr>
          <p:cNvSpPr>
            <a:spLocks xmlns:a="http://schemas.openxmlformats.org/drawingml/2006/main" noGrp="1"/>
          </p:cNvSpPr>
          <p:nvPr/>
        </p:nvSpPr>
        <p:spPr>
          <a:xfrm xmlns:a="http://schemas.openxmlformats.org/drawingml/2006/main">
            <a:off x="666750" y="6467475"/>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9665D"/>
                </a:solidFill>
                <a:latin typeface="Arial"/>
                <a:ea typeface="Arial"/>
                <a:cs typeface="Arial"/>
              </a:defRPr>
            </a:defPPr>
            <a:lvl1pPr>
              <a:defRPr sz="1200" b="0">
                <a:solidFill>
                  <a:srgbClr val="59665D"/>
                </a:solidFill>
                <a:latin typeface="Arial"/>
                <a:ea typeface="Arial"/>
                <a:cs typeface="Arial"/>
              </a:defRPr>
            </a:lvl1pPr>
            <a:lvl2pPr>
              <a:defRPr sz="1200" b="0">
                <a:solidFill>
                  <a:srgbClr val="59665D"/>
                </a:solidFill>
                <a:latin typeface="Arial"/>
                <a:ea typeface="Arial"/>
                <a:cs typeface="Arial"/>
              </a:defRPr>
            </a:lvl2pPr>
            <a:lvl3pPr>
              <a:defRPr sz="1200" b="0">
                <a:solidFill>
                  <a:srgbClr val="59665D"/>
                </a:solidFill>
                <a:latin typeface="Arial"/>
                <a:ea typeface="Arial"/>
                <a:cs typeface="Arial"/>
              </a:defRPr>
            </a:lvl3pPr>
            <a:lvl4pPr>
              <a:defRPr sz="1200" b="0">
                <a:solidFill>
                  <a:srgbClr val="59665D"/>
                </a:solidFill>
                <a:latin typeface="Arial"/>
                <a:ea typeface="Arial"/>
                <a:cs typeface="Arial"/>
              </a:defRPr>
            </a:lvl4pPr>
            <a:lvl5pPr>
              <a:defRPr sz="1200" b="0">
                <a:solidFill>
                  <a:srgbClr val="59665D"/>
                </a:solidFill>
                <a:latin typeface="Arial"/>
                <a:ea typeface="Arial"/>
                <a:cs typeface="Arial"/>
              </a:defRPr>
            </a:lvl5pPr>
            <a:lvl6pPr>
              <a:defRPr sz="1200" b="0">
                <a:solidFill>
                  <a:srgbClr val="59665D"/>
                </a:solidFill>
                <a:latin typeface="Arial"/>
                <a:ea typeface="Arial"/>
                <a:cs typeface="Arial"/>
              </a:defRPr>
            </a:lvl6pPr>
            <a:lvl7pPr>
              <a:defRPr sz="1200" b="0">
                <a:solidFill>
                  <a:srgbClr val="59665D"/>
                </a:solidFill>
                <a:latin typeface="Arial"/>
                <a:ea typeface="Arial"/>
                <a:cs typeface="Arial"/>
              </a:defRPr>
            </a:lvl7pPr>
            <a:lvl8pPr>
              <a:defRPr sz="1200" b="0">
                <a:solidFill>
                  <a:srgbClr val="59665D"/>
                </a:solidFill>
                <a:latin typeface="Arial"/>
                <a:ea typeface="Arial"/>
                <a:cs typeface="Arial"/>
              </a:defRPr>
            </a:lvl8pPr>
            <a:lvl9pPr>
              <a:defRPr sz="1200" b="0">
                <a:solidFill>
                  <a:srgbClr val="59665D"/>
                </a:solidFill>
                <a:latin typeface="Arial"/>
                <a:ea typeface="Arial"/>
                <a:cs typeface="Arial"/>
              </a:defRPr>
            </a:lvl9pPr>
          </a:lstStyle>
          <a:p xmlns:a="http://schemas.openxmlformats.org/drawingml/2006/main">
            <a:pPr>
              <a:defRPr sz="1200" b="0">
                <a:solidFill>
                  <a:srgbClr val="59665D"/>
                </a:solidFill>
                <a:latin typeface="Arial"/>
                <a:ea typeface="Arial"/>
                <a:cs typeface="Arial"/>
              </a:defRPr>
            </a:pPr>
            <a:r>
              <a:rPr sz="1200" b="0">
                <a:solidFill>
                  <a:srgbClr val="59665D"/>
                </a:solidFill>
                <a:latin typeface="Arial"/>
                <a:ea typeface="Arial"/>
                <a:cs typeface="Arial"/>
              </a:rPr>
              <a:t>02</a:t>
            </a:r>
          </a:p>
        </p:txBody>
      </p:sp>
      <p:graphicFrame>
        <p:nvGraphicFramePr>
          <p:cNvPr id="3" name="Chart">
            <a:extLst xmlns:a="http://schemas.openxmlformats.org/drawingml/2006/main">
              <a:ext uri="{FF2B5EF4-FFF2-40B4-BE49-F238E27FC236}">
                <a16:creationId xmlns:a16="http://schemas.microsoft.com/office/drawing/2014/main" id="{AA04FE5F-03C8-4F2B-B9BF-BD07E04D7471}"/>
              </a:ext>
            </a:extLst>
          </p:cNvPr>
          <p:cNvGraphicFramePr/>
          <p:nvPr/>
        </p:nvGraphicFramePr>
        <p:xfrm>
          <a:off xmlns:a="http://schemas.openxmlformats.org/drawingml/2006/main" x="666750" y="1762125"/>
          <a:ext xmlns:a="http://schemas.openxmlformats.org/drawingml/2006/main" cx="7048500" cy="3000375"/>
        </p:xfrm>
        <a:graphic xmlns:a="http://schemas.openxmlformats.org/drawingml/2006/main">
          <a:graphicData uri="http://schemas.openxmlformats.org/drawingml/2006/chart">
            <c:chart xmlns:r="http://schemas.openxmlformats.org/officeDocument/2006/relationships" xmlns:c="http://schemas.openxmlformats.org/drawingml/2006/chart" r:id="R2faf91020cfa4701"/>
          </a:graphicData>
        </a:graphic>
      </p:graphicFrame>
      <p:sp>
        <p:nvSpPr>
          <p:cNvPr id="4" name="">
            <a:extLst xmlns:a="http://schemas.openxmlformats.org/drawingml/2006/main">
              <a:ext uri="{FF2B5EF4-FFF2-40B4-BE49-F238E27FC236}">
                <a16:creationId xmlns:a16="http://schemas.microsoft.com/office/drawing/2014/main" id="{7F075CA5-2FBF-4D8A-861C-ED9D0DD0E357}"/>
              </a:ext>
            </a:extLst>
          </p:cNvPr>
          <p:cNvSpPr>
            <a:spLocks xmlns:a="http://schemas.openxmlformats.org/drawingml/2006/main" noGrp="1"/>
          </p:cNvSpPr>
          <p:nvPr/>
        </p:nvSpPr>
        <p:spPr>
          <a:xfrm xmlns:a="http://schemas.openxmlformats.org/drawingml/2006/main">
            <a:off x="762000" y="150495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59665D"/>
                </a:solidFill>
                <a:latin typeface="Arial"/>
                <a:ea typeface="Arial"/>
                <a:cs typeface="Arial"/>
              </a:defRPr>
            </a:defPPr>
            <a:lvl1pPr>
              <a:defRPr sz="1800" b="0">
                <a:solidFill>
                  <a:srgbClr val="59665D"/>
                </a:solidFill>
                <a:latin typeface="Arial"/>
                <a:ea typeface="Arial"/>
                <a:cs typeface="Arial"/>
              </a:defRPr>
            </a:lvl1pPr>
            <a:lvl2pPr>
              <a:defRPr sz="1800" b="0">
                <a:solidFill>
                  <a:srgbClr val="59665D"/>
                </a:solidFill>
                <a:latin typeface="Arial"/>
                <a:ea typeface="Arial"/>
                <a:cs typeface="Arial"/>
              </a:defRPr>
            </a:lvl2pPr>
            <a:lvl3pPr>
              <a:defRPr sz="1800" b="0">
                <a:solidFill>
                  <a:srgbClr val="59665D"/>
                </a:solidFill>
                <a:latin typeface="Arial"/>
                <a:ea typeface="Arial"/>
                <a:cs typeface="Arial"/>
              </a:defRPr>
            </a:lvl3pPr>
            <a:lvl4pPr>
              <a:defRPr sz="1800" b="0">
                <a:solidFill>
                  <a:srgbClr val="59665D"/>
                </a:solidFill>
                <a:latin typeface="Arial"/>
                <a:ea typeface="Arial"/>
                <a:cs typeface="Arial"/>
              </a:defRPr>
            </a:lvl4pPr>
            <a:lvl5pPr>
              <a:defRPr sz="1800" b="0">
                <a:solidFill>
                  <a:srgbClr val="59665D"/>
                </a:solidFill>
                <a:latin typeface="Arial"/>
                <a:ea typeface="Arial"/>
                <a:cs typeface="Arial"/>
              </a:defRPr>
            </a:lvl5pPr>
            <a:lvl6pPr>
              <a:defRPr sz="1800" b="0">
                <a:solidFill>
                  <a:srgbClr val="59665D"/>
                </a:solidFill>
                <a:latin typeface="Arial"/>
                <a:ea typeface="Arial"/>
                <a:cs typeface="Arial"/>
              </a:defRPr>
            </a:lvl6pPr>
            <a:lvl7pPr>
              <a:defRPr sz="1800" b="0">
                <a:solidFill>
                  <a:srgbClr val="59665D"/>
                </a:solidFill>
                <a:latin typeface="Arial"/>
                <a:ea typeface="Arial"/>
                <a:cs typeface="Arial"/>
              </a:defRPr>
            </a:lvl7pPr>
            <a:lvl8pPr>
              <a:defRPr sz="1800" b="0">
                <a:solidFill>
                  <a:srgbClr val="59665D"/>
                </a:solidFill>
                <a:latin typeface="Arial"/>
                <a:ea typeface="Arial"/>
                <a:cs typeface="Arial"/>
              </a:defRPr>
            </a:lvl8pPr>
            <a:lvl9pPr>
              <a:defRPr sz="1800" b="0">
                <a:solidFill>
                  <a:srgbClr val="59665D"/>
                </a:solidFill>
                <a:latin typeface="Arial"/>
                <a:ea typeface="Arial"/>
                <a:cs typeface="Arial"/>
              </a:defRPr>
            </a:lvl9pPr>
          </a:lstStyle>
          <a:p xmlns:a="http://schemas.openxmlformats.org/drawingml/2006/main">
            <a:pPr>
              <a:defRPr sz="1800" b="0">
                <a:solidFill>
                  <a:srgbClr val="59665D"/>
                </a:solidFill>
                <a:latin typeface="Arial"/>
                <a:ea typeface="Arial"/>
                <a:cs typeface="Arial"/>
              </a:defRPr>
            </a:pPr>
            <a:r>
              <a:rPr sz="1800" b="0">
                <a:solidFill>
                  <a:srgbClr val="59665D"/>
                </a:solidFill>
                <a:latin typeface="Arial"/>
                <a:ea typeface="Arial"/>
                <a:cs typeface="Arial"/>
              </a:rPr>
              <a:t>Selected training class counts</a:t>
            </a:r>
          </a:p>
        </p:txBody>
      </p:sp>
      <p:sp>
        <p:nvSpPr>
          <p:cNvPr id="5" name="">
            <a:extLst xmlns:a="http://schemas.openxmlformats.org/drawingml/2006/main">
              <a:ext uri="{FF2B5EF4-FFF2-40B4-BE49-F238E27FC236}">
                <a16:creationId xmlns:a16="http://schemas.microsoft.com/office/drawing/2014/main" id="{CF589A8B-C18C-4187-A2CE-2B8FEDEAE536}"/>
              </a:ext>
            </a:extLst>
          </p:cNvPr>
          <p:cNvSpPr>
            <a:spLocks xmlns:a="http://schemas.openxmlformats.org/drawingml/2006/main" noGrp="1"/>
          </p:cNvSpPr>
          <p:nvPr/>
        </p:nvSpPr>
        <p:spPr>
          <a:xfrm xmlns:a="http://schemas.openxmlformats.org/drawingml/2006/main">
            <a:off x="8220075" y="1905000"/>
            <a:ext cx="33147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173E2C"/>
                </a:solidFill>
                <a:latin typeface="Arial"/>
                <a:ea typeface="Arial"/>
                <a:cs typeface="Arial"/>
              </a:defRPr>
            </a:defPPr>
            <a:lvl1pPr>
              <a:defRPr sz="2175" b="1">
                <a:solidFill>
                  <a:srgbClr val="173E2C"/>
                </a:solidFill>
                <a:latin typeface="Arial"/>
                <a:ea typeface="Arial"/>
                <a:cs typeface="Arial"/>
              </a:defRPr>
            </a:lvl1pPr>
            <a:lvl2pPr>
              <a:defRPr sz="2175" b="1">
                <a:solidFill>
                  <a:srgbClr val="173E2C"/>
                </a:solidFill>
                <a:latin typeface="Arial"/>
                <a:ea typeface="Arial"/>
                <a:cs typeface="Arial"/>
              </a:defRPr>
            </a:lvl2pPr>
            <a:lvl3pPr>
              <a:defRPr sz="2175" b="1">
                <a:solidFill>
                  <a:srgbClr val="173E2C"/>
                </a:solidFill>
                <a:latin typeface="Arial"/>
                <a:ea typeface="Arial"/>
                <a:cs typeface="Arial"/>
              </a:defRPr>
            </a:lvl3pPr>
            <a:lvl4pPr>
              <a:defRPr sz="2175" b="1">
                <a:solidFill>
                  <a:srgbClr val="173E2C"/>
                </a:solidFill>
                <a:latin typeface="Arial"/>
                <a:ea typeface="Arial"/>
                <a:cs typeface="Arial"/>
              </a:defRPr>
            </a:lvl4pPr>
            <a:lvl5pPr>
              <a:defRPr sz="2175" b="1">
                <a:solidFill>
                  <a:srgbClr val="173E2C"/>
                </a:solidFill>
                <a:latin typeface="Arial"/>
                <a:ea typeface="Arial"/>
                <a:cs typeface="Arial"/>
              </a:defRPr>
            </a:lvl5pPr>
            <a:lvl6pPr>
              <a:defRPr sz="2175" b="1">
                <a:solidFill>
                  <a:srgbClr val="173E2C"/>
                </a:solidFill>
                <a:latin typeface="Arial"/>
                <a:ea typeface="Arial"/>
                <a:cs typeface="Arial"/>
              </a:defRPr>
            </a:lvl6pPr>
            <a:lvl7pPr>
              <a:defRPr sz="2175" b="1">
                <a:solidFill>
                  <a:srgbClr val="173E2C"/>
                </a:solidFill>
                <a:latin typeface="Arial"/>
                <a:ea typeface="Arial"/>
                <a:cs typeface="Arial"/>
              </a:defRPr>
            </a:lvl7pPr>
            <a:lvl8pPr>
              <a:defRPr sz="2175" b="1">
                <a:solidFill>
                  <a:srgbClr val="173E2C"/>
                </a:solidFill>
                <a:latin typeface="Arial"/>
                <a:ea typeface="Arial"/>
                <a:cs typeface="Arial"/>
              </a:defRPr>
            </a:lvl8pPr>
            <a:lvl9pPr>
              <a:defRPr sz="2175" b="1">
                <a:solidFill>
                  <a:srgbClr val="173E2C"/>
                </a:solidFill>
                <a:latin typeface="Arial"/>
                <a:ea typeface="Arial"/>
                <a:cs typeface="Arial"/>
              </a:defRPr>
            </a:lvl9pPr>
          </a:lstStyle>
          <a:p xmlns:a="http://schemas.openxmlformats.org/drawingml/2006/main">
            <a:pPr>
              <a:defRPr sz="2175" b="1">
                <a:solidFill>
                  <a:srgbClr val="173E2C"/>
                </a:solidFill>
                <a:latin typeface="Arial"/>
                <a:ea typeface="Arial"/>
                <a:cs typeface="Arial"/>
              </a:defRPr>
            </a:pPr>
            <a:r>
              <a:rPr sz="2175" b="1">
                <a:solidFill>
                  <a:srgbClr val="173E2C"/>
                </a:solidFill>
                <a:latin typeface="Arial"/>
                <a:ea typeface="Arial"/>
                <a:cs typeface="Arial"/>
              </a:rPr>
              <a:t>39 classes</a:t>
            </a:r>
          </a:p>
          <a:p xmlns:a="http://schemas.openxmlformats.org/drawingml/2006/main">
            <a:r>
              <a:t/>
            </a:r>
          </a:p>
          <a:p xmlns:a="http://schemas.openxmlformats.org/drawingml/2006/main">
            <a:pPr>
              <a:defRPr sz="2175" b="1">
                <a:solidFill>
                  <a:srgbClr val="173E2C"/>
                </a:solidFill>
                <a:latin typeface="Arial"/>
                <a:ea typeface="Arial"/>
                <a:cs typeface="Arial"/>
              </a:defRPr>
            </a:pPr>
            <a:r>
              <a:rPr sz="2175" b="1">
                <a:solidFill>
                  <a:srgbClr val="173E2C"/>
                </a:solidFill>
                <a:latin typeface="Arial"/>
                <a:ea typeface="Arial"/>
                <a:cs typeface="Arial"/>
              </a:rPr>
              <a:t>6,790 training photos</a:t>
            </a:r>
          </a:p>
          <a:p xmlns:a="http://schemas.openxmlformats.org/drawingml/2006/main">
            <a:pPr>
              <a:defRPr sz="2175" b="1">
                <a:solidFill>
                  <a:srgbClr val="173E2C"/>
                </a:solidFill>
                <a:latin typeface="Arial"/>
                <a:ea typeface="Arial"/>
                <a:cs typeface="Arial"/>
              </a:defRPr>
            </a:pPr>
            <a:r>
              <a:rPr sz="2175" b="1">
                <a:solidFill>
                  <a:srgbClr val="173E2C"/>
                </a:solidFill>
                <a:latin typeface="Arial"/>
                <a:ea typeface="Arial"/>
                <a:cs typeface="Arial"/>
              </a:rPr>
              <a:t>388 validation photos</a:t>
            </a:r>
          </a:p>
        </p:txBody>
      </p:sp>
      <p:sp>
        <p:nvSpPr>
          <p:cNvPr id="6" name="">
            <a:extLst xmlns:a="http://schemas.openxmlformats.org/drawingml/2006/main">
              <a:ext uri="{FF2B5EF4-FFF2-40B4-BE49-F238E27FC236}">
                <a16:creationId xmlns:a16="http://schemas.microsoft.com/office/drawing/2014/main" id="{71D61F0F-57BD-405A-9EE3-E335A5355FFE}"/>
              </a:ext>
            </a:extLst>
          </p:cNvPr>
          <p:cNvSpPr>
            <a:spLocks xmlns:a="http://schemas.openxmlformats.org/drawingml/2006/main" noGrp="1"/>
          </p:cNvSpPr>
          <p:nvPr/>
        </p:nvSpPr>
        <p:spPr>
          <a:xfrm xmlns:a="http://schemas.openxmlformats.org/drawingml/2006/main">
            <a:off x="723900" y="5124450"/>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24352C"/>
                </a:solidFill>
                <a:latin typeface="Arial"/>
                <a:ea typeface="Arial"/>
                <a:cs typeface="Arial"/>
              </a:defRPr>
            </a:defPPr>
            <a:lvl1pPr>
              <a:defRPr sz="2100" b="0">
                <a:solidFill>
                  <a:srgbClr val="24352C"/>
                </a:solidFill>
                <a:latin typeface="Arial"/>
                <a:ea typeface="Arial"/>
                <a:cs typeface="Arial"/>
              </a:defRPr>
            </a:lvl1pPr>
            <a:lvl2pPr>
              <a:defRPr sz="2100" b="0">
                <a:solidFill>
                  <a:srgbClr val="24352C"/>
                </a:solidFill>
                <a:latin typeface="Arial"/>
                <a:ea typeface="Arial"/>
                <a:cs typeface="Arial"/>
              </a:defRPr>
            </a:lvl2pPr>
            <a:lvl3pPr>
              <a:defRPr sz="2100" b="0">
                <a:solidFill>
                  <a:srgbClr val="24352C"/>
                </a:solidFill>
                <a:latin typeface="Arial"/>
                <a:ea typeface="Arial"/>
                <a:cs typeface="Arial"/>
              </a:defRPr>
            </a:lvl3pPr>
            <a:lvl4pPr>
              <a:defRPr sz="2100" b="0">
                <a:solidFill>
                  <a:srgbClr val="24352C"/>
                </a:solidFill>
                <a:latin typeface="Arial"/>
                <a:ea typeface="Arial"/>
                <a:cs typeface="Arial"/>
              </a:defRPr>
            </a:lvl4pPr>
            <a:lvl5pPr>
              <a:defRPr sz="2100" b="0">
                <a:solidFill>
                  <a:srgbClr val="24352C"/>
                </a:solidFill>
                <a:latin typeface="Arial"/>
                <a:ea typeface="Arial"/>
                <a:cs typeface="Arial"/>
              </a:defRPr>
            </a:lvl5pPr>
            <a:lvl6pPr>
              <a:defRPr sz="2100" b="0">
                <a:solidFill>
                  <a:srgbClr val="24352C"/>
                </a:solidFill>
                <a:latin typeface="Arial"/>
                <a:ea typeface="Arial"/>
                <a:cs typeface="Arial"/>
              </a:defRPr>
            </a:lvl6pPr>
            <a:lvl7pPr>
              <a:defRPr sz="2100" b="0">
                <a:solidFill>
                  <a:srgbClr val="24352C"/>
                </a:solidFill>
                <a:latin typeface="Arial"/>
                <a:ea typeface="Arial"/>
                <a:cs typeface="Arial"/>
              </a:defRPr>
            </a:lvl7pPr>
            <a:lvl8pPr>
              <a:defRPr sz="2100" b="0">
                <a:solidFill>
                  <a:srgbClr val="24352C"/>
                </a:solidFill>
                <a:latin typeface="Arial"/>
                <a:ea typeface="Arial"/>
                <a:cs typeface="Arial"/>
              </a:defRPr>
            </a:lvl8pPr>
            <a:lvl9pPr>
              <a:defRPr sz="2100" b="0">
                <a:solidFill>
                  <a:srgbClr val="24352C"/>
                </a:solidFill>
                <a:latin typeface="Arial"/>
                <a:ea typeface="Arial"/>
                <a:cs typeface="Arial"/>
              </a:defRPr>
            </a:lvl9pPr>
          </a:lstStyle>
          <a:p xmlns:a="http://schemas.openxmlformats.org/drawingml/2006/main">
            <a:pPr>
              <a:defRPr sz="2100" b="0">
                <a:solidFill>
                  <a:srgbClr val="24352C"/>
                </a:solidFill>
                <a:latin typeface="Arial"/>
                <a:ea typeface="Arial"/>
                <a:cs typeface="Arial"/>
              </a:defRPr>
            </a:pPr>
            <a:r>
              <a:rPr sz="2100" b="0">
                <a:solidFill>
                  <a:srgbClr val="24352C"/>
                </a:solidFill>
                <a:latin typeface="Arial"/>
                <a:ea typeface="Arial"/>
                <a:cs typeface="Arial"/>
              </a:rPr>
              <a:t>Uneven class counts led us to check sampling and class-weighted loss.</a:t>
            </a:r>
          </a:p>
          <a:p xmlns:a="http://schemas.openxmlformats.org/drawingml/2006/main">
            <a:pPr>
              <a:defRPr sz="2100" b="0">
                <a:solidFill>
                  <a:srgbClr val="24352C"/>
                </a:solidFill>
                <a:latin typeface="Arial"/>
                <a:ea typeface="Arial"/>
                <a:cs typeface="Arial"/>
              </a:defRPr>
            </a:pPr>
            <a:r>
              <a:rPr sz="2100" b="0">
                <a:solidFill>
                  <a:srgbClr val="24352C"/>
                </a:solidFill>
                <a:latin typeface="Arial"/>
                <a:ea typeface="Arial"/>
                <a:cs typeface="Arial"/>
              </a:rPr>
              <a:t>I also reviewed related images to reduce overlap between data splits.</a:t>
            </a:r>
          </a:p>
        </p:txBody>
      </p:sp>
      <p:sp>
        <p:nvSpPr>
          <p:cNvPr id="7" name="">
            <a:extLst xmlns:a="http://schemas.openxmlformats.org/drawingml/2006/main">
              <a:ext uri="{FF2B5EF4-FFF2-40B4-BE49-F238E27FC236}">
                <a16:creationId xmlns:a16="http://schemas.microsoft.com/office/drawing/2014/main" id="{4035BBC1-30DF-4875-8C4F-F2FF0354AE62}"/>
              </a:ext>
            </a:extLst>
          </p:cNvPr>
          <p:cNvSpPr>
            <a:spLocks xmlns:a="http://schemas.openxmlformats.org/drawingml/2006/main" noGrp="1"/>
          </p:cNvSpPr>
          <p:nvPr/>
        </p:nvSpPr>
        <p:spPr>
          <a:xfrm xmlns:a="http://schemas.openxmlformats.org/drawingml/2006/main">
            <a:off x="723900" y="6124575"/>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59665D"/>
                </a:solidFill>
                <a:latin typeface="Arial"/>
                <a:ea typeface="Arial"/>
                <a:cs typeface="Arial"/>
              </a:defRPr>
            </a:defPPr>
            <a:lvl1pPr>
              <a:defRPr sz="1500" b="0">
                <a:solidFill>
                  <a:srgbClr val="59665D"/>
                </a:solidFill>
                <a:latin typeface="Arial"/>
                <a:ea typeface="Arial"/>
                <a:cs typeface="Arial"/>
              </a:defRPr>
            </a:lvl1pPr>
            <a:lvl2pPr>
              <a:defRPr sz="1500" b="0">
                <a:solidFill>
                  <a:srgbClr val="59665D"/>
                </a:solidFill>
                <a:latin typeface="Arial"/>
                <a:ea typeface="Arial"/>
                <a:cs typeface="Arial"/>
              </a:defRPr>
            </a:lvl2pPr>
            <a:lvl3pPr>
              <a:defRPr sz="1500" b="0">
                <a:solidFill>
                  <a:srgbClr val="59665D"/>
                </a:solidFill>
                <a:latin typeface="Arial"/>
                <a:ea typeface="Arial"/>
                <a:cs typeface="Arial"/>
              </a:defRPr>
            </a:lvl3pPr>
            <a:lvl4pPr>
              <a:defRPr sz="1500" b="0">
                <a:solidFill>
                  <a:srgbClr val="59665D"/>
                </a:solidFill>
                <a:latin typeface="Arial"/>
                <a:ea typeface="Arial"/>
                <a:cs typeface="Arial"/>
              </a:defRPr>
            </a:lvl4pPr>
            <a:lvl5pPr>
              <a:defRPr sz="1500" b="0">
                <a:solidFill>
                  <a:srgbClr val="59665D"/>
                </a:solidFill>
                <a:latin typeface="Arial"/>
                <a:ea typeface="Arial"/>
                <a:cs typeface="Arial"/>
              </a:defRPr>
            </a:lvl5pPr>
            <a:lvl6pPr>
              <a:defRPr sz="1500" b="0">
                <a:solidFill>
                  <a:srgbClr val="59665D"/>
                </a:solidFill>
                <a:latin typeface="Arial"/>
                <a:ea typeface="Arial"/>
                <a:cs typeface="Arial"/>
              </a:defRPr>
            </a:lvl6pPr>
            <a:lvl7pPr>
              <a:defRPr sz="1500" b="0">
                <a:solidFill>
                  <a:srgbClr val="59665D"/>
                </a:solidFill>
                <a:latin typeface="Arial"/>
                <a:ea typeface="Arial"/>
                <a:cs typeface="Arial"/>
              </a:defRPr>
            </a:lvl7pPr>
            <a:lvl8pPr>
              <a:defRPr sz="1500" b="0">
                <a:solidFill>
                  <a:srgbClr val="59665D"/>
                </a:solidFill>
                <a:latin typeface="Arial"/>
                <a:ea typeface="Arial"/>
                <a:cs typeface="Arial"/>
              </a:defRPr>
            </a:lvl8pPr>
            <a:lvl9pPr>
              <a:defRPr sz="1500" b="0">
                <a:solidFill>
                  <a:srgbClr val="59665D"/>
                </a:solidFill>
                <a:latin typeface="Arial"/>
                <a:ea typeface="Arial"/>
                <a:cs typeface="Arial"/>
              </a:defRPr>
            </a:lvl9pPr>
          </a:lstStyle>
          <a:p xmlns:a="http://schemas.openxmlformats.org/drawingml/2006/main">
            <a:pPr>
              <a:defRPr sz="1500" b="0">
                <a:solidFill>
                  <a:srgbClr val="59665D"/>
                </a:solidFill>
                <a:latin typeface="Arial"/>
                <a:ea typeface="Arial"/>
                <a:cs typeface="Arial"/>
              </a:defRPr>
            </a:pPr>
            <a:r>
              <a:rPr sz="1500" b="0">
                <a:solidFill>
                  <a:srgbClr val="59665D"/>
                </a:solidFill>
                <a:latin typeface="Arial"/>
                <a:ea typeface="Arial"/>
                <a:cs typeface="Arial"/>
              </a:rPr>
              <a:t>Preparation: resize and normalize. Training adds crops, flips, small rotations, and color changes.</a:t>
            </a:r>
          </a:p>
        </p:txBody>
      </p:sp>
    </p:spTree>
    <p:extLst>
      <p:ext uri="{BB962C8B-B14F-4D97-AF65-F5344CB8AC3E}">
        <p14:creationId xmlns:p14="http://schemas.microsoft.com/office/powerpoint/2010/main" val="1742016171"/>
      </p:ext>
    </p:extLst>
  </p:cSld>
</p:sld>
</file>

<file path=ppt/slides/slide3.xml><?xml version="1.0" encoding="utf-8"?>
<p:sld xmlns:p="http://schemas.openxmlformats.org/presentationml/2006/main">
  <p:cSld>
    <p:bg>
      <p:bgPr>
        <a:solidFill xmlns:a="http://schemas.openxmlformats.org/drawingml/2006/main">
          <a:srgbClr val="F6F5E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AEE92E5-022C-42EB-B588-BC9BDA1131CC}"/>
              </a:ext>
            </a:extLst>
          </p:cNvPr>
          <p:cNvSpPr>
            <a:spLocks xmlns:a="http://schemas.openxmlformats.org/drawingml/2006/main" noGrp="1"/>
          </p:cNvSpPr>
          <p:nvPr/>
        </p:nvSpPr>
        <p:spPr>
          <a:xfrm xmlns:a="http://schemas.openxmlformats.org/drawingml/2006/main">
            <a:off x="666750" y="45720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173E2C"/>
                </a:solidFill>
                <a:latin typeface="Arial"/>
                <a:ea typeface="Arial"/>
                <a:cs typeface="Arial"/>
              </a:defRPr>
            </a:defPPr>
            <a:lvl1pPr>
              <a:defRPr sz="3225" b="1">
                <a:solidFill>
                  <a:srgbClr val="173E2C"/>
                </a:solidFill>
                <a:latin typeface="Arial"/>
                <a:ea typeface="Arial"/>
                <a:cs typeface="Arial"/>
              </a:defRPr>
            </a:lvl1pPr>
            <a:lvl2pPr>
              <a:defRPr sz="3225" b="1">
                <a:solidFill>
                  <a:srgbClr val="173E2C"/>
                </a:solidFill>
                <a:latin typeface="Arial"/>
                <a:ea typeface="Arial"/>
                <a:cs typeface="Arial"/>
              </a:defRPr>
            </a:lvl2pPr>
            <a:lvl3pPr>
              <a:defRPr sz="3225" b="1">
                <a:solidFill>
                  <a:srgbClr val="173E2C"/>
                </a:solidFill>
                <a:latin typeface="Arial"/>
                <a:ea typeface="Arial"/>
                <a:cs typeface="Arial"/>
              </a:defRPr>
            </a:lvl3pPr>
            <a:lvl4pPr>
              <a:defRPr sz="3225" b="1">
                <a:solidFill>
                  <a:srgbClr val="173E2C"/>
                </a:solidFill>
                <a:latin typeface="Arial"/>
                <a:ea typeface="Arial"/>
                <a:cs typeface="Arial"/>
              </a:defRPr>
            </a:lvl4pPr>
            <a:lvl5pPr>
              <a:defRPr sz="3225" b="1">
                <a:solidFill>
                  <a:srgbClr val="173E2C"/>
                </a:solidFill>
                <a:latin typeface="Arial"/>
                <a:ea typeface="Arial"/>
                <a:cs typeface="Arial"/>
              </a:defRPr>
            </a:lvl5pPr>
            <a:lvl6pPr>
              <a:defRPr sz="3225" b="1">
                <a:solidFill>
                  <a:srgbClr val="173E2C"/>
                </a:solidFill>
                <a:latin typeface="Arial"/>
                <a:ea typeface="Arial"/>
                <a:cs typeface="Arial"/>
              </a:defRPr>
            </a:lvl6pPr>
            <a:lvl7pPr>
              <a:defRPr sz="3225" b="1">
                <a:solidFill>
                  <a:srgbClr val="173E2C"/>
                </a:solidFill>
                <a:latin typeface="Arial"/>
                <a:ea typeface="Arial"/>
                <a:cs typeface="Arial"/>
              </a:defRPr>
            </a:lvl7pPr>
            <a:lvl8pPr>
              <a:defRPr sz="3225" b="1">
                <a:solidFill>
                  <a:srgbClr val="173E2C"/>
                </a:solidFill>
                <a:latin typeface="Arial"/>
                <a:ea typeface="Arial"/>
                <a:cs typeface="Arial"/>
              </a:defRPr>
            </a:lvl8pPr>
            <a:lvl9pPr>
              <a:defRPr sz="3225" b="1">
                <a:solidFill>
                  <a:srgbClr val="173E2C"/>
                </a:solidFill>
                <a:latin typeface="Arial"/>
                <a:ea typeface="Arial"/>
                <a:cs typeface="Arial"/>
              </a:defRPr>
            </a:lvl9pPr>
          </a:lstStyle>
          <a:p xmlns:a="http://schemas.openxmlformats.org/drawingml/2006/main">
            <a:pPr>
              <a:defRPr sz="3225" b="1">
                <a:solidFill>
                  <a:srgbClr val="173E2C"/>
                </a:solidFill>
                <a:latin typeface="Arial"/>
                <a:ea typeface="Arial"/>
                <a:cs typeface="Arial"/>
              </a:defRPr>
            </a:pPr>
            <a:r>
              <a:rPr sz="3225" b="1">
                <a:solidFill>
                  <a:srgbClr val="173E2C"/>
                </a:solidFill>
                <a:latin typeface="Arial"/>
                <a:ea typeface="Arial"/>
                <a:cs typeface="Arial"/>
              </a:rPr>
              <a:t>Error analysis: which classes were hardest?</a:t>
            </a:r>
          </a:p>
        </p:txBody>
      </p:sp>
      <p:sp>
        <p:nvSpPr>
          <p:cNvPr id="2" name="">
            <a:extLst xmlns:a="http://schemas.openxmlformats.org/drawingml/2006/main">
              <a:ext uri="{FF2B5EF4-FFF2-40B4-BE49-F238E27FC236}">
                <a16:creationId xmlns:a16="http://schemas.microsoft.com/office/drawing/2014/main" id="{08FD817F-F12B-4D41-95BB-00E460B1FD83}"/>
              </a:ext>
            </a:extLst>
          </p:cNvPr>
          <p:cNvSpPr>
            <a:spLocks xmlns:a="http://schemas.openxmlformats.org/drawingml/2006/main" noGrp="1"/>
          </p:cNvSpPr>
          <p:nvPr/>
        </p:nvSpPr>
        <p:spPr>
          <a:xfrm xmlns:a="http://schemas.openxmlformats.org/drawingml/2006/main">
            <a:off x="666750" y="6467475"/>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9665D"/>
                </a:solidFill>
                <a:latin typeface="Arial"/>
                <a:ea typeface="Arial"/>
                <a:cs typeface="Arial"/>
              </a:defRPr>
            </a:defPPr>
            <a:lvl1pPr>
              <a:defRPr sz="1200" b="0">
                <a:solidFill>
                  <a:srgbClr val="59665D"/>
                </a:solidFill>
                <a:latin typeface="Arial"/>
                <a:ea typeface="Arial"/>
                <a:cs typeface="Arial"/>
              </a:defRPr>
            </a:lvl1pPr>
            <a:lvl2pPr>
              <a:defRPr sz="1200" b="0">
                <a:solidFill>
                  <a:srgbClr val="59665D"/>
                </a:solidFill>
                <a:latin typeface="Arial"/>
                <a:ea typeface="Arial"/>
                <a:cs typeface="Arial"/>
              </a:defRPr>
            </a:lvl2pPr>
            <a:lvl3pPr>
              <a:defRPr sz="1200" b="0">
                <a:solidFill>
                  <a:srgbClr val="59665D"/>
                </a:solidFill>
                <a:latin typeface="Arial"/>
                <a:ea typeface="Arial"/>
                <a:cs typeface="Arial"/>
              </a:defRPr>
            </a:lvl3pPr>
            <a:lvl4pPr>
              <a:defRPr sz="1200" b="0">
                <a:solidFill>
                  <a:srgbClr val="59665D"/>
                </a:solidFill>
                <a:latin typeface="Arial"/>
                <a:ea typeface="Arial"/>
                <a:cs typeface="Arial"/>
              </a:defRPr>
            </a:lvl4pPr>
            <a:lvl5pPr>
              <a:defRPr sz="1200" b="0">
                <a:solidFill>
                  <a:srgbClr val="59665D"/>
                </a:solidFill>
                <a:latin typeface="Arial"/>
                <a:ea typeface="Arial"/>
                <a:cs typeface="Arial"/>
              </a:defRPr>
            </a:lvl5pPr>
            <a:lvl6pPr>
              <a:defRPr sz="1200" b="0">
                <a:solidFill>
                  <a:srgbClr val="59665D"/>
                </a:solidFill>
                <a:latin typeface="Arial"/>
                <a:ea typeface="Arial"/>
                <a:cs typeface="Arial"/>
              </a:defRPr>
            </a:lvl6pPr>
            <a:lvl7pPr>
              <a:defRPr sz="1200" b="0">
                <a:solidFill>
                  <a:srgbClr val="59665D"/>
                </a:solidFill>
                <a:latin typeface="Arial"/>
                <a:ea typeface="Arial"/>
                <a:cs typeface="Arial"/>
              </a:defRPr>
            </a:lvl7pPr>
            <a:lvl8pPr>
              <a:defRPr sz="1200" b="0">
                <a:solidFill>
                  <a:srgbClr val="59665D"/>
                </a:solidFill>
                <a:latin typeface="Arial"/>
                <a:ea typeface="Arial"/>
                <a:cs typeface="Arial"/>
              </a:defRPr>
            </a:lvl8pPr>
            <a:lvl9pPr>
              <a:defRPr sz="1200" b="0">
                <a:solidFill>
                  <a:srgbClr val="59665D"/>
                </a:solidFill>
                <a:latin typeface="Arial"/>
                <a:ea typeface="Arial"/>
                <a:cs typeface="Arial"/>
              </a:defRPr>
            </a:lvl9pPr>
          </a:lstStyle>
          <a:p xmlns:a="http://schemas.openxmlformats.org/drawingml/2006/main">
            <a:pPr>
              <a:defRPr sz="1200" b="0">
                <a:solidFill>
                  <a:srgbClr val="59665D"/>
                </a:solidFill>
                <a:latin typeface="Arial"/>
                <a:ea typeface="Arial"/>
                <a:cs typeface="Arial"/>
              </a:defRPr>
            </a:pPr>
            <a:r>
              <a:rPr sz="1200" b="0">
                <a:solidFill>
                  <a:srgbClr val="59665D"/>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3DD9AB33-FD83-4243-87A3-3E10D85BA1F8}"/>
              </a:ext>
            </a:extLst>
          </p:cNvPr>
          <p:cNvSpPr>
            <a:spLocks xmlns:a="http://schemas.openxmlformats.org/drawingml/2006/main" noGrp="1"/>
          </p:cNvSpPr>
          <p:nvPr/>
        </p:nvSpPr>
        <p:spPr>
          <a:xfrm xmlns:a="http://schemas.openxmlformats.org/drawingml/2006/main">
            <a:off x="723900" y="1571625"/>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24352C"/>
                </a:solidFill>
                <a:latin typeface="Arial"/>
                <a:ea typeface="Arial"/>
                <a:cs typeface="Arial"/>
              </a:defRPr>
            </a:defPPr>
            <a:lvl1pPr>
              <a:defRPr sz="2175" b="0">
                <a:solidFill>
                  <a:srgbClr val="24352C"/>
                </a:solidFill>
                <a:latin typeface="Arial"/>
                <a:ea typeface="Arial"/>
                <a:cs typeface="Arial"/>
              </a:defRPr>
            </a:lvl1pPr>
            <a:lvl2pPr>
              <a:defRPr sz="2175" b="0">
                <a:solidFill>
                  <a:srgbClr val="24352C"/>
                </a:solidFill>
                <a:latin typeface="Arial"/>
                <a:ea typeface="Arial"/>
                <a:cs typeface="Arial"/>
              </a:defRPr>
            </a:lvl2pPr>
            <a:lvl3pPr>
              <a:defRPr sz="2175" b="0">
                <a:solidFill>
                  <a:srgbClr val="24352C"/>
                </a:solidFill>
                <a:latin typeface="Arial"/>
                <a:ea typeface="Arial"/>
                <a:cs typeface="Arial"/>
              </a:defRPr>
            </a:lvl3pPr>
            <a:lvl4pPr>
              <a:defRPr sz="2175" b="0">
                <a:solidFill>
                  <a:srgbClr val="24352C"/>
                </a:solidFill>
                <a:latin typeface="Arial"/>
                <a:ea typeface="Arial"/>
                <a:cs typeface="Arial"/>
              </a:defRPr>
            </a:lvl4pPr>
            <a:lvl5pPr>
              <a:defRPr sz="2175" b="0">
                <a:solidFill>
                  <a:srgbClr val="24352C"/>
                </a:solidFill>
                <a:latin typeface="Arial"/>
                <a:ea typeface="Arial"/>
                <a:cs typeface="Arial"/>
              </a:defRPr>
            </a:lvl5pPr>
            <a:lvl6pPr>
              <a:defRPr sz="2175" b="0">
                <a:solidFill>
                  <a:srgbClr val="24352C"/>
                </a:solidFill>
                <a:latin typeface="Arial"/>
                <a:ea typeface="Arial"/>
                <a:cs typeface="Arial"/>
              </a:defRPr>
            </a:lvl6pPr>
            <a:lvl7pPr>
              <a:defRPr sz="2175" b="0">
                <a:solidFill>
                  <a:srgbClr val="24352C"/>
                </a:solidFill>
                <a:latin typeface="Arial"/>
                <a:ea typeface="Arial"/>
                <a:cs typeface="Arial"/>
              </a:defRPr>
            </a:lvl7pPr>
            <a:lvl8pPr>
              <a:defRPr sz="2175" b="0">
                <a:solidFill>
                  <a:srgbClr val="24352C"/>
                </a:solidFill>
                <a:latin typeface="Arial"/>
                <a:ea typeface="Arial"/>
                <a:cs typeface="Arial"/>
              </a:defRPr>
            </a:lvl8pPr>
            <a:lvl9pPr>
              <a:defRPr sz="2175" b="0">
                <a:solidFill>
                  <a:srgbClr val="24352C"/>
                </a:solidFill>
                <a:latin typeface="Arial"/>
                <a:ea typeface="Arial"/>
                <a:cs typeface="Arial"/>
              </a:defRPr>
            </a:lvl9pPr>
          </a:lstStyle>
          <a:p xmlns:a="http://schemas.openxmlformats.org/drawingml/2006/main">
            <a:pPr>
              <a:defRPr sz="2175" b="0">
                <a:solidFill>
                  <a:srgbClr val="24352C"/>
                </a:solidFill>
                <a:latin typeface="Arial"/>
                <a:ea typeface="Arial"/>
                <a:cs typeface="Arial"/>
              </a:defRPr>
            </a:pPr>
            <a:r>
              <a:rPr sz="2175" b="0">
                <a:solidFill>
                  <a:srgbClr val="24352C"/>
                </a:solidFill>
                <a:latin typeface="Arial"/>
                <a:ea typeface="Arial"/>
                <a:cs typeface="Arial"/>
              </a:rPr>
              <a:t>I checked each disease separately to see what the overall score could hide.</a:t>
            </a:r>
          </a:p>
        </p:txBody>
      </p:sp>
      <p:graphicFrame>
        <p:nvGraphicFramePr>
          <p:cNvPr id="4" name="">
            <a:extLst xmlns:a="http://schemas.openxmlformats.org/drawingml/2006/main">
              <a:ext uri="{FF2B5EF4-FFF2-40B4-BE49-F238E27FC236}">
                <a16:creationId xmlns:a16="http://schemas.microsoft.com/office/drawing/2014/main" id="{0871059F-EC84-4B4D-B33D-2707A4A91249}"/>
              </a:ext>
            </a:extLst>
          </p:cNvPr>
          <p:cNvGraphicFramePr/>
          <p:nvPr/>
        </p:nvGraphicFramePr>
        <p:xfrm>
          <a:off xmlns:a="http://schemas.openxmlformats.org/drawingml/2006/main" x="666750" y="2495550"/>
          <a:ext xmlns:a="http://schemas.openxmlformats.org/drawingml/2006/main" cx="10858500" cy="2705100"/>
        </p:xfrm>
        <a:graphic xmlns:a="http://schemas.openxmlformats.org/drawingml/2006/main">
          <a:graphicData uri="http://schemas.openxmlformats.org/drawingml/2006/table">
            <a:tbl>
              <a:tblPr/>
              <a:tblGrid>
                <a:gridCol w="6191250"/>
                <a:gridCol w="2333625"/>
                <a:gridCol w="2333625"/>
              </a:tblGrid>
              <a:tr h="541020">
                <a:tc>
                  <a:txBody>
                    <a:bodyPr lIns="95250" tIns="95250" rIns="95250" bIns="95250"/>
                    <a:lstStyle/>
                    <a:p>
                      <a:r>
                        <a:rPr sz="1950" b="1">
                          <a:solidFill>
                            <a:srgbClr val="FFFFFF"/>
                          </a:solidFill>
                          <a:latin typeface="Arial"/>
                          <a:ea typeface="Arial"/>
                          <a:cs typeface="Arial"/>
                        </a:rPr>
                        <a:t>Validation class</a:t>
                      </a:r>
                    </a:p>
                  </a:txBody>
                  <a:tcPr marL="91440" marR="91440" marT="45720" marB="45720" anchor="ctr">
                    <a:lnL w="5715">
                      <a:solidFill>
                        <a:srgbClr val="DCE5DB"/>
                      </a:solidFill>
                      <a:prstDash val="solid"/>
                    </a:lnL>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c>
                  <a:txBody>
                    <a:bodyPr lIns="95250" tIns="95250" rIns="95250" bIns="95250"/>
                    <a:lstStyle/>
                    <a:p>
                      <a:r>
                        <a:rPr sz="1950" b="1">
                          <a:solidFill>
                            <a:srgbClr val="FFFFFF"/>
                          </a:solidFill>
                          <a:latin typeface="Arial"/>
                          <a:ea typeface="Arial"/>
                          <a:cs typeface="Arial"/>
                        </a:rPr>
                        <a:t>Control AP</a:t>
                      </a:r>
                    </a:p>
                  </a:txBody>
                  <a:tcPr marL="91440" marR="91440" marT="45720" marB="45720" anchor="ctr">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c>
                  <a:txBody>
                    <a:bodyPr lIns="95250" tIns="95250" rIns="95250" bIns="95250"/>
                    <a:lstStyle/>
                    <a:p>
                      <a:r>
                        <a:rPr sz="1950" b="1">
                          <a:solidFill>
                            <a:srgbClr val="FFFFFF"/>
                          </a:solidFill>
                          <a:latin typeface="Arial"/>
                          <a:ea typeface="Arial"/>
                          <a:cs typeface="Arial"/>
                        </a:rPr>
                        <a:t>With mixing AP</a:t>
                      </a:r>
                    </a:p>
                  </a:txBody>
                  <a:tcPr marL="91440" marR="91440" marT="45720" marB="45720" anchor="ctr">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r>
              <a:tr h="541020">
                <a:tc>
                  <a:txBody>
                    <a:bodyPr lIns="95250" tIns="95250" rIns="95250" bIns="95250"/>
                    <a:lstStyle/>
                    <a:p>
                      <a:r>
                        <a:rPr sz="1950" b="0">
                          <a:solidFill>
                            <a:srgbClr val="24352C"/>
                          </a:solidFill>
                          <a:latin typeface="Arial"/>
                          <a:ea typeface="Arial"/>
                          <a:cs typeface="Arial"/>
                        </a:rPr>
                        <a:t>Bacterial leaf spot</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950" b="0">
                          <a:solidFill>
                            <a:srgbClr val="24352C"/>
                          </a:solidFill>
                          <a:latin typeface="Arial"/>
                          <a:ea typeface="Arial"/>
                          <a:cs typeface="Arial"/>
                        </a:rPr>
                        <a:t>59.18%</a:t>
                      </a:r>
                    </a:p>
                  </a:txBody>
                  <a:tcPr marL="91440" marR="91440" marT="45720" marB="45720" anchor="ctr">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950" b="0">
                          <a:solidFill>
                            <a:srgbClr val="24352C"/>
                          </a:solidFill>
                          <a:latin typeface="Arial"/>
                          <a:ea typeface="Arial"/>
                          <a:cs typeface="Arial"/>
                        </a:rPr>
                        <a:t>64.17%</a:t>
                      </a:r>
                    </a:p>
                  </a:txBody>
                  <a:tcPr marL="91440" marR="91440" marT="45720" marB="45720" anchor="ctr">
                    <a:lnR w="5715">
                      <a:solidFill>
                        <a:srgbClr val="DCE5DB"/>
                      </a:solidFill>
                      <a:prstDash val="solid"/>
                    </a:lnR>
                    <a:lnB w="5715">
                      <a:solidFill>
                        <a:srgbClr val="DCE5DB"/>
                      </a:solidFill>
                      <a:prstDash val="solid"/>
                    </a:lnB>
                    <a:solidFill>
                      <a:srgbClr val="FFFFFF"/>
                    </a:solidFill>
                  </a:tcPr>
                </a:tc>
              </a:tr>
              <a:tr h="541020">
                <a:tc>
                  <a:txBody>
                    <a:bodyPr lIns="95250" tIns="95250" rIns="95250" bIns="95250"/>
                    <a:lstStyle/>
                    <a:p>
                      <a:r>
                        <a:rPr sz="1950" b="0">
                          <a:solidFill>
                            <a:srgbClr val="24352C"/>
                          </a:solidFill>
                          <a:latin typeface="Arial"/>
                          <a:ea typeface="Arial"/>
                          <a:cs typeface="Arial"/>
                        </a:rPr>
                        <a:t>Septoria leaf spot</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EBEFE7"/>
                    </a:solidFill>
                  </a:tcPr>
                </a:tc>
                <a:tc>
                  <a:txBody>
                    <a:bodyPr lIns="95250" tIns="95250" rIns="95250" bIns="95250"/>
                    <a:lstStyle/>
                    <a:p>
                      <a:r>
                        <a:rPr sz="1950" b="0">
                          <a:solidFill>
                            <a:srgbClr val="24352C"/>
                          </a:solidFill>
                          <a:latin typeface="Arial"/>
                          <a:ea typeface="Arial"/>
                          <a:cs typeface="Arial"/>
                        </a:rPr>
                        <a:t>60.18%</a:t>
                      </a:r>
                    </a:p>
                  </a:txBody>
                  <a:tcPr marL="91440" marR="91440" marT="45720" marB="45720" anchor="ctr">
                    <a:lnR w="5715">
                      <a:solidFill>
                        <a:srgbClr val="DCE5DB"/>
                      </a:solidFill>
                      <a:prstDash val="solid"/>
                    </a:lnR>
                    <a:lnB w="5715">
                      <a:solidFill>
                        <a:srgbClr val="DCE5DB"/>
                      </a:solidFill>
                      <a:prstDash val="solid"/>
                    </a:lnB>
                    <a:solidFill>
                      <a:srgbClr val="EBEFE7"/>
                    </a:solidFill>
                  </a:tcPr>
                </a:tc>
                <a:tc>
                  <a:txBody>
                    <a:bodyPr lIns="95250" tIns="95250" rIns="95250" bIns="95250"/>
                    <a:lstStyle/>
                    <a:p>
                      <a:r>
                        <a:rPr sz="1950" b="0">
                          <a:solidFill>
                            <a:srgbClr val="24352C"/>
                          </a:solidFill>
                          <a:latin typeface="Arial"/>
                          <a:ea typeface="Arial"/>
                          <a:cs typeface="Arial"/>
                        </a:rPr>
                        <a:t>57.91%</a:t>
                      </a:r>
                    </a:p>
                  </a:txBody>
                  <a:tcPr marL="91440" marR="91440" marT="45720" marB="45720" anchor="ctr">
                    <a:lnR w="5715">
                      <a:solidFill>
                        <a:srgbClr val="DCE5DB"/>
                      </a:solidFill>
                      <a:prstDash val="solid"/>
                    </a:lnR>
                    <a:lnB w="5715">
                      <a:solidFill>
                        <a:srgbClr val="DCE5DB"/>
                      </a:solidFill>
                      <a:prstDash val="solid"/>
                    </a:lnB>
                    <a:solidFill>
                      <a:srgbClr val="EBEFE7"/>
                    </a:solidFill>
                  </a:tcPr>
                </a:tc>
              </a:tr>
              <a:tr h="541020">
                <a:tc>
                  <a:txBody>
                    <a:bodyPr lIns="95250" tIns="95250" rIns="95250" bIns="95250"/>
                    <a:lstStyle/>
                    <a:p>
                      <a:r>
                        <a:rPr sz="1950" b="0">
                          <a:solidFill>
                            <a:srgbClr val="24352C"/>
                          </a:solidFill>
                          <a:latin typeface="Arial"/>
                          <a:ea typeface="Arial"/>
                          <a:cs typeface="Arial"/>
                        </a:rPr>
                        <a:t>Rust</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950" b="0">
                          <a:solidFill>
                            <a:srgbClr val="24352C"/>
                          </a:solidFill>
                          <a:latin typeface="Arial"/>
                          <a:ea typeface="Arial"/>
                          <a:cs typeface="Arial"/>
                        </a:rPr>
                        <a:t>78.13%</a:t>
                      </a:r>
                    </a:p>
                  </a:txBody>
                  <a:tcPr marL="91440" marR="91440" marT="45720" marB="45720" anchor="ctr">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950" b="0">
                          <a:solidFill>
                            <a:srgbClr val="24352C"/>
                          </a:solidFill>
                          <a:latin typeface="Arial"/>
                          <a:ea typeface="Arial"/>
                          <a:cs typeface="Arial"/>
                        </a:rPr>
                        <a:t>83.97%</a:t>
                      </a:r>
                    </a:p>
                  </a:txBody>
                  <a:tcPr marL="91440" marR="91440" marT="45720" marB="45720" anchor="ctr">
                    <a:lnR w="5715">
                      <a:solidFill>
                        <a:srgbClr val="DCE5DB"/>
                      </a:solidFill>
                      <a:prstDash val="solid"/>
                    </a:lnR>
                    <a:lnB w="5715">
                      <a:solidFill>
                        <a:srgbClr val="DCE5DB"/>
                      </a:solidFill>
                      <a:prstDash val="solid"/>
                    </a:lnB>
                    <a:solidFill>
                      <a:srgbClr val="FFFFFF"/>
                    </a:solidFill>
                  </a:tcPr>
                </a:tc>
              </a:tr>
              <a:tr h="541020">
                <a:tc>
                  <a:txBody>
                    <a:bodyPr lIns="95250" tIns="95250" rIns="95250" bIns="95250"/>
                    <a:lstStyle/>
                    <a:p>
                      <a:r>
                        <a:rPr sz="1950" b="0">
                          <a:solidFill>
                            <a:srgbClr val="24352C"/>
                          </a:solidFill>
                          <a:latin typeface="Arial"/>
                          <a:ea typeface="Arial"/>
                          <a:cs typeface="Arial"/>
                        </a:rPr>
                        <a:t>Early blight</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EBEFE7"/>
                    </a:solidFill>
                  </a:tcPr>
                </a:tc>
                <a:tc>
                  <a:txBody>
                    <a:bodyPr lIns="95250" tIns="95250" rIns="95250" bIns="95250"/>
                    <a:lstStyle/>
                    <a:p>
                      <a:r>
                        <a:rPr sz="1950" b="0">
                          <a:solidFill>
                            <a:srgbClr val="24352C"/>
                          </a:solidFill>
                          <a:latin typeface="Arial"/>
                          <a:ea typeface="Arial"/>
                          <a:cs typeface="Arial"/>
                        </a:rPr>
                        <a:t>80.43%</a:t>
                      </a:r>
                    </a:p>
                  </a:txBody>
                  <a:tcPr marL="91440" marR="91440" marT="45720" marB="45720" anchor="ctr">
                    <a:lnR w="5715">
                      <a:solidFill>
                        <a:srgbClr val="DCE5DB"/>
                      </a:solidFill>
                      <a:prstDash val="solid"/>
                    </a:lnR>
                    <a:lnB w="5715">
                      <a:solidFill>
                        <a:srgbClr val="DCE5DB"/>
                      </a:solidFill>
                      <a:prstDash val="solid"/>
                    </a:lnB>
                    <a:solidFill>
                      <a:srgbClr val="EBEFE7"/>
                    </a:solidFill>
                  </a:tcPr>
                </a:tc>
                <a:tc>
                  <a:txBody>
                    <a:bodyPr lIns="95250" tIns="95250" rIns="95250" bIns="95250"/>
                    <a:lstStyle/>
                    <a:p>
                      <a:r>
                        <a:rPr sz="1950" b="0">
                          <a:solidFill>
                            <a:srgbClr val="24352C"/>
                          </a:solidFill>
                          <a:latin typeface="Arial"/>
                          <a:ea typeface="Arial"/>
                          <a:cs typeface="Arial"/>
                        </a:rPr>
                        <a:t>95.32%</a:t>
                      </a:r>
                    </a:p>
                  </a:txBody>
                  <a:tcPr marL="91440" marR="91440" marT="45720" marB="45720" anchor="ctr">
                    <a:lnR w="5715">
                      <a:solidFill>
                        <a:srgbClr val="DCE5DB"/>
                      </a:solidFill>
                      <a:prstDash val="solid"/>
                    </a:lnR>
                    <a:lnB w="5715">
                      <a:solidFill>
                        <a:srgbClr val="DCE5DB"/>
                      </a:solidFill>
                      <a:prstDash val="solid"/>
                    </a:lnB>
                    <a:solidFill>
                      <a:srgbClr val="EBEFE7"/>
                    </a:solidFill>
                  </a:tcPr>
                </a:tc>
              </a:tr>
            </a:tbl>
          </a:graphicData>
        </a:graphic>
      </p:graphicFrame>
      <p:sp>
        <p:nvSpPr>
          <p:cNvPr id="5" name="">
            <a:extLst xmlns:a="http://schemas.openxmlformats.org/drawingml/2006/main">
              <a:ext uri="{FF2B5EF4-FFF2-40B4-BE49-F238E27FC236}">
                <a16:creationId xmlns:a16="http://schemas.microsoft.com/office/drawing/2014/main" id="{D039139C-2E02-4A69-8D0D-02A9369E68BC}"/>
              </a:ext>
            </a:extLst>
          </p:cNvPr>
          <p:cNvSpPr>
            <a:spLocks xmlns:a="http://schemas.openxmlformats.org/drawingml/2006/main" noGrp="1"/>
          </p:cNvSpPr>
          <p:nvPr/>
        </p:nvSpPr>
        <p:spPr>
          <a:xfrm xmlns:a="http://schemas.openxmlformats.org/drawingml/2006/main">
            <a:off x="723900" y="54102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173E2C"/>
                </a:solidFill>
                <a:latin typeface="Arial"/>
                <a:ea typeface="Arial"/>
                <a:cs typeface="Arial"/>
              </a:defRPr>
            </a:defPPr>
            <a:lvl1pPr>
              <a:defRPr sz="2175" b="1">
                <a:solidFill>
                  <a:srgbClr val="173E2C"/>
                </a:solidFill>
                <a:latin typeface="Arial"/>
                <a:ea typeface="Arial"/>
                <a:cs typeface="Arial"/>
              </a:defRPr>
            </a:lvl1pPr>
            <a:lvl2pPr>
              <a:defRPr sz="2175" b="1">
                <a:solidFill>
                  <a:srgbClr val="173E2C"/>
                </a:solidFill>
                <a:latin typeface="Arial"/>
                <a:ea typeface="Arial"/>
                <a:cs typeface="Arial"/>
              </a:defRPr>
            </a:lvl2pPr>
            <a:lvl3pPr>
              <a:defRPr sz="2175" b="1">
                <a:solidFill>
                  <a:srgbClr val="173E2C"/>
                </a:solidFill>
                <a:latin typeface="Arial"/>
                <a:ea typeface="Arial"/>
                <a:cs typeface="Arial"/>
              </a:defRPr>
            </a:lvl3pPr>
            <a:lvl4pPr>
              <a:defRPr sz="2175" b="1">
                <a:solidFill>
                  <a:srgbClr val="173E2C"/>
                </a:solidFill>
                <a:latin typeface="Arial"/>
                <a:ea typeface="Arial"/>
                <a:cs typeface="Arial"/>
              </a:defRPr>
            </a:lvl4pPr>
            <a:lvl5pPr>
              <a:defRPr sz="2175" b="1">
                <a:solidFill>
                  <a:srgbClr val="173E2C"/>
                </a:solidFill>
                <a:latin typeface="Arial"/>
                <a:ea typeface="Arial"/>
                <a:cs typeface="Arial"/>
              </a:defRPr>
            </a:lvl5pPr>
            <a:lvl6pPr>
              <a:defRPr sz="2175" b="1">
                <a:solidFill>
                  <a:srgbClr val="173E2C"/>
                </a:solidFill>
                <a:latin typeface="Arial"/>
                <a:ea typeface="Arial"/>
                <a:cs typeface="Arial"/>
              </a:defRPr>
            </a:lvl6pPr>
            <a:lvl7pPr>
              <a:defRPr sz="2175" b="1">
                <a:solidFill>
                  <a:srgbClr val="173E2C"/>
                </a:solidFill>
                <a:latin typeface="Arial"/>
                <a:ea typeface="Arial"/>
                <a:cs typeface="Arial"/>
              </a:defRPr>
            </a:lvl7pPr>
            <a:lvl8pPr>
              <a:defRPr sz="2175" b="1">
                <a:solidFill>
                  <a:srgbClr val="173E2C"/>
                </a:solidFill>
                <a:latin typeface="Arial"/>
                <a:ea typeface="Arial"/>
                <a:cs typeface="Arial"/>
              </a:defRPr>
            </a:lvl8pPr>
            <a:lvl9pPr>
              <a:defRPr sz="2175" b="1">
                <a:solidFill>
                  <a:srgbClr val="173E2C"/>
                </a:solidFill>
                <a:latin typeface="Arial"/>
                <a:ea typeface="Arial"/>
                <a:cs typeface="Arial"/>
              </a:defRPr>
            </a:lvl9pPr>
          </a:lstStyle>
          <a:p xmlns:a="http://schemas.openxmlformats.org/drawingml/2006/main">
            <a:pPr>
              <a:defRPr sz="2175" b="1">
                <a:solidFill>
                  <a:srgbClr val="173E2C"/>
                </a:solidFill>
                <a:latin typeface="Arial"/>
                <a:ea typeface="Arial"/>
                <a:cs typeface="Arial"/>
              </a:defRPr>
            </a:pPr>
            <a:r>
              <a:rPr sz="2175" b="1">
                <a:solidFill>
                  <a:srgbClr val="173E2C"/>
                </a:solidFill>
                <a:latin typeface="Arial"/>
                <a:ea typeface="Arial"/>
                <a:cs typeface="Arial"/>
              </a:rPr>
              <a:t>Mixing helped some difficult classes, but did not improve every disease.</a:t>
            </a:r>
          </a:p>
        </p:txBody>
      </p:sp>
      <p:sp>
        <p:nvSpPr>
          <p:cNvPr id="6" name="">
            <a:extLst xmlns:a="http://schemas.openxmlformats.org/drawingml/2006/main">
              <a:ext uri="{FF2B5EF4-FFF2-40B4-BE49-F238E27FC236}">
                <a16:creationId xmlns:a16="http://schemas.microsoft.com/office/drawing/2014/main" id="{5B394389-922B-4A96-BF74-17B47B31B25E}"/>
              </a:ext>
            </a:extLst>
          </p:cNvPr>
          <p:cNvSpPr>
            <a:spLocks xmlns:a="http://schemas.openxmlformats.org/drawingml/2006/main" noGrp="1"/>
          </p:cNvSpPr>
          <p:nvPr/>
        </p:nvSpPr>
        <p:spPr>
          <a:xfrm xmlns:a="http://schemas.openxmlformats.org/drawingml/2006/main">
            <a:off x="723900" y="611505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b="0">
                <a:solidFill>
                  <a:srgbClr val="59665D"/>
                </a:solidFill>
                <a:latin typeface="Arial"/>
                <a:ea typeface="Arial"/>
                <a:cs typeface="Arial"/>
              </a:defRPr>
            </a:defPPr>
            <a:lvl1pPr>
              <a:defRPr sz="1425" b="0">
                <a:solidFill>
                  <a:srgbClr val="59665D"/>
                </a:solidFill>
                <a:latin typeface="Arial"/>
                <a:ea typeface="Arial"/>
                <a:cs typeface="Arial"/>
              </a:defRPr>
            </a:lvl1pPr>
            <a:lvl2pPr>
              <a:defRPr sz="1425" b="0">
                <a:solidFill>
                  <a:srgbClr val="59665D"/>
                </a:solidFill>
                <a:latin typeface="Arial"/>
                <a:ea typeface="Arial"/>
                <a:cs typeface="Arial"/>
              </a:defRPr>
            </a:lvl2pPr>
            <a:lvl3pPr>
              <a:defRPr sz="1425" b="0">
                <a:solidFill>
                  <a:srgbClr val="59665D"/>
                </a:solidFill>
                <a:latin typeface="Arial"/>
                <a:ea typeface="Arial"/>
                <a:cs typeface="Arial"/>
              </a:defRPr>
            </a:lvl3pPr>
            <a:lvl4pPr>
              <a:defRPr sz="1425" b="0">
                <a:solidFill>
                  <a:srgbClr val="59665D"/>
                </a:solidFill>
                <a:latin typeface="Arial"/>
                <a:ea typeface="Arial"/>
                <a:cs typeface="Arial"/>
              </a:defRPr>
            </a:lvl4pPr>
            <a:lvl5pPr>
              <a:defRPr sz="1425" b="0">
                <a:solidFill>
                  <a:srgbClr val="59665D"/>
                </a:solidFill>
                <a:latin typeface="Arial"/>
                <a:ea typeface="Arial"/>
                <a:cs typeface="Arial"/>
              </a:defRPr>
            </a:lvl5pPr>
            <a:lvl6pPr>
              <a:defRPr sz="1425" b="0">
                <a:solidFill>
                  <a:srgbClr val="59665D"/>
                </a:solidFill>
                <a:latin typeface="Arial"/>
                <a:ea typeface="Arial"/>
                <a:cs typeface="Arial"/>
              </a:defRPr>
            </a:lvl6pPr>
            <a:lvl7pPr>
              <a:defRPr sz="1425" b="0">
                <a:solidFill>
                  <a:srgbClr val="59665D"/>
                </a:solidFill>
                <a:latin typeface="Arial"/>
                <a:ea typeface="Arial"/>
                <a:cs typeface="Arial"/>
              </a:defRPr>
            </a:lvl7pPr>
            <a:lvl8pPr>
              <a:defRPr sz="1425" b="0">
                <a:solidFill>
                  <a:srgbClr val="59665D"/>
                </a:solidFill>
                <a:latin typeface="Arial"/>
                <a:ea typeface="Arial"/>
                <a:cs typeface="Arial"/>
              </a:defRPr>
            </a:lvl8pPr>
            <a:lvl9pPr>
              <a:defRPr sz="1425" b="0">
                <a:solidFill>
                  <a:srgbClr val="59665D"/>
                </a:solidFill>
                <a:latin typeface="Arial"/>
                <a:ea typeface="Arial"/>
                <a:cs typeface="Arial"/>
              </a:defRPr>
            </a:lvl9pPr>
          </a:lstStyle>
          <a:p xmlns:a="http://schemas.openxmlformats.org/drawingml/2006/main">
            <a:pPr>
              <a:defRPr sz="1425" b="0">
                <a:solidFill>
                  <a:srgbClr val="59665D"/>
                </a:solidFill>
                <a:latin typeface="Arial"/>
                <a:ea typeface="Arial"/>
                <a:cs typeface="Arial"/>
              </a:defRPr>
            </a:pPr>
            <a:r>
              <a:rPr sz="1425" b="0">
                <a:solidFill>
                  <a:srgbClr val="59665D"/>
                </a:solidFill>
                <a:latin typeface="Arial"/>
                <a:ea typeface="Arial"/>
                <a:cs typeface="Arial"/>
              </a:rPr>
              <a:t>Same 388 validation photos, single view. AP measures ranking, not accuracy. Small class samples limit certainty.</a:t>
            </a:r>
          </a:p>
        </p:txBody>
      </p:sp>
    </p:spTree>
    <p:extLst>
      <p:ext uri="{BB962C8B-B14F-4D97-AF65-F5344CB8AC3E}">
        <p14:creationId xmlns:p14="http://schemas.microsoft.com/office/powerpoint/2010/main" val="1298600862"/>
      </p:ext>
    </p:extLst>
  </p:cSld>
</p:sld>
</file>

<file path=ppt/slides/slide4.xml><?xml version="1.0" encoding="utf-8"?>
<p:sld xmlns:p="http://schemas.openxmlformats.org/presentationml/2006/main">
  <p:cSld>
    <p:bg>
      <p:bgPr>
        <a:solidFill xmlns:a="http://schemas.openxmlformats.org/drawingml/2006/main">
          <a:srgbClr val="F6F5E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CEAC938-4952-41B6-977C-808F7D622C55}"/>
              </a:ext>
            </a:extLst>
          </p:cNvPr>
          <p:cNvSpPr>
            <a:spLocks xmlns:a="http://schemas.openxmlformats.org/drawingml/2006/main" noGrp="1"/>
          </p:cNvSpPr>
          <p:nvPr/>
        </p:nvSpPr>
        <p:spPr>
          <a:xfrm xmlns:a="http://schemas.openxmlformats.org/drawingml/2006/main">
            <a:off x="666750" y="45720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173E2C"/>
                </a:solidFill>
                <a:latin typeface="Arial"/>
                <a:ea typeface="Arial"/>
                <a:cs typeface="Arial"/>
              </a:defRPr>
            </a:defPPr>
            <a:lvl1pPr>
              <a:defRPr sz="3225" b="1">
                <a:solidFill>
                  <a:srgbClr val="173E2C"/>
                </a:solidFill>
                <a:latin typeface="Arial"/>
                <a:ea typeface="Arial"/>
                <a:cs typeface="Arial"/>
              </a:defRPr>
            </a:lvl1pPr>
            <a:lvl2pPr>
              <a:defRPr sz="3225" b="1">
                <a:solidFill>
                  <a:srgbClr val="173E2C"/>
                </a:solidFill>
                <a:latin typeface="Arial"/>
                <a:ea typeface="Arial"/>
                <a:cs typeface="Arial"/>
              </a:defRPr>
            </a:lvl2pPr>
            <a:lvl3pPr>
              <a:defRPr sz="3225" b="1">
                <a:solidFill>
                  <a:srgbClr val="173E2C"/>
                </a:solidFill>
                <a:latin typeface="Arial"/>
                <a:ea typeface="Arial"/>
                <a:cs typeface="Arial"/>
              </a:defRPr>
            </a:lvl3pPr>
            <a:lvl4pPr>
              <a:defRPr sz="3225" b="1">
                <a:solidFill>
                  <a:srgbClr val="173E2C"/>
                </a:solidFill>
                <a:latin typeface="Arial"/>
                <a:ea typeface="Arial"/>
                <a:cs typeface="Arial"/>
              </a:defRPr>
            </a:lvl4pPr>
            <a:lvl5pPr>
              <a:defRPr sz="3225" b="1">
                <a:solidFill>
                  <a:srgbClr val="173E2C"/>
                </a:solidFill>
                <a:latin typeface="Arial"/>
                <a:ea typeface="Arial"/>
                <a:cs typeface="Arial"/>
              </a:defRPr>
            </a:lvl5pPr>
            <a:lvl6pPr>
              <a:defRPr sz="3225" b="1">
                <a:solidFill>
                  <a:srgbClr val="173E2C"/>
                </a:solidFill>
                <a:latin typeface="Arial"/>
                <a:ea typeface="Arial"/>
                <a:cs typeface="Arial"/>
              </a:defRPr>
            </a:lvl6pPr>
            <a:lvl7pPr>
              <a:defRPr sz="3225" b="1">
                <a:solidFill>
                  <a:srgbClr val="173E2C"/>
                </a:solidFill>
                <a:latin typeface="Arial"/>
                <a:ea typeface="Arial"/>
                <a:cs typeface="Arial"/>
              </a:defRPr>
            </a:lvl7pPr>
            <a:lvl8pPr>
              <a:defRPr sz="3225" b="1">
                <a:solidFill>
                  <a:srgbClr val="173E2C"/>
                </a:solidFill>
                <a:latin typeface="Arial"/>
                <a:ea typeface="Arial"/>
                <a:cs typeface="Arial"/>
              </a:defRPr>
            </a:lvl8pPr>
            <a:lvl9pPr>
              <a:defRPr sz="3225" b="1">
                <a:solidFill>
                  <a:srgbClr val="173E2C"/>
                </a:solidFill>
                <a:latin typeface="Arial"/>
                <a:ea typeface="Arial"/>
                <a:cs typeface="Arial"/>
              </a:defRPr>
            </a:lvl9pPr>
          </a:lstStyle>
          <a:p xmlns:a="http://schemas.openxmlformats.org/drawingml/2006/main">
            <a:pPr>
              <a:defRPr sz="3225" b="1">
                <a:solidFill>
                  <a:srgbClr val="173E2C"/>
                </a:solidFill>
                <a:latin typeface="Arial"/>
                <a:ea typeface="Arial"/>
                <a:cs typeface="Arial"/>
              </a:defRPr>
            </a:pPr>
            <a:r>
              <a:rPr sz="3225" b="1">
                <a:solidFill>
                  <a:srgbClr val="173E2C"/>
                </a:solidFill>
                <a:latin typeface="Arial"/>
                <a:ea typeface="Arial"/>
                <a:cs typeface="Arial"/>
              </a:rPr>
              <a:t>Starting point: three Small models</a:t>
            </a:r>
          </a:p>
        </p:txBody>
      </p:sp>
      <p:sp>
        <p:nvSpPr>
          <p:cNvPr id="2" name="">
            <a:extLst xmlns:a="http://schemas.openxmlformats.org/drawingml/2006/main">
              <a:ext uri="{FF2B5EF4-FFF2-40B4-BE49-F238E27FC236}">
                <a16:creationId xmlns:a16="http://schemas.microsoft.com/office/drawing/2014/main" id="{738FF6D0-917A-4C64-8DBA-3D2CAD344930}"/>
              </a:ext>
            </a:extLst>
          </p:cNvPr>
          <p:cNvSpPr>
            <a:spLocks xmlns:a="http://schemas.openxmlformats.org/drawingml/2006/main" noGrp="1"/>
          </p:cNvSpPr>
          <p:nvPr/>
        </p:nvSpPr>
        <p:spPr>
          <a:xfrm xmlns:a="http://schemas.openxmlformats.org/drawingml/2006/main">
            <a:off x="666750" y="6467475"/>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9665D"/>
                </a:solidFill>
                <a:latin typeface="Arial"/>
                <a:ea typeface="Arial"/>
                <a:cs typeface="Arial"/>
              </a:defRPr>
            </a:defPPr>
            <a:lvl1pPr>
              <a:defRPr sz="1200" b="0">
                <a:solidFill>
                  <a:srgbClr val="59665D"/>
                </a:solidFill>
                <a:latin typeface="Arial"/>
                <a:ea typeface="Arial"/>
                <a:cs typeface="Arial"/>
              </a:defRPr>
            </a:lvl1pPr>
            <a:lvl2pPr>
              <a:defRPr sz="1200" b="0">
                <a:solidFill>
                  <a:srgbClr val="59665D"/>
                </a:solidFill>
                <a:latin typeface="Arial"/>
                <a:ea typeface="Arial"/>
                <a:cs typeface="Arial"/>
              </a:defRPr>
            </a:lvl2pPr>
            <a:lvl3pPr>
              <a:defRPr sz="1200" b="0">
                <a:solidFill>
                  <a:srgbClr val="59665D"/>
                </a:solidFill>
                <a:latin typeface="Arial"/>
                <a:ea typeface="Arial"/>
                <a:cs typeface="Arial"/>
              </a:defRPr>
            </a:lvl3pPr>
            <a:lvl4pPr>
              <a:defRPr sz="1200" b="0">
                <a:solidFill>
                  <a:srgbClr val="59665D"/>
                </a:solidFill>
                <a:latin typeface="Arial"/>
                <a:ea typeface="Arial"/>
                <a:cs typeface="Arial"/>
              </a:defRPr>
            </a:lvl4pPr>
            <a:lvl5pPr>
              <a:defRPr sz="1200" b="0">
                <a:solidFill>
                  <a:srgbClr val="59665D"/>
                </a:solidFill>
                <a:latin typeface="Arial"/>
                <a:ea typeface="Arial"/>
                <a:cs typeface="Arial"/>
              </a:defRPr>
            </a:lvl5pPr>
            <a:lvl6pPr>
              <a:defRPr sz="1200" b="0">
                <a:solidFill>
                  <a:srgbClr val="59665D"/>
                </a:solidFill>
                <a:latin typeface="Arial"/>
                <a:ea typeface="Arial"/>
                <a:cs typeface="Arial"/>
              </a:defRPr>
            </a:lvl6pPr>
            <a:lvl7pPr>
              <a:defRPr sz="1200" b="0">
                <a:solidFill>
                  <a:srgbClr val="59665D"/>
                </a:solidFill>
                <a:latin typeface="Arial"/>
                <a:ea typeface="Arial"/>
                <a:cs typeface="Arial"/>
              </a:defRPr>
            </a:lvl7pPr>
            <a:lvl8pPr>
              <a:defRPr sz="1200" b="0">
                <a:solidFill>
                  <a:srgbClr val="59665D"/>
                </a:solidFill>
                <a:latin typeface="Arial"/>
                <a:ea typeface="Arial"/>
                <a:cs typeface="Arial"/>
              </a:defRPr>
            </a:lvl8pPr>
            <a:lvl9pPr>
              <a:defRPr sz="1200" b="0">
                <a:solidFill>
                  <a:srgbClr val="59665D"/>
                </a:solidFill>
                <a:latin typeface="Arial"/>
                <a:ea typeface="Arial"/>
                <a:cs typeface="Arial"/>
              </a:defRPr>
            </a:lvl9pPr>
          </a:lstStyle>
          <a:p xmlns:a="http://schemas.openxmlformats.org/drawingml/2006/main">
            <a:pPr>
              <a:defRPr sz="1200" b="0">
                <a:solidFill>
                  <a:srgbClr val="59665D"/>
                </a:solidFill>
                <a:latin typeface="Arial"/>
                <a:ea typeface="Arial"/>
                <a:cs typeface="Arial"/>
              </a:defRPr>
            </a:pPr>
            <a:r>
              <a:rPr sz="1200" b="0">
                <a:solidFill>
                  <a:srgbClr val="59665D"/>
                </a:solidFill>
                <a:latin typeface="Arial"/>
                <a:ea typeface="Arial"/>
                <a:cs typeface="Arial"/>
              </a:rPr>
              <a:t>04</a:t>
            </a:r>
          </a:p>
        </p:txBody>
      </p:sp>
      <p:sp>
        <p:nvSpPr>
          <p:cNvPr id="3" name="">
            <a:extLst xmlns:a="http://schemas.openxmlformats.org/drawingml/2006/main">
              <a:ext uri="{FF2B5EF4-FFF2-40B4-BE49-F238E27FC236}">
                <a16:creationId xmlns:a16="http://schemas.microsoft.com/office/drawing/2014/main" id="{390CB81B-EBF8-4CD0-B412-C404C7B8E28B}"/>
              </a:ext>
            </a:extLst>
          </p:cNvPr>
          <p:cNvSpPr>
            <a:spLocks xmlns:a="http://schemas.openxmlformats.org/drawingml/2006/main" noGrp="1"/>
          </p:cNvSpPr>
          <p:nvPr/>
        </p:nvSpPr>
        <p:spPr>
          <a:xfrm xmlns:a="http://schemas.openxmlformats.org/drawingml/2006/main">
            <a:off x="723900" y="15621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24352C"/>
                </a:solidFill>
                <a:latin typeface="Arial"/>
                <a:ea typeface="Arial"/>
                <a:cs typeface="Arial"/>
              </a:defRPr>
            </a:defPPr>
            <a:lvl1pPr>
              <a:defRPr sz="2175" b="0">
                <a:solidFill>
                  <a:srgbClr val="24352C"/>
                </a:solidFill>
                <a:latin typeface="Arial"/>
                <a:ea typeface="Arial"/>
                <a:cs typeface="Arial"/>
              </a:defRPr>
            </a:lvl1pPr>
            <a:lvl2pPr>
              <a:defRPr sz="2175" b="0">
                <a:solidFill>
                  <a:srgbClr val="24352C"/>
                </a:solidFill>
                <a:latin typeface="Arial"/>
                <a:ea typeface="Arial"/>
                <a:cs typeface="Arial"/>
              </a:defRPr>
            </a:lvl2pPr>
            <a:lvl3pPr>
              <a:defRPr sz="2175" b="0">
                <a:solidFill>
                  <a:srgbClr val="24352C"/>
                </a:solidFill>
                <a:latin typeface="Arial"/>
                <a:ea typeface="Arial"/>
                <a:cs typeface="Arial"/>
              </a:defRPr>
            </a:lvl3pPr>
            <a:lvl4pPr>
              <a:defRPr sz="2175" b="0">
                <a:solidFill>
                  <a:srgbClr val="24352C"/>
                </a:solidFill>
                <a:latin typeface="Arial"/>
                <a:ea typeface="Arial"/>
                <a:cs typeface="Arial"/>
              </a:defRPr>
            </a:lvl4pPr>
            <a:lvl5pPr>
              <a:defRPr sz="2175" b="0">
                <a:solidFill>
                  <a:srgbClr val="24352C"/>
                </a:solidFill>
                <a:latin typeface="Arial"/>
                <a:ea typeface="Arial"/>
                <a:cs typeface="Arial"/>
              </a:defRPr>
            </a:lvl5pPr>
            <a:lvl6pPr>
              <a:defRPr sz="2175" b="0">
                <a:solidFill>
                  <a:srgbClr val="24352C"/>
                </a:solidFill>
                <a:latin typeface="Arial"/>
                <a:ea typeface="Arial"/>
                <a:cs typeface="Arial"/>
              </a:defRPr>
            </a:lvl6pPr>
            <a:lvl7pPr>
              <a:defRPr sz="2175" b="0">
                <a:solidFill>
                  <a:srgbClr val="24352C"/>
                </a:solidFill>
                <a:latin typeface="Arial"/>
                <a:ea typeface="Arial"/>
                <a:cs typeface="Arial"/>
              </a:defRPr>
            </a:lvl7pPr>
            <a:lvl8pPr>
              <a:defRPr sz="2175" b="0">
                <a:solidFill>
                  <a:srgbClr val="24352C"/>
                </a:solidFill>
                <a:latin typeface="Arial"/>
                <a:ea typeface="Arial"/>
                <a:cs typeface="Arial"/>
              </a:defRPr>
            </a:lvl8pPr>
            <a:lvl9pPr>
              <a:defRPr sz="2175" b="0">
                <a:solidFill>
                  <a:srgbClr val="24352C"/>
                </a:solidFill>
                <a:latin typeface="Arial"/>
                <a:ea typeface="Arial"/>
                <a:cs typeface="Arial"/>
              </a:defRPr>
            </a:lvl9pPr>
          </a:lstStyle>
          <a:p xmlns:a="http://schemas.openxmlformats.org/drawingml/2006/main">
            <a:pPr>
              <a:defRPr sz="2175" b="0">
                <a:solidFill>
                  <a:srgbClr val="24352C"/>
                </a:solidFill>
                <a:latin typeface="Arial"/>
                <a:ea typeface="Arial"/>
                <a:cs typeface="Arial"/>
              </a:defRPr>
            </a:pPr>
            <a:r>
              <a:rPr sz="2175" b="0">
                <a:solidFill>
                  <a:srgbClr val="24352C"/>
                </a:solidFill>
                <a:latin typeface="Arial"/>
                <a:ea typeface="Arial"/>
                <a:cs typeface="Arial"/>
              </a:rPr>
              <a:t>I fine-tuned pretrained image models instead of training from scratch.</a:t>
            </a:r>
          </a:p>
        </p:txBody>
      </p:sp>
      <p:graphicFrame>
        <p:nvGraphicFramePr>
          <p:cNvPr id="4" name="">
            <a:extLst xmlns:a="http://schemas.openxmlformats.org/drawingml/2006/main">
              <a:ext uri="{FF2B5EF4-FFF2-40B4-BE49-F238E27FC236}">
                <a16:creationId xmlns:a16="http://schemas.microsoft.com/office/drawing/2014/main" id="{7B181DD7-BAEE-4CEB-BFE9-192D3B953A6F}"/>
              </a:ext>
            </a:extLst>
          </p:cNvPr>
          <p:cNvGraphicFramePr/>
          <p:nvPr/>
        </p:nvGraphicFramePr>
        <p:xfrm>
          <a:off xmlns:a="http://schemas.openxmlformats.org/drawingml/2006/main" x="666750" y="2371725"/>
          <a:ext xmlns:a="http://schemas.openxmlformats.org/drawingml/2006/main" cx="10858500" cy="1952625"/>
        </p:xfrm>
        <a:graphic xmlns:a="http://schemas.openxmlformats.org/drawingml/2006/main">
          <a:graphicData uri="http://schemas.openxmlformats.org/drawingml/2006/table">
            <a:tbl>
              <a:tblPr/>
              <a:tblGrid>
                <a:gridCol w="5143500"/>
                <a:gridCol w="2714625"/>
                <a:gridCol w="3000375"/>
              </a:tblGrid>
              <a:tr h="650875">
                <a:tc>
                  <a:txBody>
                    <a:bodyPr lIns="95250" tIns="95250" rIns="95250" bIns="95250"/>
                    <a:lstStyle/>
                    <a:p>
                      <a:r>
                        <a:rPr sz="1950" b="1">
                          <a:solidFill>
                            <a:srgbClr val="FFFFFF"/>
                          </a:solidFill>
                          <a:latin typeface="Arial"/>
                          <a:ea typeface="Arial"/>
                          <a:cs typeface="Arial"/>
                        </a:rPr>
                        <a:t>Starting model</a:t>
                      </a:r>
                    </a:p>
                  </a:txBody>
                  <a:tcPr marL="91440" marR="91440" marT="45720" marB="45720" anchor="ctr">
                    <a:lnL w="5715">
                      <a:solidFill>
                        <a:srgbClr val="DCE5DB"/>
                      </a:solidFill>
                      <a:prstDash val="solid"/>
                    </a:lnL>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c>
                  <a:txBody>
                    <a:bodyPr lIns="95250" tIns="95250" rIns="95250" bIns="95250"/>
                    <a:lstStyle/>
                    <a:p>
                      <a:r>
                        <a:rPr sz="1950" b="1">
                          <a:solidFill>
                            <a:srgbClr val="FFFFFF"/>
                          </a:solidFill>
                          <a:latin typeface="Arial"/>
                          <a:ea typeface="Arial"/>
                          <a:cs typeface="Arial"/>
                        </a:rPr>
                        <a:t>Setup</a:t>
                      </a:r>
                    </a:p>
                  </a:txBody>
                  <a:tcPr marL="91440" marR="91440" marT="45720" marB="45720" anchor="ctr">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c>
                  <a:txBody>
                    <a:bodyPr lIns="95250" tIns="95250" rIns="95250" bIns="95250"/>
                    <a:lstStyle/>
                    <a:p>
                      <a:r>
                        <a:rPr sz="1950" b="1">
                          <a:solidFill>
                            <a:srgbClr val="FFFFFF"/>
                          </a:solidFill>
                          <a:latin typeface="Arial"/>
                          <a:ea typeface="Arial"/>
                          <a:cs typeface="Arial"/>
                        </a:rPr>
                        <a:t>Validation macro mAP</a:t>
                      </a:r>
                    </a:p>
                  </a:txBody>
                  <a:tcPr marL="91440" marR="91440" marT="45720" marB="45720" anchor="ctr">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r>
              <a:tr h="650875">
                <a:tc>
                  <a:txBody>
                    <a:bodyPr lIns="95250" tIns="95250" rIns="95250" bIns="95250"/>
                    <a:lstStyle/>
                    <a:p>
                      <a:r>
                        <a:rPr sz="1950" b="0">
                          <a:solidFill>
                            <a:srgbClr val="24352C"/>
                          </a:solidFill>
                          <a:latin typeface="Arial"/>
                          <a:ea typeface="Arial"/>
                          <a:cs typeface="Arial"/>
                        </a:rPr>
                        <a:t>ViT baseline</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950" b="0">
                          <a:solidFill>
                            <a:srgbClr val="24352C"/>
                          </a:solidFill>
                          <a:latin typeface="Arial"/>
                          <a:ea typeface="Arial"/>
                          <a:cs typeface="Arial"/>
                        </a:rPr>
                        <a:t>Historical reference</a:t>
                      </a:r>
                    </a:p>
                  </a:txBody>
                  <a:tcPr marL="91440" marR="91440" marT="45720" marB="45720" anchor="ctr">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950" b="0">
                          <a:solidFill>
                            <a:srgbClr val="24352C"/>
                          </a:solidFill>
                          <a:latin typeface="Arial"/>
                          <a:ea typeface="Arial"/>
                          <a:cs typeface="Arial"/>
                        </a:rPr>
                        <a:t>≈ 90.64%</a:t>
                      </a:r>
                    </a:p>
                  </a:txBody>
                  <a:tcPr marL="91440" marR="91440" marT="45720" marB="45720" anchor="ctr">
                    <a:lnR w="5715">
                      <a:solidFill>
                        <a:srgbClr val="DCE5DB"/>
                      </a:solidFill>
                      <a:prstDash val="solid"/>
                    </a:lnR>
                    <a:lnB w="5715">
                      <a:solidFill>
                        <a:srgbClr val="DCE5DB"/>
                      </a:solidFill>
                      <a:prstDash val="solid"/>
                    </a:lnB>
                    <a:solidFill>
                      <a:srgbClr val="FFFFFF"/>
                    </a:solidFill>
                  </a:tcPr>
                </a:tc>
              </a:tr>
              <a:tr h="650875">
                <a:tc>
                  <a:txBody>
                    <a:bodyPr lIns="95250" tIns="95250" rIns="95250" bIns="95250"/>
                    <a:lstStyle/>
                    <a:p>
                      <a:r>
                        <a:rPr sz="1950" b="0">
                          <a:solidFill>
                            <a:srgbClr val="24352C"/>
                          </a:solidFill>
                          <a:latin typeface="Arial"/>
                          <a:ea typeface="Arial"/>
                          <a:cs typeface="Arial"/>
                        </a:rPr>
                        <a:t>Three EVA-02 Small models</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EBEFE7"/>
                    </a:solidFill>
                  </a:tcPr>
                </a:tc>
                <a:tc>
                  <a:txBody>
                    <a:bodyPr lIns="95250" tIns="95250" rIns="95250" bIns="95250"/>
                    <a:lstStyle/>
                    <a:p>
                      <a:r>
                        <a:rPr sz="1950" b="0">
                          <a:solidFill>
                            <a:srgbClr val="24352C"/>
                          </a:solidFill>
                          <a:latin typeface="Arial"/>
                          <a:ea typeface="Arial"/>
                          <a:cs typeface="Arial"/>
                        </a:rPr>
                        <a:t>336 × 336</a:t>
                      </a:r>
                    </a:p>
                  </a:txBody>
                  <a:tcPr marL="91440" marR="91440" marT="45720" marB="45720" anchor="ctr">
                    <a:lnR w="5715">
                      <a:solidFill>
                        <a:srgbClr val="DCE5DB"/>
                      </a:solidFill>
                      <a:prstDash val="solid"/>
                    </a:lnR>
                    <a:lnB w="5715">
                      <a:solidFill>
                        <a:srgbClr val="DCE5DB"/>
                      </a:solidFill>
                      <a:prstDash val="solid"/>
                    </a:lnB>
                    <a:solidFill>
                      <a:srgbClr val="EBEFE7"/>
                    </a:solidFill>
                  </a:tcPr>
                </a:tc>
                <a:tc>
                  <a:txBody>
                    <a:bodyPr lIns="95250" tIns="95250" rIns="95250" bIns="95250"/>
                    <a:lstStyle/>
                    <a:p>
                      <a:r>
                        <a:rPr sz="1950" b="0">
                          <a:solidFill>
                            <a:srgbClr val="24352C"/>
                          </a:solidFill>
                          <a:latin typeface="Arial"/>
                          <a:ea typeface="Arial"/>
                          <a:cs typeface="Arial"/>
                        </a:rPr>
                        <a:t>94.72%</a:t>
                      </a:r>
                    </a:p>
                  </a:txBody>
                  <a:tcPr marL="91440" marR="91440" marT="45720" marB="45720" anchor="ctr">
                    <a:lnR w="5715">
                      <a:solidFill>
                        <a:srgbClr val="DCE5DB"/>
                      </a:solidFill>
                      <a:prstDash val="solid"/>
                    </a:lnR>
                    <a:lnB w="5715">
                      <a:solidFill>
                        <a:srgbClr val="DCE5DB"/>
                      </a:solidFill>
                      <a:prstDash val="solid"/>
                    </a:lnB>
                    <a:solidFill>
                      <a:srgbClr val="EBEFE7"/>
                    </a:solidFill>
                  </a:tcPr>
                </a:tc>
              </a:tr>
            </a:tbl>
          </a:graphicData>
        </a:graphic>
      </p:graphicFrame>
      <p:sp>
        <p:nvSpPr>
          <p:cNvPr id="5" name="">
            <a:extLst xmlns:a="http://schemas.openxmlformats.org/drawingml/2006/main">
              <a:ext uri="{FF2B5EF4-FFF2-40B4-BE49-F238E27FC236}">
                <a16:creationId xmlns:a16="http://schemas.microsoft.com/office/drawing/2014/main" id="{8CD2A8BC-F97C-468D-9F53-4BCFAA433D9D}"/>
              </a:ext>
            </a:extLst>
          </p:cNvPr>
          <p:cNvSpPr>
            <a:spLocks xmlns:a="http://schemas.openxmlformats.org/drawingml/2006/main" noGrp="1"/>
          </p:cNvSpPr>
          <p:nvPr/>
        </p:nvSpPr>
        <p:spPr>
          <a:xfrm xmlns:a="http://schemas.openxmlformats.org/drawingml/2006/main">
            <a:off x="723900" y="458152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173E2C"/>
                </a:solidFill>
                <a:latin typeface="Arial"/>
                <a:ea typeface="Arial"/>
                <a:cs typeface="Arial"/>
              </a:defRPr>
            </a:defPPr>
            <a:lvl1pPr>
              <a:defRPr sz="2175" b="1">
                <a:solidFill>
                  <a:srgbClr val="173E2C"/>
                </a:solidFill>
                <a:latin typeface="Arial"/>
                <a:ea typeface="Arial"/>
                <a:cs typeface="Arial"/>
              </a:defRPr>
            </a:lvl1pPr>
            <a:lvl2pPr>
              <a:defRPr sz="2175" b="1">
                <a:solidFill>
                  <a:srgbClr val="173E2C"/>
                </a:solidFill>
                <a:latin typeface="Arial"/>
                <a:ea typeface="Arial"/>
                <a:cs typeface="Arial"/>
              </a:defRPr>
            </a:lvl2pPr>
            <a:lvl3pPr>
              <a:defRPr sz="2175" b="1">
                <a:solidFill>
                  <a:srgbClr val="173E2C"/>
                </a:solidFill>
                <a:latin typeface="Arial"/>
                <a:ea typeface="Arial"/>
                <a:cs typeface="Arial"/>
              </a:defRPr>
            </a:lvl3pPr>
            <a:lvl4pPr>
              <a:defRPr sz="2175" b="1">
                <a:solidFill>
                  <a:srgbClr val="173E2C"/>
                </a:solidFill>
                <a:latin typeface="Arial"/>
                <a:ea typeface="Arial"/>
                <a:cs typeface="Arial"/>
              </a:defRPr>
            </a:lvl4pPr>
            <a:lvl5pPr>
              <a:defRPr sz="2175" b="1">
                <a:solidFill>
                  <a:srgbClr val="173E2C"/>
                </a:solidFill>
                <a:latin typeface="Arial"/>
                <a:ea typeface="Arial"/>
                <a:cs typeface="Arial"/>
              </a:defRPr>
            </a:lvl5pPr>
            <a:lvl6pPr>
              <a:defRPr sz="2175" b="1">
                <a:solidFill>
                  <a:srgbClr val="173E2C"/>
                </a:solidFill>
                <a:latin typeface="Arial"/>
                <a:ea typeface="Arial"/>
                <a:cs typeface="Arial"/>
              </a:defRPr>
            </a:lvl6pPr>
            <a:lvl7pPr>
              <a:defRPr sz="2175" b="1">
                <a:solidFill>
                  <a:srgbClr val="173E2C"/>
                </a:solidFill>
                <a:latin typeface="Arial"/>
                <a:ea typeface="Arial"/>
                <a:cs typeface="Arial"/>
              </a:defRPr>
            </a:lvl7pPr>
            <a:lvl8pPr>
              <a:defRPr sz="2175" b="1">
                <a:solidFill>
                  <a:srgbClr val="173E2C"/>
                </a:solidFill>
                <a:latin typeface="Arial"/>
                <a:ea typeface="Arial"/>
                <a:cs typeface="Arial"/>
              </a:defRPr>
            </a:lvl8pPr>
            <a:lvl9pPr>
              <a:defRPr sz="2175" b="1">
                <a:solidFill>
                  <a:srgbClr val="173E2C"/>
                </a:solidFill>
                <a:latin typeface="Arial"/>
                <a:ea typeface="Arial"/>
                <a:cs typeface="Arial"/>
              </a:defRPr>
            </a:lvl9pPr>
          </a:lstStyle>
          <a:p xmlns:a="http://schemas.openxmlformats.org/drawingml/2006/main">
            <a:pPr>
              <a:defRPr sz="2175" b="1">
                <a:solidFill>
                  <a:srgbClr val="173E2C"/>
                </a:solidFill>
                <a:latin typeface="Arial"/>
                <a:ea typeface="Arial"/>
                <a:cs typeface="Arial"/>
              </a:defRPr>
            </a:pPr>
            <a:r>
              <a:rPr sz="2175" b="1">
                <a:solidFill>
                  <a:srgbClr val="173E2C"/>
                </a:solidFill>
                <a:latin typeface="Arial"/>
                <a:ea typeface="Arial"/>
                <a:cs typeface="Arial"/>
              </a:rPr>
              <a:t>Small and Base name the model variants. 336 and 448 describe the input size.</a:t>
            </a:r>
          </a:p>
        </p:txBody>
      </p:sp>
      <p:sp>
        <p:nvSpPr>
          <p:cNvPr id="6" name="">
            <a:extLst xmlns:a="http://schemas.openxmlformats.org/drawingml/2006/main">
              <a:ext uri="{FF2B5EF4-FFF2-40B4-BE49-F238E27FC236}">
                <a16:creationId xmlns:a16="http://schemas.microsoft.com/office/drawing/2014/main" id="{BBF738B1-FDED-4B09-A5FF-F009C828CD4C}"/>
              </a:ext>
            </a:extLst>
          </p:cNvPr>
          <p:cNvSpPr>
            <a:spLocks xmlns:a="http://schemas.openxmlformats.org/drawingml/2006/main" noGrp="1"/>
          </p:cNvSpPr>
          <p:nvPr/>
        </p:nvSpPr>
        <p:spPr>
          <a:xfrm xmlns:a="http://schemas.openxmlformats.org/drawingml/2006/main">
            <a:off x="723900" y="5467350"/>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24352C"/>
                </a:solidFill>
                <a:latin typeface="Arial"/>
                <a:ea typeface="Arial"/>
                <a:cs typeface="Arial"/>
              </a:defRPr>
            </a:defPPr>
            <a:lvl1pPr>
              <a:defRPr sz="2025" b="0">
                <a:solidFill>
                  <a:srgbClr val="24352C"/>
                </a:solidFill>
                <a:latin typeface="Arial"/>
                <a:ea typeface="Arial"/>
                <a:cs typeface="Arial"/>
              </a:defRPr>
            </a:lvl1pPr>
            <a:lvl2pPr>
              <a:defRPr sz="2025" b="0">
                <a:solidFill>
                  <a:srgbClr val="24352C"/>
                </a:solidFill>
                <a:latin typeface="Arial"/>
                <a:ea typeface="Arial"/>
                <a:cs typeface="Arial"/>
              </a:defRPr>
            </a:lvl2pPr>
            <a:lvl3pPr>
              <a:defRPr sz="2025" b="0">
                <a:solidFill>
                  <a:srgbClr val="24352C"/>
                </a:solidFill>
                <a:latin typeface="Arial"/>
                <a:ea typeface="Arial"/>
                <a:cs typeface="Arial"/>
              </a:defRPr>
            </a:lvl3pPr>
            <a:lvl4pPr>
              <a:defRPr sz="2025" b="0">
                <a:solidFill>
                  <a:srgbClr val="24352C"/>
                </a:solidFill>
                <a:latin typeface="Arial"/>
                <a:ea typeface="Arial"/>
                <a:cs typeface="Arial"/>
              </a:defRPr>
            </a:lvl4pPr>
            <a:lvl5pPr>
              <a:defRPr sz="2025" b="0">
                <a:solidFill>
                  <a:srgbClr val="24352C"/>
                </a:solidFill>
                <a:latin typeface="Arial"/>
                <a:ea typeface="Arial"/>
                <a:cs typeface="Arial"/>
              </a:defRPr>
            </a:lvl5pPr>
            <a:lvl6pPr>
              <a:defRPr sz="2025" b="0">
                <a:solidFill>
                  <a:srgbClr val="24352C"/>
                </a:solidFill>
                <a:latin typeface="Arial"/>
                <a:ea typeface="Arial"/>
                <a:cs typeface="Arial"/>
              </a:defRPr>
            </a:lvl6pPr>
            <a:lvl7pPr>
              <a:defRPr sz="2025" b="0">
                <a:solidFill>
                  <a:srgbClr val="24352C"/>
                </a:solidFill>
                <a:latin typeface="Arial"/>
                <a:ea typeface="Arial"/>
                <a:cs typeface="Arial"/>
              </a:defRPr>
            </a:lvl7pPr>
            <a:lvl8pPr>
              <a:defRPr sz="2025" b="0">
                <a:solidFill>
                  <a:srgbClr val="24352C"/>
                </a:solidFill>
                <a:latin typeface="Arial"/>
                <a:ea typeface="Arial"/>
                <a:cs typeface="Arial"/>
              </a:defRPr>
            </a:lvl8pPr>
            <a:lvl9pPr>
              <a:defRPr sz="2025" b="0">
                <a:solidFill>
                  <a:srgbClr val="24352C"/>
                </a:solidFill>
                <a:latin typeface="Arial"/>
                <a:ea typeface="Arial"/>
                <a:cs typeface="Arial"/>
              </a:defRPr>
            </a:lvl9pPr>
          </a:lstStyle>
          <a:p xmlns:a="http://schemas.openxmlformats.org/drawingml/2006/main">
            <a:pPr>
              <a:defRPr sz="2025" b="0">
                <a:solidFill>
                  <a:srgbClr val="24352C"/>
                </a:solidFill>
                <a:latin typeface="Arial"/>
                <a:ea typeface="Arial"/>
                <a:cs typeface="Arial"/>
              </a:defRPr>
            </a:pPr>
            <a:r>
              <a:rPr sz="2025" b="0">
                <a:solidFill>
                  <a:srgbClr val="24352C"/>
                </a:solidFill>
                <a:latin typeface="Arial"/>
                <a:ea typeface="Arial"/>
                <a:cs typeface="Arial"/>
              </a:rPr>
              <a:t>Earlier checks: another Small seed, longer training, and ConvNeXt did not improve the selected ensemble. I needed a different training idea.</a:t>
            </a:r>
          </a:p>
        </p:txBody>
      </p:sp>
    </p:spTree>
    <p:extLst>
      <p:ext uri="{BB962C8B-B14F-4D97-AF65-F5344CB8AC3E}">
        <p14:creationId xmlns:p14="http://schemas.microsoft.com/office/powerpoint/2010/main" val="778318601"/>
      </p:ext>
    </p:extLst>
  </p:cSld>
</p:sld>
</file>

<file path=ppt/slides/slide5.xml><?xml version="1.0" encoding="utf-8"?>
<p:sld xmlns:p="http://schemas.openxmlformats.org/presentationml/2006/main">
  <p:cSld>
    <p:bg>
      <p:bgPr>
        <a:solidFill xmlns:a="http://schemas.openxmlformats.org/drawingml/2006/main">
          <a:srgbClr val="F6F5E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1984270-D18E-47C1-9417-49188A127CBF}"/>
              </a:ext>
            </a:extLst>
          </p:cNvPr>
          <p:cNvSpPr>
            <a:spLocks xmlns:a="http://schemas.openxmlformats.org/drawingml/2006/main" noGrp="1"/>
          </p:cNvSpPr>
          <p:nvPr/>
        </p:nvSpPr>
        <p:spPr>
          <a:xfrm xmlns:a="http://schemas.openxmlformats.org/drawingml/2006/main">
            <a:off x="666750" y="45720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173E2C"/>
                </a:solidFill>
                <a:latin typeface="Arial"/>
                <a:ea typeface="Arial"/>
                <a:cs typeface="Arial"/>
              </a:defRPr>
            </a:defPPr>
            <a:lvl1pPr>
              <a:defRPr sz="3225" b="1">
                <a:solidFill>
                  <a:srgbClr val="173E2C"/>
                </a:solidFill>
                <a:latin typeface="Arial"/>
                <a:ea typeface="Arial"/>
                <a:cs typeface="Arial"/>
              </a:defRPr>
            </a:lvl1pPr>
            <a:lvl2pPr>
              <a:defRPr sz="3225" b="1">
                <a:solidFill>
                  <a:srgbClr val="173E2C"/>
                </a:solidFill>
                <a:latin typeface="Arial"/>
                <a:ea typeface="Arial"/>
                <a:cs typeface="Arial"/>
              </a:defRPr>
            </a:lvl2pPr>
            <a:lvl3pPr>
              <a:defRPr sz="3225" b="1">
                <a:solidFill>
                  <a:srgbClr val="173E2C"/>
                </a:solidFill>
                <a:latin typeface="Arial"/>
                <a:ea typeface="Arial"/>
                <a:cs typeface="Arial"/>
              </a:defRPr>
            </a:lvl3pPr>
            <a:lvl4pPr>
              <a:defRPr sz="3225" b="1">
                <a:solidFill>
                  <a:srgbClr val="173E2C"/>
                </a:solidFill>
                <a:latin typeface="Arial"/>
                <a:ea typeface="Arial"/>
                <a:cs typeface="Arial"/>
              </a:defRPr>
            </a:lvl4pPr>
            <a:lvl5pPr>
              <a:defRPr sz="3225" b="1">
                <a:solidFill>
                  <a:srgbClr val="173E2C"/>
                </a:solidFill>
                <a:latin typeface="Arial"/>
                <a:ea typeface="Arial"/>
                <a:cs typeface="Arial"/>
              </a:defRPr>
            </a:lvl5pPr>
            <a:lvl6pPr>
              <a:defRPr sz="3225" b="1">
                <a:solidFill>
                  <a:srgbClr val="173E2C"/>
                </a:solidFill>
                <a:latin typeface="Arial"/>
                <a:ea typeface="Arial"/>
                <a:cs typeface="Arial"/>
              </a:defRPr>
            </a:lvl6pPr>
            <a:lvl7pPr>
              <a:defRPr sz="3225" b="1">
                <a:solidFill>
                  <a:srgbClr val="173E2C"/>
                </a:solidFill>
                <a:latin typeface="Arial"/>
                <a:ea typeface="Arial"/>
                <a:cs typeface="Arial"/>
              </a:defRPr>
            </a:lvl7pPr>
            <a:lvl8pPr>
              <a:defRPr sz="3225" b="1">
                <a:solidFill>
                  <a:srgbClr val="173E2C"/>
                </a:solidFill>
                <a:latin typeface="Arial"/>
                <a:ea typeface="Arial"/>
                <a:cs typeface="Arial"/>
              </a:defRPr>
            </a:lvl8pPr>
            <a:lvl9pPr>
              <a:defRPr sz="3225" b="1">
                <a:solidFill>
                  <a:srgbClr val="173E2C"/>
                </a:solidFill>
                <a:latin typeface="Arial"/>
                <a:ea typeface="Arial"/>
                <a:cs typeface="Arial"/>
              </a:defRPr>
            </a:lvl9pPr>
          </a:lstStyle>
          <a:p xmlns:a="http://schemas.openxmlformats.org/drawingml/2006/main">
            <a:pPr>
              <a:defRPr sz="3225" b="1">
                <a:solidFill>
                  <a:srgbClr val="173E2C"/>
                </a:solidFill>
                <a:latin typeface="Arial"/>
                <a:ea typeface="Arial"/>
                <a:cs typeface="Arial"/>
              </a:defRPr>
            </a:pPr>
            <a:r>
              <a:rPr sz="3225" b="1">
                <a:solidFill>
                  <a:srgbClr val="173E2C"/>
                </a:solidFill>
                <a:latin typeface="Arial"/>
                <a:ea typeface="Arial"/>
                <a:cs typeface="Arial"/>
              </a:rPr>
              <a:t>Next experiments: sampling, size, and learning rate</a:t>
            </a:r>
          </a:p>
        </p:txBody>
      </p:sp>
      <p:sp>
        <p:nvSpPr>
          <p:cNvPr id="2" name="">
            <a:extLst xmlns:a="http://schemas.openxmlformats.org/drawingml/2006/main">
              <a:ext uri="{FF2B5EF4-FFF2-40B4-BE49-F238E27FC236}">
                <a16:creationId xmlns:a16="http://schemas.microsoft.com/office/drawing/2014/main" id="{0BC2E094-6E43-47FC-83C9-19C84B9289F8}"/>
              </a:ext>
            </a:extLst>
          </p:cNvPr>
          <p:cNvSpPr>
            <a:spLocks xmlns:a="http://schemas.openxmlformats.org/drawingml/2006/main" noGrp="1"/>
          </p:cNvSpPr>
          <p:nvPr/>
        </p:nvSpPr>
        <p:spPr>
          <a:xfrm xmlns:a="http://schemas.openxmlformats.org/drawingml/2006/main">
            <a:off x="666750" y="6467475"/>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9665D"/>
                </a:solidFill>
                <a:latin typeface="Arial"/>
                <a:ea typeface="Arial"/>
                <a:cs typeface="Arial"/>
              </a:defRPr>
            </a:defPPr>
            <a:lvl1pPr>
              <a:defRPr sz="1200" b="0">
                <a:solidFill>
                  <a:srgbClr val="59665D"/>
                </a:solidFill>
                <a:latin typeface="Arial"/>
                <a:ea typeface="Arial"/>
                <a:cs typeface="Arial"/>
              </a:defRPr>
            </a:lvl1pPr>
            <a:lvl2pPr>
              <a:defRPr sz="1200" b="0">
                <a:solidFill>
                  <a:srgbClr val="59665D"/>
                </a:solidFill>
                <a:latin typeface="Arial"/>
                <a:ea typeface="Arial"/>
                <a:cs typeface="Arial"/>
              </a:defRPr>
            </a:lvl2pPr>
            <a:lvl3pPr>
              <a:defRPr sz="1200" b="0">
                <a:solidFill>
                  <a:srgbClr val="59665D"/>
                </a:solidFill>
                <a:latin typeface="Arial"/>
                <a:ea typeface="Arial"/>
                <a:cs typeface="Arial"/>
              </a:defRPr>
            </a:lvl3pPr>
            <a:lvl4pPr>
              <a:defRPr sz="1200" b="0">
                <a:solidFill>
                  <a:srgbClr val="59665D"/>
                </a:solidFill>
                <a:latin typeface="Arial"/>
                <a:ea typeface="Arial"/>
                <a:cs typeface="Arial"/>
              </a:defRPr>
            </a:lvl4pPr>
            <a:lvl5pPr>
              <a:defRPr sz="1200" b="0">
                <a:solidFill>
                  <a:srgbClr val="59665D"/>
                </a:solidFill>
                <a:latin typeface="Arial"/>
                <a:ea typeface="Arial"/>
                <a:cs typeface="Arial"/>
              </a:defRPr>
            </a:lvl5pPr>
            <a:lvl6pPr>
              <a:defRPr sz="1200" b="0">
                <a:solidFill>
                  <a:srgbClr val="59665D"/>
                </a:solidFill>
                <a:latin typeface="Arial"/>
                <a:ea typeface="Arial"/>
                <a:cs typeface="Arial"/>
              </a:defRPr>
            </a:lvl6pPr>
            <a:lvl7pPr>
              <a:defRPr sz="1200" b="0">
                <a:solidFill>
                  <a:srgbClr val="59665D"/>
                </a:solidFill>
                <a:latin typeface="Arial"/>
                <a:ea typeface="Arial"/>
                <a:cs typeface="Arial"/>
              </a:defRPr>
            </a:lvl7pPr>
            <a:lvl8pPr>
              <a:defRPr sz="1200" b="0">
                <a:solidFill>
                  <a:srgbClr val="59665D"/>
                </a:solidFill>
                <a:latin typeface="Arial"/>
                <a:ea typeface="Arial"/>
                <a:cs typeface="Arial"/>
              </a:defRPr>
            </a:lvl8pPr>
            <a:lvl9pPr>
              <a:defRPr sz="1200" b="0">
                <a:solidFill>
                  <a:srgbClr val="59665D"/>
                </a:solidFill>
                <a:latin typeface="Arial"/>
                <a:ea typeface="Arial"/>
                <a:cs typeface="Arial"/>
              </a:defRPr>
            </a:lvl9pPr>
          </a:lstStyle>
          <a:p xmlns:a="http://schemas.openxmlformats.org/drawingml/2006/main">
            <a:pPr>
              <a:defRPr sz="1200" b="0">
                <a:solidFill>
                  <a:srgbClr val="59665D"/>
                </a:solidFill>
                <a:latin typeface="Arial"/>
                <a:ea typeface="Arial"/>
                <a:cs typeface="Arial"/>
              </a:defRPr>
            </a:pPr>
            <a:r>
              <a:rPr sz="1200" b="0">
                <a:solidFill>
                  <a:srgbClr val="59665D"/>
                </a:solidFill>
                <a:latin typeface="Arial"/>
                <a:ea typeface="Arial"/>
                <a:cs typeface="Arial"/>
              </a:rPr>
              <a:t>05</a:t>
            </a:r>
          </a:p>
        </p:txBody>
      </p:sp>
      <p:graphicFrame>
        <p:nvGraphicFramePr>
          <p:cNvPr id="3" name="">
            <a:extLst xmlns:a="http://schemas.openxmlformats.org/drawingml/2006/main">
              <a:ext uri="{FF2B5EF4-FFF2-40B4-BE49-F238E27FC236}">
                <a16:creationId xmlns:a16="http://schemas.microsoft.com/office/drawing/2014/main" id="{A90CD0CA-86AC-4CFE-AF18-773DE422F20A}"/>
              </a:ext>
            </a:extLst>
          </p:cNvPr>
          <p:cNvGraphicFramePr/>
          <p:nvPr/>
        </p:nvGraphicFramePr>
        <p:xfrm>
          <a:off xmlns:a="http://schemas.openxmlformats.org/drawingml/2006/main" x="666750" y="1724025"/>
          <a:ext xmlns:a="http://schemas.openxmlformats.org/drawingml/2006/main" cx="10858500" cy="2933700"/>
        </p:xfrm>
        <a:graphic xmlns:a="http://schemas.openxmlformats.org/drawingml/2006/main">
          <a:graphicData uri="http://schemas.openxmlformats.org/drawingml/2006/table">
            <a:tbl>
              <a:tblPr/>
              <a:tblGrid>
                <a:gridCol w="3714750"/>
                <a:gridCol w="3381375"/>
                <a:gridCol w="3762375"/>
              </a:tblGrid>
              <a:tr h="733425">
                <a:tc>
                  <a:txBody>
                    <a:bodyPr lIns="95250" tIns="95250" rIns="95250" bIns="95250"/>
                    <a:lstStyle/>
                    <a:p>
                      <a:r>
                        <a:rPr sz="1875" b="1">
                          <a:solidFill>
                            <a:srgbClr val="FFFFFF"/>
                          </a:solidFill>
                          <a:latin typeface="Arial"/>
                          <a:ea typeface="Arial"/>
                          <a:cs typeface="Arial"/>
                        </a:rPr>
                        <a:t>What I changed</a:t>
                      </a:r>
                    </a:p>
                  </a:txBody>
                  <a:tcPr marL="91440" marR="91440" marT="45720" marB="45720" anchor="ctr">
                    <a:lnL w="5715">
                      <a:solidFill>
                        <a:srgbClr val="DCE5DB"/>
                      </a:solidFill>
                      <a:prstDash val="solid"/>
                    </a:lnL>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c>
                  <a:txBody>
                    <a:bodyPr lIns="95250" tIns="95250" rIns="95250" bIns="95250"/>
                    <a:lstStyle/>
                    <a:p>
                      <a:r>
                        <a:rPr sz="1875" b="1">
                          <a:solidFill>
                            <a:srgbClr val="FFFFFF"/>
                          </a:solidFill>
                          <a:latin typeface="Arial"/>
                          <a:ea typeface="Arial"/>
                          <a:cs typeface="Arial"/>
                        </a:rPr>
                        <a:t>Why I tried it</a:t>
                      </a:r>
                    </a:p>
                  </a:txBody>
                  <a:tcPr marL="91440" marR="91440" marT="45720" marB="45720" anchor="ctr">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c>
                  <a:txBody>
                    <a:bodyPr lIns="95250" tIns="95250" rIns="95250" bIns="95250"/>
                    <a:lstStyle/>
                    <a:p>
                      <a:r>
                        <a:rPr sz="1875" b="1">
                          <a:solidFill>
                            <a:srgbClr val="FFFFFF"/>
                          </a:solidFill>
                          <a:latin typeface="Arial"/>
                          <a:ea typeface="Arial"/>
                          <a:cs typeface="Arial"/>
                        </a:rPr>
                        <a:t>Result (macro mAP)</a:t>
                      </a:r>
                    </a:p>
                  </a:txBody>
                  <a:tcPr marL="91440" marR="91440" marT="45720" marB="45720" anchor="ctr">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r>
              <a:tr h="733425">
                <a:tc>
                  <a:txBody>
                    <a:bodyPr lIns="95250" tIns="95250" rIns="95250" bIns="95250"/>
                    <a:lstStyle/>
                    <a:p>
                      <a:r>
                        <a:rPr sz="1875" b="0">
                          <a:solidFill>
                            <a:srgbClr val="24352C"/>
                          </a:solidFill>
                          <a:latin typeface="Arial"/>
                          <a:ea typeface="Arial"/>
                          <a:cs typeface="Arial"/>
                        </a:rPr>
                        <a:t>Additional Small 336: shuffled sampling + weighted loss</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875" b="0">
                          <a:solidFill>
                            <a:srgbClr val="24352C"/>
                          </a:solidFill>
                          <a:latin typeface="Arial"/>
                          <a:ea typeface="Arial"/>
                          <a:cs typeface="Arial"/>
                        </a:rPr>
                        <a:t>Give rare-class mistakes more weight</a:t>
                      </a:r>
                    </a:p>
                  </a:txBody>
                  <a:tcPr marL="91440" marR="91440" marT="45720" marB="45720" anchor="ctr">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875" b="0">
                          <a:solidFill>
                            <a:srgbClr val="24352C"/>
                          </a:solidFill>
                          <a:latin typeface="Arial"/>
                          <a:ea typeface="Arial"/>
                          <a:cs typeface="Arial"/>
                        </a:rPr>
                        <a:t>Original three + this model: 94.85%</a:t>
                      </a:r>
                    </a:p>
                  </a:txBody>
                  <a:tcPr marL="91440" marR="91440" marT="45720" marB="45720" anchor="ctr">
                    <a:lnR w="5715">
                      <a:solidFill>
                        <a:srgbClr val="DCE5DB"/>
                      </a:solidFill>
                      <a:prstDash val="solid"/>
                    </a:lnR>
                    <a:lnB w="5715">
                      <a:solidFill>
                        <a:srgbClr val="DCE5DB"/>
                      </a:solidFill>
                      <a:prstDash val="solid"/>
                    </a:lnB>
                    <a:solidFill>
                      <a:srgbClr val="FFFFFF"/>
                    </a:solidFill>
                  </a:tcPr>
                </a:tc>
              </a:tr>
              <a:tr h="733425">
                <a:tc>
                  <a:txBody>
                    <a:bodyPr lIns="95250" tIns="95250" rIns="95250" bIns="95250"/>
                    <a:lstStyle/>
                    <a:p>
                      <a:r>
                        <a:rPr sz="1875" b="0">
                          <a:solidFill>
                            <a:srgbClr val="24352C"/>
                          </a:solidFill>
                          <a:latin typeface="Arial"/>
                          <a:ea typeface="Arial"/>
                          <a:cs typeface="Arial"/>
                        </a:rPr>
                        <a:t>Base model with 448 input</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EBEFE7"/>
                    </a:solidFill>
                  </a:tcPr>
                </a:tc>
                <a:tc>
                  <a:txBody>
                    <a:bodyPr lIns="95250" tIns="95250" rIns="95250" bIns="95250"/>
                    <a:lstStyle/>
                    <a:p>
                      <a:r>
                        <a:rPr sz="1875" b="0">
                          <a:solidFill>
                            <a:srgbClr val="24352C"/>
                          </a:solidFill>
                          <a:latin typeface="Arial"/>
                          <a:ea typeface="Arial"/>
                          <a:cs typeface="Arial"/>
                        </a:rPr>
                        <a:t>Test more model capacity and image detail</a:t>
                      </a:r>
                    </a:p>
                  </a:txBody>
                  <a:tcPr marL="91440" marR="91440" marT="45720" marB="45720" anchor="ctr">
                    <a:lnR w="5715">
                      <a:solidFill>
                        <a:srgbClr val="DCE5DB"/>
                      </a:solidFill>
                      <a:prstDash val="solid"/>
                    </a:lnR>
                    <a:lnB w="5715">
                      <a:solidFill>
                        <a:srgbClr val="DCE5DB"/>
                      </a:solidFill>
                      <a:prstDash val="solid"/>
                    </a:lnB>
                    <a:solidFill>
                      <a:srgbClr val="EBEFE7"/>
                    </a:solidFill>
                  </a:tcPr>
                </a:tc>
                <a:tc>
                  <a:txBody>
                    <a:bodyPr lIns="95250" tIns="95250" rIns="95250" bIns="95250"/>
                    <a:lstStyle/>
                    <a:p>
                      <a:r>
                        <a:rPr sz="1875" b="0">
                          <a:solidFill>
                            <a:srgbClr val="24352C"/>
                          </a:solidFill>
                          <a:latin typeface="Arial"/>
                          <a:ea typeface="Arial"/>
                          <a:cs typeface="Arial"/>
                        </a:rPr>
                        <a:t>Five-model combination: 95.07%</a:t>
                      </a:r>
                    </a:p>
                  </a:txBody>
                  <a:tcPr marL="91440" marR="91440" marT="45720" marB="45720" anchor="ctr">
                    <a:lnR w="5715">
                      <a:solidFill>
                        <a:srgbClr val="DCE5DB"/>
                      </a:solidFill>
                      <a:prstDash val="solid"/>
                    </a:lnR>
                    <a:lnB w="5715">
                      <a:solidFill>
                        <a:srgbClr val="DCE5DB"/>
                      </a:solidFill>
                      <a:prstDash val="solid"/>
                    </a:lnB>
                    <a:solidFill>
                      <a:srgbClr val="EBEFE7"/>
                    </a:solidFill>
                  </a:tcPr>
                </a:tc>
              </a:tr>
              <a:tr h="733425">
                <a:tc>
                  <a:txBody>
                    <a:bodyPr lIns="95250" tIns="95250" rIns="95250" bIns="95250"/>
                    <a:lstStyle/>
                    <a:p>
                      <a:r>
                        <a:rPr sz="1875" b="0">
                          <a:solidFill>
                            <a:srgbClr val="24352C"/>
                          </a:solidFill>
                          <a:latin typeface="Arial"/>
                          <a:ea typeface="Arial"/>
                          <a:cs typeface="Arial"/>
                        </a:rPr>
                        <a:t>Base with all learning rates ÷ 3</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875" b="0">
                          <a:solidFill>
                            <a:srgbClr val="24352C"/>
                          </a:solidFill>
                          <a:latin typeface="Arial"/>
                          <a:ea typeface="Arial"/>
                          <a:cs typeface="Arial"/>
                        </a:rPr>
                        <a:t>Adapt the starting weights more gently</a:t>
                      </a:r>
                    </a:p>
                  </a:txBody>
                  <a:tcPr marL="91440" marR="91440" marT="45720" marB="45720" anchor="ctr">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875" b="0">
                          <a:solidFill>
                            <a:srgbClr val="24352C"/>
                          </a:solidFill>
                          <a:latin typeface="Arial"/>
                          <a:ea typeface="Arial"/>
                          <a:cs typeface="Arial"/>
                        </a:rPr>
                        <a:t>Better alone, weaker in its planned ensemble</a:t>
                      </a:r>
                    </a:p>
                  </a:txBody>
                  <a:tcPr marL="91440" marR="91440" marT="45720" marB="45720" anchor="ctr">
                    <a:lnR w="5715">
                      <a:solidFill>
                        <a:srgbClr val="DCE5DB"/>
                      </a:solidFill>
                      <a:prstDash val="solid"/>
                    </a:lnR>
                    <a:lnB w="5715">
                      <a:solidFill>
                        <a:srgbClr val="DCE5DB"/>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AA271990-0C3F-4F1E-B153-BA9DC7188B7A}"/>
              </a:ext>
            </a:extLst>
          </p:cNvPr>
          <p:cNvSpPr>
            <a:spLocks xmlns:a="http://schemas.openxmlformats.org/drawingml/2006/main" noGrp="1"/>
          </p:cNvSpPr>
          <p:nvPr/>
        </p:nvSpPr>
        <p:spPr>
          <a:xfrm xmlns:a="http://schemas.openxmlformats.org/drawingml/2006/main">
            <a:off x="723900" y="4886325"/>
            <a:ext cx="1066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173E2C"/>
                </a:solidFill>
                <a:latin typeface="Arial"/>
                <a:ea typeface="Arial"/>
                <a:cs typeface="Arial"/>
              </a:defRPr>
            </a:defPPr>
            <a:lvl1pPr>
              <a:defRPr sz="2100" b="1">
                <a:solidFill>
                  <a:srgbClr val="173E2C"/>
                </a:solidFill>
                <a:latin typeface="Arial"/>
                <a:ea typeface="Arial"/>
                <a:cs typeface="Arial"/>
              </a:defRPr>
            </a:lvl1pPr>
            <a:lvl2pPr>
              <a:defRPr sz="2100" b="1">
                <a:solidFill>
                  <a:srgbClr val="173E2C"/>
                </a:solidFill>
                <a:latin typeface="Arial"/>
                <a:ea typeface="Arial"/>
                <a:cs typeface="Arial"/>
              </a:defRPr>
            </a:lvl2pPr>
            <a:lvl3pPr>
              <a:defRPr sz="2100" b="1">
                <a:solidFill>
                  <a:srgbClr val="173E2C"/>
                </a:solidFill>
                <a:latin typeface="Arial"/>
                <a:ea typeface="Arial"/>
                <a:cs typeface="Arial"/>
              </a:defRPr>
            </a:lvl3pPr>
            <a:lvl4pPr>
              <a:defRPr sz="2100" b="1">
                <a:solidFill>
                  <a:srgbClr val="173E2C"/>
                </a:solidFill>
                <a:latin typeface="Arial"/>
                <a:ea typeface="Arial"/>
                <a:cs typeface="Arial"/>
              </a:defRPr>
            </a:lvl4pPr>
            <a:lvl5pPr>
              <a:defRPr sz="2100" b="1">
                <a:solidFill>
                  <a:srgbClr val="173E2C"/>
                </a:solidFill>
                <a:latin typeface="Arial"/>
                <a:ea typeface="Arial"/>
                <a:cs typeface="Arial"/>
              </a:defRPr>
            </a:lvl5pPr>
            <a:lvl6pPr>
              <a:defRPr sz="2100" b="1">
                <a:solidFill>
                  <a:srgbClr val="173E2C"/>
                </a:solidFill>
                <a:latin typeface="Arial"/>
                <a:ea typeface="Arial"/>
                <a:cs typeface="Arial"/>
              </a:defRPr>
            </a:lvl6pPr>
            <a:lvl7pPr>
              <a:defRPr sz="2100" b="1">
                <a:solidFill>
                  <a:srgbClr val="173E2C"/>
                </a:solidFill>
                <a:latin typeface="Arial"/>
                <a:ea typeface="Arial"/>
                <a:cs typeface="Arial"/>
              </a:defRPr>
            </a:lvl7pPr>
            <a:lvl8pPr>
              <a:defRPr sz="2100" b="1">
                <a:solidFill>
                  <a:srgbClr val="173E2C"/>
                </a:solidFill>
                <a:latin typeface="Arial"/>
                <a:ea typeface="Arial"/>
                <a:cs typeface="Arial"/>
              </a:defRPr>
            </a:lvl8pPr>
            <a:lvl9pPr>
              <a:defRPr sz="2100" b="1">
                <a:solidFill>
                  <a:srgbClr val="173E2C"/>
                </a:solidFill>
                <a:latin typeface="Arial"/>
                <a:ea typeface="Arial"/>
                <a:cs typeface="Arial"/>
              </a:defRPr>
            </a:lvl9pPr>
          </a:lstStyle>
          <a:p xmlns:a="http://schemas.openxmlformats.org/drawingml/2006/main">
            <a:pPr>
              <a:defRPr sz="2100" b="1">
                <a:solidFill>
                  <a:srgbClr val="173E2C"/>
                </a:solidFill>
                <a:latin typeface="Arial"/>
                <a:ea typeface="Arial"/>
                <a:cs typeface="Arial"/>
              </a:defRPr>
            </a:pPr>
            <a:r>
              <a:rPr sz="2100" b="1">
                <a:solidFill>
                  <a:srgbClr val="173E2C"/>
                </a:solidFill>
                <a:latin typeface="Arial"/>
                <a:ea typeface="Arial"/>
                <a:cs typeface="Arial"/>
              </a:rPr>
              <a:t>The lower-rate run restarted from the same initial weights. It was a new training run.</a:t>
            </a:r>
          </a:p>
        </p:txBody>
      </p:sp>
      <p:sp>
        <p:nvSpPr>
          <p:cNvPr id="5" name="">
            <a:extLst xmlns:a="http://schemas.openxmlformats.org/drawingml/2006/main">
              <a:ext uri="{FF2B5EF4-FFF2-40B4-BE49-F238E27FC236}">
                <a16:creationId xmlns:a16="http://schemas.microsoft.com/office/drawing/2014/main" id="{5138DFF9-B609-4EB0-992E-7EF13E459FB7}"/>
              </a:ext>
            </a:extLst>
          </p:cNvPr>
          <p:cNvSpPr>
            <a:spLocks xmlns:a="http://schemas.openxmlformats.org/drawingml/2006/main" noGrp="1"/>
          </p:cNvSpPr>
          <p:nvPr/>
        </p:nvSpPr>
        <p:spPr>
          <a:xfrm xmlns:a="http://schemas.openxmlformats.org/drawingml/2006/main">
            <a:off x="723900" y="5715000"/>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24352C"/>
                </a:solidFill>
                <a:latin typeface="Arial"/>
                <a:ea typeface="Arial"/>
                <a:cs typeface="Arial"/>
              </a:defRPr>
            </a:defPPr>
            <a:lvl1pPr>
              <a:defRPr sz="1800" b="0">
                <a:solidFill>
                  <a:srgbClr val="24352C"/>
                </a:solidFill>
                <a:latin typeface="Arial"/>
                <a:ea typeface="Arial"/>
                <a:cs typeface="Arial"/>
              </a:defRPr>
            </a:lvl1pPr>
            <a:lvl2pPr>
              <a:defRPr sz="1800" b="0">
                <a:solidFill>
                  <a:srgbClr val="24352C"/>
                </a:solidFill>
                <a:latin typeface="Arial"/>
                <a:ea typeface="Arial"/>
                <a:cs typeface="Arial"/>
              </a:defRPr>
            </a:lvl2pPr>
            <a:lvl3pPr>
              <a:defRPr sz="1800" b="0">
                <a:solidFill>
                  <a:srgbClr val="24352C"/>
                </a:solidFill>
                <a:latin typeface="Arial"/>
                <a:ea typeface="Arial"/>
                <a:cs typeface="Arial"/>
              </a:defRPr>
            </a:lvl3pPr>
            <a:lvl4pPr>
              <a:defRPr sz="1800" b="0">
                <a:solidFill>
                  <a:srgbClr val="24352C"/>
                </a:solidFill>
                <a:latin typeface="Arial"/>
                <a:ea typeface="Arial"/>
                <a:cs typeface="Arial"/>
              </a:defRPr>
            </a:lvl4pPr>
            <a:lvl5pPr>
              <a:defRPr sz="1800" b="0">
                <a:solidFill>
                  <a:srgbClr val="24352C"/>
                </a:solidFill>
                <a:latin typeface="Arial"/>
                <a:ea typeface="Arial"/>
                <a:cs typeface="Arial"/>
              </a:defRPr>
            </a:lvl5pPr>
            <a:lvl6pPr>
              <a:defRPr sz="1800" b="0">
                <a:solidFill>
                  <a:srgbClr val="24352C"/>
                </a:solidFill>
                <a:latin typeface="Arial"/>
                <a:ea typeface="Arial"/>
                <a:cs typeface="Arial"/>
              </a:defRPr>
            </a:lvl6pPr>
            <a:lvl7pPr>
              <a:defRPr sz="1800" b="0">
                <a:solidFill>
                  <a:srgbClr val="24352C"/>
                </a:solidFill>
                <a:latin typeface="Arial"/>
                <a:ea typeface="Arial"/>
                <a:cs typeface="Arial"/>
              </a:defRPr>
            </a:lvl7pPr>
            <a:lvl8pPr>
              <a:defRPr sz="1800" b="0">
                <a:solidFill>
                  <a:srgbClr val="24352C"/>
                </a:solidFill>
                <a:latin typeface="Arial"/>
                <a:ea typeface="Arial"/>
                <a:cs typeface="Arial"/>
              </a:defRPr>
            </a:lvl8pPr>
            <a:lvl9pPr>
              <a:defRPr sz="1800" b="0">
                <a:solidFill>
                  <a:srgbClr val="24352C"/>
                </a:solidFill>
                <a:latin typeface="Arial"/>
                <a:ea typeface="Arial"/>
                <a:cs typeface="Arial"/>
              </a:defRPr>
            </a:lvl9pPr>
          </a:lstStyle>
          <a:p xmlns:a="http://schemas.openxmlformats.org/drawingml/2006/main">
            <a:pPr>
              <a:defRPr sz="1800" b="0">
                <a:solidFill>
                  <a:srgbClr val="24352C"/>
                </a:solidFill>
                <a:latin typeface="Arial"/>
                <a:ea typeface="Arial"/>
                <a:cs typeface="Arial"/>
              </a:defRPr>
            </a:pPr>
            <a:r>
              <a:rPr sz="1800" b="0">
                <a:solidFill>
                  <a:srgbClr val="24352C"/>
                </a:solidFill>
                <a:latin typeface="Arial"/>
                <a:ea typeface="Arial"/>
                <a:cs typeface="Arial"/>
              </a:rPr>
              <a:t>EMA weight averaging and voting weights did not beat their references.</a:t>
            </a:r>
          </a:p>
          <a:p xmlns:a="http://schemas.openxmlformats.org/drawingml/2006/main">
            <a:pPr>
              <a:defRPr sz="1800" b="0">
                <a:solidFill>
                  <a:srgbClr val="24352C"/>
                </a:solidFill>
                <a:latin typeface="Arial"/>
                <a:ea typeface="Arial"/>
                <a:cs typeface="Arial"/>
              </a:defRPr>
            </a:pPr>
            <a:r>
              <a:rPr sz="1800" b="0">
                <a:solidFill>
                  <a:srgbClr val="24352C"/>
                </a:solidFill>
                <a:latin typeface="Arial"/>
                <a:ea typeface="Arial"/>
                <a:cs typeface="Arial"/>
              </a:rPr>
              <a:t>These runs used 390 validation photos. None of these models is in V2.</a:t>
            </a:r>
          </a:p>
        </p:txBody>
      </p:sp>
    </p:spTree>
    <p:extLst>
      <p:ext uri="{BB962C8B-B14F-4D97-AF65-F5344CB8AC3E}">
        <p14:creationId xmlns:p14="http://schemas.microsoft.com/office/powerpoint/2010/main" val="1926777378"/>
      </p:ext>
    </p:extLst>
  </p:cSld>
</p:sld>
</file>

<file path=ppt/slides/slide6.xml><?xml version="1.0" encoding="utf-8"?>
<p:sld xmlns:p="http://schemas.openxmlformats.org/presentationml/2006/main">
  <p:cSld>
    <p:bg>
      <p:bgPr>
        <a:solidFill xmlns:a="http://schemas.openxmlformats.org/drawingml/2006/main">
          <a:srgbClr val="F6F5E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E50C83E-DB9D-47EA-B03C-B34475E7838E}"/>
              </a:ext>
            </a:extLst>
          </p:cNvPr>
          <p:cNvSpPr>
            <a:spLocks xmlns:a="http://schemas.openxmlformats.org/drawingml/2006/main" noGrp="1"/>
          </p:cNvSpPr>
          <p:nvPr/>
        </p:nvSpPr>
        <p:spPr>
          <a:xfrm xmlns:a="http://schemas.openxmlformats.org/drawingml/2006/main">
            <a:off x="666750" y="45720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173E2C"/>
                </a:solidFill>
                <a:latin typeface="Arial"/>
                <a:ea typeface="Arial"/>
                <a:cs typeface="Arial"/>
              </a:defRPr>
            </a:defPPr>
            <a:lvl1pPr>
              <a:defRPr sz="3225" b="1">
                <a:solidFill>
                  <a:srgbClr val="173E2C"/>
                </a:solidFill>
                <a:latin typeface="Arial"/>
                <a:ea typeface="Arial"/>
                <a:cs typeface="Arial"/>
              </a:defRPr>
            </a:lvl1pPr>
            <a:lvl2pPr>
              <a:defRPr sz="3225" b="1">
                <a:solidFill>
                  <a:srgbClr val="173E2C"/>
                </a:solidFill>
                <a:latin typeface="Arial"/>
                <a:ea typeface="Arial"/>
                <a:cs typeface="Arial"/>
              </a:defRPr>
            </a:lvl2pPr>
            <a:lvl3pPr>
              <a:defRPr sz="3225" b="1">
                <a:solidFill>
                  <a:srgbClr val="173E2C"/>
                </a:solidFill>
                <a:latin typeface="Arial"/>
                <a:ea typeface="Arial"/>
                <a:cs typeface="Arial"/>
              </a:defRPr>
            </a:lvl3pPr>
            <a:lvl4pPr>
              <a:defRPr sz="3225" b="1">
                <a:solidFill>
                  <a:srgbClr val="173E2C"/>
                </a:solidFill>
                <a:latin typeface="Arial"/>
                <a:ea typeface="Arial"/>
                <a:cs typeface="Arial"/>
              </a:defRPr>
            </a:lvl4pPr>
            <a:lvl5pPr>
              <a:defRPr sz="3225" b="1">
                <a:solidFill>
                  <a:srgbClr val="173E2C"/>
                </a:solidFill>
                <a:latin typeface="Arial"/>
                <a:ea typeface="Arial"/>
                <a:cs typeface="Arial"/>
              </a:defRPr>
            </a:lvl5pPr>
            <a:lvl6pPr>
              <a:defRPr sz="3225" b="1">
                <a:solidFill>
                  <a:srgbClr val="173E2C"/>
                </a:solidFill>
                <a:latin typeface="Arial"/>
                <a:ea typeface="Arial"/>
                <a:cs typeface="Arial"/>
              </a:defRPr>
            </a:lvl6pPr>
            <a:lvl7pPr>
              <a:defRPr sz="3225" b="1">
                <a:solidFill>
                  <a:srgbClr val="173E2C"/>
                </a:solidFill>
                <a:latin typeface="Arial"/>
                <a:ea typeface="Arial"/>
                <a:cs typeface="Arial"/>
              </a:defRPr>
            </a:lvl7pPr>
            <a:lvl8pPr>
              <a:defRPr sz="3225" b="1">
                <a:solidFill>
                  <a:srgbClr val="173E2C"/>
                </a:solidFill>
                <a:latin typeface="Arial"/>
                <a:ea typeface="Arial"/>
                <a:cs typeface="Arial"/>
              </a:defRPr>
            </a:lvl8pPr>
            <a:lvl9pPr>
              <a:defRPr sz="3225" b="1">
                <a:solidFill>
                  <a:srgbClr val="173E2C"/>
                </a:solidFill>
                <a:latin typeface="Arial"/>
                <a:ea typeface="Arial"/>
                <a:cs typeface="Arial"/>
              </a:defRPr>
            </a:lvl9pPr>
          </a:lstStyle>
          <a:p xmlns:a="http://schemas.openxmlformats.org/drawingml/2006/main">
            <a:pPr>
              <a:defRPr sz="3225" b="1">
                <a:solidFill>
                  <a:srgbClr val="173E2C"/>
                </a:solidFill>
                <a:latin typeface="Arial"/>
                <a:ea typeface="Arial"/>
                <a:cs typeface="Arial"/>
              </a:defRPr>
            </a:pPr>
            <a:r>
              <a:rPr sz="3225" b="1">
                <a:solidFill>
                  <a:srgbClr val="173E2C"/>
                </a:solidFill>
                <a:latin typeface="Arial"/>
                <a:ea typeface="Arial"/>
                <a:cs typeface="Arial"/>
              </a:rPr>
              <a:t>Final experiment: control vs MixUp/CutMix</a:t>
            </a:r>
          </a:p>
        </p:txBody>
      </p:sp>
      <p:sp>
        <p:nvSpPr>
          <p:cNvPr id="2" name="">
            <a:extLst xmlns:a="http://schemas.openxmlformats.org/drawingml/2006/main">
              <a:ext uri="{FF2B5EF4-FFF2-40B4-BE49-F238E27FC236}">
                <a16:creationId xmlns:a16="http://schemas.microsoft.com/office/drawing/2014/main" id="{444A8317-93B0-41FB-8DBE-4BA8912B0A51}"/>
              </a:ext>
            </a:extLst>
          </p:cNvPr>
          <p:cNvSpPr>
            <a:spLocks xmlns:a="http://schemas.openxmlformats.org/drawingml/2006/main" noGrp="1"/>
          </p:cNvSpPr>
          <p:nvPr/>
        </p:nvSpPr>
        <p:spPr>
          <a:xfrm xmlns:a="http://schemas.openxmlformats.org/drawingml/2006/main">
            <a:off x="666750" y="6467475"/>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9665D"/>
                </a:solidFill>
                <a:latin typeface="Arial"/>
                <a:ea typeface="Arial"/>
                <a:cs typeface="Arial"/>
              </a:defRPr>
            </a:defPPr>
            <a:lvl1pPr>
              <a:defRPr sz="1200" b="0">
                <a:solidFill>
                  <a:srgbClr val="59665D"/>
                </a:solidFill>
                <a:latin typeface="Arial"/>
                <a:ea typeface="Arial"/>
                <a:cs typeface="Arial"/>
              </a:defRPr>
            </a:lvl1pPr>
            <a:lvl2pPr>
              <a:defRPr sz="1200" b="0">
                <a:solidFill>
                  <a:srgbClr val="59665D"/>
                </a:solidFill>
                <a:latin typeface="Arial"/>
                <a:ea typeface="Arial"/>
                <a:cs typeface="Arial"/>
              </a:defRPr>
            </a:lvl2pPr>
            <a:lvl3pPr>
              <a:defRPr sz="1200" b="0">
                <a:solidFill>
                  <a:srgbClr val="59665D"/>
                </a:solidFill>
                <a:latin typeface="Arial"/>
                <a:ea typeface="Arial"/>
                <a:cs typeface="Arial"/>
              </a:defRPr>
            </a:lvl3pPr>
            <a:lvl4pPr>
              <a:defRPr sz="1200" b="0">
                <a:solidFill>
                  <a:srgbClr val="59665D"/>
                </a:solidFill>
                <a:latin typeface="Arial"/>
                <a:ea typeface="Arial"/>
                <a:cs typeface="Arial"/>
              </a:defRPr>
            </a:lvl4pPr>
            <a:lvl5pPr>
              <a:defRPr sz="1200" b="0">
                <a:solidFill>
                  <a:srgbClr val="59665D"/>
                </a:solidFill>
                <a:latin typeface="Arial"/>
                <a:ea typeface="Arial"/>
                <a:cs typeface="Arial"/>
              </a:defRPr>
            </a:lvl5pPr>
            <a:lvl6pPr>
              <a:defRPr sz="1200" b="0">
                <a:solidFill>
                  <a:srgbClr val="59665D"/>
                </a:solidFill>
                <a:latin typeface="Arial"/>
                <a:ea typeface="Arial"/>
                <a:cs typeface="Arial"/>
              </a:defRPr>
            </a:lvl6pPr>
            <a:lvl7pPr>
              <a:defRPr sz="1200" b="0">
                <a:solidFill>
                  <a:srgbClr val="59665D"/>
                </a:solidFill>
                <a:latin typeface="Arial"/>
                <a:ea typeface="Arial"/>
                <a:cs typeface="Arial"/>
              </a:defRPr>
            </a:lvl7pPr>
            <a:lvl8pPr>
              <a:defRPr sz="1200" b="0">
                <a:solidFill>
                  <a:srgbClr val="59665D"/>
                </a:solidFill>
                <a:latin typeface="Arial"/>
                <a:ea typeface="Arial"/>
                <a:cs typeface="Arial"/>
              </a:defRPr>
            </a:lvl8pPr>
            <a:lvl9pPr>
              <a:defRPr sz="1200" b="0">
                <a:solidFill>
                  <a:srgbClr val="59665D"/>
                </a:solidFill>
                <a:latin typeface="Arial"/>
                <a:ea typeface="Arial"/>
                <a:cs typeface="Arial"/>
              </a:defRPr>
            </a:lvl9pPr>
          </a:lstStyle>
          <a:p xmlns:a="http://schemas.openxmlformats.org/drawingml/2006/main">
            <a:pPr>
              <a:defRPr sz="1200" b="0">
                <a:solidFill>
                  <a:srgbClr val="59665D"/>
                </a:solidFill>
                <a:latin typeface="Arial"/>
                <a:ea typeface="Arial"/>
                <a:cs typeface="Arial"/>
              </a:defRPr>
            </a:pPr>
            <a:r>
              <a:rPr sz="1200" b="0">
                <a:solidFill>
                  <a:srgbClr val="59665D"/>
                </a:solidFill>
                <a:latin typeface="Arial"/>
                <a:ea typeface="Arial"/>
                <a:cs typeface="Arial"/>
              </a:rPr>
              <a:t>06</a:t>
            </a:r>
          </a:p>
        </p:txBody>
      </p:sp>
      <p:sp>
        <p:nvSpPr>
          <p:cNvPr id="3" name="">
            <a:extLst xmlns:a="http://schemas.openxmlformats.org/drawingml/2006/main">
              <a:ext uri="{FF2B5EF4-FFF2-40B4-BE49-F238E27FC236}">
                <a16:creationId xmlns:a16="http://schemas.microsoft.com/office/drawing/2014/main" id="{B04823A4-A66D-4826-BE0D-1D7CC2FC7292}"/>
              </a:ext>
            </a:extLst>
          </p:cNvPr>
          <p:cNvSpPr>
            <a:spLocks xmlns:a="http://schemas.openxmlformats.org/drawingml/2006/main" noGrp="1"/>
          </p:cNvSpPr>
          <p:nvPr/>
        </p:nvSpPr>
        <p:spPr>
          <a:xfrm xmlns:a="http://schemas.openxmlformats.org/drawingml/2006/main">
            <a:off x="723900" y="1533525"/>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24352C"/>
                </a:solidFill>
                <a:latin typeface="Arial"/>
                <a:ea typeface="Arial"/>
                <a:cs typeface="Arial"/>
              </a:defRPr>
            </a:defPPr>
            <a:lvl1pPr>
              <a:defRPr sz="2175" b="0">
                <a:solidFill>
                  <a:srgbClr val="24352C"/>
                </a:solidFill>
                <a:latin typeface="Arial"/>
                <a:ea typeface="Arial"/>
                <a:cs typeface="Arial"/>
              </a:defRPr>
            </a:lvl1pPr>
            <a:lvl2pPr>
              <a:defRPr sz="2175" b="0">
                <a:solidFill>
                  <a:srgbClr val="24352C"/>
                </a:solidFill>
                <a:latin typeface="Arial"/>
                <a:ea typeface="Arial"/>
                <a:cs typeface="Arial"/>
              </a:defRPr>
            </a:lvl2pPr>
            <a:lvl3pPr>
              <a:defRPr sz="2175" b="0">
                <a:solidFill>
                  <a:srgbClr val="24352C"/>
                </a:solidFill>
                <a:latin typeface="Arial"/>
                <a:ea typeface="Arial"/>
                <a:cs typeface="Arial"/>
              </a:defRPr>
            </a:lvl3pPr>
            <a:lvl4pPr>
              <a:defRPr sz="2175" b="0">
                <a:solidFill>
                  <a:srgbClr val="24352C"/>
                </a:solidFill>
                <a:latin typeface="Arial"/>
                <a:ea typeface="Arial"/>
                <a:cs typeface="Arial"/>
              </a:defRPr>
            </a:lvl4pPr>
            <a:lvl5pPr>
              <a:defRPr sz="2175" b="0">
                <a:solidFill>
                  <a:srgbClr val="24352C"/>
                </a:solidFill>
                <a:latin typeface="Arial"/>
                <a:ea typeface="Arial"/>
                <a:cs typeface="Arial"/>
              </a:defRPr>
            </a:lvl5pPr>
            <a:lvl6pPr>
              <a:defRPr sz="2175" b="0">
                <a:solidFill>
                  <a:srgbClr val="24352C"/>
                </a:solidFill>
                <a:latin typeface="Arial"/>
                <a:ea typeface="Arial"/>
                <a:cs typeface="Arial"/>
              </a:defRPr>
            </a:lvl6pPr>
            <a:lvl7pPr>
              <a:defRPr sz="2175" b="0">
                <a:solidFill>
                  <a:srgbClr val="24352C"/>
                </a:solidFill>
                <a:latin typeface="Arial"/>
                <a:ea typeface="Arial"/>
                <a:cs typeface="Arial"/>
              </a:defRPr>
            </a:lvl7pPr>
            <a:lvl8pPr>
              <a:defRPr sz="2175" b="0">
                <a:solidFill>
                  <a:srgbClr val="24352C"/>
                </a:solidFill>
                <a:latin typeface="Arial"/>
                <a:ea typeface="Arial"/>
                <a:cs typeface="Arial"/>
              </a:defRPr>
            </a:lvl8pPr>
            <a:lvl9pPr>
              <a:defRPr sz="2175" b="0">
                <a:solidFill>
                  <a:srgbClr val="24352C"/>
                </a:solidFill>
                <a:latin typeface="Arial"/>
                <a:ea typeface="Arial"/>
                <a:cs typeface="Arial"/>
              </a:defRPr>
            </a:lvl9pPr>
          </a:lstStyle>
          <a:p xmlns:a="http://schemas.openxmlformats.org/drawingml/2006/main">
            <a:pPr>
              <a:defRPr sz="2175" b="0">
                <a:solidFill>
                  <a:srgbClr val="24352C"/>
                </a:solidFill>
                <a:latin typeface="Arial"/>
                <a:ea typeface="Arial"/>
                <a:cs typeface="Arial"/>
              </a:defRPr>
            </a:pPr>
            <a:r>
              <a:rPr sz="2175" b="0">
                <a:solidFill>
                  <a:srgbClr val="24352C"/>
                </a:solidFill>
                <a:latin typeface="Arial"/>
                <a:ea typeface="Arial"/>
                <a:cs typeface="Arial"/>
              </a:rPr>
              <a:t>Two new Base 448 runs started from the same weights, data, and settings.</a:t>
            </a:r>
          </a:p>
        </p:txBody>
      </p:sp>
      <p:graphicFrame>
        <p:nvGraphicFramePr>
          <p:cNvPr id="4" name="">
            <a:extLst xmlns:a="http://schemas.openxmlformats.org/drawingml/2006/main">
              <a:ext uri="{FF2B5EF4-FFF2-40B4-BE49-F238E27FC236}">
                <a16:creationId xmlns:a16="http://schemas.microsoft.com/office/drawing/2014/main" id="{963FCF02-FF78-4669-B31C-5DC192EF78DC}"/>
              </a:ext>
            </a:extLst>
          </p:cNvPr>
          <p:cNvGraphicFramePr/>
          <p:nvPr/>
        </p:nvGraphicFramePr>
        <p:xfrm>
          <a:off xmlns:a="http://schemas.openxmlformats.org/drawingml/2006/main" x="666750" y="2343150"/>
          <a:ext xmlns:a="http://schemas.openxmlformats.org/drawingml/2006/main" cx="10858500" cy="1743075"/>
        </p:xfrm>
        <a:graphic xmlns:a="http://schemas.openxmlformats.org/drawingml/2006/main">
          <a:graphicData uri="http://schemas.openxmlformats.org/drawingml/2006/table">
            <a:tbl>
              <a:tblPr/>
              <a:tblGrid>
                <a:gridCol w="2476500"/>
                <a:gridCol w="6096000"/>
                <a:gridCol w="2286000"/>
              </a:tblGrid>
              <a:tr h="581025">
                <a:tc>
                  <a:txBody>
                    <a:bodyPr lIns="95250" tIns="95250" rIns="95250" bIns="95250"/>
                    <a:lstStyle/>
                    <a:p>
                      <a:r>
                        <a:rPr sz="1950" b="1">
                          <a:solidFill>
                            <a:srgbClr val="FFFFFF"/>
                          </a:solidFill>
                          <a:latin typeface="Arial"/>
                          <a:ea typeface="Arial"/>
                          <a:cs typeface="Arial"/>
                        </a:rPr>
                        <a:t>Run</a:t>
                      </a:r>
                    </a:p>
                  </a:txBody>
                  <a:tcPr marL="91440" marR="91440" marT="45720" marB="45720" anchor="ctr">
                    <a:lnL w="5715">
                      <a:solidFill>
                        <a:srgbClr val="DCE5DB"/>
                      </a:solidFill>
                      <a:prstDash val="solid"/>
                    </a:lnL>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c>
                  <a:txBody>
                    <a:bodyPr lIns="95250" tIns="95250" rIns="95250" bIns="95250"/>
                    <a:lstStyle/>
                    <a:p>
                      <a:r>
                        <a:rPr sz="1950" b="1">
                          <a:solidFill>
                            <a:srgbClr val="FFFFFF"/>
                          </a:solidFill>
                          <a:latin typeface="Arial"/>
                          <a:ea typeface="Arial"/>
                          <a:cs typeface="Arial"/>
                        </a:rPr>
                        <a:t>What changed during training</a:t>
                      </a:r>
                    </a:p>
                  </a:txBody>
                  <a:tcPr marL="91440" marR="91440" marT="45720" marB="45720" anchor="ctr">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c>
                  <a:txBody>
                    <a:bodyPr lIns="95250" tIns="95250" rIns="95250" bIns="95250"/>
                    <a:lstStyle/>
                    <a:p>
                      <a:r>
                        <a:rPr sz="1950" b="1">
                          <a:solidFill>
                            <a:srgbClr val="FFFFFF"/>
                          </a:solidFill>
                          <a:latin typeface="Arial"/>
                          <a:ea typeface="Arial"/>
                          <a:cs typeface="Arial"/>
                        </a:rPr>
                        <a:t>Macro mAP</a:t>
                      </a:r>
                    </a:p>
                  </a:txBody>
                  <a:tcPr marL="91440" marR="91440" marT="45720" marB="45720" anchor="ctr">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r>
              <a:tr h="581025">
                <a:tc>
                  <a:txBody>
                    <a:bodyPr lIns="95250" tIns="95250" rIns="95250" bIns="95250"/>
                    <a:lstStyle/>
                    <a:p>
                      <a:r>
                        <a:rPr sz="1950" b="0">
                          <a:solidFill>
                            <a:srgbClr val="24352C"/>
                          </a:solidFill>
                          <a:latin typeface="Arial"/>
                          <a:ea typeface="Arial"/>
                          <a:cs typeface="Arial"/>
                        </a:rPr>
                        <a:t>Control</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950" b="0">
                          <a:solidFill>
                            <a:srgbClr val="24352C"/>
                          </a:solidFill>
                          <a:latin typeface="Arial"/>
                          <a:ea typeface="Arial"/>
                          <a:cs typeface="Arial"/>
                        </a:rPr>
                        <a:t>Ordinary augmentation only</a:t>
                      </a:r>
                    </a:p>
                  </a:txBody>
                  <a:tcPr marL="91440" marR="91440" marT="45720" marB="45720" anchor="ctr">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950" b="0">
                          <a:solidFill>
                            <a:srgbClr val="24352C"/>
                          </a:solidFill>
                          <a:latin typeface="Arial"/>
                          <a:ea typeface="Arial"/>
                          <a:cs typeface="Arial"/>
                        </a:rPr>
                        <a:t>94.81%</a:t>
                      </a:r>
                    </a:p>
                  </a:txBody>
                  <a:tcPr marL="91440" marR="91440" marT="45720" marB="45720" anchor="ctr">
                    <a:lnR w="5715">
                      <a:solidFill>
                        <a:srgbClr val="DCE5DB"/>
                      </a:solidFill>
                      <a:prstDash val="solid"/>
                    </a:lnR>
                    <a:lnB w="5715">
                      <a:solidFill>
                        <a:srgbClr val="DCE5DB"/>
                      </a:solidFill>
                      <a:prstDash val="solid"/>
                    </a:lnB>
                    <a:solidFill>
                      <a:srgbClr val="FFFFFF"/>
                    </a:solidFill>
                  </a:tcPr>
                </a:tc>
              </a:tr>
              <a:tr h="581025">
                <a:tc>
                  <a:txBody>
                    <a:bodyPr lIns="95250" tIns="95250" rIns="95250" bIns="95250"/>
                    <a:lstStyle/>
                    <a:p>
                      <a:r>
                        <a:rPr sz="1950" b="0">
                          <a:solidFill>
                            <a:srgbClr val="24352C"/>
                          </a:solidFill>
                          <a:latin typeface="Arial"/>
                          <a:ea typeface="Arial"/>
                          <a:cs typeface="Arial"/>
                        </a:rPr>
                        <a:t>MixUp/CutMix</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EBEFE7"/>
                    </a:solidFill>
                  </a:tcPr>
                </a:tc>
                <a:tc>
                  <a:txBody>
                    <a:bodyPr lIns="95250" tIns="95250" rIns="95250" bIns="95250"/>
                    <a:lstStyle/>
                    <a:p>
                      <a:r>
                        <a:rPr sz="1950" b="0">
                          <a:solidFill>
                            <a:srgbClr val="24352C"/>
                          </a:solidFill>
                          <a:latin typeface="Arial"/>
                          <a:ea typeface="Arial"/>
                          <a:cs typeface="Arial"/>
                        </a:rPr>
                        <a:t>Same recipe, plus image and target mixing</a:t>
                      </a:r>
                    </a:p>
                  </a:txBody>
                  <a:tcPr marL="91440" marR="91440" marT="45720" marB="45720" anchor="ctr">
                    <a:lnR w="5715">
                      <a:solidFill>
                        <a:srgbClr val="DCE5DB"/>
                      </a:solidFill>
                      <a:prstDash val="solid"/>
                    </a:lnR>
                    <a:lnB w="5715">
                      <a:solidFill>
                        <a:srgbClr val="DCE5DB"/>
                      </a:solidFill>
                      <a:prstDash val="solid"/>
                    </a:lnB>
                    <a:solidFill>
                      <a:srgbClr val="EBEFE7"/>
                    </a:solidFill>
                  </a:tcPr>
                </a:tc>
                <a:tc>
                  <a:txBody>
                    <a:bodyPr lIns="95250" tIns="95250" rIns="95250" bIns="95250"/>
                    <a:lstStyle/>
                    <a:p>
                      <a:r>
                        <a:rPr sz="1950" b="0">
                          <a:solidFill>
                            <a:srgbClr val="24352C"/>
                          </a:solidFill>
                          <a:latin typeface="Arial"/>
                          <a:ea typeface="Arial"/>
                          <a:cs typeface="Arial"/>
                        </a:rPr>
                        <a:t>96.07%</a:t>
                      </a:r>
                    </a:p>
                  </a:txBody>
                  <a:tcPr marL="91440" marR="91440" marT="45720" marB="45720" anchor="ctr">
                    <a:lnR w="5715">
                      <a:solidFill>
                        <a:srgbClr val="DCE5DB"/>
                      </a:solidFill>
                      <a:prstDash val="solid"/>
                    </a:lnR>
                    <a:lnB w="5715">
                      <a:solidFill>
                        <a:srgbClr val="DCE5DB"/>
                      </a:solidFill>
                      <a:prstDash val="solid"/>
                    </a:lnB>
                    <a:solidFill>
                      <a:srgbClr val="EBEFE7"/>
                    </a:solidFill>
                  </a:tcPr>
                </a:tc>
              </a:tr>
            </a:tbl>
          </a:graphicData>
        </a:graphic>
      </p:graphicFrame>
      <p:sp>
        <p:nvSpPr>
          <p:cNvPr id="5" name="">
            <a:extLst xmlns:a="http://schemas.openxmlformats.org/drawingml/2006/main">
              <a:ext uri="{FF2B5EF4-FFF2-40B4-BE49-F238E27FC236}">
                <a16:creationId xmlns:a16="http://schemas.microsoft.com/office/drawing/2014/main" id="{D340E883-9F8F-403A-9EF7-449B1D7CE990}"/>
              </a:ext>
            </a:extLst>
          </p:cNvPr>
          <p:cNvSpPr>
            <a:spLocks xmlns:a="http://schemas.openxmlformats.org/drawingml/2006/main" noGrp="1"/>
          </p:cNvSpPr>
          <p:nvPr/>
        </p:nvSpPr>
        <p:spPr>
          <a:xfrm xmlns:a="http://schemas.openxmlformats.org/drawingml/2006/main">
            <a:off x="723900" y="432435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24352C"/>
                </a:solidFill>
                <a:latin typeface="Arial"/>
                <a:ea typeface="Arial"/>
                <a:cs typeface="Arial"/>
              </a:defRPr>
            </a:defPPr>
            <a:lvl1pPr>
              <a:defRPr sz="2100" b="0">
                <a:solidFill>
                  <a:srgbClr val="24352C"/>
                </a:solidFill>
                <a:latin typeface="Arial"/>
                <a:ea typeface="Arial"/>
                <a:cs typeface="Arial"/>
              </a:defRPr>
            </a:lvl1pPr>
            <a:lvl2pPr>
              <a:defRPr sz="2100" b="0">
                <a:solidFill>
                  <a:srgbClr val="24352C"/>
                </a:solidFill>
                <a:latin typeface="Arial"/>
                <a:ea typeface="Arial"/>
                <a:cs typeface="Arial"/>
              </a:defRPr>
            </a:lvl2pPr>
            <a:lvl3pPr>
              <a:defRPr sz="2100" b="0">
                <a:solidFill>
                  <a:srgbClr val="24352C"/>
                </a:solidFill>
                <a:latin typeface="Arial"/>
                <a:ea typeface="Arial"/>
                <a:cs typeface="Arial"/>
              </a:defRPr>
            </a:lvl3pPr>
            <a:lvl4pPr>
              <a:defRPr sz="2100" b="0">
                <a:solidFill>
                  <a:srgbClr val="24352C"/>
                </a:solidFill>
                <a:latin typeface="Arial"/>
                <a:ea typeface="Arial"/>
                <a:cs typeface="Arial"/>
              </a:defRPr>
            </a:lvl4pPr>
            <a:lvl5pPr>
              <a:defRPr sz="2100" b="0">
                <a:solidFill>
                  <a:srgbClr val="24352C"/>
                </a:solidFill>
                <a:latin typeface="Arial"/>
                <a:ea typeface="Arial"/>
                <a:cs typeface="Arial"/>
              </a:defRPr>
            </a:lvl5pPr>
            <a:lvl6pPr>
              <a:defRPr sz="2100" b="0">
                <a:solidFill>
                  <a:srgbClr val="24352C"/>
                </a:solidFill>
                <a:latin typeface="Arial"/>
                <a:ea typeface="Arial"/>
                <a:cs typeface="Arial"/>
              </a:defRPr>
            </a:lvl6pPr>
            <a:lvl7pPr>
              <a:defRPr sz="2100" b="0">
                <a:solidFill>
                  <a:srgbClr val="24352C"/>
                </a:solidFill>
                <a:latin typeface="Arial"/>
                <a:ea typeface="Arial"/>
                <a:cs typeface="Arial"/>
              </a:defRPr>
            </a:lvl7pPr>
            <a:lvl8pPr>
              <a:defRPr sz="2100" b="0">
                <a:solidFill>
                  <a:srgbClr val="24352C"/>
                </a:solidFill>
                <a:latin typeface="Arial"/>
                <a:ea typeface="Arial"/>
                <a:cs typeface="Arial"/>
              </a:defRPr>
            </a:lvl8pPr>
            <a:lvl9pPr>
              <a:defRPr sz="2100" b="0">
                <a:solidFill>
                  <a:srgbClr val="24352C"/>
                </a:solidFill>
                <a:latin typeface="Arial"/>
                <a:ea typeface="Arial"/>
                <a:cs typeface="Arial"/>
              </a:defRPr>
            </a:lvl9pPr>
          </a:lstStyle>
          <a:p xmlns:a="http://schemas.openxmlformats.org/drawingml/2006/main">
            <a:pPr>
              <a:defRPr sz="2100" b="0">
                <a:solidFill>
                  <a:srgbClr val="24352C"/>
                </a:solidFill>
                <a:latin typeface="Arial"/>
                <a:ea typeface="Arial"/>
                <a:cs typeface="Arial"/>
              </a:defRPr>
            </a:pPr>
            <a:r>
              <a:rPr sz="2100" b="0">
                <a:solidFill>
                  <a:srgbClr val="24352C"/>
                </a:solidFill>
                <a:latin typeface="Arial"/>
                <a:ea typeface="Arial"/>
                <a:cs typeface="Arial"/>
              </a:rPr>
              <a:t>MixUp blends two images and their labels. CutMix puts a patch from one image into another and adjusts the labels by area.</a:t>
            </a:r>
          </a:p>
        </p:txBody>
      </p:sp>
      <p:sp>
        <p:nvSpPr>
          <p:cNvPr id="6" name="">
            <a:extLst xmlns:a="http://schemas.openxmlformats.org/drawingml/2006/main">
              <a:ext uri="{FF2B5EF4-FFF2-40B4-BE49-F238E27FC236}">
                <a16:creationId xmlns:a16="http://schemas.microsoft.com/office/drawing/2014/main" id="{40D08AAB-C6A5-4EAA-AE53-05DE548F7DFA}"/>
              </a:ext>
            </a:extLst>
          </p:cNvPr>
          <p:cNvSpPr>
            <a:spLocks xmlns:a="http://schemas.openxmlformats.org/drawingml/2006/main" noGrp="1"/>
          </p:cNvSpPr>
          <p:nvPr/>
        </p:nvSpPr>
        <p:spPr>
          <a:xfrm xmlns:a="http://schemas.openxmlformats.org/drawingml/2006/main">
            <a:off x="723900" y="528637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1">
                <a:solidFill>
                  <a:srgbClr val="173E2C"/>
                </a:solidFill>
                <a:latin typeface="Arial"/>
                <a:ea typeface="Arial"/>
                <a:cs typeface="Arial"/>
              </a:defRPr>
            </a:defPPr>
            <a:lvl1pPr>
              <a:defRPr sz="1950" b="1">
                <a:solidFill>
                  <a:srgbClr val="173E2C"/>
                </a:solidFill>
                <a:latin typeface="Arial"/>
                <a:ea typeface="Arial"/>
                <a:cs typeface="Arial"/>
              </a:defRPr>
            </a:lvl1pPr>
            <a:lvl2pPr>
              <a:defRPr sz="1950" b="1">
                <a:solidFill>
                  <a:srgbClr val="173E2C"/>
                </a:solidFill>
                <a:latin typeface="Arial"/>
                <a:ea typeface="Arial"/>
                <a:cs typeface="Arial"/>
              </a:defRPr>
            </a:lvl2pPr>
            <a:lvl3pPr>
              <a:defRPr sz="1950" b="1">
                <a:solidFill>
                  <a:srgbClr val="173E2C"/>
                </a:solidFill>
                <a:latin typeface="Arial"/>
                <a:ea typeface="Arial"/>
                <a:cs typeface="Arial"/>
              </a:defRPr>
            </a:lvl3pPr>
            <a:lvl4pPr>
              <a:defRPr sz="1950" b="1">
                <a:solidFill>
                  <a:srgbClr val="173E2C"/>
                </a:solidFill>
                <a:latin typeface="Arial"/>
                <a:ea typeface="Arial"/>
                <a:cs typeface="Arial"/>
              </a:defRPr>
            </a:lvl4pPr>
            <a:lvl5pPr>
              <a:defRPr sz="1950" b="1">
                <a:solidFill>
                  <a:srgbClr val="173E2C"/>
                </a:solidFill>
                <a:latin typeface="Arial"/>
                <a:ea typeface="Arial"/>
                <a:cs typeface="Arial"/>
              </a:defRPr>
            </a:lvl5pPr>
            <a:lvl6pPr>
              <a:defRPr sz="1950" b="1">
                <a:solidFill>
                  <a:srgbClr val="173E2C"/>
                </a:solidFill>
                <a:latin typeface="Arial"/>
                <a:ea typeface="Arial"/>
                <a:cs typeface="Arial"/>
              </a:defRPr>
            </a:lvl6pPr>
            <a:lvl7pPr>
              <a:defRPr sz="1950" b="1">
                <a:solidFill>
                  <a:srgbClr val="173E2C"/>
                </a:solidFill>
                <a:latin typeface="Arial"/>
                <a:ea typeface="Arial"/>
                <a:cs typeface="Arial"/>
              </a:defRPr>
            </a:lvl7pPr>
            <a:lvl8pPr>
              <a:defRPr sz="1950" b="1">
                <a:solidFill>
                  <a:srgbClr val="173E2C"/>
                </a:solidFill>
                <a:latin typeface="Arial"/>
                <a:ea typeface="Arial"/>
                <a:cs typeface="Arial"/>
              </a:defRPr>
            </a:lvl8pPr>
            <a:lvl9pPr>
              <a:defRPr sz="1950" b="1">
                <a:solidFill>
                  <a:srgbClr val="173E2C"/>
                </a:solidFill>
                <a:latin typeface="Arial"/>
                <a:ea typeface="Arial"/>
                <a:cs typeface="Arial"/>
              </a:defRPr>
            </a:lvl9pPr>
          </a:lstStyle>
          <a:p xmlns:a="http://schemas.openxmlformats.org/drawingml/2006/main">
            <a:pPr>
              <a:defRPr sz="1950" b="1">
                <a:solidFill>
                  <a:srgbClr val="173E2C"/>
                </a:solidFill>
                <a:latin typeface="Arial"/>
                <a:ea typeface="Arial"/>
                <a:cs typeface="Arial"/>
              </a:defRPr>
            </a:pPr>
            <a:r>
              <a:rPr sz="1950" b="1">
                <a:solidFill>
                  <a:srgbClr val="173E2C"/>
                </a:solidFill>
                <a:latin typeface="Arial"/>
                <a:ea typeface="Arial"/>
                <a:cs typeface="Arial"/>
              </a:rPr>
              <a:t>A training batch could use MixUp, CutMix, or neither. Validation images stayed unchanged. This tested whether mixing helped generalization.</a:t>
            </a:r>
          </a:p>
        </p:txBody>
      </p:sp>
      <p:sp>
        <p:nvSpPr>
          <p:cNvPr id="7" name="">
            <a:extLst xmlns:a="http://schemas.openxmlformats.org/drawingml/2006/main">
              <a:ext uri="{FF2B5EF4-FFF2-40B4-BE49-F238E27FC236}">
                <a16:creationId xmlns:a16="http://schemas.microsoft.com/office/drawing/2014/main" id="{6FF20E69-4798-4C82-8070-DE42FD61F118}"/>
              </a:ext>
            </a:extLst>
          </p:cNvPr>
          <p:cNvSpPr>
            <a:spLocks xmlns:a="http://schemas.openxmlformats.org/drawingml/2006/main" noGrp="1"/>
          </p:cNvSpPr>
          <p:nvPr/>
        </p:nvSpPr>
        <p:spPr>
          <a:xfrm xmlns:a="http://schemas.openxmlformats.org/drawingml/2006/main">
            <a:off x="723900" y="61817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b="0">
                <a:solidFill>
                  <a:srgbClr val="59665D"/>
                </a:solidFill>
                <a:latin typeface="Arial"/>
                <a:ea typeface="Arial"/>
                <a:cs typeface="Arial"/>
              </a:defRPr>
            </a:defPPr>
            <a:lvl1pPr>
              <a:defRPr sz="1425" b="0">
                <a:solidFill>
                  <a:srgbClr val="59665D"/>
                </a:solidFill>
                <a:latin typeface="Arial"/>
                <a:ea typeface="Arial"/>
                <a:cs typeface="Arial"/>
              </a:defRPr>
            </a:lvl1pPr>
            <a:lvl2pPr>
              <a:defRPr sz="1425" b="0">
                <a:solidFill>
                  <a:srgbClr val="59665D"/>
                </a:solidFill>
                <a:latin typeface="Arial"/>
                <a:ea typeface="Arial"/>
                <a:cs typeface="Arial"/>
              </a:defRPr>
            </a:lvl2pPr>
            <a:lvl3pPr>
              <a:defRPr sz="1425" b="0">
                <a:solidFill>
                  <a:srgbClr val="59665D"/>
                </a:solidFill>
                <a:latin typeface="Arial"/>
                <a:ea typeface="Arial"/>
                <a:cs typeface="Arial"/>
              </a:defRPr>
            </a:lvl3pPr>
            <a:lvl4pPr>
              <a:defRPr sz="1425" b="0">
                <a:solidFill>
                  <a:srgbClr val="59665D"/>
                </a:solidFill>
                <a:latin typeface="Arial"/>
                <a:ea typeface="Arial"/>
                <a:cs typeface="Arial"/>
              </a:defRPr>
            </a:lvl4pPr>
            <a:lvl5pPr>
              <a:defRPr sz="1425" b="0">
                <a:solidFill>
                  <a:srgbClr val="59665D"/>
                </a:solidFill>
                <a:latin typeface="Arial"/>
                <a:ea typeface="Arial"/>
                <a:cs typeface="Arial"/>
              </a:defRPr>
            </a:lvl5pPr>
            <a:lvl6pPr>
              <a:defRPr sz="1425" b="0">
                <a:solidFill>
                  <a:srgbClr val="59665D"/>
                </a:solidFill>
                <a:latin typeface="Arial"/>
                <a:ea typeface="Arial"/>
                <a:cs typeface="Arial"/>
              </a:defRPr>
            </a:lvl6pPr>
            <a:lvl7pPr>
              <a:defRPr sz="1425" b="0">
                <a:solidFill>
                  <a:srgbClr val="59665D"/>
                </a:solidFill>
                <a:latin typeface="Arial"/>
                <a:ea typeface="Arial"/>
                <a:cs typeface="Arial"/>
              </a:defRPr>
            </a:lvl7pPr>
            <a:lvl8pPr>
              <a:defRPr sz="1425" b="0">
                <a:solidFill>
                  <a:srgbClr val="59665D"/>
                </a:solidFill>
                <a:latin typeface="Arial"/>
                <a:ea typeface="Arial"/>
                <a:cs typeface="Arial"/>
              </a:defRPr>
            </a:lvl8pPr>
            <a:lvl9pPr>
              <a:defRPr sz="1425" b="0">
                <a:solidFill>
                  <a:srgbClr val="59665D"/>
                </a:solidFill>
                <a:latin typeface="Arial"/>
                <a:ea typeface="Arial"/>
                <a:cs typeface="Arial"/>
              </a:defRPr>
            </a:lvl9pPr>
          </a:lstStyle>
          <a:p xmlns:a="http://schemas.openxmlformats.org/drawingml/2006/main">
            <a:pPr>
              <a:defRPr sz="1425" b="0">
                <a:solidFill>
                  <a:srgbClr val="59665D"/>
                </a:solidFill>
                <a:latin typeface="Arial"/>
                <a:ea typeface="Arial"/>
                <a:cs typeface="Arial"/>
              </a:defRPr>
            </a:pPr>
            <a:r>
              <a:rPr sz="1425" b="0">
                <a:solidFill>
                  <a:srgbClr val="59665D"/>
                </a:solidFill>
                <a:latin typeface="Arial"/>
                <a:ea typeface="Arial"/>
                <a:cs typeface="Arial"/>
              </a:rPr>
              <a:t>Same 388 validation photos, single view. One run per version, evaluated after each epoch.</a:t>
            </a:r>
          </a:p>
        </p:txBody>
      </p:sp>
    </p:spTree>
    <p:extLst>
      <p:ext uri="{BB962C8B-B14F-4D97-AF65-F5344CB8AC3E}">
        <p14:creationId xmlns:p14="http://schemas.microsoft.com/office/powerpoint/2010/main" val="2112365633"/>
      </p:ext>
    </p:extLst>
  </p:cSld>
</p:sld>
</file>

<file path=ppt/slides/slide7.xml><?xml version="1.0" encoding="utf-8"?>
<p:sld xmlns:p="http://schemas.openxmlformats.org/presentationml/2006/main">
  <p:cSld>
    <p:bg>
      <p:bgPr>
        <a:solidFill xmlns:a="http://schemas.openxmlformats.org/drawingml/2006/main">
          <a:srgbClr val="F6F5E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4740231-F984-48B6-9082-1551EF146FF2}"/>
              </a:ext>
            </a:extLst>
          </p:cNvPr>
          <p:cNvSpPr>
            <a:spLocks xmlns:a="http://schemas.openxmlformats.org/drawingml/2006/main" noGrp="1"/>
          </p:cNvSpPr>
          <p:nvPr/>
        </p:nvSpPr>
        <p:spPr>
          <a:xfrm xmlns:a="http://schemas.openxmlformats.org/drawingml/2006/main">
            <a:off x="666750" y="45720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173E2C"/>
                </a:solidFill>
                <a:latin typeface="Arial"/>
                <a:ea typeface="Arial"/>
                <a:cs typeface="Arial"/>
              </a:defRPr>
            </a:defPPr>
            <a:lvl1pPr>
              <a:defRPr sz="3225" b="1">
                <a:solidFill>
                  <a:srgbClr val="173E2C"/>
                </a:solidFill>
                <a:latin typeface="Arial"/>
                <a:ea typeface="Arial"/>
                <a:cs typeface="Arial"/>
              </a:defRPr>
            </a:lvl1pPr>
            <a:lvl2pPr>
              <a:defRPr sz="3225" b="1">
                <a:solidFill>
                  <a:srgbClr val="173E2C"/>
                </a:solidFill>
                <a:latin typeface="Arial"/>
                <a:ea typeface="Arial"/>
                <a:cs typeface="Arial"/>
              </a:defRPr>
            </a:lvl2pPr>
            <a:lvl3pPr>
              <a:defRPr sz="3225" b="1">
                <a:solidFill>
                  <a:srgbClr val="173E2C"/>
                </a:solidFill>
                <a:latin typeface="Arial"/>
                <a:ea typeface="Arial"/>
                <a:cs typeface="Arial"/>
              </a:defRPr>
            </a:lvl3pPr>
            <a:lvl4pPr>
              <a:defRPr sz="3225" b="1">
                <a:solidFill>
                  <a:srgbClr val="173E2C"/>
                </a:solidFill>
                <a:latin typeface="Arial"/>
                <a:ea typeface="Arial"/>
                <a:cs typeface="Arial"/>
              </a:defRPr>
            </a:lvl4pPr>
            <a:lvl5pPr>
              <a:defRPr sz="3225" b="1">
                <a:solidFill>
                  <a:srgbClr val="173E2C"/>
                </a:solidFill>
                <a:latin typeface="Arial"/>
                <a:ea typeface="Arial"/>
                <a:cs typeface="Arial"/>
              </a:defRPr>
            </a:lvl5pPr>
            <a:lvl6pPr>
              <a:defRPr sz="3225" b="1">
                <a:solidFill>
                  <a:srgbClr val="173E2C"/>
                </a:solidFill>
                <a:latin typeface="Arial"/>
                <a:ea typeface="Arial"/>
                <a:cs typeface="Arial"/>
              </a:defRPr>
            </a:lvl6pPr>
            <a:lvl7pPr>
              <a:defRPr sz="3225" b="1">
                <a:solidFill>
                  <a:srgbClr val="173E2C"/>
                </a:solidFill>
                <a:latin typeface="Arial"/>
                <a:ea typeface="Arial"/>
                <a:cs typeface="Arial"/>
              </a:defRPr>
            </a:lvl7pPr>
            <a:lvl8pPr>
              <a:defRPr sz="3225" b="1">
                <a:solidFill>
                  <a:srgbClr val="173E2C"/>
                </a:solidFill>
                <a:latin typeface="Arial"/>
                <a:ea typeface="Arial"/>
                <a:cs typeface="Arial"/>
              </a:defRPr>
            </a:lvl8pPr>
            <a:lvl9pPr>
              <a:defRPr sz="3225" b="1">
                <a:solidFill>
                  <a:srgbClr val="173E2C"/>
                </a:solidFill>
                <a:latin typeface="Arial"/>
                <a:ea typeface="Arial"/>
                <a:cs typeface="Arial"/>
              </a:defRPr>
            </a:lvl9pPr>
          </a:lstStyle>
          <a:p xmlns:a="http://schemas.openxmlformats.org/drawingml/2006/main">
            <a:pPr>
              <a:defRPr sz="3225" b="1">
                <a:solidFill>
                  <a:srgbClr val="173E2C"/>
                </a:solidFill>
                <a:latin typeface="Arial"/>
                <a:ea typeface="Arial"/>
                <a:cs typeface="Arial"/>
              </a:defRPr>
            </a:pPr>
            <a:r>
              <a:rPr sz="3225" b="1">
                <a:solidFill>
                  <a:srgbClr val="173E2C"/>
                </a:solidFill>
                <a:latin typeface="Arial"/>
                <a:ea typeface="Arial"/>
                <a:cs typeface="Arial"/>
              </a:rPr>
              <a:t>Why the final system uses two models</a:t>
            </a:r>
          </a:p>
        </p:txBody>
      </p:sp>
      <p:sp>
        <p:nvSpPr>
          <p:cNvPr id="2" name="">
            <a:extLst xmlns:a="http://schemas.openxmlformats.org/drawingml/2006/main">
              <a:ext uri="{FF2B5EF4-FFF2-40B4-BE49-F238E27FC236}">
                <a16:creationId xmlns:a16="http://schemas.microsoft.com/office/drawing/2014/main" id="{5A9173E5-CA1B-4691-9C81-CB39FCA7D935}"/>
              </a:ext>
            </a:extLst>
          </p:cNvPr>
          <p:cNvSpPr>
            <a:spLocks xmlns:a="http://schemas.openxmlformats.org/drawingml/2006/main" noGrp="1"/>
          </p:cNvSpPr>
          <p:nvPr/>
        </p:nvSpPr>
        <p:spPr>
          <a:xfrm xmlns:a="http://schemas.openxmlformats.org/drawingml/2006/main">
            <a:off x="666750" y="6467475"/>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9665D"/>
                </a:solidFill>
                <a:latin typeface="Arial"/>
                <a:ea typeface="Arial"/>
                <a:cs typeface="Arial"/>
              </a:defRPr>
            </a:defPPr>
            <a:lvl1pPr>
              <a:defRPr sz="1200" b="0">
                <a:solidFill>
                  <a:srgbClr val="59665D"/>
                </a:solidFill>
                <a:latin typeface="Arial"/>
                <a:ea typeface="Arial"/>
                <a:cs typeface="Arial"/>
              </a:defRPr>
            </a:lvl1pPr>
            <a:lvl2pPr>
              <a:defRPr sz="1200" b="0">
                <a:solidFill>
                  <a:srgbClr val="59665D"/>
                </a:solidFill>
                <a:latin typeface="Arial"/>
                <a:ea typeface="Arial"/>
                <a:cs typeface="Arial"/>
              </a:defRPr>
            </a:lvl2pPr>
            <a:lvl3pPr>
              <a:defRPr sz="1200" b="0">
                <a:solidFill>
                  <a:srgbClr val="59665D"/>
                </a:solidFill>
                <a:latin typeface="Arial"/>
                <a:ea typeface="Arial"/>
                <a:cs typeface="Arial"/>
              </a:defRPr>
            </a:lvl3pPr>
            <a:lvl4pPr>
              <a:defRPr sz="1200" b="0">
                <a:solidFill>
                  <a:srgbClr val="59665D"/>
                </a:solidFill>
                <a:latin typeface="Arial"/>
                <a:ea typeface="Arial"/>
                <a:cs typeface="Arial"/>
              </a:defRPr>
            </a:lvl4pPr>
            <a:lvl5pPr>
              <a:defRPr sz="1200" b="0">
                <a:solidFill>
                  <a:srgbClr val="59665D"/>
                </a:solidFill>
                <a:latin typeface="Arial"/>
                <a:ea typeface="Arial"/>
                <a:cs typeface="Arial"/>
              </a:defRPr>
            </a:lvl5pPr>
            <a:lvl6pPr>
              <a:defRPr sz="1200" b="0">
                <a:solidFill>
                  <a:srgbClr val="59665D"/>
                </a:solidFill>
                <a:latin typeface="Arial"/>
                <a:ea typeface="Arial"/>
                <a:cs typeface="Arial"/>
              </a:defRPr>
            </a:lvl6pPr>
            <a:lvl7pPr>
              <a:defRPr sz="1200" b="0">
                <a:solidFill>
                  <a:srgbClr val="59665D"/>
                </a:solidFill>
                <a:latin typeface="Arial"/>
                <a:ea typeface="Arial"/>
                <a:cs typeface="Arial"/>
              </a:defRPr>
            </a:lvl7pPr>
            <a:lvl8pPr>
              <a:defRPr sz="1200" b="0">
                <a:solidFill>
                  <a:srgbClr val="59665D"/>
                </a:solidFill>
                <a:latin typeface="Arial"/>
                <a:ea typeface="Arial"/>
                <a:cs typeface="Arial"/>
              </a:defRPr>
            </a:lvl8pPr>
            <a:lvl9pPr>
              <a:defRPr sz="1200" b="0">
                <a:solidFill>
                  <a:srgbClr val="59665D"/>
                </a:solidFill>
                <a:latin typeface="Arial"/>
                <a:ea typeface="Arial"/>
                <a:cs typeface="Arial"/>
              </a:defRPr>
            </a:lvl9pPr>
          </a:lstStyle>
          <a:p xmlns:a="http://schemas.openxmlformats.org/drawingml/2006/main">
            <a:pPr>
              <a:defRPr sz="1200" b="0">
                <a:solidFill>
                  <a:srgbClr val="59665D"/>
                </a:solidFill>
                <a:latin typeface="Arial"/>
                <a:ea typeface="Arial"/>
                <a:cs typeface="Arial"/>
              </a:defRPr>
            </a:pPr>
            <a:r>
              <a:rPr sz="1200" b="0">
                <a:solidFill>
                  <a:srgbClr val="59665D"/>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CD6A5E86-59EB-446C-815F-79BE3F12D7E1}"/>
              </a:ext>
            </a:extLst>
          </p:cNvPr>
          <p:cNvSpPr>
            <a:spLocks xmlns:a="http://schemas.openxmlformats.org/drawingml/2006/main" noGrp="1"/>
          </p:cNvSpPr>
          <p:nvPr/>
        </p:nvSpPr>
        <p:spPr>
          <a:xfrm xmlns:a="http://schemas.openxmlformats.org/drawingml/2006/main">
            <a:off x="723900" y="155257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24352C"/>
                </a:solidFill>
                <a:latin typeface="Arial"/>
                <a:ea typeface="Arial"/>
                <a:cs typeface="Arial"/>
              </a:defRPr>
            </a:defPPr>
            <a:lvl1pPr>
              <a:defRPr sz="2175" b="0">
                <a:solidFill>
                  <a:srgbClr val="24352C"/>
                </a:solidFill>
                <a:latin typeface="Arial"/>
                <a:ea typeface="Arial"/>
                <a:cs typeface="Arial"/>
              </a:defRPr>
            </a:lvl1pPr>
            <a:lvl2pPr>
              <a:defRPr sz="2175" b="0">
                <a:solidFill>
                  <a:srgbClr val="24352C"/>
                </a:solidFill>
                <a:latin typeface="Arial"/>
                <a:ea typeface="Arial"/>
                <a:cs typeface="Arial"/>
              </a:defRPr>
            </a:lvl2pPr>
            <a:lvl3pPr>
              <a:defRPr sz="2175" b="0">
                <a:solidFill>
                  <a:srgbClr val="24352C"/>
                </a:solidFill>
                <a:latin typeface="Arial"/>
                <a:ea typeface="Arial"/>
                <a:cs typeface="Arial"/>
              </a:defRPr>
            </a:lvl3pPr>
            <a:lvl4pPr>
              <a:defRPr sz="2175" b="0">
                <a:solidFill>
                  <a:srgbClr val="24352C"/>
                </a:solidFill>
                <a:latin typeface="Arial"/>
                <a:ea typeface="Arial"/>
                <a:cs typeface="Arial"/>
              </a:defRPr>
            </a:lvl4pPr>
            <a:lvl5pPr>
              <a:defRPr sz="2175" b="0">
                <a:solidFill>
                  <a:srgbClr val="24352C"/>
                </a:solidFill>
                <a:latin typeface="Arial"/>
                <a:ea typeface="Arial"/>
                <a:cs typeface="Arial"/>
              </a:defRPr>
            </a:lvl5pPr>
            <a:lvl6pPr>
              <a:defRPr sz="2175" b="0">
                <a:solidFill>
                  <a:srgbClr val="24352C"/>
                </a:solidFill>
                <a:latin typeface="Arial"/>
                <a:ea typeface="Arial"/>
                <a:cs typeface="Arial"/>
              </a:defRPr>
            </a:lvl6pPr>
            <a:lvl7pPr>
              <a:defRPr sz="2175" b="0">
                <a:solidFill>
                  <a:srgbClr val="24352C"/>
                </a:solidFill>
                <a:latin typeface="Arial"/>
                <a:ea typeface="Arial"/>
                <a:cs typeface="Arial"/>
              </a:defRPr>
            </a:lvl7pPr>
            <a:lvl8pPr>
              <a:defRPr sz="2175" b="0">
                <a:solidFill>
                  <a:srgbClr val="24352C"/>
                </a:solidFill>
                <a:latin typeface="Arial"/>
                <a:ea typeface="Arial"/>
                <a:cs typeface="Arial"/>
              </a:defRPr>
            </a:lvl8pPr>
            <a:lvl9pPr>
              <a:defRPr sz="2175" b="0">
                <a:solidFill>
                  <a:srgbClr val="24352C"/>
                </a:solidFill>
                <a:latin typeface="Arial"/>
                <a:ea typeface="Arial"/>
                <a:cs typeface="Arial"/>
              </a:defRPr>
            </a:lvl9pPr>
          </a:lstStyle>
          <a:p xmlns:a="http://schemas.openxmlformats.org/drawingml/2006/main">
            <a:pPr>
              <a:defRPr sz="2175" b="0">
                <a:solidFill>
                  <a:srgbClr val="24352C"/>
                </a:solidFill>
                <a:latin typeface="Arial"/>
                <a:ea typeface="Arial"/>
                <a:cs typeface="Arial"/>
              </a:defRPr>
            </a:pPr>
            <a:r>
              <a:rPr sz="2175" b="0">
                <a:solidFill>
                  <a:srgbClr val="24352C"/>
                </a:solidFill>
                <a:latin typeface="Arial"/>
                <a:ea typeface="Arial"/>
                <a:cs typeface="Arial"/>
              </a:rPr>
              <a:t>After training, I averaged ready models’ predictions to check which errors they could correct together.</a:t>
            </a:r>
          </a:p>
        </p:txBody>
      </p:sp>
      <p:graphicFrame>
        <p:nvGraphicFramePr>
          <p:cNvPr id="4" name="">
            <a:extLst xmlns:a="http://schemas.openxmlformats.org/drawingml/2006/main">
              <a:ext uri="{FF2B5EF4-FFF2-40B4-BE49-F238E27FC236}">
                <a16:creationId xmlns:a16="http://schemas.microsoft.com/office/drawing/2014/main" id="{63C68C1A-B0D3-4C84-9309-84DF31935F39}"/>
              </a:ext>
            </a:extLst>
          </p:cNvPr>
          <p:cNvGraphicFramePr/>
          <p:nvPr/>
        </p:nvGraphicFramePr>
        <p:xfrm>
          <a:off xmlns:a="http://schemas.openxmlformats.org/drawingml/2006/main" x="666750" y="2524125"/>
          <a:ext xmlns:a="http://schemas.openxmlformats.org/drawingml/2006/main" cx="10858500" cy="2466975"/>
        </p:xfrm>
        <a:graphic xmlns:a="http://schemas.openxmlformats.org/drawingml/2006/main">
          <a:graphicData uri="http://schemas.openxmlformats.org/drawingml/2006/table">
            <a:tbl>
              <a:tblPr/>
              <a:tblGrid>
                <a:gridCol w="8286750"/>
                <a:gridCol w="2571750"/>
              </a:tblGrid>
              <a:tr h="493395">
                <a:tc>
                  <a:txBody>
                    <a:bodyPr lIns="95250" tIns="95250" rIns="95250" bIns="95250"/>
                    <a:lstStyle/>
                    <a:p>
                      <a:r>
                        <a:rPr sz="1950" b="1">
                          <a:solidFill>
                            <a:srgbClr val="FFFFFF"/>
                          </a:solidFill>
                          <a:latin typeface="Arial"/>
                          <a:ea typeface="Arial"/>
                          <a:cs typeface="Arial"/>
                        </a:rPr>
                        <a:t>Combination with the MixUp/CutMix Base</a:t>
                      </a:r>
                    </a:p>
                  </a:txBody>
                  <a:tcPr marL="91440" marR="91440" marT="45720" marB="45720" anchor="ctr">
                    <a:lnL w="5715">
                      <a:solidFill>
                        <a:srgbClr val="DCE5DB"/>
                      </a:solidFill>
                      <a:prstDash val="solid"/>
                    </a:lnL>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c>
                  <a:txBody>
                    <a:bodyPr lIns="95250" tIns="95250" rIns="95250" bIns="95250"/>
                    <a:lstStyle/>
                    <a:p>
                      <a:r>
                        <a:rPr sz="1950" b="1">
                          <a:solidFill>
                            <a:srgbClr val="FFFFFF"/>
                          </a:solidFill>
                          <a:latin typeface="Arial"/>
                          <a:ea typeface="Arial"/>
                          <a:cs typeface="Arial"/>
                        </a:rPr>
                        <a:t>Macro mAP</a:t>
                      </a:r>
                    </a:p>
                  </a:txBody>
                  <a:tcPr marL="91440" marR="91440" marT="45720" marB="45720" anchor="ctr">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r>
              <a:tr h="493395">
                <a:tc>
                  <a:txBody>
                    <a:bodyPr lIns="95250" tIns="95250" rIns="95250" bIns="95250"/>
                    <a:lstStyle/>
                    <a:p>
                      <a:r>
                        <a:rPr sz="1950" b="0">
                          <a:solidFill>
                            <a:srgbClr val="24352C"/>
                          </a:solidFill>
                          <a:latin typeface="Arial"/>
                          <a:ea typeface="Arial"/>
                          <a:cs typeface="Arial"/>
                        </a:rPr>
                        <a:t>No second model</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950" b="0">
                          <a:solidFill>
                            <a:srgbClr val="24352C"/>
                          </a:solidFill>
                          <a:latin typeface="Arial"/>
                          <a:ea typeface="Arial"/>
                          <a:cs typeface="Arial"/>
                        </a:rPr>
                        <a:t>96.03%</a:t>
                      </a:r>
                    </a:p>
                  </a:txBody>
                  <a:tcPr marL="91440" marR="91440" marT="45720" marB="45720" anchor="ctr">
                    <a:lnR w="5715">
                      <a:solidFill>
                        <a:srgbClr val="DCE5DB"/>
                      </a:solidFill>
                      <a:prstDash val="solid"/>
                    </a:lnR>
                    <a:lnB w="5715">
                      <a:solidFill>
                        <a:srgbClr val="DCE5DB"/>
                      </a:solidFill>
                      <a:prstDash val="solid"/>
                    </a:lnB>
                    <a:solidFill>
                      <a:srgbClr val="FFFFFF"/>
                    </a:solidFill>
                  </a:tcPr>
                </a:tc>
              </a:tr>
              <a:tr h="493395">
                <a:tc>
                  <a:txBody>
                    <a:bodyPr lIns="95250" tIns="95250" rIns="95250" bIns="95250"/>
                    <a:lstStyle/>
                    <a:p>
                      <a:r>
                        <a:rPr sz="1950" b="0">
                          <a:solidFill>
                            <a:srgbClr val="24352C"/>
                          </a:solidFill>
                          <a:latin typeface="Arial"/>
                          <a:ea typeface="Arial"/>
                          <a:cs typeface="Arial"/>
                        </a:rPr>
                        <a:t>Earlier Base 448</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EBEFE7"/>
                    </a:solidFill>
                  </a:tcPr>
                </a:tc>
                <a:tc>
                  <a:txBody>
                    <a:bodyPr lIns="95250" tIns="95250" rIns="95250" bIns="95250"/>
                    <a:lstStyle/>
                    <a:p>
                      <a:r>
                        <a:rPr sz="1950" b="0">
                          <a:solidFill>
                            <a:srgbClr val="24352C"/>
                          </a:solidFill>
                          <a:latin typeface="Arial"/>
                          <a:ea typeface="Arial"/>
                          <a:cs typeface="Arial"/>
                        </a:rPr>
                        <a:t>96.18%</a:t>
                      </a:r>
                    </a:p>
                  </a:txBody>
                  <a:tcPr marL="91440" marR="91440" marT="45720" marB="45720" anchor="ctr">
                    <a:lnR w="5715">
                      <a:solidFill>
                        <a:srgbClr val="DCE5DB"/>
                      </a:solidFill>
                      <a:prstDash val="solid"/>
                    </a:lnR>
                    <a:lnB w="5715">
                      <a:solidFill>
                        <a:srgbClr val="DCE5DB"/>
                      </a:solidFill>
                      <a:prstDash val="solid"/>
                    </a:lnB>
                    <a:solidFill>
                      <a:srgbClr val="EBEFE7"/>
                    </a:solidFill>
                  </a:tcPr>
                </a:tc>
              </a:tr>
              <a:tr h="493395">
                <a:tc>
                  <a:txBody>
                    <a:bodyPr lIns="95250" tIns="95250" rIns="95250" bIns="95250"/>
                    <a:lstStyle/>
                    <a:p>
                      <a:r>
                        <a:rPr sz="1950" b="0">
                          <a:solidFill>
                            <a:srgbClr val="24352C"/>
                          </a:solidFill>
                          <a:latin typeface="Arial"/>
                          <a:ea typeface="Arial"/>
                          <a:cs typeface="Arial"/>
                        </a:rPr>
                        <a:t>Small 336 sampling/loss variant</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950" b="0">
                          <a:solidFill>
                            <a:srgbClr val="24352C"/>
                          </a:solidFill>
                          <a:latin typeface="Arial"/>
                          <a:ea typeface="Arial"/>
                          <a:cs typeface="Arial"/>
                        </a:rPr>
                        <a:t>96.03%</a:t>
                      </a:r>
                    </a:p>
                  </a:txBody>
                  <a:tcPr marL="91440" marR="91440" marT="45720" marB="45720" anchor="ctr">
                    <a:lnR w="5715">
                      <a:solidFill>
                        <a:srgbClr val="DCE5DB"/>
                      </a:solidFill>
                      <a:prstDash val="solid"/>
                    </a:lnR>
                    <a:lnB w="5715">
                      <a:solidFill>
                        <a:srgbClr val="DCE5DB"/>
                      </a:solidFill>
                      <a:prstDash val="solid"/>
                    </a:lnB>
                    <a:solidFill>
                      <a:srgbClr val="FFFFFF"/>
                    </a:solidFill>
                  </a:tcPr>
                </a:tc>
              </a:tr>
              <a:tr h="493395">
                <a:tc>
                  <a:txBody>
                    <a:bodyPr lIns="95250" tIns="95250" rIns="95250" bIns="95250"/>
                    <a:lstStyle/>
                    <a:p>
                      <a:r>
                        <a:rPr sz="1950" b="0">
                          <a:solidFill>
                            <a:srgbClr val="24352C"/>
                          </a:solidFill>
                          <a:latin typeface="Arial"/>
                          <a:ea typeface="Arial"/>
                          <a:cs typeface="Arial"/>
                        </a:rPr>
                        <a:t>Matched control Base 448</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EBEFE7"/>
                    </a:solidFill>
                  </a:tcPr>
                </a:tc>
                <a:tc>
                  <a:txBody>
                    <a:bodyPr lIns="95250" tIns="95250" rIns="95250" bIns="95250"/>
                    <a:lstStyle/>
                    <a:p>
                      <a:r>
                        <a:rPr sz="1950" b="0">
                          <a:solidFill>
                            <a:srgbClr val="24352C"/>
                          </a:solidFill>
                          <a:latin typeface="Arial"/>
                          <a:ea typeface="Arial"/>
                          <a:cs typeface="Arial"/>
                        </a:rPr>
                        <a:t>96.48%</a:t>
                      </a:r>
                    </a:p>
                  </a:txBody>
                  <a:tcPr marL="91440" marR="91440" marT="45720" marB="45720" anchor="ctr">
                    <a:lnR w="5715">
                      <a:solidFill>
                        <a:srgbClr val="DCE5DB"/>
                      </a:solidFill>
                      <a:prstDash val="solid"/>
                    </a:lnR>
                    <a:lnB w="5715">
                      <a:solidFill>
                        <a:srgbClr val="DCE5DB"/>
                      </a:solidFill>
                      <a:prstDash val="solid"/>
                    </a:lnB>
                    <a:solidFill>
                      <a:srgbClr val="EBEFE7"/>
                    </a:solidFill>
                  </a:tcPr>
                </a:tc>
              </a:tr>
            </a:tbl>
          </a:graphicData>
        </a:graphic>
      </p:graphicFrame>
      <p:sp>
        <p:nvSpPr>
          <p:cNvPr id="5" name="">
            <a:extLst xmlns:a="http://schemas.openxmlformats.org/drawingml/2006/main">
              <a:ext uri="{FF2B5EF4-FFF2-40B4-BE49-F238E27FC236}">
                <a16:creationId xmlns:a16="http://schemas.microsoft.com/office/drawing/2014/main" id="{E79EE763-13FE-4965-9E5C-BF51E3237D77}"/>
              </a:ext>
            </a:extLst>
          </p:cNvPr>
          <p:cNvSpPr>
            <a:spLocks xmlns:a="http://schemas.openxmlformats.org/drawingml/2006/main" noGrp="1"/>
          </p:cNvSpPr>
          <p:nvPr/>
        </p:nvSpPr>
        <p:spPr>
          <a:xfrm xmlns:a="http://schemas.openxmlformats.org/drawingml/2006/main">
            <a:off x="723900" y="523875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173E2C"/>
                </a:solidFill>
                <a:latin typeface="Arial"/>
                <a:ea typeface="Arial"/>
                <a:cs typeface="Arial"/>
              </a:defRPr>
            </a:defPPr>
            <a:lvl1pPr>
              <a:defRPr sz="2100" b="1">
                <a:solidFill>
                  <a:srgbClr val="173E2C"/>
                </a:solidFill>
                <a:latin typeface="Arial"/>
                <a:ea typeface="Arial"/>
                <a:cs typeface="Arial"/>
              </a:defRPr>
            </a:lvl1pPr>
            <a:lvl2pPr>
              <a:defRPr sz="2100" b="1">
                <a:solidFill>
                  <a:srgbClr val="173E2C"/>
                </a:solidFill>
                <a:latin typeface="Arial"/>
                <a:ea typeface="Arial"/>
                <a:cs typeface="Arial"/>
              </a:defRPr>
            </a:lvl2pPr>
            <a:lvl3pPr>
              <a:defRPr sz="2100" b="1">
                <a:solidFill>
                  <a:srgbClr val="173E2C"/>
                </a:solidFill>
                <a:latin typeface="Arial"/>
                <a:ea typeface="Arial"/>
                <a:cs typeface="Arial"/>
              </a:defRPr>
            </a:lvl3pPr>
            <a:lvl4pPr>
              <a:defRPr sz="2100" b="1">
                <a:solidFill>
                  <a:srgbClr val="173E2C"/>
                </a:solidFill>
                <a:latin typeface="Arial"/>
                <a:ea typeface="Arial"/>
                <a:cs typeface="Arial"/>
              </a:defRPr>
            </a:lvl4pPr>
            <a:lvl5pPr>
              <a:defRPr sz="2100" b="1">
                <a:solidFill>
                  <a:srgbClr val="173E2C"/>
                </a:solidFill>
                <a:latin typeface="Arial"/>
                <a:ea typeface="Arial"/>
                <a:cs typeface="Arial"/>
              </a:defRPr>
            </a:lvl5pPr>
            <a:lvl6pPr>
              <a:defRPr sz="2100" b="1">
                <a:solidFill>
                  <a:srgbClr val="173E2C"/>
                </a:solidFill>
                <a:latin typeface="Arial"/>
                <a:ea typeface="Arial"/>
                <a:cs typeface="Arial"/>
              </a:defRPr>
            </a:lvl6pPr>
            <a:lvl7pPr>
              <a:defRPr sz="2100" b="1">
                <a:solidFill>
                  <a:srgbClr val="173E2C"/>
                </a:solidFill>
                <a:latin typeface="Arial"/>
                <a:ea typeface="Arial"/>
                <a:cs typeface="Arial"/>
              </a:defRPr>
            </a:lvl7pPr>
            <a:lvl8pPr>
              <a:defRPr sz="2100" b="1">
                <a:solidFill>
                  <a:srgbClr val="173E2C"/>
                </a:solidFill>
                <a:latin typeface="Arial"/>
                <a:ea typeface="Arial"/>
                <a:cs typeface="Arial"/>
              </a:defRPr>
            </a:lvl8pPr>
            <a:lvl9pPr>
              <a:defRPr sz="2100" b="1">
                <a:solidFill>
                  <a:srgbClr val="173E2C"/>
                </a:solidFill>
                <a:latin typeface="Arial"/>
                <a:ea typeface="Arial"/>
                <a:cs typeface="Arial"/>
              </a:defRPr>
            </a:lvl9pPr>
          </a:lstStyle>
          <a:p xmlns:a="http://schemas.openxmlformats.org/drawingml/2006/main">
            <a:pPr>
              <a:defRPr sz="2100" b="1">
                <a:solidFill>
                  <a:srgbClr val="173E2C"/>
                </a:solidFill>
                <a:latin typeface="Arial"/>
                <a:ea typeface="Arial"/>
                <a:cs typeface="Arial"/>
              </a:defRPr>
            </a:pPr>
            <a:r>
              <a:rPr sz="2100" b="1">
                <a:solidFill>
                  <a:srgbClr val="173E2C"/>
                </a:solidFill>
                <a:latin typeface="Arial"/>
                <a:ea typeface="Arial"/>
                <a:cs typeface="Arial"/>
              </a:rPr>
              <a:t>Final pair: control Base + mixed Base, 50/50. Each model averages normal, flipped, and padded views of the same photo.</a:t>
            </a:r>
          </a:p>
        </p:txBody>
      </p:sp>
      <p:sp>
        <p:nvSpPr>
          <p:cNvPr id="6" name="">
            <a:extLst xmlns:a="http://schemas.openxmlformats.org/drawingml/2006/main">
              <a:ext uri="{FF2B5EF4-FFF2-40B4-BE49-F238E27FC236}">
                <a16:creationId xmlns:a16="http://schemas.microsoft.com/office/drawing/2014/main" id="{AB111468-25B0-4D2E-A8F2-C4544A209B5E}"/>
              </a:ext>
            </a:extLst>
          </p:cNvPr>
          <p:cNvSpPr>
            <a:spLocks xmlns:a="http://schemas.openxmlformats.org/drawingml/2006/main" noGrp="1"/>
          </p:cNvSpPr>
          <p:nvPr/>
        </p:nvSpPr>
        <p:spPr>
          <a:xfrm xmlns:a="http://schemas.openxmlformats.org/drawingml/2006/main">
            <a:off x="723900" y="61817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b="0">
                <a:solidFill>
                  <a:srgbClr val="59665D"/>
                </a:solidFill>
                <a:latin typeface="Arial"/>
                <a:ea typeface="Arial"/>
                <a:cs typeface="Arial"/>
              </a:defRPr>
            </a:defPPr>
            <a:lvl1pPr>
              <a:defRPr sz="1425" b="0">
                <a:solidFill>
                  <a:srgbClr val="59665D"/>
                </a:solidFill>
                <a:latin typeface="Arial"/>
                <a:ea typeface="Arial"/>
                <a:cs typeface="Arial"/>
              </a:defRPr>
            </a:lvl1pPr>
            <a:lvl2pPr>
              <a:defRPr sz="1425" b="0">
                <a:solidFill>
                  <a:srgbClr val="59665D"/>
                </a:solidFill>
                <a:latin typeface="Arial"/>
                <a:ea typeface="Arial"/>
                <a:cs typeface="Arial"/>
              </a:defRPr>
            </a:lvl2pPr>
            <a:lvl3pPr>
              <a:defRPr sz="1425" b="0">
                <a:solidFill>
                  <a:srgbClr val="59665D"/>
                </a:solidFill>
                <a:latin typeface="Arial"/>
                <a:ea typeface="Arial"/>
                <a:cs typeface="Arial"/>
              </a:defRPr>
            </a:lvl3pPr>
            <a:lvl4pPr>
              <a:defRPr sz="1425" b="0">
                <a:solidFill>
                  <a:srgbClr val="59665D"/>
                </a:solidFill>
                <a:latin typeface="Arial"/>
                <a:ea typeface="Arial"/>
                <a:cs typeface="Arial"/>
              </a:defRPr>
            </a:lvl4pPr>
            <a:lvl5pPr>
              <a:defRPr sz="1425" b="0">
                <a:solidFill>
                  <a:srgbClr val="59665D"/>
                </a:solidFill>
                <a:latin typeface="Arial"/>
                <a:ea typeface="Arial"/>
                <a:cs typeface="Arial"/>
              </a:defRPr>
            </a:lvl5pPr>
            <a:lvl6pPr>
              <a:defRPr sz="1425" b="0">
                <a:solidFill>
                  <a:srgbClr val="59665D"/>
                </a:solidFill>
                <a:latin typeface="Arial"/>
                <a:ea typeface="Arial"/>
                <a:cs typeface="Arial"/>
              </a:defRPr>
            </a:lvl6pPr>
            <a:lvl7pPr>
              <a:defRPr sz="1425" b="0">
                <a:solidFill>
                  <a:srgbClr val="59665D"/>
                </a:solidFill>
                <a:latin typeface="Arial"/>
                <a:ea typeface="Arial"/>
                <a:cs typeface="Arial"/>
              </a:defRPr>
            </a:lvl7pPr>
            <a:lvl8pPr>
              <a:defRPr sz="1425" b="0">
                <a:solidFill>
                  <a:srgbClr val="59665D"/>
                </a:solidFill>
                <a:latin typeface="Arial"/>
                <a:ea typeface="Arial"/>
                <a:cs typeface="Arial"/>
              </a:defRPr>
            </a:lvl8pPr>
            <a:lvl9pPr>
              <a:defRPr sz="1425" b="0">
                <a:solidFill>
                  <a:srgbClr val="59665D"/>
                </a:solidFill>
                <a:latin typeface="Arial"/>
                <a:ea typeface="Arial"/>
                <a:cs typeface="Arial"/>
              </a:defRPr>
            </a:lvl9pPr>
          </a:lstStyle>
          <a:p xmlns:a="http://schemas.openxmlformats.org/drawingml/2006/main">
            <a:pPr>
              <a:defRPr sz="1425" b="0">
                <a:solidFill>
                  <a:srgbClr val="59665D"/>
                </a:solidFill>
                <a:latin typeface="Arial"/>
                <a:ea typeface="Arial"/>
                <a:cs typeface="Arial"/>
              </a:defRPr>
            </a:pPr>
            <a:r>
              <a:rPr sz="1425" b="0">
                <a:solidFill>
                  <a:srgbClr val="59665D"/>
                </a:solidFill>
                <a:latin typeface="Arial"/>
                <a:ea typeface="Arial"/>
                <a:cs typeface="Arial"/>
              </a:rPr>
              <a:t>Same 368 shared validation photos and prediction views. Macro mAP selected the pair. No Small model in V2.</a:t>
            </a:r>
          </a:p>
        </p:txBody>
      </p:sp>
    </p:spTree>
    <p:extLst>
      <p:ext uri="{BB962C8B-B14F-4D97-AF65-F5344CB8AC3E}">
        <p14:creationId xmlns:p14="http://schemas.microsoft.com/office/powerpoint/2010/main" val="2021981422"/>
      </p:ext>
    </p:extLst>
  </p:cSld>
</p:sld>
</file>

<file path=ppt/slides/slide8.xml><?xml version="1.0" encoding="utf-8"?>
<p:sld xmlns:p="http://schemas.openxmlformats.org/presentationml/2006/main">
  <p:cSld>
    <p:bg>
      <p:bgPr>
        <a:solidFill xmlns:a="http://schemas.openxmlformats.org/drawingml/2006/main">
          <a:srgbClr val="F6F5E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CB7D222-77E9-496A-BB51-3A955F32EB7D}"/>
              </a:ext>
            </a:extLst>
          </p:cNvPr>
          <p:cNvSpPr>
            <a:spLocks xmlns:a="http://schemas.openxmlformats.org/drawingml/2006/main" noGrp="1"/>
          </p:cNvSpPr>
          <p:nvPr/>
        </p:nvSpPr>
        <p:spPr>
          <a:xfrm xmlns:a="http://schemas.openxmlformats.org/drawingml/2006/main">
            <a:off x="666750" y="45720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173E2C"/>
                </a:solidFill>
                <a:latin typeface="Arial"/>
                <a:ea typeface="Arial"/>
                <a:cs typeface="Arial"/>
              </a:defRPr>
            </a:defPPr>
            <a:lvl1pPr>
              <a:defRPr sz="3225" b="1">
                <a:solidFill>
                  <a:srgbClr val="173E2C"/>
                </a:solidFill>
                <a:latin typeface="Arial"/>
                <a:ea typeface="Arial"/>
                <a:cs typeface="Arial"/>
              </a:defRPr>
            </a:lvl1pPr>
            <a:lvl2pPr>
              <a:defRPr sz="3225" b="1">
                <a:solidFill>
                  <a:srgbClr val="173E2C"/>
                </a:solidFill>
                <a:latin typeface="Arial"/>
                <a:ea typeface="Arial"/>
                <a:cs typeface="Arial"/>
              </a:defRPr>
            </a:lvl2pPr>
            <a:lvl3pPr>
              <a:defRPr sz="3225" b="1">
                <a:solidFill>
                  <a:srgbClr val="173E2C"/>
                </a:solidFill>
                <a:latin typeface="Arial"/>
                <a:ea typeface="Arial"/>
                <a:cs typeface="Arial"/>
              </a:defRPr>
            </a:lvl3pPr>
            <a:lvl4pPr>
              <a:defRPr sz="3225" b="1">
                <a:solidFill>
                  <a:srgbClr val="173E2C"/>
                </a:solidFill>
                <a:latin typeface="Arial"/>
                <a:ea typeface="Arial"/>
                <a:cs typeface="Arial"/>
              </a:defRPr>
            </a:lvl4pPr>
            <a:lvl5pPr>
              <a:defRPr sz="3225" b="1">
                <a:solidFill>
                  <a:srgbClr val="173E2C"/>
                </a:solidFill>
                <a:latin typeface="Arial"/>
                <a:ea typeface="Arial"/>
                <a:cs typeface="Arial"/>
              </a:defRPr>
            </a:lvl5pPr>
            <a:lvl6pPr>
              <a:defRPr sz="3225" b="1">
                <a:solidFill>
                  <a:srgbClr val="173E2C"/>
                </a:solidFill>
                <a:latin typeface="Arial"/>
                <a:ea typeface="Arial"/>
                <a:cs typeface="Arial"/>
              </a:defRPr>
            </a:lvl6pPr>
            <a:lvl7pPr>
              <a:defRPr sz="3225" b="1">
                <a:solidFill>
                  <a:srgbClr val="173E2C"/>
                </a:solidFill>
                <a:latin typeface="Arial"/>
                <a:ea typeface="Arial"/>
                <a:cs typeface="Arial"/>
              </a:defRPr>
            </a:lvl7pPr>
            <a:lvl8pPr>
              <a:defRPr sz="3225" b="1">
                <a:solidFill>
                  <a:srgbClr val="173E2C"/>
                </a:solidFill>
                <a:latin typeface="Arial"/>
                <a:ea typeface="Arial"/>
                <a:cs typeface="Arial"/>
              </a:defRPr>
            </a:lvl8pPr>
            <a:lvl9pPr>
              <a:defRPr sz="3225" b="1">
                <a:solidFill>
                  <a:srgbClr val="173E2C"/>
                </a:solidFill>
                <a:latin typeface="Arial"/>
                <a:ea typeface="Arial"/>
                <a:cs typeface="Arial"/>
              </a:defRPr>
            </a:lvl9pPr>
          </a:lstStyle>
          <a:p xmlns:a="http://schemas.openxmlformats.org/drawingml/2006/main">
            <a:pPr>
              <a:defRPr sz="3225" b="1">
                <a:solidFill>
                  <a:srgbClr val="173E2C"/>
                </a:solidFill>
                <a:latin typeface="Arial"/>
                <a:ea typeface="Arial"/>
                <a:cs typeface="Arial"/>
              </a:defRPr>
            </a:pPr>
            <a:r>
              <a:rPr sz="3225" b="1">
                <a:solidFill>
                  <a:srgbClr val="173E2C"/>
                </a:solidFill>
                <a:latin typeface="Arial"/>
                <a:ea typeface="Arial"/>
                <a:cs typeface="Arial"/>
              </a:rPr>
              <a:t>Final reporting results</a:t>
            </a:r>
          </a:p>
        </p:txBody>
      </p:sp>
      <p:sp>
        <p:nvSpPr>
          <p:cNvPr id="2" name="">
            <a:extLst xmlns:a="http://schemas.openxmlformats.org/drawingml/2006/main">
              <a:ext uri="{FF2B5EF4-FFF2-40B4-BE49-F238E27FC236}">
                <a16:creationId xmlns:a16="http://schemas.microsoft.com/office/drawing/2014/main" id="{4BD96F69-2CFA-416F-84F8-5D82C7B33081}"/>
              </a:ext>
            </a:extLst>
          </p:cNvPr>
          <p:cNvSpPr>
            <a:spLocks xmlns:a="http://schemas.openxmlformats.org/drawingml/2006/main" noGrp="1"/>
          </p:cNvSpPr>
          <p:nvPr/>
        </p:nvSpPr>
        <p:spPr>
          <a:xfrm xmlns:a="http://schemas.openxmlformats.org/drawingml/2006/main">
            <a:off x="666750" y="6467475"/>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9665D"/>
                </a:solidFill>
                <a:latin typeface="Arial"/>
                <a:ea typeface="Arial"/>
                <a:cs typeface="Arial"/>
              </a:defRPr>
            </a:defPPr>
            <a:lvl1pPr>
              <a:defRPr sz="1200" b="0">
                <a:solidFill>
                  <a:srgbClr val="59665D"/>
                </a:solidFill>
                <a:latin typeface="Arial"/>
                <a:ea typeface="Arial"/>
                <a:cs typeface="Arial"/>
              </a:defRPr>
            </a:lvl1pPr>
            <a:lvl2pPr>
              <a:defRPr sz="1200" b="0">
                <a:solidFill>
                  <a:srgbClr val="59665D"/>
                </a:solidFill>
                <a:latin typeface="Arial"/>
                <a:ea typeface="Arial"/>
                <a:cs typeface="Arial"/>
              </a:defRPr>
            </a:lvl2pPr>
            <a:lvl3pPr>
              <a:defRPr sz="1200" b="0">
                <a:solidFill>
                  <a:srgbClr val="59665D"/>
                </a:solidFill>
                <a:latin typeface="Arial"/>
                <a:ea typeface="Arial"/>
                <a:cs typeface="Arial"/>
              </a:defRPr>
            </a:lvl3pPr>
            <a:lvl4pPr>
              <a:defRPr sz="1200" b="0">
                <a:solidFill>
                  <a:srgbClr val="59665D"/>
                </a:solidFill>
                <a:latin typeface="Arial"/>
                <a:ea typeface="Arial"/>
                <a:cs typeface="Arial"/>
              </a:defRPr>
            </a:lvl4pPr>
            <a:lvl5pPr>
              <a:defRPr sz="1200" b="0">
                <a:solidFill>
                  <a:srgbClr val="59665D"/>
                </a:solidFill>
                <a:latin typeface="Arial"/>
                <a:ea typeface="Arial"/>
                <a:cs typeface="Arial"/>
              </a:defRPr>
            </a:lvl5pPr>
            <a:lvl6pPr>
              <a:defRPr sz="1200" b="0">
                <a:solidFill>
                  <a:srgbClr val="59665D"/>
                </a:solidFill>
                <a:latin typeface="Arial"/>
                <a:ea typeface="Arial"/>
                <a:cs typeface="Arial"/>
              </a:defRPr>
            </a:lvl6pPr>
            <a:lvl7pPr>
              <a:defRPr sz="1200" b="0">
                <a:solidFill>
                  <a:srgbClr val="59665D"/>
                </a:solidFill>
                <a:latin typeface="Arial"/>
                <a:ea typeface="Arial"/>
                <a:cs typeface="Arial"/>
              </a:defRPr>
            </a:lvl7pPr>
            <a:lvl8pPr>
              <a:defRPr sz="1200" b="0">
                <a:solidFill>
                  <a:srgbClr val="59665D"/>
                </a:solidFill>
                <a:latin typeface="Arial"/>
                <a:ea typeface="Arial"/>
                <a:cs typeface="Arial"/>
              </a:defRPr>
            </a:lvl8pPr>
            <a:lvl9pPr>
              <a:defRPr sz="1200" b="0">
                <a:solidFill>
                  <a:srgbClr val="59665D"/>
                </a:solidFill>
                <a:latin typeface="Arial"/>
                <a:ea typeface="Arial"/>
                <a:cs typeface="Arial"/>
              </a:defRPr>
            </a:lvl9pPr>
          </a:lstStyle>
          <a:p xmlns:a="http://schemas.openxmlformats.org/drawingml/2006/main">
            <a:pPr>
              <a:defRPr sz="1200" b="0">
                <a:solidFill>
                  <a:srgbClr val="59665D"/>
                </a:solidFill>
                <a:latin typeface="Arial"/>
                <a:ea typeface="Arial"/>
                <a:cs typeface="Arial"/>
              </a:defRPr>
            </a:pPr>
            <a:r>
              <a:rPr sz="1200" b="0">
                <a:solidFill>
                  <a:srgbClr val="59665D"/>
                </a:solidFill>
                <a:latin typeface="Arial"/>
                <a:ea typeface="Arial"/>
                <a:cs typeface="Arial"/>
              </a:rPr>
              <a:t>08</a:t>
            </a:r>
          </a:p>
        </p:txBody>
      </p:sp>
      <p:sp>
        <p:nvSpPr>
          <p:cNvPr id="3" name="">
            <a:extLst xmlns:a="http://schemas.openxmlformats.org/drawingml/2006/main">
              <a:ext uri="{FF2B5EF4-FFF2-40B4-BE49-F238E27FC236}">
                <a16:creationId xmlns:a16="http://schemas.microsoft.com/office/drawing/2014/main" id="{0CCF679C-F031-4B36-8DFF-D4E6ADED9DD9}"/>
              </a:ext>
            </a:extLst>
          </p:cNvPr>
          <p:cNvSpPr>
            <a:spLocks xmlns:a="http://schemas.openxmlformats.org/drawingml/2006/main" noGrp="1"/>
          </p:cNvSpPr>
          <p:nvPr/>
        </p:nvSpPr>
        <p:spPr>
          <a:xfrm xmlns:a="http://schemas.openxmlformats.org/drawingml/2006/main">
            <a:off x="723900" y="1628775"/>
            <a:ext cx="6191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4575" b="1">
                <a:solidFill>
                  <a:srgbClr val="173E2C"/>
                </a:solidFill>
                <a:latin typeface="Arial"/>
                <a:ea typeface="Arial"/>
                <a:cs typeface="Arial"/>
              </a:defRPr>
            </a:defPPr>
            <a:lvl1pPr>
              <a:defRPr sz="4575" b="1">
                <a:solidFill>
                  <a:srgbClr val="173E2C"/>
                </a:solidFill>
                <a:latin typeface="Arial"/>
                <a:ea typeface="Arial"/>
                <a:cs typeface="Arial"/>
              </a:defRPr>
            </a:lvl1pPr>
            <a:lvl2pPr>
              <a:defRPr sz="4575" b="1">
                <a:solidFill>
                  <a:srgbClr val="173E2C"/>
                </a:solidFill>
                <a:latin typeface="Arial"/>
                <a:ea typeface="Arial"/>
                <a:cs typeface="Arial"/>
              </a:defRPr>
            </a:lvl2pPr>
            <a:lvl3pPr>
              <a:defRPr sz="4575" b="1">
                <a:solidFill>
                  <a:srgbClr val="173E2C"/>
                </a:solidFill>
                <a:latin typeface="Arial"/>
                <a:ea typeface="Arial"/>
                <a:cs typeface="Arial"/>
              </a:defRPr>
            </a:lvl3pPr>
            <a:lvl4pPr>
              <a:defRPr sz="4575" b="1">
                <a:solidFill>
                  <a:srgbClr val="173E2C"/>
                </a:solidFill>
                <a:latin typeface="Arial"/>
                <a:ea typeface="Arial"/>
                <a:cs typeface="Arial"/>
              </a:defRPr>
            </a:lvl4pPr>
            <a:lvl5pPr>
              <a:defRPr sz="4575" b="1">
                <a:solidFill>
                  <a:srgbClr val="173E2C"/>
                </a:solidFill>
                <a:latin typeface="Arial"/>
                <a:ea typeface="Arial"/>
                <a:cs typeface="Arial"/>
              </a:defRPr>
            </a:lvl5pPr>
            <a:lvl6pPr>
              <a:defRPr sz="4575" b="1">
                <a:solidFill>
                  <a:srgbClr val="173E2C"/>
                </a:solidFill>
                <a:latin typeface="Arial"/>
                <a:ea typeface="Arial"/>
                <a:cs typeface="Arial"/>
              </a:defRPr>
            </a:lvl6pPr>
            <a:lvl7pPr>
              <a:defRPr sz="4575" b="1">
                <a:solidFill>
                  <a:srgbClr val="173E2C"/>
                </a:solidFill>
                <a:latin typeface="Arial"/>
                <a:ea typeface="Arial"/>
                <a:cs typeface="Arial"/>
              </a:defRPr>
            </a:lvl7pPr>
            <a:lvl8pPr>
              <a:defRPr sz="4575" b="1">
                <a:solidFill>
                  <a:srgbClr val="173E2C"/>
                </a:solidFill>
                <a:latin typeface="Arial"/>
                <a:ea typeface="Arial"/>
                <a:cs typeface="Arial"/>
              </a:defRPr>
            </a:lvl8pPr>
            <a:lvl9pPr>
              <a:defRPr sz="4575" b="1">
                <a:solidFill>
                  <a:srgbClr val="173E2C"/>
                </a:solidFill>
                <a:latin typeface="Arial"/>
                <a:ea typeface="Arial"/>
                <a:cs typeface="Arial"/>
              </a:defRPr>
            </a:lvl9pPr>
          </a:lstStyle>
          <a:p xmlns:a="http://schemas.openxmlformats.org/drawingml/2006/main">
            <a:pPr>
              <a:defRPr sz="4575" b="1">
                <a:solidFill>
                  <a:srgbClr val="173E2C"/>
                </a:solidFill>
                <a:latin typeface="Arial"/>
                <a:ea typeface="Arial"/>
                <a:cs typeface="Arial"/>
              </a:defRPr>
            </a:pPr>
            <a:r>
              <a:rPr sz="4575" b="1">
                <a:solidFill>
                  <a:srgbClr val="173E2C"/>
                </a:solidFill>
                <a:latin typeface="Arial"/>
                <a:ea typeface="Arial"/>
                <a:cs typeface="Arial"/>
              </a:rPr>
              <a:t>89.41% Top-1</a:t>
            </a:r>
          </a:p>
        </p:txBody>
      </p:sp>
      <p:sp>
        <p:nvSpPr>
          <p:cNvPr id="4" name="">
            <a:extLst xmlns:a="http://schemas.openxmlformats.org/drawingml/2006/main">
              <a:ext uri="{FF2B5EF4-FFF2-40B4-BE49-F238E27FC236}">
                <a16:creationId xmlns:a16="http://schemas.microsoft.com/office/drawing/2014/main" id="{BC5EB2DE-5FD7-463A-BB86-004EAB60200E}"/>
              </a:ext>
            </a:extLst>
          </p:cNvPr>
          <p:cNvSpPr>
            <a:spLocks xmlns:a="http://schemas.openxmlformats.org/drawingml/2006/main" noGrp="1"/>
          </p:cNvSpPr>
          <p:nvPr/>
        </p:nvSpPr>
        <p:spPr>
          <a:xfrm xmlns:a="http://schemas.openxmlformats.org/drawingml/2006/main">
            <a:off x="762000" y="2562225"/>
            <a:ext cx="657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24352C"/>
                </a:solidFill>
                <a:latin typeface="Arial"/>
                <a:ea typeface="Arial"/>
                <a:cs typeface="Arial"/>
              </a:defRPr>
            </a:defPPr>
            <a:lvl1pPr>
              <a:defRPr sz="2175" b="0">
                <a:solidFill>
                  <a:srgbClr val="24352C"/>
                </a:solidFill>
                <a:latin typeface="Arial"/>
                <a:ea typeface="Arial"/>
                <a:cs typeface="Arial"/>
              </a:defRPr>
            </a:lvl1pPr>
            <a:lvl2pPr>
              <a:defRPr sz="2175" b="0">
                <a:solidFill>
                  <a:srgbClr val="24352C"/>
                </a:solidFill>
                <a:latin typeface="Arial"/>
                <a:ea typeface="Arial"/>
                <a:cs typeface="Arial"/>
              </a:defRPr>
            </a:lvl2pPr>
            <a:lvl3pPr>
              <a:defRPr sz="2175" b="0">
                <a:solidFill>
                  <a:srgbClr val="24352C"/>
                </a:solidFill>
                <a:latin typeface="Arial"/>
                <a:ea typeface="Arial"/>
                <a:cs typeface="Arial"/>
              </a:defRPr>
            </a:lvl3pPr>
            <a:lvl4pPr>
              <a:defRPr sz="2175" b="0">
                <a:solidFill>
                  <a:srgbClr val="24352C"/>
                </a:solidFill>
                <a:latin typeface="Arial"/>
                <a:ea typeface="Arial"/>
                <a:cs typeface="Arial"/>
              </a:defRPr>
            </a:lvl4pPr>
            <a:lvl5pPr>
              <a:defRPr sz="2175" b="0">
                <a:solidFill>
                  <a:srgbClr val="24352C"/>
                </a:solidFill>
                <a:latin typeface="Arial"/>
                <a:ea typeface="Arial"/>
                <a:cs typeface="Arial"/>
              </a:defRPr>
            </a:lvl5pPr>
            <a:lvl6pPr>
              <a:defRPr sz="2175" b="0">
                <a:solidFill>
                  <a:srgbClr val="24352C"/>
                </a:solidFill>
                <a:latin typeface="Arial"/>
                <a:ea typeface="Arial"/>
                <a:cs typeface="Arial"/>
              </a:defRPr>
            </a:lvl6pPr>
            <a:lvl7pPr>
              <a:defRPr sz="2175" b="0">
                <a:solidFill>
                  <a:srgbClr val="24352C"/>
                </a:solidFill>
                <a:latin typeface="Arial"/>
                <a:ea typeface="Arial"/>
                <a:cs typeface="Arial"/>
              </a:defRPr>
            </a:lvl7pPr>
            <a:lvl8pPr>
              <a:defRPr sz="2175" b="0">
                <a:solidFill>
                  <a:srgbClr val="24352C"/>
                </a:solidFill>
                <a:latin typeface="Arial"/>
                <a:ea typeface="Arial"/>
                <a:cs typeface="Arial"/>
              </a:defRPr>
            </a:lvl8pPr>
            <a:lvl9pPr>
              <a:defRPr sz="2175" b="0">
                <a:solidFill>
                  <a:srgbClr val="24352C"/>
                </a:solidFill>
                <a:latin typeface="Arial"/>
                <a:ea typeface="Arial"/>
                <a:cs typeface="Arial"/>
              </a:defRPr>
            </a:lvl9pPr>
          </a:lstStyle>
          <a:p xmlns:a="http://schemas.openxmlformats.org/drawingml/2006/main">
            <a:pPr>
              <a:defRPr sz="2175" b="0">
                <a:solidFill>
                  <a:srgbClr val="24352C"/>
                </a:solidFill>
                <a:latin typeface="Arial"/>
                <a:ea typeface="Arial"/>
                <a:cs typeface="Arial"/>
              </a:defRPr>
            </a:pPr>
            <a:r>
              <a:rPr sz="2175" b="0">
                <a:solidFill>
                  <a:srgbClr val="24352C"/>
                </a:solidFill>
                <a:latin typeface="Arial"/>
                <a:ea typeface="Arial"/>
                <a:cs typeface="Arial"/>
              </a:rPr>
              <a:t>557 of 623 first suggestions were correct</a:t>
            </a:r>
          </a:p>
        </p:txBody>
      </p:sp>
      <p:sp>
        <p:nvSpPr>
          <p:cNvPr id="5" name="">
            <a:extLst xmlns:a="http://schemas.openxmlformats.org/drawingml/2006/main">
              <a:ext uri="{FF2B5EF4-FFF2-40B4-BE49-F238E27FC236}">
                <a16:creationId xmlns:a16="http://schemas.microsoft.com/office/drawing/2014/main" id="{62FEAE02-7F62-42A2-97F7-8BB3DE61722E}"/>
              </a:ext>
            </a:extLst>
          </p:cNvPr>
          <p:cNvSpPr>
            <a:spLocks xmlns:a="http://schemas.openxmlformats.org/drawingml/2006/main" noGrp="1"/>
          </p:cNvSpPr>
          <p:nvPr/>
        </p:nvSpPr>
        <p:spPr>
          <a:xfrm xmlns:a="http://schemas.openxmlformats.org/drawingml/2006/main">
            <a:off x="7677150" y="1809750"/>
            <a:ext cx="3857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700" b="0">
                <a:solidFill>
                  <a:srgbClr val="24352C"/>
                </a:solidFill>
                <a:latin typeface="Arial"/>
                <a:ea typeface="Arial"/>
                <a:cs typeface="Arial"/>
              </a:defRPr>
            </a:defPPr>
            <a:lvl1pPr>
              <a:defRPr sz="2700" b="0">
                <a:solidFill>
                  <a:srgbClr val="24352C"/>
                </a:solidFill>
                <a:latin typeface="Arial"/>
                <a:ea typeface="Arial"/>
                <a:cs typeface="Arial"/>
              </a:defRPr>
            </a:lvl1pPr>
            <a:lvl2pPr>
              <a:defRPr sz="2700" b="0">
                <a:solidFill>
                  <a:srgbClr val="24352C"/>
                </a:solidFill>
                <a:latin typeface="Arial"/>
                <a:ea typeface="Arial"/>
                <a:cs typeface="Arial"/>
              </a:defRPr>
            </a:lvl2pPr>
            <a:lvl3pPr>
              <a:defRPr sz="2700" b="0">
                <a:solidFill>
                  <a:srgbClr val="24352C"/>
                </a:solidFill>
                <a:latin typeface="Arial"/>
                <a:ea typeface="Arial"/>
                <a:cs typeface="Arial"/>
              </a:defRPr>
            </a:lvl3pPr>
            <a:lvl4pPr>
              <a:defRPr sz="2700" b="0">
                <a:solidFill>
                  <a:srgbClr val="24352C"/>
                </a:solidFill>
                <a:latin typeface="Arial"/>
                <a:ea typeface="Arial"/>
                <a:cs typeface="Arial"/>
              </a:defRPr>
            </a:lvl4pPr>
            <a:lvl5pPr>
              <a:defRPr sz="2700" b="0">
                <a:solidFill>
                  <a:srgbClr val="24352C"/>
                </a:solidFill>
                <a:latin typeface="Arial"/>
                <a:ea typeface="Arial"/>
                <a:cs typeface="Arial"/>
              </a:defRPr>
            </a:lvl5pPr>
            <a:lvl6pPr>
              <a:defRPr sz="2700" b="0">
                <a:solidFill>
                  <a:srgbClr val="24352C"/>
                </a:solidFill>
                <a:latin typeface="Arial"/>
                <a:ea typeface="Arial"/>
                <a:cs typeface="Arial"/>
              </a:defRPr>
            </a:lvl6pPr>
            <a:lvl7pPr>
              <a:defRPr sz="2700" b="0">
                <a:solidFill>
                  <a:srgbClr val="24352C"/>
                </a:solidFill>
                <a:latin typeface="Arial"/>
                <a:ea typeface="Arial"/>
                <a:cs typeface="Arial"/>
              </a:defRPr>
            </a:lvl7pPr>
            <a:lvl8pPr>
              <a:defRPr sz="2700" b="0">
                <a:solidFill>
                  <a:srgbClr val="24352C"/>
                </a:solidFill>
                <a:latin typeface="Arial"/>
                <a:ea typeface="Arial"/>
                <a:cs typeface="Arial"/>
              </a:defRPr>
            </a:lvl8pPr>
            <a:lvl9pPr>
              <a:defRPr sz="2700" b="0">
                <a:solidFill>
                  <a:srgbClr val="24352C"/>
                </a:solidFill>
                <a:latin typeface="Arial"/>
                <a:ea typeface="Arial"/>
                <a:cs typeface="Arial"/>
              </a:defRPr>
            </a:lvl9pPr>
          </a:lstStyle>
          <a:p xmlns:a="http://schemas.openxmlformats.org/drawingml/2006/main">
            <a:pPr>
              <a:defRPr sz="2700" b="0">
                <a:solidFill>
                  <a:srgbClr val="24352C"/>
                </a:solidFill>
                <a:latin typeface="Arial"/>
                <a:ea typeface="Arial"/>
                <a:cs typeface="Arial"/>
              </a:defRPr>
            </a:pPr>
            <a:r>
              <a:rPr sz="2700" b="0">
                <a:solidFill>
                  <a:srgbClr val="24352C"/>
                </a:solidFill>
                <a:latin typeface="Arial"/>
                <a:ea typeface="Arial"/>
                <a:cs typeface="Arial"/>
              </a:rPr>
              <a:t>99.36% Top-5</a:t>
            </a:r>
          </a:p>
        </p:txBody>
      </p:sp>
      <p:sp>
        <p:nvSpPr>
          <p:cNvPr id="6" name="">
            <a:extLst xmlns:a="http://schemas.openxmlformats.org/drawingml/2006/main">
              <a:ext uri="{FF2B5EF4-FFF2-40B4-BE49-F238E27FC236}">
                <a16:creationId xmlns:a16="http://schemas.microsoft.com/office/drawing/2014/main" id="{96AB29C3-FFFE-4007-B585-87A9E8E3F0BC}"/>
              </a:ext>
            </a:extLst>
          </p:cNvPr>
          <p:cNvSpPr>
            <a:spLocks xmlns:a="http://schemas.openxmlformats.org/drawingml/2006/main" noGrp="1"/>
          </p:cNvSpPr>
          <p:nvPr/>
        </p:nvSpPr>
        <p:spPr>
          <a:xfrm xmlns:a="http://schemas.openxmlformats.org/drawingml/2006/main">
            <a:off x="7677150" y="2600325"/>
            <a:ext cx="3857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0">
                <a:solidFill>
                  <a:srgbClr val="24352C"/>
                </a:solidFill>
                <a:latin typeface="Arial"/>
                <a:ea typeface="Arial"/>
                <a:cs typeface="Arial"/>
              </a:defRPr>
            </a:defPPr>
            <a:lvl1pPr>
              <a:defRPr sz="1950" b="0">
                <a:solidFill>
                  <a:srgbClr val="24352C"/>
                </a:solidFill>
                <a:latin typeface="Arial"/>
                <a:ea typeface="Arial"/>
                <a:cs typeface="Arial"/>
              </a:defRPr>
            </a:lvl1pPr>
            <a:lvl2pPr>
              <a:defRPr sz="1950" b="0">
                <a:solidFill>
                  <a:srgbClr val="24352C"/>
                </a:solidFill>
                <a:latin typeface="Arial"/>
                <a:ea typeface="Arial"/>
                <a:cs typeface="Arial"/>
              </a:defRPr>
            </a:lvl2pPr>
            <a:lvl3pPr>
              <a:defRPr sz="1950" b="0">
                <a:solidFill>
                  <a:srgbClr val="24352C"/>
                </a:solidFill>
                <a:latin typeface="Arial"/>
                <a:ea typeface="Arial"/>
                <a:cs typeface="Arial"/>
              </a:defRPr>
            </a:lvl3pPr>
            <a:lvl4pPr>
              <a:defRPr sz="1950" b="0">
                <a:solidFill>
                  <a:srgbClr val="24352C"/>
                </a:solidFill>
                <a:latin typeface="Arial"/>
                <a:ea typeface="Arial"/>
                <a:cs typeface="Arial"/>
              </a:defRPr>
            </a:lvl4pPr>
            <a:lvl5pPr>
              <a:defRPr sz="1950" b="0">
                <a:solidFill>
                  <a:srgbClr val="24352C"/>
                </a:solidFill>
                <a:latin typeface="Arial"/>
                <a:ea typeface="Arial"/>
                <a:cs typeface="Arial"/>
              </a:defRPr>
            </a:lvl5pPr>
            <a:lvl6pPr>
              <a:defRPr sz="1950" b="0">
                <a:solidFill>
                  <a:srgbClr val="24352C"/>
                </a:solidFill>
                <a:latin typeface="Arial"/>
                <a:ea typeface="Arial"/>
                <a:cs typeface="Arial"/>
              </a:defRPr>
            </a:lvl6pPr>
            <a:lvl7pPr>
              <a:defRPr sz="1950" b="0">
                <a:solidFill>
                  <a:srgbClr val="24352C"/>
                </a:solidFill>
                <a:latin typeface="Arial"/>
                <a:ea typeface="Arial"/>
                <a:cs typeface="Arial"/>
              </a:defRPr>
            </a:lvl7pPr>
            <a:lvl8pPr>
              <a:defRPr sz="1950" b="0">
                <a:solidFill>
                  <a:srgbClr val="24352C"/>
                </a:solidFill>
                <a:latin typeface="Arial"/>
                <a:ea typeface="Arial"/>
                <a:cs typeface="Arial"/>
              </a:defRPr>
            </a:lvl8pPr>
            <a:lvl9pPr>
              <a:defRPr sz="1950" b="0">
                <a:solidFill>
                  <a:srgbClr val="24352C"/>
                </a:solidFill>
                <a:latin typeface="Arial"/>
                <a:ea typeface="Arial"/>
                <a:cs typeface="Arial"/>
              </a:defRPr>
            </a:lvl9pPr>
          </a:lstStyle>
          <a:p xmlns:a="http://schemas.openxmlformats.org/drawingml/2006/main">
            <a:pPr>
              <a:defRPr sz="1950" b="0">
                <a:solidFill>
                  <a:srgbClr val="24352C"/>
                </a:solidFill>
                <a:latin typeface="Arial"/>
                <a:ea typeface="Arial"/>
                <a:cs typeface="Arial"/>
              </a:defRPr>
            </a:pPr>
            <a:r>
              <a:rPr sz="1950" b="0">
                <a:solidFill>
                  <a:srgbClr val="24352C"/>
                </a:solidFill>
                <a:latin typeface="Arial"/>
                <a:ea typeface="Arial"/>
                <a:cs typeface="Arial"/>
              </a:rPr>
              <a:t>619 of 623 included the correct label</a:t>
            </a:r>
          </a:p>
        </p:txBody>
      </p:sp>
      <p:sp>
        <p:nvSpPr>
          <p:cNvPr id="7" name="">
            <a:extLst xmlns:a="http://schemas.openxmlformats.org/drawingml/2006/main">
              <a:ext uri="{FF2B5EF4-FFF2-40B4-BE49-F238E27FC236}">
                <a16:creationId xmlns:a16="http://schemas.microsoft.com/office/drawing/2014/main" id="{E400DD22-E08A-4691-BFB2-F79E35D6CF37}"/>
              </a:ext>
            </a:extLst>
          </p:cNvPr>
          <p:cNvSpPr>
            <a:spLocks xmlns:a="http://schemas.openxmlformats.org/drawingml/2006/main" noGrp="1"/>
          </p:cNvSpPr>
          <p:nvPr/>
        </p:nvSpPr>
        <p:spPr>
          <a:xfrm xmlns:a="http://schemas.openxmlformats.org/drawingml/2006/main">
            <a:off x="723900" y="3514725"/>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475" b="0">
                <a:solidFill>
                  <a:srgbClr val="173E2C"/>
                </a:solidFill>
                <a:latin typeface="Arial"/>
                <a:ea typeface="Arial"/>
                <a:cs typeface="Arial"/>
              </a:defRPr>
            </a:defPPr>
            <a:lvl1pPr>
              <a:defRPr sz="2475" b="0">
                <a:solidFill>
                  <a:srgbClr val="173E2C"/>
                </a:solidFill>
                <a:latin typeface="Arial"/>
                <a:ea typeface="Arial"/>
                <a:cs typeface="Arial"/>
              </a:defRPr>
            </a:lvl1pPr>
            <a:lvl2pPr>
              <a:defRPr sz="2475" b="0">
                <a:solidFill>
                  <a:srgbClr val="173E2C"/>
                </a:solidFill>
                <a:latin typeface="Arial"/>
                <a:ea typeface="Arial"/>
                <a:cs typeface="Arial"/>
              </a:defRPr>
            </a:lvl2pPr>
            <a:lvl3pPr>
              <a:defRPr sz="2475" b="0">
                <a:solidFill>
                  <a:srgbClr val="173E2C"/>
                </a:solidFill>
                <a:latin typeface="Arial"/>
                <a:ea typeface="Arial"/>
                <a:cs typeface="Arial"/>
              </a:defRPr>
            </a:lvl3pPr>
            <a:lvl4pPr>
              <a:defRPr sz="2475" b="0">
                <a:solidFill>
                  <a:srgbClr val="173E2C"/>
                </a:solidFill>
                <a:latin typeface="Arial"/>
                <a:ea typeface="Arial"/>
                <a:cs typeface="Arial"/>
              </a:defRPr>
            </a:lvl4pPr>
            <a:lvl5pPr>
              <a:defRPr sz="2475" b="0">
                <a:solidFill>
                  <a:srgbClr val="173E2C"/>
                </a:solidFill>
                <a:latin typeface="Arial"/>
                <a:ea typeface="Arial"/>
                <a:cs typeface="Arial"/>
              </a:defRPr>
            </a:lvl5pPr>
            <a:lvl6pPr>
              <a:defRPr sz="2475" b="0">
                <a:solidFill>
                  <a:srgbClr val="173E2C"/>
                </a:solidFill>
                <a:latin typeface="Arial"/>
                <a:ea typeface="Arial"/>
                <a:cs typeface="Arial"/>
              </a:defRPr>
            </a:lvl6pPr>
            <a:lvl7pPr>
              <a:defRPr sz="2475" b="0">
                <a:solidFill>
                  <a:srgbClr val="173E2C"/>
                </a:solidFill>
                <a:latin typeface="Arial"/>
                <a:ea typeface="Arial"/>
                <a:cs typeface="Arial"/>
              </a:defRPr>
            </a:lvl7pPr>
            <a:lvl8pPr>
              <a:defRPr sz="2475" b="0">
                <a:solidFill>
                  <a:srgbClr val="173E2C"/>
                </a:solidFill>
                <a:latin typeface="Arial"/>
                <a:ea typeface="Arial"/>
                <a:cs typeface="Arial"/>
              </a:defRPr>
            </a:lvl8pPr>
            <a:lvl9pPr>
              <a:defRPr sz="2475" b="0">
                <a:solidFill>
                  <a:srgbClr val="173E2C"/>
                </a:solidFill>
                <a:latin typeface="Arial"/>
                <a:ea typeface="Arial"/>
                <a:cs typeface="Arial"/>
              </a:defRPr>
            </a:lvl9pPr>
          </a:lstStyle>
          <a:p xmlns:a="http://schemas.openxmlformats.org/drawingml/2006/main">
            <a:pPr>
              <a:defRPr sz="2475" b="0">
                <a:solidFill>
                  <a:srgbClr val="173E2C"/>
                </a:solidFill>
                <a:latin typeface="Arial"/>
                <a:ea typeface="Arial"/>
                <a:cs typeface="Arial"/>
              </a:defRPr>
            </a:pPr>
            <a:r>
              <a:rPr sz="2475" b="0">
                <a:solidFill>
                  <a:srgbClr val="173E2C"/>
                </a:solidFill>
                <a:latin typeface="Arial"/>
                <a:ea typeface="Arial"/>
                <a:cs typeface="Arial"/>
              </a:rPr>
              <a:t>Macro mAP: 92.99%</a:t>
            </a:r>
          </a:p>
        </p:txBody>
      </p:sp>
      <p:graphicFrame>
        <p:nvGraphicFramePr>
          <p:cNvPr id="8" name="">
            <a:extLst xmlns:a="http://schemas.openxmlformats.org/drawingml/2006/main">
              <a:ext uri="{FF2B5EF4-FFF2-40B4-BE49-F238E27FC236}">
                <a16:creationId xmlns:a16="http://schemas.microsoft.com/office/drawing/2014/main" id="{B1704DAC-E3A3-4B1D-9668-2428CF74A4EA}"/>
              </a:ext>
            </a:extLst>
          </p:cNvPr>
          <p:cNvGraphicFramePr/>
          <p:nvPr/>
        </p:nvGraphicFramePr>
        <p:xfrm>
          <a:off xmlns:a="http://schemas.openxmlformats.org/drawingml/2006/main" x="666750" y="4219575"/>
          <a:ext xmlns:a="http://schemas.openxmlformats.org/drawingml/2006/main" cx="10858500" cy="1381125"/>
        </p:xfrm>
        <a:graphic xmlns:a="http://schemas.openxmlformats.org/drawingml/2006/main">
          <a:graphicData uri="http://schemas.openxmlformats.org/drawingml/2006/table">
            <a:tbl>
              <a:tblPr/>
              <a:tblGrid>
                <a:gridCol w="7239000"/>
                <a:gridCol w="3619500"/>
              </a:tblGrid>
              <a:tr h="460375">
                <a:tc>
                  <a:txBody>
                    <a:bodyPr lIns="95250" tIns="95250" rIns="95250" bIns="95250"/>
                    <a:lstStyle/>
                    <a:p>
                      <a:r>
                        <a:rPr sz="1875" b="1">
                          <a:solidFill>
                            <a:srgbClr val="FFFFFF"/>
                          </a:solidFill>
                          <a:latin typeface="Arial"/>
                          <a:ea typeface="Arial"/>
                          <a:cs typeface="Arial"/>
                        </a:rPr>
                        <a:t>Same 623 reporting photos</a:t>
                      </a:r>
                    </a:p>
                  </a:txBody>
                  <a:tcPr marL="91440" marR="91440" marT="45720" marB="45720" anchor="ctr">
                    <a:lnL w="5715">
                      <a:solidFill>
                        <a:srgbClr val="DCE5DB"/>
                      </a:solidFill>
                      <a:prstDash val="solid"/>
                    </a:lnL>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c>
                  <a:txBody>
                    <a:bodyPr lIns="95250" tIns="95250" rIns="95250" bIns="95250"/>
                    <a:lstStyle/>
                    <a:p>
                      <a:r>
                        <a:rPr sz="1875" b="1">
                          <a:solidFill>
                            <a:srgbClr val="FFFFFF"/>
                          </a:solidFill>
                          <a:latin typeface="Arial"/>
                          <a:ea typeface="Arial"/>
                          <a:cs typeface="Arial"/>
                        </a:rPr>
                        <a:t>Correct first suggestions</a:t>
                      </a:r>
                    </a:p>
                  </a:txBody>
                  <a:tcPr marL="91440" marR="91440" marT="45720" marB="45720" anchor="ctr">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r>
              <a:tr h="460375">
                <a:tc>
                  <a:txBody>
                    <a:bodyPr lIns="95250" tIns="95250" rIns="95250" bIns="95250"/>
                    <a:lstStyle/>
                    <a:p>
                      <a:r>
                        <a:rPr sz="1875" b="0">
                          <a:solidFill>
                            <a:srgbClr val="24352C"/>
                          </a:solidFill>
                          <a:latin typeface="Arial"/>
                          <a:ea typeface="Arial"/>
                          <a:cs typeface="Arial"/>
                        </a:rPr>
                        <a:t>Previous four-model system</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875" b="0">
                          <a:solidFill>
                            <a:srgbClr val="24352C"/>
                          </a:solidFill>
                          <a:latin typeface="Arial"/>
                          <a:ea typeface="Arial"/>
                          <a:cs typeface="Arial"/>
                        </a:rPr>
                        <a:t>549</a:t>
                      </a:r>
                    </a:p>
                  </a:txBody>
                  <a:tcPr marL="91440" marR="91440" marT="45720" marB="45720" anchor="ctr">
                    <a:lnR w="5715">
                      <a:solidFill>
                        <a:srgbClr val="DCE5DB"/>
                      </a:solidFill>
                      <a:prstDash val="solid"/>
                    </a:lnR>
                    <a:lnB w="5715">
                      <a:solidFill>
                        <a:srgbClr val="DCE5DB"/>
                      </a:solidFill>
                      <a:prstDash val="solid"/>
                    </a:lnB>
                    <a:solidFill>
                      <a:srgbClr val="FFFFFF"/>
                    </a:solidFill>
                  </a:tcPr>
                </a:tc>
              </a:tr>
              <a:tr h="460375">
                <a:tc>
                  <a:txBody>
                    <a:bodyPr lIns="95250" tIns="95250" rIns="95250" bIns="95250"/>
                    <a:lstStyle/>
                    <a:p>
                      <a:r>
                        <a:rPr sz="1875" b="0">
                          <a:solidFill>
                            <a:srgbClr val="24352C"/>
                          </a:solidFill>
                          <a:latin typeface="Arial"/>
                          <a:ea typeface="Arial"/>
                          <a:cs typeface="Arial"/>
                        </a:rPr>
                        <a:t>Final two-model system</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EBEFE7"/>
                    </a:solidFill>
                  </a:tcPr>
                </a:tc>
                <a:tc>
                  <a:txBody>
                    <a:bodyPr lIns="95250" tIns="95250" rIns="95250" bIns="95250"/>
                    <a:lstStyle/>
                    <a:p>
                      <a:r>
                        <a:rPr sz="1875" b="0">
                          <a:solidFill>
                            <a:srgbClr val="24352C"/>
                          </a:solidFill>
                          <a:latin typeface="Arial"/>
                          <a:ea typeface="Arial"/>
                          <a:cs typeface="Arial"/>
                        </a:rPr>
                        <a:t>557</a:t>
                      </a:r>
                    </a:p>
                  </a:txBody>
                  <a:tcPr marL="91440" marR="91440" marT="45720" marB="45720" anchor="ctr">
                    <a:lnR w="5715">
                      <a:solidFill>
                        <a:srgbClr val="DCE5DB"/>
                      </a:solidFill>
                      <a:prstDash val="solid"/>
                    </a:lnR>
                    <a:lnB w="5715">
                      <a:solidFill>
                        <a:srgbClr val="DCE5DB"/>
                      </a:solidFill>
                      <a:prstDash val="solid"/>
                    </a:lnB>
                    <a:solidFill>
                      <a:srgbClr val="EBEFE7"/>
                    </a:solidFill>
                  </a:tcPr>
                </a:tc>
              </a:tr>
            </a:tbl>
          </a:graphicData>
        </a:graphic>
      </p:graphicFrame>
      <p:sp>
        <p:nvSpPr>
          <p:cNvPr id="9" name="">
            <a:extLst xmlns:a="http://schemas.openxmlformats.org/drawingml/2006/main">
              <a:ext uri="{FF2B5EF4-FFF2-40B4-BE49-F238E27FC236}">
                <a16:creationId xmlns:a16="http://schemas.microsoft.com/office/drawing/2014/main" id="{C226A968-0897-43A3-98EB-F914A079469B}"/>
              </a:ext>
            </a:extLst>
          </p:cNvPr>
          <p:cNvSpPr>
            <a:spLocks xmlns:a="http://schemas.openxmlformats.org/drawingml/2006/main" noGrp="1"/>
          </p:cNvSpPr>
          <p:nvPr/>
        </p:nvSpPr>
        <p:spPr>
          <a:xfrm xmlns:a="http://schemas.openxmlformats.org/drawingml/2006/main">
            <a:off x="723900" y="58388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AB5A37"/>
                </a:solidFill>
                <a:latin typeface="Arial"/>
                <a:ea typeface="Arial"/>
                <a:cs typeface="Arial"/>
              </a:defRPr>
            </a:defPPr>
            <a:lvl1pPr>
              <a:defRPr sz="1725" b="0">
                <a:solidFill>
                  <a:srgbClr val="AB5A37"/>
                </a:solidFill>
                <a:latin typeface="Arial"/>
                <a:ea typeface="Arial"/>
                <a:cs typeface="Arial"/>
              </a:defRPr>
            </a:lvl1pPr>
            <a:lvl2pPr>
              <a:defRPr sz="1725" b="0">
                <a:solidFill>
                  <a:srgbClr val="AB5A37"/>
                </a:solidFill>
                <a:latin typeface="Arial"/>
                <a:ea typeface="Arial"/>
                <a:cs typeface="Arial"/>
              </a:defRPr>
            </a:lvl2pPr>
            <a:lvl3pPr>
              <a:defRPr sz="1725" b="0">
                <a:solidFill>
                  <a:srgbClr val="AB5A37"/>
                </a:solidFill>
                <a:latin typeface="Arial"/>
                <a:ea typeface="Arial"/>
                <a:cs typeface="Arial"/>
              </a:defRPr>
            </a:lvl3pPr>
            <a:lvl4pPr>
              <a:defRPr sz="1725" b="0">
                <a:solidFill>
                  <a:srgbClr val="AB5A37"/>
                </a:solidFill>
                <a:latin typeface="Arial"/>
                <a:ea typeface="Arial"/>
                <a:cs typeface="Arial"/>
              </a:defRPr>
            </a:lvl4pPr>
            <a:lvl5pPr>
              <a:defRPr sz="1725" b="0">
                <a:solidFill>
                  <a:srgbClr val="AB5A37"/>
                </a:solidFill>
                <a:latin typeface="Arial"/>
                <a:ea typeface="Arial"/>
                <a:cs typeface="Arial"/>
              </a:defRPr>
            </a:lvl5pPr>
            <a:lvl6pPr>
              <a:defRPr sz="1725" b="0">
                <a:solidFill>
                  <a:srgbClr val="AB5A37"/>
                </a:solidFill>
                <a:latin typeface="Arial"/>
                <a:ea typeface="Arial"/>
                <a:cs typeface="Arial"/>
              </a:defRPr>
            </a:lvl6pPr>
            <a:lvl7pPr>
              <a:defRPr sz="1725" b="0">
                <a:solidFill>
                  <a:srgbClr val="AB5A37"/>
                </a:solidFill>
                <a:latin typeface="Arial"/>
                <a:ea typeface="Arial"/>
                <a:cs typeface="Arial"/>
              </a:defRPr>
            </a:lvl7pPr>
            <a:lvl8pPr>
              <a:defRPr sz="1725" b="0">
                <a:solidFill>
                  <a:srgbClr val="AB5A37"/>
                </a:solidFill>
                <a:latin typeface="Arial"/>
                <a:ea typeface="Arial"/>
                <a:cs typeface="Arial"/>
              </a:defRPr>
            </a:lvl8pPr>
            <a:lvl9pPr>
              <a:defRPr sz="1725" b="0">
                <a:solidFill>
                  <a:srgbClr val="AB5A37"/>
                </a:solidFill>
                <a:latin typeface="Arial"/>
                <a:ea typeface="Arial"/>
                <a:cs typeface="Arial"/>
              </a:defRPr>
            </a:lvl9pPr>
          </a:lstStyle>
          <a:p xmlns:a="http://schemas.openxmlformats.org/drawingml/2006/main">
            <a:pPr>
              <a:defRPr sz="1725" b="0">
                <a:solidFill>
                  <a:srgbClr val="AB5A37"/>
                </a:solidFill>
                <a:latin typeface="Arial"/>
                <a:ea typeface="Arial"/>
                <a:cs typeface="Arial"/>
              </a:defRPr>
            </a:pPr>
            <a:r>
              <a:rPr sz="1725" b="0">
                <a:solidFill>
                  <a:srgbClr val="AB5A37"/>
                </a:solidFill>
                <a:latin typeface="Arial"/>
                <a:ea typeface="Arial"/>
                <a:cs typeface="Arial"/>
              </a:rPr>
              <a:t>The final choice was fixed before this evaluation. The historical holdout had been evaluated earlier, so a new independent test is still needed.</a:t>
            </a:r>
          </a:p>
        </p:txBody>
      </p:sp>
    </p:spTree>
    <p:extLst>
      <p:ext uri="{BB962C8B-B14F-4D97-AF65-F5344CB8AC3E}">
        <p14:creationId xmlns:p14="http://schemas.microsoft.com/office/powerpoint/2010/main" val="1768522455"/>
      </p:ext>
    </p:extLst>
  </p:cSld>
</p:sld>
</file>

<file path=ppt/slides/slide9.xml><?xml version="1.0" encoding="utf-8"?>
<p:sld xmlns:p="http://schemas.openxmlformats.org/presentationml/2006/main">
  <p:cSld>
    <p:bg>
      <p:bgPr>
        <a:solidFill xmlns:a="http://schemas.openxmlformats.org/drawingml/2006/main">
          <a:srgbClr val="F6F5E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D996066-C6C5-44A2-A3AF-246C50BE82C7}"/>
              </a:ext>
            </a:extLst>
          </p:cNvPr>
          <p:cNvSpPr>
            <a:spLocks xmlns:a="http://schemas.openxmlformats.org/drawingml/2006/main" noGrp="1"/>
          </p:cNvSpPr>
          <p:nvPr/>
        </p:nvSpPr>
        <p:spPr>
          <a:xfrm xmlns:a="http://schemas.openxmlformats.org/drawingml/2006/main">
            <a:off x="666750" y="45720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173E2C"/>
                </a:solidFill>
                <a:latin typeface="Arial"/>
                <a:ea typeface="Arial"/>
                <a:cs typeface="Arial"/>
              </a:defRPr>
            </a:defPPr>
            <a:lvl1pPr>
              <a:defRPr sz="3225" b="1">
                <a:solidFill>
                  <a:srgbClr val="173E2C"/>
                </a:solidFill>
                <a:latin typeface="Arial"/>
                <a:ea typeface="Arial"/>
                <a:cs typeface="Arial"/>
              </a:defRPr>
            </a:lvl1pPr>
            <a:lvl2pPr>
              <a:defRPr sz="3225" b="1">
                <a:solidFill>
                  <a:srgbClr val="173E2C"/>
                </a:solidFill>
                <a:latin typeface="Arial"/>
                <a:ea typeface="Arial"/>
                <a:cs typeface="Arial"/>
              </a:defRPr>
            </a:lvl2pPr>
            <a:lvl3pPr>
              <a:defRPr sz="3225" b="1">
                <a:solidFill>
                  <a:srgbClr val="173E2C"/>
                </a:solidFill>
                <a:latin typeface="Arial"/>
                <a:ea typeface="Arial"/>
                <a:cs typeface="Arial"/>
              </a:defRPr>
            </a:lvl3pPr>
            <a:lvl4pPr>
              <a:defRPr sz="3225" b="1">
                <a:solidFill>
                  <a:srgbClr val="173E2C"/>
                </a:solidFill>
                <a:latin typeface="Arial"/>
                <a:ea typeface="Arial"/>
                <a:cs typeface="Arial"/>
              </a:defRPr>
            </a:lvl4pPr>
            <a:lvl5pPr>
              <a:defRPr sz="3225" b="1">
                <a:solidFill>
                  <a:srgbClr val="173E2C"/>
                </a:solidFill>
                <a:latin typeface="Arial"/>
                <a:ea typeface="Arial"/>
                <a:cs typeface="Arial"/>
              </a:defRPr>
            </a:lvl5pPr>
            <a:lvl6pPr>
              <a:defRPr sz="3225" b="1">
                <a:solidFill>
                  <a:srgbClr val="173E2C"/>
                </a:solidFill>
                <a:latin typeface="Arial"/>
                <a:ea typeface="Arial"/>
                <a:cs typeface="Arial"/>
              </a:defRPr>
            </a:lvl6pPr>
            <a:lvl7pPr>
              <a:defRPr sz="3225" b="1">
                <a:solidFill>
                  <a:srgbClr val="173E2C"/>
                </a:solidFill>
                <a:latin typeface="Arial"/>
                <a:ea typeface="Arial"/>
                <a:cs typeface="Arial"/>
              </a:defRPr>
            </a:lvl7pPr>
            <a:lvl8pPr>
              <a:defRPr sz="3225" b="1">
                <a:solidFill>
                  <a:srgbClr val="173E2C"/>
                </a:solidFill>
                <a:latin typeface="Arial"/>
                <a:ea typeface="Arial"/>
                <a:cs typeface="Arial"/>
              </a:defRPr>
            </a:lvl8pPr>
            <a:lvl9pPr>
              <a:defRPr sz="3225" b="1">
                <a:solidFill>
                  <a:srgbClr val="173E2C"/>
                </a:solidFill>
                <a:latin typeface="Arial"/>
                <a:ea typeface="Arial"/>
                <a:cs typeface="Arial"/>
              </a:defRPr>
            </a:lvl9pPr>
          </a:lstStyle>
          <a:p xmlns:a="http://schemas.openxmlformats.org/drawingml/2006/main">
            <a:pPr>
              <a:defRPr sz="3225" b="1">
                <a:solidFill>
                  <a:srgbClr val="173E2C"/>
                </a:solidFill>
                <a:latin typeface="Arial"/>
                <a:ea typeface="Arial"/>
                <a:cs typeface="Arial"/>
              </a:defRPr>
            </a:pPr>
            <a:r>
              <a:rPr sz="3225" b="1">
                <a:solidFill>
                  <a:srgbClr val="173E2C"/>
                </a:solidFill>
                <a:latin typeface="Arial"/>
                <a:ea typeface="Arial"/>
                <a:cs typeface="Arial"/>
              </a:rPr>
              <a:t>From saved models to a working app</a:t>
            </a:r>
          </a:p>
        </p:txBody>
      </p:sp>
      <p:sp>
        <p:nvSpPr>
          <p:cNvPr id="2" name="">
            <a:extLst xmlns:a="http://schemas.openxmlformats.org/drawingml/2006/main">
              <a:ext uri="{FF2B5EF4-FFF2-40B4-BE49-F238E27FC236}">
                <a16:creationId xmlns:a16="http://schemas.microsoft.com/office/drawing/2014/main" id="{58FD5262-C64B-42D6-A3EF-D9FC3DED3B5C}"/>
              </a:ext>
            </a:extLst>
          </p:cNvPr>
          <p:cNvSpPr>
            <a:spLocks xmlns:a="http://schemas.openxmlformats.org/drawingml/2006/main" noGrp="1"/>
          </p:cNvSpPr>
          <p:nvPr/>
        </p:nvSpPr>
        <p:spPr>
          <a:xfrm xmlns:a="http://schemas.openxmlformats.org/drawingml/2006/main">
            <a:off x="666750" y="6467475"/>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9665D"/>
                </a:solidFill>
                <a:latin typeface="Arial"/>
                <a:ea typeface="Arial"/>
                <a:cs typeface="Arial"/>
              </a:defRPr>
            </a:defPPr>
            <a:lvl1pPr>
              <a:defRPr sz="1200" b="0">
                <a:solidFill>
                  <a:srgbClr val="59665D"/>
                </a:solidFill>
                <a:latin typeface="Arial"/>
                <a:ea typeface="Arial"/>
                <a:cs typeface="Arial"/>
              </a:defRPr>
            </a:lvl1pPr>
            <a:lvl2pPr>
              <a:defRPr sz="1200" b="0">
                <a:solidFill>
                  <a:srgbClr val="59665D"/>
                </a:solidFill>
                <a:latin typeface="Arial"/>
                <a:ea typeface="Arial"/>
                <a:cs typeface="Arial"/>
              </a:defRPr>
            </a:lvl2pPr>
            <a:lvl3pPr>
              <a:defRPr sz="1200" b="0">
                <a:solidFill>
                  <a:srgbClr val="59665D"/>
                </a:solidFill>
                <a:latin typeface="Arial"/>
                <a:ea typeface="Arial"/>
                <a:cs typeface="Arial"/>
              </a:defRPr>
            </a:lvl3pPr>
            <a:lvl4pPr>
              <a:defRPr sz="1200" b="0">
                <a:solidFill>
                  <a:srgbClr val="59665D"/>
                </a:solidFill>
                <a:latin typeface="Arial"/>
                <a:ea typeface="Arial"/>
                <a:cs typeface="Arial"/>
              </a:defRPr>
            </a:lvl4pPr>
            <a:lvl5pPr>
              <a:defRPr sz="1200" b="0">
                <a:solidFill>
                  <a:srgbClr val="59665D"/>
                </a:solidFill>
                <a:latin typeface="Arial"/>
                <a:ea typeface="Arial"/>
                <a:cs typeface="Arial"/>
              </a:defRPr>
            </a:lvl5pPr>
            <a:lvl6pPr>
              <a:defRPr sz="1200" b="0">
                <a:solidFill>
                  <a:srgbClr val="59665D"/>
                </a:solidFill>
                <a:latin typeface="Arial"/>
                <a:ea typeface="Arial"/>
                <a:cs typeface="Arial"/>
              </a:defRPr>
            </a:lvl6pPr>
            <a:lvl7pPr>
              <a:defRPr sz="1200" b="0">
                <a:solidFill>
                  <a:srgbClr val="59665D"/>
                </a:solidFill>
                <a:latin typeface="Arial"/>
                <a:ea typeface="Arial"/>
                <a:cs typeface="Arial"/>
              </a:defRPr>
            </a:lvl7pPr>
            <a:lvl8pPr>
              <a:defRPr sz="1200" b="0">
                <a:solidFill>
                  <a:srgbClr val="59665D"/>
                </a:solidFill>
                <a:latin typeface="Arial"/>
                <a:ea typeface="Arial"/>
                <a:cs typeface="Arial"/>
              </a:defRPr>
            </a:lvl8pPr>
            <a:lvl9pPr>
              <a:defRPr sz="1200" b="0">
                <a:solidFill>
                  <a:srgbClr val="59665D"/>
                </a:solidFill>
                <a:latin typeface="Arial"/>
                <a:ea typeface="Arial"/>
                <a:cs typeface="Arial"/>
              </a:defRPr>
            </a:lvl9pPr>
          </a:lstStyle>
          <a:p xmlns:a="http://schemas.openxmlformats.org/drawingml/2006/main">
            <a:pPr>
              <a:defRPr sz="1200" b="0">
                <a:solidFill>
                  <a:srgbClr val="59665D"/>
                </a:solidFill>
                <a:latin typeface="Arial"/>
                <a:ea typeface="Arial"/>
                <a:cs typeface="Arial"/>
              </a:defRPr>
            </a:pPr>
            <a:r>
              <a:rPr sz="1200" b="0">
                <a:solidFill>
                  <a:srgbClr val="59665D"/>
                </a:solidFill>
                <a:latin typeface="Arial"/>
                <a:ea typeface="Arial"/>
                <a:cs typeface="Arial"/>
              </a:rPr>
              <a:t>09</a:t>
            </a:r>
          </a:p>
        </p:txBody>
      </p:sp>
      <p:pic>
        <p:nvPicPr>
          <p:cNvPr id="3" name="">
            <a:extLst xmlns:a="http://schemas.openxmlformats.org/drawingml/2006/main">
              <a:ext uri="{FF2B5EF4-FFF2-40B4-BE49-F238E27FC236}">
                <a16:creationId xmlns:a16="http://schemas.microsoft.com/office/drawing/2014/main" id="{14EB9D5D-B0CA-40FE-BA70-4777C6DECB0B}"/>
              </a:ext>
            </a:extLst>
          </p:cNvPr>
          <p:cNvPicPr>
            <a:picLocks xmlns:a="http://schemas.openxmlformats.org/drawingml/2006/main" noChangeAspect="1"/>
          </p:cNvPicPr>
          <p:nvPr/>
        </p:nvPicPr>
        <p:blipFill>
          <a:blip xmlns:r="http://schemas.openxmlformats.org/officeDocument/2006/relationships" xmlns:a="http://schemas.openxmlformats.org/drawingml/2006/main" r:embed="R9142db861ada42cb"/>
          <a:stretch xmlns:a="http://schemas.openxmlformats.org/drawingml/2006/main"/>
        </p:blipFill>
        <p:spPr>
          <a:xfrm xmlns:a="http://schemas.openxmlformats.org/drawingml/2006/main">
            <a:off x="1124955" y="1666875"/>
            <a:ext cx="6227340" cy="41910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E181F2B-74EB-43A1-B008-EAA626E17F34}"/>
              </a:ext>
            </a:extLst>
          </p:cNvPr>
          <p:cNvSpPr>
            <a:spLocks xmlns:a="http://schemas.openxmlformats.org/drawingml/2006/main" noGrp="1"/>
          </p:cNvSpPr>
          <p:nvPr/>
        </p:nvSpPr>
        <p:spPr>
          <a:xfrm xmlns:a="http://schemas.openxmlformats.org/drawingml/2006/main">
            <a:off x="8286750" y="1857375"/>
            <a:ext cx="32385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24352C"/>
                </a:solidFill>
                <a:latin typeface="Arial"/>
                <a:ea typeface="Arial"/>
                <a:cs typeface="Arial"/>
              </a:defRPr>
            </a:defPPr>
            <a:lvl1pPr>
              <a:defRPr sz="2025" b="0">
                <a:solidFill>
                  <a:srgbClr val="24352C"/>
                </a:solidFill>
                <a:latin typeface="Arial"/>
                <a:ea typeface="Arial"/>
                <a:cs typeface="Arial"/>
              </a:defRPr>
            </a:lvl1pPr>
            <a:lvl2pPr>
              <a:defRPr sz="2025" b="0">
                <a:solidFill>
                  <a:srgbClr val="24352C"/>
                </a:solidFill>
                <a:latin typeface="Arial"/>
                <a:ea typeface="Arial"/>
                <a:cs typeface="Arial"/>
              </a:defRPr>
            </a:lvl2pPr>
            <a:lvl3pPr>
              <a:defRPr sz="2025" b="0">
                <a:solidFill>
                  <a:srgbClr val="24352C"/>
                </a:solidFill>
                <a:latin typeface="Arial"/>
                <a:ea typeface="Arial"/>
                <a:cs typeface="Arial"/>
              </a:defRPr>
            </a:lvl3pPr>
            <a:lvl4pPr>
              <a:defRPr sz="2025" b="0">
                <a:solidFill>
                  <a:srgbClr val="24352C"/>
                </a:solidFill>
                <a:latin typeface="Arial"/>
                <a:ea typeface="Arial"/>
                <a:cs typeface="Arial"/>
              </a:defRPr>
            </a:lvl4pPr>
            <a:lvl5pPr>
              <a:defRPr sz="2025" b="0">
                <a:solidFill>
                  <a:srgbClr val="24352C"/>
                </a:solidFill>
                <a:latin typeface="Arial"/>
                <a:ea typeface="Arial"/>
                <a:cs typeface="Arial"/>
              </a:defRPr>
            </a:lvl5pPr>
            <a:lvl6pPr>
              <a:defRPr sz="2025" b="0">
                <a:solidFill>
                  <a:srgbClr val="24352C"/>
                </a:solidFill>
                <a:latin typeface="Arial"/>
                <a:ea typeface="Arial"/>
                <a:cs typeface="Arial"/>
              </a:defRPr>
            </a:lvl6pPr>
            <a:lvl7pPr>
              <a:defRPr sz="2025" b="0">
                <a:solidFill>
                  <a:srgbClr val="24352C"/>
                </a:solidFill>
                <a:latin typeface="Arial"/>
                <a:ea typeface="Arial"/>
                <a:cs typeface="Arial"/>
              </a:defRPr>
            </a:lvl7pPr>
            <a:lvl8pPr>
              <a:defRPr sz="2025" b="0">
                <a:solidFill>
                  <a:srgbClr val="24352C"/>
                </a:solidFill>
                <a:latin typeface="Arial"/>
                <a:ea typeface="Arial"/>
                <a:cs typeface="Arial"/>
              </a:defRPr>
            </a:lvl8pPr>
            <a:lvl9pPr>
              <a:defRPr sz="2025" b="0">
                <a:solidFill>
                  <a:srgbClr val="24352C"/>
                </a:solidFill>
                <a:latin typeface="Arial"/>
                <a:ea typeface="Arial"/>
                <a:cs typeface="Arial"/>
              </a:defRPr>
            </a:lvl9pPr>
          </a:lstStyle>
          <a:p xmlns:a="http://schemas.openxmlformats.org/drawingml/2006/main">
            <a:pPr>
              <a:defRPr sz="2025" b="0">
                <a:solidFill>
                  <a:srgbClr val="24352C"/>
                </a:solidFill>
                <a:latin typeface="Arial"/>
                <a:ea typeface="Arial"/>
                <a:cs typeface="Arial"/>
              </a:defRPr>
            </a:pPr>
            <a:r>
              <a:rPr sz="2025" b="0">
                <a:solidFill>
                  <a:srgbClr val="24352C"/>
                </a:solidFill>
                <a:latin typeface="Arial"/>
                <a:ea typeface="Arial"/>
                <a:cs typeface="Arial"/>
              </a:rPr>
              <a:t>Gradio app on Hugging Face Spaces</a:t>
            </a:r>
          </a:p>
          <a:p xmlns:a="http://schemas.openxmlformats.org/drawingml/2006/main">
            <a:r>
              <a:t/>
            </a:r>
          </a:p>
          <a:p xmlns:a="http://schemas.openxmlformats.org/drawingml/2006/main">
            <a:pPr>
              <a:defRPr sz="2025" b="0">
                <a:solidFill>
                  <a:srgbClr val="24352C"/>
                </a:solidFill>
                <a:latin typeface="Arial"/>
                <a:ea typeface="Arial"/>
                <a:cs typeface="Arial"/>
              </a:defRPr>
            </a:pPr>
            <a:r>
              <a:rPr sz="2025" b="0">
                <a:solidFill>
                  <a:srgbClr val="24352C"/>
                </a:solidFill>
                <a:latin typeface="Arial"/>
                <a:ea typeface="Arial"/>
                <a:cs typeface="Arial"/>
              </a:rPr>
              <a:t>app.py: model loading, preprocessing, and prediction</a:t>
            </a:r>
          </a:p>
          <a:p xmlns:a="http://schemas.openxmlformats.org/drawingml/2006/main">
            <a:r>
              <a:t/>
            </a:r>
          </a:p>
          <a:p xmlns:a="http://schemas.openxmlformats.org/drawingml/2006/main">
            <a:pPr>
              <a:defRPr sz="2025" b="0">
                <a:solidFill>
                  <a:srgbClr val="24352C"/>
                </a:solidFill>
                <a:latin typeface="Arial"/>
                <a:ea typeface="Arial"/>
                <a:cs typeface="Arial"/>
              </a:defRPr>
            </a:pPr>
            <a:r>
              <a:rPr sz="2025" b="0">
                <a:solidFill>
                  <a:srgbClr val="24352C"/>
                </a:solidFill>
                <a:latin typeface="Arial"/>
                <a:ea typeface="Arial"/>
                <a:cs typeface="Arial"/>
              </a:rPr>
              <a:t>README, dependencies, and class mapping on GitHub</a:t>
            </a:r>
          </a:p>
        </p:txBody>
      </p:sp>
      <p:sp>
        <p:nvSpPr>
          <p:cNvPr id="5" name="">
            <a:extLst xmlns:a="http://schemas.openxmlformats.org/drawingml/2006/main">
              <a:ext uri="{FF2B5EF4-FFF2-40B4-BE49-F238E27FC236}">
                <a16:creationId xmlns:a16="http://schemas.microsoft.com/office/drawing/2014/main" id="{C99BC1DA-9A1E-4F69-9E66-C3DE14AE1069}"/>
              </a:ext>
            </a:extLst>
          </p:cNvPr>
          <p:cNvSpPr>
            <a:spLocks xmlns:a="http://schemas.openxmlformats.org/drawingml/2006/main" noGrp="1"/>
          </p:cNvSpPr>
          <p:nvPr/>
        </p:nvSpPr>
        <p:spPr>
          <a:xfrm xmlns:a="http://schemas.openxmlformats.org/drawingml/2006/main">
            <a:off x="8324850" y="5524500"/>
            <a:ext cx="3190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173E2C"/>
                </a:solidFill>
                <a:latin typeface="Arial"/>
                <a:ea typeface="Arial"/>
                <a:cs typeface="Arial"/>
              </a:defRPr>
            </a:defPPr>
            <a:lvl1pPr>
              <a:defRPr sz="2025" b="1">
                <a:solidFill>
                  <a:srgbClr val="173E2C"/>
                </a:solidFill>
                <a:latin typeface="Arial"/>
                <a:ea typeface="Arial"/>
                <a:cs typeface="Arial"/>
              </a:defRPr>
            </a:lvl1pPr>
            <a:lvl2pPr>
              <a:defRPr sz="2025" b="1">
                <a:solidFill>
                  <a:srgbClr val="173E2C"/>
                </a:solidFill>
                <a:latin typeface="Arial"/>
                <a:ea typeface="Arial"/>
                <a:cs typeface="Arial"/>
              </a:defRPr>
            </a:lvl2pPr>
            <a:lvl3pPr>
              <a:defRPr sz="2025" b="1">
                <a:solidFill>
                  <a:srgbClr val="173E2C"/>
                </a:solidFill>
                <a:latin typeface="Arial"/>
                <a:ea typeface="Arial"/>
                <a:cs typeface="Arial"/>
              </a:defRPr>
            </a:lvl3pPr>
            <a:lvl4pPr>
              <a:defRPr sz="2025" b="1">
                <a:solidFill>
                  <a:srgbClr val="173E2C"/>
                </a:solidFill>
                <a:latin typeface="Arial"/>
                <a:ea typeface="Arial"/>
                <a:cs typeface="Arial"/>
              </a:defRPr>
            </a:lvl4pPr>
            <a:lvl5pPr>
              <a:defRPr sz="2025" b="1">
                <a:solidFill>
                  <a:srgbClr val="173E2C"/>
                </a:solidFill>
                <a:latin typeface="Arial"/>
                <a:ea typeface="Arial"/>
                <a:cs typeface="Arial"/>
              </a:defRPr>
            </a:lvl5pPr>
            <a:lvl6pPr>
              <a:defRPr sz="2025" b="1">
                <a:solidFill>
                  <a:srgbClr val="173E2C"/>
                </a:solidFill>
                <a:latin typeface="Arial"/>
                <a:ea typeface="Arial"/>
                <a:cs typeface="Arial"/>
              </a:defRPr>
            </a:lvl6pPr>
            <a:lvl7pPr>
              <a:defRPr sz="2025" b="1">
                <a:solidFill>
                  <a:srgbClr val="173E2C"/>
                </a:solidFill>
                <a:latin typeface="Arial"/>
                <a:ea typeface="Arial"/>
                <a:cs typeface="Arial"/>
              </a:defRPr>
            </a:lvl7pPr>
            <a:lvl8pPr>
              <a:defRPr sz="2025" b="1">
                <a:solidFill>
                  <a:srgbClr val="173E2C"/>
                </a:solidFill>
                <a:latin typeface="Arial"/>
                <a:ea typeface="Arial"/>
                <a:cs typeface="Arial"/>
              </a:defRPr>
            </a:lvl8pPr>
            <a:lvl9pPr>
              <a:defRPr sz="2025" b="1">
                <a:solidFill>
                  <a:srgbClr val="173E2C"/>
                </a:solidFill>
                <a:latin typeface="Arial"/>
                <a:ea typeface="Arial"/>
                <a:cs typeface="Arial"/>
              </a:defRPr>
            </a:lvl9pPr>
          </a:lstStyle>
          <a:p xmlns:a="http://schemas.openxmlformats.org/drawingml/2006/main">
            <a:pPr>
              <a:defRPr sz="2025" b="1">
                <a:solidFill>
                  <a:srgbClr val="173E2C"/>
                </a:solidFill>
                <a:latin typeface="Arial"/>
                <a:ea typeface="Arial"/>
                <a:cs typeface="Arial"/>
              </a:defRPr>
            </a:pPr>
            <a:r>
              <a:rPr sz="2025" b="1">
                <a:solidFill>
                  <a:srgbClr val="173E2C"/>
                </a:solidFill>
                <a:latin typeface="Arial"/>
                <a:ea typeface="Arial"/>
                <a:cs typeface="Arial"/>
                <a:hlinkClick xmlns:r="http://schemas.openxmlformats.org/officeDocument/2006/relationships" r:id="R4ef89b26497b4664"/>
              </a:rPr>
              <a:t>Open V2 demo</a:t>
            </a:r>
          </a:p>
        </p:txBody>
      </p:sp>
      <p:sp>
        <p:nvSpPr>
          <p:cNvPr id="6" name="">
            <a:extLst xmlns:a="http://schemas.openxmlformats.org/drawingml/2006/main">
              <a:ext uri="{FF2B5EF4-FFF2-40B4-BE49-F238E27FC236}">
                <a16:creationId xmlns:a16="http://schemas.microsoft.com/office/drawing/2014/main" id="{EB7584EC-058E-47A0-A5E5-60D663D29BDE}"/>
              </a:ext>
            </a:extLst>
          </p:cNvPr>
          <p:cNvSpPr>
            <a:spLocks xmlns:a="http://schemas.openxmlformats.org/drawingml/2006/main" noGrp="1"/>
          </p:cNvSpPr>
          <p:nvPr/>
        </p:nvSpPr>
        <p:spPr>
          <a:xfrm xmlns:a="http://schemas.openxmlformats.org/drawingml/2006/main">
            <a:off x="8324850" y="6029325"/>
            <a:ext cx="3190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173E2C"/>
                </a:solidFill>
                <a:latin typeface="Arial"/>
                <a:ea typeface="Arial"/>
                <a:cs typeface="Arial"/>
              </a:defRPr>
            </a:defPPr>
            <a:lvl1pPr>
              <a:defRPr sz="1875" b="1">
                <a:solidFill>
                  <a:srgbClr val="173E2C"/>
                </a:solidFill>
                <a:latin typeface="Arial"/>
                <a:ea typeface="Arial"/>
                <a:cs typeface="Arial"/>
              </a:defRPr>
            </a:lvl1pPr>
            <a:lvl2pPr>
              <a:defRPr sz="1875" b="1">
                <a:solidFill>
                  <a:srgbClr val="173E2C"/>
                </a:solidFill>
                <a:latin typeface="Arial"/>
                <a:ea typeface="Arial"/>
                <a:cs typeface="Arial"/>
              </a:defRPr>
            </a:lvl2pPr>
            <a:lvl3pPr>
              <a:defRPr sz="1875" b="1">
                <a:solidFill>
                  <a:srgbClr val="173E2C"/>
                </a:solidFill>
                <a:latin typeface="Arial"/>
                <a:ea typeface="Arial"/>
                <a:cs typeface="Arial"/>
              </a:defRPr>
            </a:lvl3pPr>
            <a:lvl4pPr>
              <a:defRPr sz="1875" b="1">
                <a:solidFill>
                  <a:srgbClr val="173E2C"/>
                </a:solidFill>
                <a:latin typeface="Arial"/>
                <a:ea typeface="Arial"/>
                <a:cs typeface="Arial"/>
              </a:defRPr>
            </a:lvl4pPr>
            <a:lvl5pPr>
              <a:defRPr sz="1875" b="1">
                <a:solidFill>
                  <a:srgbClr val="173E2C"/>
                </a:solidFill>
                <a:latin typeface="Arial"/>
                <a:ea typeface="Arial"/>
                <a:cs typeface="Arial"/>
              </a:defRPr>
            </a:lvl5pPr>
            <a:lvl6pPr>
              <a:defRPr sz="1875" b="1">
                <a:solidFill>
                  <a:srgbClr val="173E2C"/>
                </a:solidFill>
                <a:latin typeface="Arial"/>
                <a:ea typeface="Arial"/>
                <a:cs typeface="Arial"/>
              </a:defRPr>
            </a:lvl6pPr>
            <a:lvl7pPr>
              <a:defRPr sz="1875" b="1">
                <a:solidFill>
                  <a:srgbClr val="173E2C"/>
                </a:solidFill>
                <a:latin typeface="Arial"/>
                <a:ea typeface="Arial"/>
                <a:cs typeface="Arial"/>
              </a:defRPr>
            </a:lvl7pPr>
            <a:lvl8pPr>
              <a:defRPr sz="1875" b="1">
                <a:solidFill>
                  <a:srgbClr val="173E2C"/>
                </a:solidFill>
                <a:latin typeface="Arial"/>
                <a:ea typeface="Arial"/>
                <a:cs typeface="Arial"/>
              </a:defRPr>
            </a:lvl8pPr>
            <a:lvl9pPr>
              <a:defRPr sz="1875" b="1">
                <a:solidFill>
                  <a:srgbClr val="173E2C"/>
                </a:solidFill>
                <a:latin typeface="Arial"/>
                <a:ea typeface="Arial"/>
                <a:cs typeface="Arial"/>
              </a:defRPr>
            </a:lvl9pPr>
          </a:lstStyle>
          <a:p xmlns:a="http://schemas.openxmlformats.org/drawingml/2006/main">
            <a:pPr>
              <a:defRPr sz="1875" b="1">
                <a:solidFill>
                  <a:srgbClr val="173E2C"/>
                </a:solidFill>
                <a:latin typeface="Arial"/>
                <a:ea typeface="Arial"/>
                <a:cs typeface="Arial"/>
              </a:defRPr>
            </a:pPr>
            <a:r>
              <a:rPr sz="1875" b="1">
                <a:solidFill>
                  <a:srgbClr val="173E2C"/>
                </a:solidFill>
                <a:latin typeface="Arial"/>
                <a:ea typeface="Arial"/>
                <a:cs typeface="Arial"/>
                <a:hlinkClick xmlns:r="http://schemas.openxmlformats.org/officeDocument/2006/relationships" r:id="Rf2c20e78d1434505"/>
              </a:rPr>
              <a:t>GitHub repository</a:t>
            </a:r>
          </a:p>
        </p:txBody>
      </p:sp>
    </p:spTree>
    <p:extLst>
      <p:ext uri="{BB962C8B-B14F-4D97-AF65-F5344CB8AC3E}">
        <p14:creationId xmlns:p14="http://schemas.microsoft.com/office/powerpoint/2010/main" val="1268858292"/>
      </p:ext>
    </p:extLst>
  </p:cSld>
</p:sld>
</file>

<file path=ppt/slides/slide10.xml><?xml version="1.0" encoding="utf-8"?>
<p:sld xmlns:p="http://schemas.openxmlformats.org/presentationml/2006/main">
  <p:cSld>
    <p:bg>
      <p:bgPr>
        <a:solidFill xmlns:a="http://schemas.openxmlformats.org/drawingml/2006/main">
          <a:srgbClr val="F6F5E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876A6D5-2A58-42F9-8553-DB09602DE214}"/>
              </a:ext>
            </a:extLst>
          </p:cNvPr>
          <p:cNvSpPr>
            <a:spLocks xmlns:a="http://schemas.openxmlformats.org/drawingml/2006/main" noGrp="1"/>
          </p:cNvSpPr>
          <p:nvPr/>
        </p:nvSpPr>
        <p:spPr>
          <a:xfrm xmlns:a="http://schemas.openxmlformats.org/drawingml/2006/main">
            <a:off x="666750" y="457200"/>
            <a:ext cx="10858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173E2C"/>
                </a:solidFill>
                <a:latin typeface="Arial"/>
                <a:ea typeface="Arial"/>
                <a:cs typeface="Arial"/>
              </a:defRPr>
            </a:defPPr>
            <a:lvl1pPr>
              <a:defRPr sz="3225" b="1">
                <a:solidFill>
                  <a:srgbClr val="173E2C"/>
                </a:solidFill>
                <a:latin typeface="Arial"/>
                <a:ea typeface="Arial"/>
                <a:cs typeface="Arial"/>
              </a:defRPr>
            </a:lvl1pPr>
            <a:lvl2pPr>
              <a:defRPr sz="3225" b="1">
                <a:solidFill>
                  <a:srgbClr val="173E2C"/>
                </a:solidFill>
                <a:latin typeface="Arial"/>
                <a:ea typeface="Arial"/>
                <a:cs typeface="Arial"/>
              </a:defRPr>
            </a:lvl2pPr>
            <a:lvl3pPr>
              <a:defRPr sz="3225" b="1">
                <a:solidFill>
                  <a:srgbClr val="173E2C"/>
                </a:solidFill>
                <a:latin typeface="Arial"/>
                <a:ea typeface="Arial"/>
                <a:cs typeface="Arial"/>
              </a:defRPr>
            </a:lvl3pPr>
            <a:lvl4pPr>
              <a:defRPr sz="3225" b="1">
                <a:solidFill>
                  <a:srgbClr val="173E2C"/>
                </a:solidFill>
                <a:latin typeface="Arial"/>
                <a:ea typeface="Arial"/>
                <a:cs typeface="Arial"/>
              </a:defRPr>
            </a:lvl4pPr>
            <a:lvl5pPr>
              <a:defRPr sz="3225" b="1">
                <a:solidFill>
                  <a:srgbClr val="173E2C"/>
                </a:solidFill>
                <a:latin typeface="Arial"/>
                <a:ea typeface="Arial"/>
                <a:cs typeface="Arial"/>
              </a:defRPr>
            </a:lvl5pPr>
            <a:lvl6pPr>
              <a:defRPr sz="3225" b="1">
                <a:solidFill>
                  <a:srgbClr val="173E2C"/>
                </a:solidFill>
                <a:latin typeface="Arial"/>
                <a:ea typeface="Arial"/>
                <a:cs typeface="Arial"/>
              </a:defRPr>
            </a:lvl6pPr>
            <a:lvl7pPr>
              <a:defRPr sz="3225" b="1">
                <a:solidFill>
                  <a:srgbClr val="173E2C"/>
                </a:solidFill>
                <a:latin typeface="Arial"/>
                <a:ea typeface="Arial"/>
                <a:cs typeface="Arial"/>
              </a:defRPr>
            </a:lvl7pPr>
            <a:lvl8pPr>
              <a:defRPr sz="3225" b="1">
                <a:solidFill>
                  <a:srgbClr val="173E2C"/>
                </a:solidFill>
                <a:latin typeface="Arial"/>
                <a:ea typeface="Arial"/>
                <a:cs typeface="Arial"/>
              </a:defRPr>
            </a:lvl8pPr>
            <a:lvl9pPr>
              <a:defRPr sz="3225" b="1">
                <a:solidFill>
                  <a:srgbClr val="173E2C"/>
                </a:solidFill>
                <a:latin typeface="Arial"/>
                <a:ea typeface="Arial"/>
                <a:cs typeface="Arial"/>
              </a:defRPr>
            </a:lvl9pPr>
          </a:lstStyle>
          <a:p xmlns:a="http://schemas.openxmlformats.org/drawingml/2006/main">
            <a:pPr>
              <a:defRPr sz="3225" b="1">
                <a:solidFill>
                  <a:srgbClr val="173E2C"/>
                </a:solidFill>
                <a:latin typeface="Arial"/>
                <a:ea typeface="Arial"/>
                <a:cs typeface="Arial"/>
              </a:defRPr>
            </a:pPr>
            <a:r>
              <a:rPr sz="3225" b="1">
                <a:solidFill>
                  <a:srgbClr val="173E2C"/>
                </a:solidFill>
                <a:latin typeface="Arial"/>
                <a:ea typeface="Arial"/>
                <a:cs typeface="Arial"/>
              </a:rPr>
              <a:t>What the experiments taught me</a:t>
            </a:r>
          </a:p>
        </p:txBody>
      </p:sp>
      <p:sp>
        <p:nvSpPr>
          <p:cNvPr id="2" name="">
            <a:extLst xmlns:a="http://schemas.openxmlformats.org/drawingml/2006/main">
              <a:ext uri="{FF2B5EF4-FFF2-40B4-BE49-F238E27FC236}">
                <a16:creationId xmlns:a16="http://schemas.microsoft.com/office/drawing/2014/main" id="{F73E1A69-9020-42DC-A318-636642789069}"/>
              </a:ext>
            </a:extLst>
          </p:cNvPr>
          <p:cNvSpPr>
            <a:spLocks xmlns:a="http://schemas.openxmlformats.org/drawingml/2006/main" noGrp="1"/>
          </p:cNvSpPr>
          <p:nvPr/>
        </p:nvSpPr>
        <p:spPr>
          <a:xfrm xmlns:a="http://schemas.openxmlformats.org/drawingml/2006/main">
            <a:off x="666750" y="6467475"/>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9665D"/>
                </a:solidFill>
                <a:latin typeface="Arial"/>
                <a:ea typeface="Arial"/>
                <a:cs typeface="Arial"/>
              </a:defRPr>
            </a:defPPr>
            <a:lvl1pPr>
              <a:defRPr sz="1200" b="0">
                <a:solidFill>
                  <a:srgbClr val="59665D"/>
                </a:solidFill>
                <a:latin typeface="Arial"/>
                <a:ea typeface="Arial"/>
                <a:cs typeface="Arial"/>
              </a:defRPr>
            </a:lvl1pPr>
            <a:lvl2pPr>
              <a:defRPr sz="1200" b="0">
                <a:solidFill>
                  <a:srgbClr val="59665D"/>
                </a:solidFill>
                <a:latin typeface="Arial"/>
                <a:ea typeface="Arial"/>
                <a:cs typeface="Arial"/>
              </a:defRPr>
            </a:lvl2pPr>
            <a:lvl3pPr>
              <a:defRPr sz="1200" b="0">
                <a:solidFill>
                  <a:srgbClr val="59665D"/>
                </a:solidFill>
                <a:latin typeface="Arial"/>
                <a:ea typeface="Arial"/>
                <a:cs typeface="Arial"/>
              </a:defRPr>
            </a:lvl3pPr>
            <a:lvl4pPr>
              <a:defRPr sz="1200" b="0">
                <a:solidFill>
                  <a:srgbClr val="59665D"/>
                </a:solidFill>
                <a:latin typeface="Arial"/>
                <a:ea typeface="Arial"/>
                <a:cs typeface="Arial"/>
              </a:defRPr>
            </a:lvl4pPr>
            <a:lvl5pPr>
              <a:defRPr sz="1200" b="0">
                <a:solidFill>
                  <a:srgbClr val="59665D"/>
                </a:solidFill>
                <a:latin typeface="Arial"/>
                <a:ea typeface="Arial"/>
                <a:cs typeface="Arial"/>
              </a:defRPr>
            </a:lvl5pPr>
            <a:lvl6pPr>
              <a:defRPr sz="1200" b="0">
                <a:solidFill>
                  <a:srgbClr val="59665D"/>
                </a:solidFill>
                <a:latin typeface="Arial"/>
                <a:ea typeface="Arial"/>
                <a:cs typeface="Arial"/>
              </a:defRPr>
            </a:lvl6pPr>
            <a:lvl7pPr>
              <a:defRPr sz="1200" b="0">
                <a:solidFill>
                  <a:srgbClr val="59665D"/>
                </a:solidFill>
                <a:latin typeface="Arial"/>
                <a:ea typeface="Arial"/>
                <a:cs typeface="Arial"/>
              </a:defRPr>
            </a:lvl7pPr>
            <a:lvl8pPr>
              <a:defRPr sz="1200" b="0">
                <a:solidFill>
                  <a:srgbClr val="59665D"/>
                </a:solidFill>
                <a:latin typeface="Arial"/>
                <a:ea typeface="Arial"/>
                <a:cs typeface="Arial"/>
              </a:defRPr>
            </a:lvl8pPr>
            <a:lvl9pPr>
              <a:defRPr sz="1200" b="0">
                <a:solidFill>
                  <a:srgbClr val="59665D"/>
                </a:solidFill>
                <a:latin typeface="Arial"/>
                <a:ea typeface="Arial"/>
                <a:cs typeface="Arial"/>
              </a:defRPr>
            </a:lvl9pPr>
          </a:lstStyle>
          <a:p xmlns:a="http://schemas.openxmlformats.org/drawingml/2006/main">
            <a:pPr>
              <a:defRPr sz="1200" b="0">
                <a:solidFill>
                  <a:srgbClr val="59665D"/>
                </a:solidFill>
                <a:latin typeface="Arial"/>
                <a:ea typeface="Arial"/>
                <a:cs typeface="Arial"/>
              </a:defRPr>
            </a:pPr>
            <a:r>
              <a:rPr sz="1200" b="0">
                <a:solidFill>
                  <a:srgbClr val="59665D"/>
                </a:solidFill>
                <a:latin typeface="Arial"/>
                <a:ea typeface="Arial"/>
                <a:cs typeface="Arial"/>
              </a:rPr>
              <a:t>10</a:t>
            </a:r>
          </a:p>
        </p:txBody>
      </p:sp>
      <p:sp>
        <p:nvSpPr>
          <p:cNvPr id="3" name="">
            <a:extLst xmlns:a="http://schemas.openxmlformats.org/drawingml/2006/main">
              <a:ext uri="{FF2B5EF4-FFF2-40B4-BE49-F238E27FC236}">
                <a16:creationId xmlns:a16="http://schemas.microsoft.com/office/drawing/2014/main" id="{CF45119A-20F5-40A8-8DB6-E6CA9621F99F}"/>
              </a:ext>
            </a:extLst>
          </p:cNvPr>
          <p:cNvSpPr>
            <a:spLocks xmlns:a="http://schemas.openxmlformats.org/drawingml/2006/main" noGrp="1"/>
          </p:cNvSpPr>
          <p:nvPr/>
        </p:nvSpPr>
        <p:spPr>
          <a:xfrm xmlns:a="http://schemas.openxmlformats.org/drawingml/2006/main">
            <a:off x="685800" y="1695450"/>
            <a:ext cx="1714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1">
                <a:solidFill>
                  <a:srgbClr val="173E2C"/>
                </a:solidFill>
                <a:latin typeface="Arial"/>
                <a:ea typeface="Arial"/>
                <a:cs typeface="Arial"/>
              </a:defRPr>
            </a:defPPr>
            <a:lvl1pPr>
              <a:defRPr sz="1950" b="1">
                <a:solidFill>
                  <a:srgbClr val="173E2C"/>
                </a:solidFill>
                <a:latin typeface="Arial"/>
                <a:ea typeface="Arial"/>
                <a:cs typeface="Arial"/>
              </a:defRPr>
            </a:lvl1pPr>
            <a:lvl2pPr>
              <a:defRPr sz="1950" b="1">
                <a:solidFill>
                  <a:srgbClr val="173E2C"/>
                </a:solidFill>
                <a:latin typeface="Arial"/>
                <a:ea typeface="Arial"/>
                <a:cs typeface="Arial"/>
              </a:defRPr>
            </a:lvl2pPr>
            <a:lvl3pPr>
              <a:defRPr sz="1950" b="1">
                <a:solidFill>
                  <a:srgbClr val="173E2C"/>
                </a:solidFill>
                <a:latin typeface="Arial"/>
                <a:ea typeface="Arial"/>
                <a:cs typeface="Arial"/>
              </a:defRPr>
            </a:lvl3pPr>
            <a:lvl4pPr>
              <a:defRPr sz="1950" b="1">
                <a:solidFill>
                  <a:srgbClr val="173E2C"/>
                </a:solidFill>
                <a:latin typeface="Arial"/>
                <a:ea typeface="Arial"/>
                <a:cs typeface="Arial"/>
              </a:defRPr>
            </a:lvl4pPr>
            <a:lvl5pPr>
              <a:defRPr sz="1950" b="1">
                <a:solidFill>
                  <a:srgbClr val="173E2C"/>
                </a:solidFill>
                <a:latin typeface="Arial"/>
                <a:ea typeface="Arial"/>
                <a:cs typeface="Arial"/>
              </a:defRPr>
            </a:lvl5pPr>
            <a:lvl6pPr>
              <a:defRPr sz="1950" b="1">
                <a:solidFill>
                  <a:srgbClr val="173E2C"/>
                </a:solidFill>
                <a:latin typeface="Arial"/>
                <a:ea typeface="Arial"/>
                <a:cs typeface="Arial"/>
              </a:defRPr>
            </a:lvl6pPr>
            <a:lvl7pPr>
              <a:defRPr sz="1950" b="1">
                <a:solidFill>
                  <a:srgbClr val="173E2C"/>
                </a:solidFill>
                <a:latin typeface="Arial"/>
                <a:ea typeface="Arial"/>
                <a:cs typeface="Arial"/>
              </a:defRPr>
            </a:lvl7pPr>
            <a:lvl8pPr>
              <a:defRPr sz="1950" b="1">
                <a:solidFill>
                  <a:srgbClr val="173E2C"/>
                </a:solidFill>
                <a:latin typeface="Arial"/>
                <a:ea typeface="Arial"/>
                <a:cs typeface="Arial"/>
              </a:defRPr>
            </a:lvl8pPr>
            <a:lvl9pPr>
              <a:defRPr sz="1950" b="1">
                <a:solidFill>
                  <a:srgbClr val="173E2C"/>
                </a:solidFill>
                <a:latin typeface="Arial"/>
                <a:ea typeface="Arial"/>
                <a:cs typeface="Arial"/>
              </a:defRPr>
            </a:lvl9pPr>
          </a:lstStyle>
          <a:p xmlns:a="http://schemas.openxmlformats.org/drawingml/2006/main">
            <a:pPr>
              <a:defRPr sz="1950" b="1">
                <a:solidFill>
                  <a:srgbClr val="173E2C"/>
                </a:solidFill>
                <a:latin typeface="Arial"/>
                <a:ea typeface="Arial"/>
                <a:cs typeface="Arial"/>
              </a:defRPr>
            </a:pPr>
            <a:r>
              <a:rPr sz="1950" b="1">
                <a:solidFill>
                  <a:srgbClr val="173E2C"/>
                </a:solidFill>
                <a:latin typeface="Arial"/>
                <a:ea typeface="Arial"/>
                <a:cs typeface="Arial"/>
              </a:rPr>
              <a:t>Main lesson</a:t>
            </a:r>
          </a:p>
        </p:txBody>
      </p:sp>
      <p:sp>
        <p:nvSpPr>
          <p:cNvPr id="4" name="">
            <a:extLst xmlns:a="http://schemas.openxmlformats.org/drawingml/2006/main">
              <a:ext uri="{FF2B5EF4-FFF2-40B4-BE49-F238E27FC236}">
                <a16:creationId xmlns:a16="http://schemas.microsoft.com/office/drawing/2014/main" id="{34CA8208-68DA-4175-B81F-D6C3845AC80C}"/>
              </a:ext>
            </a:extLst>
          </p:cNvPr>
          <p:cNvSpPr>
            <a:spLocks xmlns:a="http://schemas.openxmlformats.org/drawingml/2006/main" noGrp="1"/>
          </p:cNvSpPr>
          <p:nvPr/>
        </p:nvSpPr>
        <p:spPr>
          <a:xfrm xmlns:a="http://schemas.openxmlformats.org/drawingml/2006/main">
            <a:off x="2581275" y="1695450"/>
            <a:ext cx="8858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250" b="0">
                <a:solidFill>
                  <a:srgbClr val="24352C"/>
                </a:solidFill>
                <a:latin typeface="Arial"/>
                <a:ea typeface="Arial"/>
                <a:cs typeface="Arial"/>
              </a:defRPr>
            </a:defPPr>
            <a:lvl1pPr>
              <a:defRPr sz="2250" b="0">
                <a:solidFill>
                  <a:srgbClr val="24352C"/>
                </a:solidFill>
                <a:latin typeface="Arial"/>
                <a:ea typeface="Arial"/>
                <a:cs typeface="Arial"/>
              </a:defRPr>
            </a:lvl1pPr>
            <a:lvl2pPr>
              <a:defRPr sz="2250" b="0">
                <a:solidFill>
                  <a:srgbClr val="24352C"/>
                </a:solidFill>
                <a:latin typeface="Arial"/>
                <a:ea typeface="Arial"/>
                <a:cs typeface="Arial"/>
              </a:defRPr>
            </a:lvl2pPr>
            <a:lvl3pPr>
              <a:defRPr sz="2250" b="0">
                <a:solidFill>
                  <a:srgbClr val="24352C"/>
                </a:solidFill>
                <a:latin typeface="Arial"/>
                <a:ea typeface="Arial"/>
                <a:cs typeface="Arial"/>
              </a:defRPr>
            </a:lvl3pPr>
            <a:lvl4pPr>
              <a:defRPr sz="2250" b="0">
                <a:solidFill>
                  <a:srgbClr val="24352C"/>
                </a:solidFill>
                <a:latin typeface="Arial"/>
                <a:ea typeface="Arial"/>
                <a:cs typeface="Arial"/>
              </a:defRPr>
            </a:lvl4pPr>
            <a:lvl5pPr>
              <a:defRPr sz="2250" b="0">
                <a:solidFill>
                  <a:srgbClr val="24352C"/>
                </a:solidFill>
                <a:latin typeface="Arial"/>
                <a:ea typeface="Arial"/>
                <a:cs typeface="Arial"/>
              </a:defRPr>
            </a:lvl5pPr>
            <a:lvl6pPr>
              <a:defRPr sz="2250" b="0">
                <a:solidFill>
                  <a:srgbClr val="24352C"/>
                </a:solidFill>
                <a:latin typeface="Arial"/>
                <a:ea typeface="Arial"/>
                <a:cs typeface="Arial"/>
              </a:defRPr>
            </a:lvl6pPr>
            <a:lvl7pPr>
              <a:defRPr sz="2250" b="0">
                <a:solidFill>
                  <a:srgbClr val="24352C"/>
                </a:solidFill>
                <a:latin typeface="Arial"/>
                <a:ea typeface="Arial"/>
                <a:cs typeface="Arial"/>
              </a:defRPr>
            </a:lvl7pPr>
            <a:lvl8pPr>
              <a:defRPr sz="2250" b="0">
                <a:solidFill>
                  <a:srgbClr val="24352C"/>
                </a:solidFill>
                <a:latin typeface="Arial"/>
                <a:ea typeface="Arial"/>
                <a:cs typeface="Arial"/>
              </a:defRPr>
            </a:lvl8pPr>
            <a:lvl9pPr>
              <a:defRPr sz="2250" b="0">
                <a:solidFill>
                  <a:srgbClr val="24352C"/>
                </a:solidFill>
                <a:latin typeface="Arial"/>
                <a:ea typeface="Arial"/>
                <a:cs typeface="Arial"/>
              </a:defRPr>
            </a:lvl9pPr>
          </a:lstStyle>
          <a:p xmlns:a="http://schemas.openxmlformats.org/drawingml/2006/main">
            <a:pPr>
              <a:defRPr sz="2250" b="0">
                <a:solidFill>
                  <a:srgbClr val="24352C"/>
                </a:solidFill>
                <a:latin typeface="Arial"/>
                <a:ea typeface="Arial"/>
                <a:cs typeface="Arial"/>
              </a:defRPr>
            </a:pPr>
            <a:r>
              <a:rPr sz="2250" b="0">
                <a:solidFill>
                  <a:srgbClr val="24352C"/>
                </a:solidFill>
                <a:latin typeface="Arial"/>
                <a:ea typeface="Arial"/>
                <a:cs typeface="Arial"/>
              </a:rPr>
              <a:t>A stronger individual model or a larger ensemble does not always improve the final system.</a:t>
            </a:r>
          </a:p>
        </p:txBody>
      </p:sp>
      <p:sp>
        <p:nvSpPr>
          <p:cNvPr id="5" name="">
            <a:extLst xmlns:a="http://schemas.openxmlformats.org/drawingml/2006/main">
              <a:ext uri="{FF2B5EF4-FFF2-40B4-BE49-F238E27FC236}">
                <a16:creationId xmlns:a16="http://schemas.microsoft.com/office/drawing/2014/main" id="{F393B2E9-C59D-41EA-A46C-3A5F3BB0B9B7}"/>
              </a:ext>
            </a:extLst>
          </p:cNvPr>
          <p:cNvSpPr>
            <a:spLocks xmlns:a="http://schemas.openxmlformats.org/drawingml/2006/main" noGrp="1"/>
          </p:cNvSpPr>
          <p:nvPr/>
        </p:nvSpPr>
        <p:spPr>
          <a:xfrm xmlns:a="http://schemas.openxmlformats.org/drawingml/2006/main">
            <a:off x="685800" y="3048000"/>
            <a:ext cx="1714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1">
                <a:solidFill>
                  <a:srgbClr val="173E2C"/>
                </a:solidFill>
                <a:latin typeface="Arial"/>
                <a:ea typeface="Arial"/>
                <a:cs typeface="Arial"/>
              </a:defRPr>
            </a:defPPr>
            <a:lvl1pPr>
              <a:defRPr sz="1950" b="1">
                <a:solidFill>
                  <a:srgbClr val="173E2C"/>
                </a:solidFill>
                <a:latin typeface="Arial"/>
                <a:ea typeface="Arial"/>
                <a:cs typeface="Arial"/>
              </a:defRPr>
            </a:lvl1pPr>
            <a:lvl2pPr>
              <a:defRPr sz="1950" b="1">
                <a:solidFill>
                  <a:srgbClr val="173E2C"/>
                </a:solidFill>
                <a:latin typeface="Arial"/>
                <a:ea typeface="Arial"/>
                <a:cs typeface="Arial"/>
              </a:defRPr>
            </a:lvl2pPr>
            <a:lvl3pPr>
              <a:defRPr sz="1950" b="1">
                <a:solidFill>
                  <a:srgbClr val="173E2C"/>
                </a:solidFill>
                <a:latin typeface="Arial"/>
                <a:ea typeface="Arial"/>
                <a:cs typeface="Arial"/>
              </a:defRPr>
            </a:lvl3pPr>
            <a:lvl4pPr>
              <a:defRPr sz="1950" b="1">
                <a:solidFill>
                  <a:srgbClr val="173E2C"/>
                </a:solidFill>
                <a:latin typeface="Arial"/>
                <a:ea typeface="Arial"/>
                <a:cs typeface="Arial"/>
              </a:defRPr>
            </a:lvl4pPr>
            <a:lvl5pPr>
              <a:defRPr sz="1950" b="1">
                <a:solidFill>
                  <a:srgbClr val="173E2C"/>
                </a:solidFill>
                <a:latin typeface="Arial"/>
                <a:ea typeface="Arial"/>
                <a:cs typeface="Arial"/>
              </a:defRPr>
            </a:lvl5pPr>
            <a:lvl6pPr>
              <a:defRPr sz="1950" b="1">
                <a:solidFill>
                  <a:srgbClr val="173E2C"/>
                </a:solidFill>
                <a:latin typeface="Arial"/>
                <a:ea typeface="Arial"/>
                <a:cs typeface="Arial"/>
              </a:defRPr>
            </a:lvl6pPr>
            <a:lvl7pPr>
              <a:defRPr sz="1950" b="1">
                <a:solidFill>
                  <a:srgbClr val="173E2C"/>
                </a:solidFill>
                <a:latin typeface="Arial"/>
                <a:ea typeface="Arial"/>
                <a:cs typeface="Arial"/>
              </a:defRPr>
            </a:lvl7pPr>
            <a:lvl8pPr>
              <a:defRPr sz="1950" b="1">
                <a:solidFill>
                  <a:srgbClr val="173E2C"/>
                </a:solidFill>
                <a:latin typeface="Arial"/>
                <a:ea typeface="Arial"/>
                <a:cs typeface="Arial"/>
              </a:defRPr>
            </a:lvl8pPr>
            <a:lvl9pPr>
              <a:defRPr sz="1950" b="1">
                <a:solidFill>
                  <a:srgbClr val="173E2C"/>
                </a:solidFill>
                <a:latin typeface="Arial"/>
                <a:ea typeface="Arial"/>
                <a:cs typeface="Arial"/>
              </a:defRPr>
            </a:lvl9pPr>
          </a:lstStyle>
          <a:p xmlns:a="http://schemas.openxmlformats.org/drawingml/2006/main">
            <a:pPr>
              <a:defRPr sz="1950" b="1">
                <a:solidFill>
                  <a:srgbClr val="173E2C"/>
                </a:solidFill>
                <a:latin typeface="Arial"/>
                <a:ea typeface="Arial"/>
                <a:cs typeface="Arial"/>
              </a:defRPr>
            </a:pPr>
            <a:r>
              <a:rPr sz="1950" b="1">
                <a:solidFill>
                  <a:srgbClr val="173E2C"/>
                </a:solidFill>
                <a:latin typeface="Arial"/>
                <a:ea typeface="Arial"/>
                <a:cs typeface="Arial"/>
              </a:rPr>
              <a:t>Current limits</a:t>
            </a:r>
          </a:p>
        </p:txBody>
      </p:sp>
      <p:sp>
        <p:nvSpPr>
          <p:cNvPr id="6" name="">
            <a:extLst xmlns:a="http://schemas.openxmlformats.org/drawingml/2006/main">
              <a:ext uri="{FF2B5EF4-FFF2-40B4-BE49-F238E27FC236}">
                <a16:creationId xmlns:a16="http://schemas.microsoft.com/office/drawing/2014/main" id="{1E6040F7-DC81-4A1A-A5EA-CE28598600B0}"/>
              </a:ext>
            </a:extLst>
          </p:cNvPr>
          <p:cNvSpPr>
            <a:spLocks xmlns:a="http://schemas.openxmlformats.org/drawingml/2006/main" noGrp="1"/>
          </p:cNvSpPr>
          <p:nvPr/>
        </p:nvSpPr>
        <p:spPr>
          <a:xfrm xmlns:a="http://schemas.openxmlformats.org/drawingml/2006/main">
            <a:off x="2581275" y="3048000"/>
            <a:ext cx="8858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250" b="0">
                <a:solidFill>
                  <a:srgbClr val="24352C"/>
                </a:solidFill>
                <a:latin typeface="Arial"/>
                <a:ea typeface="Arial"/>
                <a:cs typeface="Arial"/>
              </a:defRPr>
            </a:defPPr>
            <a:lvl1pPr>
              <a:defRPr sz="2250" b="0">
                <a:solidFill>
                  <a:srgbClr val="24352C"/>
                </a:solidFill>
                <a:latin typeface="Arial"/>
                <a:ea typeface="Arial"/>
                <a:cs typeface="Arial"/>
              </a:defRPr>
            </a:lvl1pPr>
            <a:lvl2pPr>
              <a:defRPr sz="2250" b="0">
                <a:solidFill>
                  <a:srgbClr val="24352C"/>
                </a:solidFill>
                <a:latin typeface="Arial"/>
                <a:ea typeface="Arial"/>
                <a:cs typeface="Arial"/>
              </a:defRPr>
            </a:lvl2pPr>
            <a:lvl3pPr>
              <a:defRPr sz="2250" b="0">
                <a:solidFill>
                  <a:srgbClr val="24352C"/>
                </a:solidFill>
                <a:latin typeface="Arial"/>
                <a:ea typeface="Arial"/>
                <a:cs typeface="Arial"/>
              </a:defRPr>
            </a:lvl3pPr>
            <a:lvl4pPr>
              <a:defRPr sz="2250" b="0">
                <a:solidFill>
                  <a:srgbClr val="24352C"/>
                </a:solidFill>
                <a:latin typeface="Arial"/>
                <a:ea typeface="Arial"/>
                <a:cs typeface="Arial"/>
              </a:defRPr>
            </a:lvl4pPr>
            <a:lvl5pPr>
              <a:defRPr sz="2250" b="0">
                <a:solidFill>
                  <a:srgbClr val="24352C"/>
                </a:solidFill>
                <a:latin typeface="Arial"/>
                <a:ea typeface="Arial"/>
                <a:cs typeface="Arial"/>
              </a:defRPr>
            </a:lvl5pPr>
            <a:lvl6pPr>
              <a:defRPr sz="2250" b="0">
                <a:solidFill>
                  <a:srgbClr val="24352C"/>
                </a:solidFill>
                <a:latin typeface="Arial"/>
                <a:ea typeface="Arial"/>
                <a:cs typeface="Arial"/>
              </a:defRPr>
            </a:lvl6pPr>
            <a:lvl7pPr>
              <a:defRPr sz="2250" b="0">
                <a:solidFill>
                  <a:srgbClr val="24352C"/>
                </a:solidFill>
                <a:latin typeface="Arial"/>
                <a:ea typeface="Arial"/>
                <a:cs typeface="Arial"/>
              </a:defRPr>
            </a:lvl7pPr>
            <a:lvl8pPr>
              <a:defRPr sz="2250" b="0">
                <a:solidFill>
                  <a:srgbClr val="24352C"/>
                </a:solidFill>
                <a:latin typeface="Arial"/>
                <a:ea typeface="Arial"/>
                <a:cs typeface="Arial"/>
              </a:defRPr>
            </a:lvl8pPr>
            <a:lvl9pPr>
              <a:defRPr sz="2250" b="0">
                <a:solidFill>
                  <a:srgbClr val="24352C"/>
                </a:solidFill>
                <a:latin typeface="Arial"/>
                <a:ea typeface="Arial"/>
                <a:cs typeface="Arial"/>
              </a:defRPr>
            </a:lvl9pPr>
          </a:lstStyle>
          <a:p xmlns:a="http://schemas.openxmlformats.org/drawingml/2006/main">
            <a:pPr>
              <a:defRPr sz="2250" b="0">
                <a:solidFill>
                  <a:srgbClr val="24352C"/>
                </a:solidFill>
                <a:latin typeface="Arial"/>
                <a:ea typeface="Arial"/>
                <a:cs typeface="Arial"/>
              </a:defRPr>
            </a:pPr>
            <a:r>
              <a:rPr sz="2250" b="0">
                <a:solidFill>
                  <a:srgbClr val="24352C"/>
                </a:solidFill>
                <a:latin typeface="Arial"/>
                <a:ea typeface="Arial"/>
                <a:cs typeface="Arial"/>
              </a:rPr>
              <a:t>Small reused validation, an exposed holdout, and no healthy or unknown category.</a:t>
            </a:r>
          </a:p>
        </p:txBody>
      </p:sp>
      <p:sp>
        <p:nvSpPr>
          <p:cNvPr id="7" name="">
            <a:extLst xmlns:a="http://schemas.openxmlformats.org/drawingml/2006/main">
              <a:ext uri="{FF2B5EF4-FFF2-40B4-BE49-F238E27FC236}">
                <a16:creationId xmlns:a16="http://schemas.microsoft.com/office/drawing/2014/main" id="{B62659EE-B670-4F70-BE89-B4D544F9D26D}"/>
              </a:ext>
            </a:extLst>
          </p:cNvPr>
          <p:cNvSpPr>
            <a:spLocks xmlns:a="http://schemas.openxmlformats.org/drawingml/2006/main" noGrp="1"/>
          </p:cNvSpPr>
          <p:nvPr/>
        </p:nvSpPr>
        <p:spPr>
          <a:xfrm xmlns:a="http://schemas.openxmlformats.org/drawingml/2006/main">
            <a:off x="685800" y="4400550"/>
            <a:ext cx="1714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1">
                <a:solidFill>
                  <a:srgbClr val="173E2C"/>
                </a:solidFill>
                <a:latin typeface="Arial"/>
                <a:ea typeface="Arial"/>
                <a:cs typeface="Arial"/>
              </a:defRPr>
            </a:defPPr>
            <a:lvl1pPr>
              <a:defRPr sz="1950" b="1">
                <a:solidFill>
                  <a:srgbClr val="173E2C"/>
                </a:solidFill>
                <a:latin typeface="Arial"/>
                <a:ea typeface="Arial"/>
                <a:cs typeface="Arial"/>
              </a:defRPr>
            </a:lvl1pPr>
            <a:lvl2pPr>
              <a:defRPr sz="1950" b="1">
                <a:solidFill>
                  <a:srgbClr val="173E2C"/>
                </a:solidFill>
                <a:latin typeface="Arial"/>
                <a:ea typeface="Arial"/>
                <a:cs typeface="Arial"/>
              </a:defRPr>
            </a:lvl2pPr>
            <a:lvl3pPr>
              <a:defRPr sz="1950" b="1">
                <a:solidFill>
                  <a:srgbClr val="173E2C"/>
                </a:solidFill>
                <a:latin typeface="Arial"/>
                <a:ea typeface="Arial"/>
                <a:cs typeface="Arial"/>
              </a:defRPr>
            </a:lvl3pPr>
            <a:lvl4pPr>
              <a:defRPr sz="1950" b="1">
                <a:solidFill>
                  <a:srgbClr val="173E2C"/>
                </a:solidFill>
                <a:latin typeface="Arial"/>
                <a:ea typeface="Arial"/>
                <a:cs typeface="Arial"/>
              </a:defRPr>
            </a:lvl4pPr>
            <a:lvl5pPr>
              <a:defRPr sz="1950" b="1">
                <a:solidFill>
                  <a:srgbClr val="173E2C"/>
                </a:solidFill>
                <a:latin typeface="Arial"/>
                <a:ea typeface="Arial"/>
                <a:cs typeface="Arial"/>
              </a:defRPr>
            </a:lvl5pPr>
            <a:lvl6pPr>
              <a:defRPr sz="1950" b="1">
                <a:solidFill>
                  <a:srgbClr val="173E2C"/>
                </a:solidFill>
                <a:latin typeface="Arial"/>
                <a:ea typeface="Arial"/>
                <a:cs typeface="Arial"/>
              </a:defRPr>
            </a:lvl6pPr>
            <a:lvl7pPr>
              <a:defRPr sz="1950" b="1">
                <a:solidFill>
                  <a:srgbClr val="173E2C"/>
                </a:solidFill>
                <a:latin typeface="Arial"/>
                <a:ea typeface="Arial"/>
                <a:cs typeface="Arial"/>
              </a:defRPr>
            </a:lvl7pPr>
            <a:lvl8pPr>
              <a:defRPr sz="1950" b="1">
                <a:solidFill>
                  <a:srgbClr val="173E2C"/>
                </a:solidFill>
                <a:latin typeface="Arial"/>
                <a:ea typeface="Arial"/>
                <a:cs typeface="Arial"/>
              </a:defRPr>
            </a:lvl8pPr>
            <a:lvl9pPr>
              <a:defRPr sz="1950" b="1">
                <a:solidFill>
                  <a:srgbClr val="173E2C"/>
                </a:solidFill>
                <a:latin typeface="Arial"/>
                <a:ea typeface="Arial"/>
                <a:cs typeface="Arial"/>
              </a:defRPr>
            </a:lvl9pPr>
          </a:lstStyle>
          <a:p xmlns:a="http://schemas.openxmlformats.org/drawingml/2006/main">
            <a:pPr>
              <a:defRPr sz="1950" b="1">
                <a:solidFill>
                  <a:srgbClr val="173E2C"/>
                </a:solidFill>
                <a:latin typeface="Arial"/>
                <a:ea typeface="Arial"/>
                <a:cs typeface="Arial"/>
              </a:defRPr>
            </a:pPr>
            <a:r>
              <a:rPr sz="1950" b="1">
                <a:solidFill>
                  <a:srgbClr val="173E2C"/>
                </a:solidFill>
                <a:latin typeface="Arial"/>
                <a:ea typeface="Arial"/>
                <a:cs typeface="Arial"/>
              </a:rPr>
              <a:t>Next step</a:t>
            </a:r>
          </a:p>
        </p:txBody>
      </p:sp>
      <p:sp>
        <p:nvSpPr>
          <p:cNvPr id="8" name="">
            <a:extLst xmlns:a="http://schemas.openxmlformats.org/drawingml/2006/main">
              <a:ext uri="{FF2B5EF4-FFF2-40B4-BE49-F238E27FC236}">
                <a16:creationId xmlns:a16="http://schemas.microsoft.com/office/drawing/2014/main" id="{995D68D8-33DD-45AD-904E-8A7B7208BCF4}"/>
              </a:ext>
            </a:extLst>
          </p:cNvPr>
          <p:cNvSpPr>
            <a:spLocks xmlns:a="http://schemas.openxmlformats.org/drawingml/2006/main" noGrp="1"/>
          </p:cNvSpPr>
          <p:nvPr/>
        </p:nvSpPr>
        <p:spPr>
          <a:xfrm xmlns:a="http://schemas.openxmlformats.org/drawingml/2006/main">
            <a:off x="2581275" y="4400550"/>
            <a:ext cx="8858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250" b="0">
                <a:solidFill>
                  <a:srgbClr val="24352C"/>
                </a:solidFill>
                <a:latin typeface="Arial"/>
                <a:ea typeface="Arial"/>
                <a:cs typeface="Arial"/>
              </a:defRPr>
            </a:defPPr>
            <a:lvl1pPr>
              <a:defRPr sz="2250" b="0">
                <a:solidFill>
                  <a:srgbClr val="24352C"/>
                </a:solidFill>
                <a:latin typeface="Arial"/>
                <a:ea typeface="Arial"/>
                <a:cs typeface="Arial"/>
              </a:defRPr>
            </a:lvl1pPr>
            <a:lvl2pPr>
              <a:defRPr sz="2250" b="0">
                <a:solidFill>
                  <a:srgbClr val="24352C"/>
                </a:solidFill>
                <a:latin typeface="Arial"/>
                <a:ea typeface="Arial"/>
                <a:cs typeface="Arial"/>
              </a:defRPr>
            </a:lvl2pPr>
            <a:lvl3pPr>
              <a:defRPr sz="2250" b="0">
                <a:solidFill>
                  <a:srgbClr val="24352C"/>
                </a:solidFill>
                <a:latin typeface="Arial"/>
                <a:ea typeface="Arial"/>
                <a:cs typeface="Arial"/>
              </a:defRPr>
            </a:lvl3pPr>
            <a:lvl4pPr>
              <a:defRPr sz="2250" b="0">
                <a:solidFill>
                  <a:srgbClr val="24352C"/>
                </a:solidFill>
                <a:latin typeface="Arial"/>
                <a:ea typeface="Arial"/>
                <a:cs typeface="Arial"/>
              </a:defRPr>
            </a:lvl4pPr>
            <a:lvl5pPr>
              <a:defRPr sz="2250" b="0">
                <a:solidFill>
                  <a:srgbClr val="24352C"/>
                </a:solidFill>
                <a:latin typeface="Arial"/>
                <a:ea typeface="Arial"/>
                <a:cs typeface="Arial"/>
              </a:defRPr>
            </a:lvl5pPr>
            <a:lvl6pPr>
              <a:defRPr sz="2250" b="0">
                <a:solidFill>
                  <a:srgbClr val="24352C"/>
                </a:solidFill>
                <a:latin typeface="Arial"/>
                <a:ea typeface="Arial"/>
                <a:cs typeface="Arial"/>
              </a:defRPr>
            </a:lvl6pPr>
            <a:lvl7pPr>
              <a:defRPr sz="2250" b="0">
                <a:solidFill>
                  <a:srgbClr val="24352C"/>
                </a:solidFill>
                <a:latin typeface="Arial"/>
                <a:ea typeface="Arial"/>
                <a:cs typeface="Arial"/>
              </a:defRPr>
            </a:lvl7pPr>
            <a:lvl8pPr>
              <a:defRPr sz="2250" b="0">
                <a:solidFill>
                  <a:srgbClr val="24352C"/>
                </a:solidFill>
                <a:latin typeface="Arial"/>
                <a:ea typeface="Arial"/>
                <a:cs typeface="Arial"/>
              </a:defRPr>
            </a:lvl8pPr>
            <a:lvl9pPr>
              <a:defRPr sz="2250" b="0">
                <a:solidFill>
                  <a:srgbClr val="24352C"/>
                </a:solidFill>
                <a:latin typeface="Arial"/>
                <a:ea typeface="Arial"/>
                <a:cs typeface="Arial"/>
              </a:defRPr>
            </a:lvl9pPr>
          </a:lstStyle>
          <a:p xmlns:a="http://schemas.openxmlformats.org/drawingml/2006/main">
            <a:pPr>
              <a:defRPr sz="2250" b="0">
                <a:solidFill>
                  <a:srgbClr val="24352C"/>
                </a:solidFill>
                <a:latin typeface="Arial"/>
                <a:ea typeface="Arial"/>
                <a:cs typeface="Arial"/>
              </a:defRPr>
            </a:pPr>
            <a:r>
              <a:rPr sz="2250" b="0">
                <a:solidFill>
                  <a:srgbClr val="24352C"/>
                </a:solidFill>
                <a:latin typeface="Arial"/>
                <a:ea typeface="Arial"/>
                <a:cs typeface="Arial"/>
              </a:rPr>
              <a:t>Collect reviewed field photos, including healthy examples, and evaluate the frozen model.</a:t>
            </a:r>
          </a:p>
        </p:txBody>
      </p:sp>
      <p:sp>
        <p:nvSpPr>
          <p:cNvPr id="9" name="">
            <a:extLst xmlns:a="http://schemas.openxmlformats.org/drawingml/2006/main">
              <a:ext uri="{FF2B5EF4-FFF2-40B4-BE49-F238E27FC236}">
                <a16:creationId xmlns:a16="http://schemas.microsoft.com/office/drawing/2014/main" id="{A87A99B3-948A-4E6B-8A1E-2613213F65D9}"/>
              </a:ext>
            </a:extLst>
          </p:cNvPr>
          <p:cNvSpPr>
            <a:spLocks xmlns:a="http://schemas.openxmlformats.org/drawingml/2006/main" noGrp="1"/>
          </p:cNvSpPr>
          <p:nvPr/>
        </p:nvSpPr>
        <p:spPr>
          <a:xfrm xmlns:a="http://schemas.openxmlformats.org/drawingml/2006/main">
            <a:off x="723900" y="5981700"/>
            <a:ext cx="1714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73E2C"/>
                </a:solidFill>
                <a:latin typeface="Arial"/>
                <a:ea typeface="Arial"/>
                <a:cs typeface="Arial"/>
              </a:defRPr>
            </a:defPPr>
            <a:lvl1pPr>
              <a:defRPr sz="1650" b="1">
                <a:solidFill>
                  <a:srgbClr val="173E2C"/>
                </a:solidFill>
                <a:latin typeface="Arial"/>
                <a:ea typeface="Arial"/>
                <a:cs typeface="Arial"/>
              </a:defRPr>
            </a:lvl1pPr>
            <a:lvl2pPr>
              <a:defRPr sz="1650" b="1">
                <a:solidFill>
                  <a:srgbClr val="173E2C"/>
                </a:solidFill>
                <a:latin typeface="Arial"/>
                <a:ea typeface="Arial"/>
                <a:cs typeface="Arial"/>
              </a:defRPr>
            </a:lvl2pPr>
            <a:lvl3pPr>
              <a:defRPr sz="1650" b="1">
                <a:solidFill>
                  <a:srgbClr val="173E2C"/>
                </a:solidFill>
                <a:latin typeface="Arial"/>
                <a:ea typeface="Arial"/>
                <a:cs typeface="Arial"/>
              </a:defRPr>
            </a:lvl3pPr>
            <a:lvl4pPr>
              <a:defRPr sz="1650" b="1">
                <a:solidFill>
                  <a:srgbClr val="173E2C"/>
                </a:solidFill>
                <a:latin typeface="Arial"/>
                <a:ea typeface="Arial"/>
                <a:cs typeface="Arial"/>
              </a:defRPr>
            </a:lvl4pPr>
            <a:lvl5pPr>
              <a:defRPr sz="1650" b="1">
                <a:solidFill>
                  <a:srgbClr val="173E2C"/>
                </a:solidFill>
                <a:latin typeface="Arial"/>
                <a:ea typeface="Arial"/>
                <a:cs typeface="Arial"/>
              </a:defRPr>
            </a:lvl5pPr>
            <a:lvl6pPr>
              <a:defRPr sz="1650" b="1">
                <a:solidFill>
                  <a:srgbClr val="173E2C"/>
                </a:solidFill>
                <a:latin typeface="Arial"/>
                <a:ea typeface="Arial"/>
                <a:cs typeface="Arial"/>
              </a:defRPr>
            </a:lvl6pPr>
            <a:lvl7pPr>
              <a:defRPr sz="1650" b="1">
                <a:solidFill>
                  <a:srgbClr val="173E2C"/>
                </a:solidFill>
                <a:latin typeface="Arial"/>
                <a:ea typeface="Arial"/>
                <a:cs typeface="Arial"/>
              </a:defRPr>
            </a:lvl7pPr>
            <a:lvl8pPr>
              <a:defRPr sz="1650" b="1">
                <a:solidFill>
                  <a:srgbClr val="173E2C"/>
                </a:solidFill>
                <a:latin typeface="Arial"/>
                <a:ea typeface="Arial"/>
                <a:cs typeface="Arial"/>
              </a:defRPr>
            </a:lvl8pPr>
            <a:lvl9pPr>
              <a:defRPr sz="1650" b="1">
                <a:solidFill>
                  <a:srgbClr val="173E2C"/>
                </a:solidFill>
                <a:latin typeface="Arial"/>
                <a:ea typeface="Arial"/>
                <a:cs typeface="Arial"/>
              </a:defRPr>
            </a:lvl9pPr>
          </a:lstStyle>
          <a:p xmlns:a="http://schemas.openxmlformats.org/drawingml/2006/main">
            <a:pPr>
              <a:defRPr sz="1650" b="1">
                <a:solidFill>
                  <a:srgbClr val="173E2C"/>
                </a:solidFill>
                <a:latin typeface="Arial"/>
                <a:ea typeface="Arial"/>
                <a:cs typeface="Arial"/>
              </a:defRPr>
            </a:pPr>
            <a:r>
              <a:rPr sz="1650" b="1">
                <a:solidFill>
                  <a:srgbClr val="173E2C"/>
                </a:solidFill>
                <a:latin typeface="Arial"/>
                <a:ea typeface="Arial"/>
                <a:cs typeface="Arial"/>
                <a:hlinkClick xmlns:r="http://schemas.openxmlformats.org/officeDocument/2006/relationships" r:id="R9e0efb8f7d1a4960"/>
              </a:rPr>
              <a:t>EVA-02</a:t>
            </a:r>
          </a:p>
        </p:txBody>
      </p:sp>
      <p:sp>
        <p:nvSpPr>
          <p:cNvPr id="10" name="">
            <a:extLst xmlns:a="http://schemas.openxmlformats.org/drawingml/2006/main">
              <a:ext uri="{FF2B5EF4-FFF2-40B4-BE49-F238E27FC236}">
                <a16:creationId xmlns:a16="http://schemas.microsoft.com/office/drawing/2014/main" id="{289A91A0-185C-43C4-B369-E13A75DE044F}"/>
              </a:ext>
            </a:extLst>
          </p:cNvPr>
          <p:cNvSpPr>
            <a:spLocks xmlns:a="http://schemas.openxmlformats.org/drawingml/2006/main" noGrp="1"/>
          </p:cNvSpPr>
          <p:nvPr/>
        </p:nvSpPr>
        <p:spPr>
          <a:xfrm xmlns:a="http://schemas.openxmlformats.org/drawingml/2006/main">
            <a:off x="2647950" y="598170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73E2C"/>
                </a:solidFill>
                <a:latin typeface="Arial"/>
                <a:ea typeface="Arial"/>
                <a:cs typeface="Arial"/>
              </a:defRPr>
            </a:defPPr>
            <a:lvl1pPr>
              <a:defRPr sz="1650" b="1">
                <a:solidFill>
                  <a:srgbClr val="173E2C"/>
                </a:solidFill>
                <a:latin typeface="Arial"/>
                <a:ea typeface="Arial"/>
                <a:cs typeface="Arial"/>
              </a:defRPr>
            </a:lvl1pPr>
            <a:lvl2pPr>
              <a:defRPr sz="1650" b="1">
                <a:solidFill>
                  <a:srgbClr val="173E2C"/>
                </a:solidFill>
                <a:latin typeface="Arial"/>
                <a:ea typeface="Arial"/>
                <a:cs typeface="Arial"/>
              </a:defRPr>
            </a:lvl2pPr>
            <a:lvl3pPr>
              <a:defRPr sz="1650" b="1">
                <a:solidFill>
                  <a:srgbClr val="173E2C"/>
                </a:solidFill>
                <a:latin typeface="Arial"/>
                <a:ea typeface="Arial"/>
                <a:cs typeface="Arial"/>
              </a:defRPr>
            </a:lvl3pPr>
            <a:lvl4pPr>
              <a:defRPr sz="1650" b="1">
                <a:solidFill>
                  <a:srgbClr val="173E2C"/>
                </a:solidFill>
                <a:latin typeface="Arial"/>
                <a:ea typeface="Arial"/>
                <a:cs typeface="Arial"/>
              </a:defRPr>
            </a:lvl4pPr>
            <a:lvl5pPr>
              <a:defRPr sz="1650" b="1">
                <a:solidFill>
                  <a:srgbClr val="173E2C"/>
                </a:solidFill>
                <a:latin typeface="Arial"/>
                <a:ea typeface="Arial"/>
                <a:cs typeface="Arial"/>
              </a:defRPr>
            </a:lvl5pPr>
            <a:lvl6pPr>
              <a:defRPr sz="1650" b="1">
                <a:solidFill>
                  <a:srgbClr val="173E2C"/>
                </a:solidFill>
                <a:latin typeface="Arial"/>
                <a:ea typeface="Arial"/>
                <a:cs typeface="Arial"/>
              </a:defRPr>
            </a:lvl6pPr>
            <a:lvl7pPr>
              <a:defRPr sz="1650" b="1">
                <a:solidFill>
                  <a:srgbClr val="173E2C"/>
                </a:solidFill>
                <a:latin typeface="Arial"/>
                <a:ea typeface="Arial"/>
                <a:cs typeface="Arial"/>
              </a:defRPr>
            </a:lvl7pPr>
            <a:lvl8pPr>
              <a:defRPr sz="1650" b="1">
                <a:solidFill>
                  <a:srgbClr val="173E2C"/>
                </a:solidFill>
                <a:latin typeface="Arial"/>
                <a:ea typeface="Arial"/>
                <a:cs typeface="Arial"/>
              </a:defRPr>
            </a:lvl8pPr>
            <a:lvl9pPr>
              <a:defRPr sz="1650" b="1">
                <a:solidFill>
                  <a:srgbClr val="173E2C"/>
                </a:solidFill>
                <a:latin typeface="Arial"/>
                <a:ea typeface="Arial"/>
                <a:cs typeface="Arial"/>
              </a:defRPr>
            </a:lvl9pPr>
          </a:lstStyle>
          <a:p xmlns:a="http://schemas.openxmlformats.org/drawingml/2006/main">
            <a:pPr>
              <a:defRPr sz="1650" b="1">
                <a:solidFill>
                  <a:srgbClr val="173E2C"/>
                </a:solidFill>
                <a:latin typeface="Arial"/>
                <a:ea typeface="Arial"/>
                <a:cs typeface="Arial"/>
              </a:defRPr>
            </a:pPr>
            <a:r>
              <a:rPr sz="1650" b="1">
                <a:solidFill>
                  <a:srgbClr val="173E2C"/>
                </a:solidFill>
                <a:latin typeface="Arial"/>
                <a:ea typeface="Arial"/>
                <a:cs typeface="Arial"/>
                <a:hlinkClick xmlns:r="http://schemas.openxmlformats.org/officeDocument/2006/relationships" r:id="R7e03783b07c34320"/>
              </a:rPr>
              <a:t>MixUp</a:t>
            </a:r>
          </a:p>
        </p:txBody>
      </p:sp>
      <p:sp>
        <p:nvSpPr>
          <p:cNvPr id="11" name="">
            <a:extLst xmlns:a="http://schemas.openxmlformats.org/drawingml/2006/main">
              <a:ext uri="{FF2B5EF4-FFF2-40B4-BE49-F238E27FC236}">
                <a16:creationId xmlns:a16="http://schemas.microsoft.com/office/drawing/2014/main" id="{F7916AC7-9796-4093-8473-CDFE5FCA89F7}"/>
              </a:ext>
            </a:extLst>
          </p:cNvPr>
          <p:cNvSpPr>
            <a:spLocks xmlns:a="http://schemas.openxmlformats.org/drawingml/2006/main" noGrp="1"/>
          </p:cNvSpPr>
          <p:nvPr/>
        </p:nvSpPr>
        <p:spPr>
          <a:xfrm xmlns:a="http://schemas.openxmlformats.org/drawingml/2006/main">
            <a:off x="4476750" y="598170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73E2C"/>
                </a:solidFill>
                <a:latin typeface="Arial"/>
                <a:ea typeface="Arial"/>
                <a:cs typeface="Arial"/>
              </a:defRPr>
            </a:defPPr>
            <a:lvl1pPr>
              <a:defRPr sz="1650" b="1">
                <a:solidFill>
                  <a:srgbClr val="173E2C"/>
                </a:solidFill>
                <a:latin typeface="Arial"/>
                <a:ea typeface="Arial"/>
                <a:cs typeface="Arial"/>
              </a:defRPr>
            </a:lvl1pPr>
            <a:lvl2pPr>
              <a:defRPr sz="1650" b="1">
                <a:solidFill>
                  <a:srgbClr val="173E2C"/>
                </a:solidFill>
                <a:latin typeface="Arial"/>
                <a:ea typeface="Arial"/>
                <a:cs typeface="Arial"/>
              </a:defRPr>
            </a:lvl2pPr>
            <a:lvl3pPr>
              <a:defRPr sz="1650" b="1">
                <a:solidFill>
                  <a:srgbClr val="173E2C"/>
                </a:solidFill>
                <a:latin typeface="Arial"/>
                <a:ea typeface="Arial"/>
                <a:cs typeface="Arial"/>
              </a:defRPr>
            </a:lvl3pPr>
            <a:lvl4pPr>
              <a:defRPr sz="1650" b="1">
                <a:solidFill>
                  <a:srgbClr val="173E2C"/>
                </a:solidFill>
                <a:latin typeface="Arial"/>
                <a:ea typeface="Arial"/>
                <a:cs typeface="Arial"/>
              </a:defRPr>
            </a:lvl4pPr>
            <a:lvl5pPr>
              <a:defRPr sz="1650" b="1">
                <a:solidFill>
                  <a:srgbClr val="173E2C"/>
                </a:solidFill>
                <a:latin typeface="Arial"/>
                <a:ea typeface="Arial"/>
                <a:cs typeface="Arial"/>
              </a:defRPr>
            </a:lvl5pPr>
            <a:lvl6pPr>
              <a:defRPr sz="1650" b="1">
                <a:solidFill>
                  <a:srgbClr val="173E2C"/>
                </a:solidFill>
                <a:latin typeface="Arial"/>
                <a:ea typeface="Arial"/>
                <a:cs typeface="Arial"/>
              </a:defRPr>
            </a:lvl6pPr>
            <a:lvl7pPr>
              <a:defRPr sz="1650" b="1">
                <a:solidFill>
                  <a:srgbClr val="173E2C"/>
                </a:solidFill>
                <a:latin typeface="Arial"/>
                <a:ea typeface="Arial"/>
                <a:cs typeface="Arial"/>
              </a:defRPr>
            </a:lvl7pPr>
            <a:lvl8pPr>
              <a:defRPr sz="1650" b="1">
                <a:solidFill>
                  <a:srgbClr val="173E2C"/>
                </a:solidFill>
                <a:latin typeface="Arial"/>
                <a:ea typeface="Arial"/>
                <a:cs typeface="Arial"/>
              </a:defRPr>
            </a:lvl8pPr>
            <a:lvl9pPr>
              <a:defRPr sz="1650" b="1">
                <a:solidFill>
                  <a:srgbClr val="173E2C"/>
                </a:solidFill>
                <a:latin typeface="Arial"/>
                <a:ea typeface="Arial"/>
                <a:cs typeface="Arial"/>
              </a:defRPr>
            </a:lvl9pPr>
          </a:lstStyle>
          <a:p xmlns:a="http://schemas.openxmlformats.org/drawingml/2006/main">
            <a:pPr>
              <a:defRPr sz="1650" b="1">
                <a:solidFill>
                  <a:srgbClr val="173E2C"/>
                </a:solidFill>
                <a:latin typeface="Arial"/>
                <a:ea typeface="Arial"/>
                <a:cs typeface="Arial"/>
              </a:defRPr>
            </a:pPr>
            <a:r>
              <a:rPr sz="1650" b="1">
                <a:solidFill>
                  <a:srgbClr val="173E2C"/>
                </a:solidFill>
                <a:latin typeface="Arial"/>
                <a:ea typeface="Arial"/>
                <a:cs typeface="Arial"/>
                <a:hlinkClick xmlns:r="http://schemas.openxmlformats.org/officeDocument/2006/relationships" r:id="R5ebfd5b95bf541e3"/>
              </a:rPr>
              <a:t>CutMix</a:t>
            </a:r>
          </a:p>
        </p:txBody>
      </p:sp>
      <p:sp>
        <p:nvSpPr>
          <p:cNvPr id="12" name="">
            <a:extLst xmlns:a="http://schemas.openxmlformats.org/drawingml/2006/main">
              <a:ext uri="{FF2B5EF4-FFF2-40B4-BE49-F238E27FC236}">
                <a16:creationId xmlns:a16="http://schemas.microsoft.com/office/drawing/2014/main" id="{E8C1654E-D66C-4541-BEC4-94658FE8BADD}"/>
              </a:ext>
            </a:extLst>
          </p:cNvPr>
          <p:cNvSpPr>
            <a:spLocks xmlns:a="http://schemas.openxmlformats.org/drawingml/2006/main" noGrp="1"/>
          </p:cNvSpPr>
          <p:nvPr/>
        </p:nvSpPr>
        <p:spPr>
          <a:xfrm xmlns:a="http://schemas.openxmlformats.org/drawingml/2006/main">
            <a:off x="6343650" y="5981700"/>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73E2C"/>
                </a:solidFill>
                <a:latin typeface="Arial"/>
                <a:ea typeface="Arial"/>
                <a:cs typeface="Arial"/>
              </a:defRPr>
            </a:defPPr>
            <a:lvl1pPr>
              <a:defRPr sz="1650" b="1">
                <a:solidFill>
                  <a:srgbClr val="173E2C"/>
                </a:solidFill>
                <a:latin typeface="Arial"/>
                <a:ea typeface="Arial"/>
                <a:cs typeface="Arial"/>
              </a:defRPr>
            </a:lvl1pPr>
            <a:lvl2pPr>
              <a:defRPr sz="1650" b="1">
                <a:solidFill>
                  <a:srgbClr val="173E2C"/>
                </a:solidFill>
                <a:latin typeface="Arial"/>
                <a:ea typeface="Arial"/>
                <a:cs typeface="Arial"/>
              </a:defRPr>
            </a:lvl2pPr>
            <a:lvl3pPr>
              <a:defRPr sz="1650" b="1">
                <a:solidFill>
                  <a:srgbClr val="173E2C"/>
                </a:solidFill>
                <a:latin typeface="Arial"/>
                <a:ea typeface="Arial"/>
                <a:cs typeface="Arial"/>
              </a:defRPr>
            </a:lvl3pPr>
            <a:lvl4pPr>
              <a:defRPr sz="1650" b="1">
                <a:solidFill>
                  <a:srgbClr val="173E2C"/>
                </a:solidFill>
                <a:latin typeface="Arial"/>
                <a:ea typeface="Arial"/>
                <a:cs typeface="Arial"/>
              </a:defRPr>
            </a:lvl4pPr>
            <a:lvl5pPr>
              <a:defRPr sz="1650" b="1">
                <a:solidFill>
                  <a:srgbClr val="173E2C"/>
                </a:solidFill>
                <a:latin typeface="Arial"/>
                <a:ea typeface="Arial"/>
                <a:cs typeface="Arial"/>
              </a:defRPr>
            </a:lvl5pPr>
            <a:lvl6pPr>
              <a:defRPr sz="1650" b="1">
                <a:solidFill>
                  <a:srgbClr val="173E2C"/>
                </a:solidFill>
                <a:latin typeface="Arial"/>
                <a:ea typeface="Arial"/>
                <a:cs typeface="Arial"/>
              </a:defRPr>
            </a:lvl6pPr>
            <a:lvl7pPr>
              <a:defRPr sz="1650" b="1">
                <a:solidFill>
                  <a:srgbClr val="173E2C"/>
                </a:solidFill>
                <a:latin typeface="Arial"/>
                <a:ea typeface="Arial"/>
                <a:cs typeface="Arial"/>
              </a:defRPr>
            </a:lvl7pPr>
            <a:lvl8pPr>
              <a:defRPr sz="1650" b="1">
                <a:solidFill>
                  <a:srgbClr val="173E2C"/>
                </a:solidFill>
                <a:latin typeface="Arial"/>
                <a:ea typeface="Arial"/>
                <a:cs typeface="Arial"/>
              </a:defRPr>
            </a:lvl8pPr>
            <a:lvl9pPr>
              <a:defRPr sz="1650" b="1">
                <a:solidFill>
                  <a:srgbClr val="173E2C"/>
                </a:solidFill>
                <a:latin typeface="Arial"/>
                <a:ea typeface="Arial"/>
                <a:cs typeface="Arial"/>
              </a:defRPr>
            </a:lvl9pPr>
          </a:lstStyle>
          <a:p xmlns:a="http://schemas.openxmlformats.org/drawingml/2006/main">
            <a:pPr>
              <a:defRPr sz="1650" b="1">
                <a:solidFill>
                  <a:srgbClr val="173E2C"/>
                </a:solidFill>
                <a:latin typeface="Arial"/>
                <a:ea typeface="Arial"/>
                <a:cs typeface="Arial"/>
              </a:defRPr>
            </a:pPr>
            <a:r>
              <a:rPr sz="1650" b="1">
                <a:solidFill>
                  <a:srgbClr val="173E2C"/>
                </a:solidFill>
                <a:latin typeface="Arial"/>
                <a:ea typeface="Arial"/>
                <a:cs typeface="Arial"/>
                <a:hlinkClick xmlns:r="http://schemas.openxmlformats.org/officeDocument/2006/relationships" r:id="R2b87fee6618a47e5"/>
              </a:rPr>
              <a:t>Experiment records</a:t>
            </a:r>
          </a:p>
        </p:txBody>
      </p:sp>
    </p:spTree>
    <p:extLst>
      <p:ext uri="{BB962C8B-B14F-4D97-AF65-F5344CB8AC3E}">
        <p14:creationId xmlns:p14="http://schemas.microsoft.com/office/powerpoint/2010/main" val="175253826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2026-10-24T20:30:30.0040000Z</dcterms:created>
  <dcterms:modified xsi:type="dcterms:W3CDTF">2026-10-24T20:30:30.0040000Z</dcterms:modified>
</coreProperties>
</file>