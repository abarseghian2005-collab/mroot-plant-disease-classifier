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e6a8587da074cf8" /><Relationship Type="http://schemas.openxmlformats.org/officeDocument/2006/relationships/extended-properties" Target="/docProps/app.xml" Id="Rb55642f7976a4389" /><Relationship Type="http://schemas.openxmlformats.org/officeDocument/2006/relationships/officeDocument" Target="/ppt/presentation.xml" Id="R5b31003fa7744e47" /></Relationships>
</file>

<file path=ppt/presentation.xml><?xml version="1.0" encoding="utf-8"?>
<p:presentation xmlns:p="http://schemas.openxmlformats.org/presentationml/2006/main">
  <p:sldMasterIdLst>
    <p:sldMasterId xmlns:r="http://schemas.openxmlformats.org/officeDocument/2006/relationships" id="2147483648" r:id="R338f19ba0345415a"/>
  </p:sldMasterIdLst>
  <p:notesMasterIdLst>
    <p:notesMasterId xmlns:r="http://schemas.openxmlformats.org/officeDocument/2006/relationships" r:id="Reaeea78037204f64"/>
  </p:notesMasterIdLst>
  <p:sldIdLst>
    <p:sldId xmlns:r="http://schemas.openxmlformats.org/officeDocument/2006/relationships" id="256" r:id="Rfb6b8611826b4b0e"/>
    <p:sldId xmlns:r="http://schemas.openxmlformats.org/officeDocument/2006/relationships" id="257" r:id="R23f3f5522f4a4f66"/>
    <p:sldId xmlns:r="http://schemas.openxmlformats.org/officeDocument/2006/relationships" id="258" r:id="R1545680bc332430f"/>
    <p:sldId xmlns:r="http://schemas.openxmlformats.org/officeDocument/2006/relationships" id="259" r:id="Re5c0710705864d03"/>
    <p:sldId xmlns:r="http://schemas.openxmlformats.org/officeDocument/2006/relationships" id="260" r:id="R92b340e062b84a76"/>
    <p:sldId xmlns:r="http://schemas.openxmlformats.org/officeDocument/2006/relationships" id="261" r:id="Ra1c136947531419d"/>
    <p:sldId xmlns:r="http://schemas.openxmlformats.org/officeDocument/2006/relationships" id="262" r:id="R6bc7f03b96c04272"/>
    <p:sldId xmlns:r="http://schemas.openxmlformats.org/officeDocument/2006/relationships" id="263" r:id="R11ace6f13ecd4c3a"/>
    <p:sldId xmlns:r="http://schemas.openxmlformats.org/officeDocument/2006/relationships" id="264" r:id="R284a13acc70d463a"/>
    <p:sldId xmlns:r="http://schemas.openxmlformats.org/officeDocument/2006/relationships" id="265" r:id="R98f21cafc5ec4e96"/>
    <p:sldId xmlns:r="http://schemas.openxmlformats.org/officeDocument/2006/relationships" id="266" r:id="R03f5bc1a35004b9b"/>
    <p:sldId xmlns:r="http://schemas.openxmlformats.org/officeDocument/2006/relationships" id="267" r:id="R5c5c021688ce4e58"/>
    <p:sldId xmlns:r="http://schemas.openxmlformats.org/officeDocument/2006/relationships" id="268" r:id="Rb182ba3ee03a4eee"/>
    <p:sldId xmlns:r="http://schemas.openxmlformats.org/officeDocument/2006/relationships" id="269" r:id="Rf9146b2a6e6a4829"/>
    <p:sldId xmlns:r="http://schemas.openxmlformats.org/officeDocument/2006/relationships" id="270" r:id="R9208cfba620e4b19"/>
    <p:sldId xmlns:r="http://schemas.openxmlformats.org/officeDocument/2006/relationships" id="271" r:id="R88cb0fbd9f59475c"/>
    <p:sldId xmlns:r="http://schemas.openxmlformats.org/officeDocument/2006/relationships" id="272" r:id="Ra8b6e8916afb4236"/>
    <p:sldId xmlns:r="http://schemas.openxmlformats.org/officeDocument/2006/relationships" id="273" r:id="R6ebd70e0f4964c60"/>
    <p:sldId xmlns:r="http://schemas.openxmlformats.org/officeDocument/2006/relationships" id="274" r:id="R7734eceed4a149ac"/>
    <p:sldId xmlns:r="http://schemas.openxmlformats.org/officeDocument/2006/relationships" id="275" r:id="R7f3e17847361465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29fefb3de064b27" /><Relationship Type="http://schemas.openxmlformats.org/officeDocument/2006/relationships/slideMaster" Target="/ppt/slideMasters/slideMaster1.xml" Id="R338f19ba0345415a" /><Relationship Type="http://schemas.openxmlformats.org/officeDocument/2006/relationships/notesMaster" Target="/ppt/notesMasters/notesMaster1.xml" Id="Reaeea78037204f64" /><Relationship Type="http://schemas.openxmlformats.org/officeDocument/2006/relationships/presProps" Target="/ppt/presProps.xml" Id="R9e997cc855d346f2" /><Relationship Type="http://schemas.openxmlformats.org/officeDocument/2006/relationships/tableStyles" Target="/ppt/tableStyles.xml" Id="Raaa3dcb19a604684" /><Relationship Type="http://schemas.openxmlformats.org/officeDocument/2006/relationships/slide" Target="/ppt/slides/slide1.xml" Id="Rfb6b8611826b4b0e" /><Relationship Type="http://schemas.openxmlformats.org/officeDocument/2006/relationships/slide" Target="/ppt/slides/slide2.xml" Id="R23f3f5522f4a4f66" /><Relationship Type="http://schemas.openxmlformats.org/officeDocument/2006/relationships/slide" Target="/ppt/slides/slide3.xml" Id="R1545680bc332430f" /><Relationship Type="http://schemas.openxmlformats.org/officeDocument/2006/relationships/slide" Target="/ppt/slides/slide4.xml" Id="Re5c0710705864d03" /><Relationship Type="http://schemas.openxmlformats.org/officeDocument/2006/relationships/slide" Target="/ppt/slides/slide5.xml" Id="R92b340e062b84a76" /><Relationship Type="http://schemas.openxmlformats.org/officeDocument/2006/relationships/slide" Target="/ppt/slides/slide6.xml" Id="Ra1c136947531419d" /><Relationship Type="http://schemas.openxmlformats.org/officeDocument/2006/relationships/slide" Target="/ppt/slides/slide7.xml" Id="R6bc7f03b96c04272" /><Relationship Type="http://schemas.openxmlformats.org/officeDocument/2006/relationships/slide" Target="/ppt/slides/slide8.xml" Id="R11ace6f13ecd4c3a" /><Relationship Type="http://schemas.openxmlformats.org/officeDocument/2006/relationships/slide" Target="/ppt/slides/slide9.xml" Id="R284a13acc70d463a" /><Relationship Type="http://schemas.openxmlformats.org/officeDocument/2006/relationships/slide" Target="/ppt/slides/slide10.xml" Id="R98f21cafc5ec4e96" /><Relationship Type="http://schemas.openxmlformats.org/officeDocument/2006/relationships/slide" Target="/ppt/slides/slide11.xml" Id="R03f5bc1a35004b9b" /><Relationship Type="http://schemas.openxmlformats.org/officeDocument/2006/relationships/slide" Target="/ppt/slides/slide12.xml" Id="R5c5c021688ce4e58" /><Relationship Type="http://schemas.openxmlformats.org/officeDocument/2006/relationships/slide" Target="/ppt/slides/slide13.xml" Id="Rb182ba3ee03a4eee" /><Relationship Type="http://schemas.openxmlformats.org/officeDocument/2006/relationships/slide" Target="/ppt/slides/slide14.xml" Id="Rf9146b2a6e6a4829" /><Relationship Type="http://schemas.openxmlformats.org/officeDocument/2006/relationships/slide" Target="/ppt/slides/slide15.xml" Id="R9208cfba620e4b19" /><Relationship Type="http://schemas.openxmlformats.org/officeDocument/2006/relationships/slide" Target="/ppt/slides/slide16.xml" Id="R88cb0fbd9f59475c" /><Relationship Type="http://schemas.openxmlformats.org/officeDocument/2006/relationships/slide" Target="/ppt/slides/slide17.xml" Id="Ra8b6e8916afb4236" /><Relationship Type="http://schemas.openxmlformats.org/officeDocument/2006/relationships/slide" Target="/ppt/slides/slide18.xml" Id="R6ebd70e0f4964c60" /><Relationship Type="http://schemas.openxmlformats.org/officeDocument/2006/relationships/slide" Target="/ppt/slides/slide19.xml" Id="R7734eceed4a149ac" /><Relationship Type="http://schemas.openxmlformats.org/officeDocument/2006/relationships/slide" Target="/ppt/slides/slide20.xml" Id="R7f3e17847361465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7cae019e1854db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1874c5a5ab449fe" /><Relationship Type="http://schemas.openxmlformats.org/officeDocument/2006/relationships/notesMaster" Target="/ppt/notesMasters/notesMaster1.xml" Id="Ra5fcec96531045ed" /></Relationships>
</file>

<file path=ppt/notesSlides/_rels/notesSlide2.xml.rels>&#65279;<?xml version="1.0" encoding="utf-8"?><Relationships xmlns="http://schemas.openxmlformats.org/package/2006/relationships"><Relationship Type="http://schemas.openxmlformats.org/officeDocument/2006/relationships/slide" Target="/ppt/slides/slide2.xml" Id="R3689a33090a940ef" /><Relationship Type="http://schemas.openxmlformats.org/officeDocument/2006/relationships/notesMaster" Target="/ppt/notesMasters/notesMaster1.xml" Id="R3769220683de4d47" /></Relationships>
</file>

<file path=ppt/notesSlides/_rels/notesSlide3.xml.rels>&#65279;<?xml version="1.0" encoding="utf-8"?><Relationships xmlns="http://schemas.openxmlformats.org/package/2006/relationships"><Relationship Type="http://schemas.openxmlformats.org/officeDocument/2006/relationships/slide" Target="/ppt/slides/slide3.xml" Id="Rf3da508339874086" /><Relationship Type="http://schemas.openxmlformats.org/officeDocument/2006/relationships/notesMaster" Target="/ppt/notesMasters/notesMaster1.xml" Id="R6818da9a8d434adf" /></Relationships>
</file>

<file path=ppt/notesSlides/_rels/notesSlide4.xml.rels>&#65279;<?xml version="1.0" encoding="utf-8"?><Relationships xmlns="http://schemas.openxmlformats.org/package/2006/relationships"><Relationship Type="http://schemas.openxmlformats.org/officeDocument/2006/relationships/slide" Target="/ppt/slides/slide4.xml" Id="Rba19dabecc18401d" /><Relationship Type="http://schemas.openxmlformats.org/officeDocument/2006/relationships/notesMaster" Target="/ppt/notesMasters/notesMaster1.xml" Id="R1cee657cedae45da" /></Relationships>
</file>

<file path=ppt/notesSlides/_rels/notesSlide5.xml.rels>&#65279;<?xml version="1.0" encoding="utf-8"?><Relationships xmlns="http://schemas.openxmlformats.org/package/2006/relationships"><Relationship Type="http://schemas.openxmlformats.org/officeDocument/2006/relationships/slide" Target="/ppt/slides/slide5.xml" Id="R89024addede54d86" /><Relationship Type="http://schemas.openxmlformats.org/officeDocument/2006/relationships/notesMaster" Target="/ppt/notesMasters/notesMaster1.xml" Id="R5830dbce51b54f07" /></Relationships>
</file>

<file path=ppt/notesSlides/_rels/notesSlide6.xml.rels>&#65279;<?xml version="1.0" encoding="utf-8"?><Relationships xmlns="http://schemas.openxmlformats.org/package/2006/relationships"><Relationship Type="http://schemas.openxmlformats.org/officeDocument/2006/relationships/slide" Target="/ppt/slides/slide6.xml" Id="R8d35680e75344e02" /><Relationship Type="http://schemas.openxmlformats.org/officeDocument/2006/relationships/notesMaster" Target="/ppt/notesMasters/notesMaster1.xml" Id="R9089b50873724d8f" /></Relationships>
</file>

<file path=ppt/notesSlides/_rels/notesSlide7.xml.rels>&#65279;<?xml version="1.0" encoding="utf-8"?><Relationships xmlns="http://schemas.openxmlformats.org/package/2006/relationships"><Relationship Type="http://schemas.openxmlformats.org/officeDocument/2006/relationships/slide" Target="/ppt/slides/slide7.xml" Id="Rb1ed3d3be66a44b0" /><Relationship Type="http://schemas.openxmlformats.org/officeDocument/2006/relationships/notesMaster" Target="/ppt/notesMasters/notesMaster1.xml" Id="Rd8ca0a02c0bc4a37" /></Relationships>
</file>

<file path=ppt/notesSlides/_rels/notesSlide8.xml.rels>&#65279;<?xml version="1.0" encoding="utf-8"?><Relationships xmlns="http://schemas.openxmlformats.org/package/2006/relationships"><Relationship Type="http://schemas.openxmlformats.org/officeDocument/2006/relationships/slide" Target="/ppt/slides/slide8.xml" Id="R31c8294a911d46fe" /><Relationship Type="http://schemas.openxmlformats.org/officeDocument/2006/relationships/notesMaster" Target="/ppt/notesMasters/notesMaster1.xml" Id="R9176e9f9ac894c15" /></Relationships>
</file>

<file path=ppt/notesSlides/_rels/notesSlide9.xml.rels>&#65279;<?xml version="1.0" encoding="utf-8"?><Relationships xmlns="http://schemas.openxmlformats.org/package/2006/relationships"><Relationship Type="http://schemas.openxmlformats.org/officeDocument/2006/relationships/slide" Target="/ppt/slides/slide9.xml" Id="R3542b0e011ea4566" /><Relationship Type="http://schemas.openxmlformats.org/officeDocument/2006/relationships/notesMaster" Target="/ppt/notesMasters/notesMaster1.xml" Id="Re6e9cafce4854f5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e3b6ca48cb4459c" /><Relationship Type="http://schemas.openxmlformats.org/officeDocument/2006/relationships/notesMaster" Target="/ppt/notesMasters/notesMaster1.xml" Id="R2f56ae74dd674f8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b17bc91f8cf4d31" /><Relationship Type="http://schemas.openxmlformats.org/officeDocument/2006/relationships/notesMaster" Target="/ppt/notesMasters/notesMaster1.xml" Id="R27d84f0d815c40e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c071a03d1884149" /><Relationship Type="http://schemas.openxmlformats.org/officeDocument/2006/relationships/notesMaster" Target="/ppt/notesMasters/notesMaster1.xml" Id="R0c7700c20bc848e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cbdc133fbce4bbb" /><Relationship Type="http://schemas.openxmlformats.org/officeDocument/2006/relationships/notesMaster" Target="/ppt/notesMasters/notesMaster1.xml" Id="R3485428d34894a4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0fbf8f93ebe4f0d" /><Relationship Type="http://schemas.openxmlformats.org/officeDocument/2006/relationships/notesMaster" Target="/ppt/notesMasters/notesMaster1.xml" Id="R38bd8011b8cb431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ef264d0a5dd4287" /><Relationship Type="http://schemas.openxmlformats.org/officeDocument/2006/relationships/notesMaster" Target="/ppt/notesMasters/notesMaster1.xml" Id="R8cdf86eb26134f7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458927ef1b34ebd" /><Relationship Type="http://schemas.openxmlformats.org/officeDocument/2006/relationships/notesMaster" Target="/ppt/notesMasters/notesMaster1.xml" Id="Rced5e03cb58943c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d1b8ef4a59f4228" /><Relationship Type="http://schemas.openxmlformats.org/officeDocument/2006/relationships/notesMaster" Target="/ppt/notesMasters/notesMaster1.xml" Id="R4b1130b50a94400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2fefd868ba44b19" /><Relationship Type="http://schemas.openxmlformats.org/officeDocument/2006/relationships/notesMaster" Target="/ppt/notesMasters/notesMaster1.xml" Id="Rf192352b131c47f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4f29032b6c544c5" /><Relationship Type="http://schemas.openxmlformats.org/officeDocument/2006/relationships/notesMaster" Target="/ppt/notesMasters/notesMaster1.xml" Id="R460d5ff046604a8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15d1ac4194a4065" /><Relationship Type="http://schemas.openxmlformats.org/officeDocument/2006/relationships/notesMaster" Target="/ppt/notesMasters/notesMaster1.xml" Id="Rbee3994241d24fd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 I’m Armen. This is MROOT, my plant disease classification project. I’ll explain how I prepared the data, compared models, and chose the final ensemble. Then I’ll show the app. The model predicts a disease category from a photo. I’ll also point out the limits of the evaluation, because the score only makes sense if the split and the metric are clear.</a:t>
            </a:r>
          </a:p>
          <a:p xmlns:a="http://schemas.openxmlformats.org/drawingml/2006/main">
            <a:r>
              <a:t/>
            </a:r>
          </a:p>
          <a:p xmlns:a="http://schemas.openxmlformats.org/drawingml/2006/main">
            <a:r>
              <a:t>Source: supplied ACA guidelines, pp. 1-3. Cover photo: original project validation example, black_rot. No ownership claim for the source photo.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wanted to build a small tool that someone can actually try, rather than finish with a notebook score. The input is a plant photo, and the output is a disease category. I kept the disease labels independent of the plant species, so the task has 39 labels. It is still a closed-set classifier. There is no healthy class, so I would not present this as a tool that can decide whether any plant is healthy or sick.</a:t>
            </a:r>
          </a:p>
          <a:p xmlns:a="http://schemas.openxmlformats.org/drawingml/2006/main">
            <a:r>
              <a:t/>
            </a:r>
          </a:p>
          <a:p xmlns:a="http://schemas.openxmlformats.org/drawingml/2006/main">
            <a:r>
              <a:t>Sources: Original project label definition and class_mapping.json.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clean split had 6,870 training images and 390 validation images. Exact overlap checks had already run, but a later review found related photographs and one group with conflicting labels. For the final comparison, I used new manifests with 6,790 training images and 388 validation images. I quarantined rows in the experimental manifests and kept the original files. A 368-image subset helped compare the newer models with older models that had seen copies of some validation photos. It is part of the 388, not a separate test set.</a:t>
            </a:r>
          </a:p>
          <a:p xmlns:a="http://schemas.openxmlformats.org/drawingml/2006/main">
            <a:r>
              <a:t/>
            </a:r>
          </a:p>
          <a:p xmlns:a="http://schemas.openxmlformats.org/drawingml/2006/main">
            <a:r>
              <a:t>Sources: reports/raw/split_summary.json; exact CSVs in data/manifests; reports/raw/eda_summary.json.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classes are not equally represented. In the final training split, the smallest class has 68 images and the largest has 755. The validation set mostly has ten images per class, so individual photos matter a lot. I also checked image sizes, aspect ratios, missing labels, and file integrity. The read-only audit checked all 7,178 train and validation files and found no missing or unreadable files. That does not prove the labels are correct. It tells me which problems the basic checks did and did not find.</a:t>
            </a:r>
          </a:p>
          <a:p xmlns:a="http://schemas.openxmlformats.org/drawingml/2006/main">
            <a:r>
              <a:t/>
            </a:r>
          </a:p>
          <a:p xmlns:a="http://schemas.openxmlformats.org/drawingml/2006/main">
            <a:r>
              <a:t>Sources: reports/raw/class_support.csv; image_metadata.csv; eda_summary.json; notebooks/01_eda.ipynb. The chart shows selected classes, not all 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trying a new idea, I reproduced the three saved EVA Small models. The fixed-view ensemble reached 94.72 percent macro mAP on the original 390 validation images, which matched the previous result. I used macro mAP as the main metric because every disease should contribute equally, even when training counts differ. Top-1 accuracy was 88.72 percent. Those two numbers answer different questions, so I keep both labels visible throughout the presentation.</a:t>
            </a:r>
          </a:p>
          <a:p xmlns:a="http://schemas.openxmlformats.org/drawingml/2006/main">
            <a:r>
              <a:t/>
            </a:r>
          </a:p>
          <a:p xmlns:a="http://schemas.openxmlformats.org/drawingml/2006/main">
            <a:r>
              <a:t>Sources: Supplied MROOT handover text and the verified project experiment log in docs/experiments.md. Historical rounded numbers are approximate. Reproduced reference: macro mAP 0.9471792916, Top-1 0.8871794872, Top-5 0.9948717949 on 390 images.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did not assume that another model would improve the result. First, I tried a small weight grid for the three saved models. Cross-fitting did worse than equal weights, so I kept equal weights. Natural sampling with weighted loss gave only a small ensemble gain. Base models at 448 pixels helped, but a lower learning rate improved the individual model more than its predefined ensemble. That is why I checked how errors combined instead of choosing models only by their standalone scores. The appendix and repository keep the numbers for each run.</a:t>
            </a:r>
          </a:p>
          <a:p xmlns:a="http://schemas.openxmlformats.org/drawingml/2006/main">
            <a:r>
              <a:t/>
            </a:r>
          </a:p>
          <a:p xmlns:a="http://schemas.openxmlformats.org/drawingml/2006/main">
            <a:r>
              <a:t>Sources: Supplied MROOT handover text and the verified project experiment log in docs/experiments.md. Historical rounded numbers are approximate. Detailed LR run: reports/raw/gentler_base_result.json.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last experiment, I wanted a comparison I could explain clearly. Both runs started from the same saved weights and used the same seed, clean split, optimizer, learning rates, sampler, and ordinary augmentations. The candidate added a combined MixUp/CutMix policy. MixUp blends two examples and their labels. CutMix replaces a region and adjusts the target labels. The idea was to reduce memorization. Because I tested the combined policy, I cannot say which augmentation helped on its own.</a:t>
            </a:r>
          </a:p>
          <a:p xmlns:a="http://schemas.openxmlformats.org/drawingml/2006/main">
            <a:r>
              <a:t/>
            </a:r>
          </a:p>
          <a:p xmlns:a="http://schemas.openxmlformats.org/drawingml/2006/main">
            <a:r>
              <a:t>Sources: reports/raw/control/experiment_config.json; mixup_cutmix/experiment_config.json. MixUp: https://arxiv.org/abs/1710.09412. CutMix: https://arxiv.org/abs/1905.04899.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control reached its best normal-view mAP at epoch 7, and the mixed run at epoch 11. The control completed 15 epochs and the mixed run 19, because both used early stopping with patience eight. I did not just use the final epoch. Each improved checkpoint had its own filename. The mixed model's best normal validation mAP was 96.07 percent, compared with 94.81 percent for the control. These are scores on the same 388 validation images.</a:t>
            </a:r>
          </a:p>
          <a:p xmlns:a="http://schemas.openxmlformats.org/drawingml/2006/main">
            <a:r>
              <a:t/>
            </a:r>
          </a:p>
          <a:p xmlns:a="http://schemas.openxmlformats.org/drawingml/2006/main">
            <a:r>
              <a:t>Sources: Project artifacts: reports/raw/COMPLETED_COMPARISON.json, control/training_history.csv, mixup_cutmix/training_history.csv.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compared the candidates on the same 368-image subset. The mixed model plus the clean control had the highest observed macro mAP at 96.48 percent. Adding a different Base or a Small model did not beat that pair. A single mixed model with normal inference had higher Top-1 accuracy on this subset, so this choice does not maximize every metric. I kept the predefined primary metric, macro mAP. The uncertainty intervals include zero, so I would not describe the small differences as a proven generalization gain.</a:t>
            </a:r>
          </a:p>
          <a:p xmlns:a="http://schemas.openxmlformats.org/drawingml/2006/main">
            <a:r>
              <a:t/>
            </a:r>
          </a:p>
          <a:p xmlns:a="http://schemas.openxmlformats.org/drawingml/2006/main">
            <a:r>
              <a:t>Sources: Project artifacts: reports/raw/COMPLETED_COMPARISON.json, control/training_history.csv, mixup_cutmix/training_history.csv. Bootstrap caveats: reports/raw/paired_validation_intervals.json and docs/evaluation.md.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choosing the model and freezing its inference recipe, I ran the final report on the fixed 623-image subset. Macro mAP was 92.99 percent, Top-1 accuracy was 89.41 percent, and Top-5 was 99.36 percent. That means 557 correct first predictions out of 623. The preceding four-model system had 549 correct first predictions on the same images, so the final pair added eight. This holdout had already been evaluated earlier in the project. I am not calling it a fresh blind test, and I stopped experimentation after this report.</a:t>
            </a:r>
          </a:p>
          <a:p xmlns:a="http://schemas.openxmlformats.org/drawingml/2006/main">
            <a:r>
              <a:t/>
            </a:r>
          </a:p>
          <a:p xmlns:a="http://schemas.openxmlformats.org/drawingml/2006/main">
            <a:r>
              <a:t>Sources: reports/raw/FINAL_HOLDOUT_20261024T103253_167194Z/FINAL_HOLDOUT_RESULT.json and the previously saved four-model result on the same fixed 623-image subset. The holdout was previously evaluated.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still issues I would not hide behind the aggregate score. The validation set is small and has been reused. Similar disease labels can be hard to separate, and some source photos contain watermarks or other distracting information. The example here is an actual validation photo. There is also no healthy or unknown class, so an unrelated image can receive a confident disease prediction. Before using this outside a demo, I would collect new external images with reviewed labels and test the model once on that new set.</a:t>
            </a:r>
          </a:p>
          <a:p xmlns:a="http://schemas.openxmlformats.org/drawingml/2006/main">
            <a:r>
              <a:t/>
            </a:r>
          </a:p>
          <a:p xmlns:a="http://schemas.openxmlformats.org/drawingml/2006/main">
            <a:r>
              <a:t>Sources: Original project validation example bacterial_leaf_spot, with its Shutterstock/Alchemist from India watermark left intact. Displayed to discuss dataset quality, not as original photography. Evaluation limits: docs/evaluation.md.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 loads the two exported models and the fixed class mapping. Each model gets three views: the saved normal resize, its horizontal flip, and a full-image padded view. The view probabilities use weights 0.375, 0.375, and 0.25. Then I average the two models equally. The app returns the five largest disease scores. I kept the exact saved preprocessing, including the squash resize setting, because changing that during deployment would change what I evaluated.</a:t>
            </a:r>
          </a:p>
          <a:p xmlns:a="http://schemas.openxmlformats.org/drawingml/2006/main">
            <a:r>
              <a:t/>
            </a:r>
          </a:p>
          <a:p xmlns:a="http://schemas.openxmlformats.org/drawingml/2006/main">
            <a:r>
              <a:t>Sources: ensemble.json; src/mroot/inference.py; reports/live_deployment_verification.json.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 open the V2 Space, upload a plant photo, and click Analyze photo. The interface shows the five likely disease labels. I would explain that these are model scores rather than guaranteed diagnoses. The published checkpoint hashes match the verified local exports, and a live prediction matched the local GPU result within about one millionth in probability. That request took about three seconds including its queue, but it is only a smoke test. If the connection or ZeroGPU queue is unavailable during the talk, I can show this interface and the saved verification record.</a:t>
            </a:r>
          </a:p>
          <a:p xmlns:a="http://schemas.openxmlformats.org/drawingml/2006/main">
            <a:r>
              <a:t/>
            </a:r>
          </a:p>
          <a:p xmlns:a="http://schemas.openxmlformats.org/drawingml/2006/main">
            <a:r>
              <a:t>Sources: Live app: https://huggingface.co/spaces/Armennnn/mroot-plant-disease-classifier-v2. reports/live_deployment_verification.json. Screenshot taken from the running 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lesson for me was that adding a model is not enough. I had to check whether its predictions helped the ensemble, and whether the data comparison was fair. I also learned to keep the training records and checkpoints together so I can explain and reproduce a result later. The final result is a working app with a smaller ensemble, but the next useful step would be new external validation and a healthy or unknown option. I would do that before treating the project as more than a demonstration.</a:t>
            </a:r>
          </a:p>
          <a:p xmlns:a="http://schemas.openxmlformats.org/drawingml/2006/main">
            <a:r>
              <a:t/>
            </a:r>
          </a:p>
          <a:p xmlns:a="http://schemas.openxmlformats.org/drawingml/2006/main">
            <a:r>
              <a:t>Sources: Project experiment log and evaluation limitations. Future steps are proposals, not completed experiments.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rounded historical figures from the handover. I did not retrain them during the final update. The successful historical Base checkpoint was lost, so I explicitly separate an observed historical score from the saved reproducible models. The current final checkpoints are backed up and their export hashes are verified.</a:t>
            </a:r>
          </a:p>
          <a:p xmlns:a="http://schemas.openxmlformats.org/drawingml/2006/main">
            <a:r>
              <a:t/>
            </a:r>
          </a:p>
          <a:p xmlns:a="http://schemas.openxmlformats.org/drawingml/2006/main">
            <a:r>
              <a:t>Sources: Supplied MROOT handover text and the verified project experiment log in docs/experiments.md. Historical rounded numbers are approximate.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split column matters. The first three new candidates used the original 390-image validation set. The last pair used 388 cleaned validation images. Each selected checkpoint came from normal-view validation mAP. The fixed-TTA score was measured after loading that same selected checkpoint. The natural-sampling Small completed 21 epochs, the first Base and gentler Base completed 12 each, and the clean pair completed 15 and 19.</a:t>
            </a:r>
          </a:p>
          <a:p xmlns:a="http://schemas.openxmlformats.org/drawingml/2006/main">
            <a:r>
              <a:t/>
            </a:r>
          </a:p>
          <a:p xmlns:a="http://schemas.openxmlformats.org/drawingml/2006/main">
            <a:r>
              <a:t>Sources: Project artifacts: reports/raw/COMPLETED_COMPARISON.json, control/training_history.csv, mixup_cutmix/training_history.csv. Earlier runs: docs/experiments.md and reports/raw/gentler_base_result.json.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exact configuration files and original training core are in the repository. Both arms used seed 27182, the same archived starting weights, class-balanced replacement sampling, and an effective batch of 16. AdamW used head learning rate one times ten to the minus four divided by three and final-backbone learning rate two times ten to the minus five divided by three. Earlier layers used decay 0.8. Both used warmup, cosine decay, label smoothing, AMP, and gradient clipping. The added combined mixing policy is the candidate difference.</a:t>
            </a:r>
          </a:p>
          <a:p xmlns:a="http://schemas.openxmlformats.org/drawingml/2006/main">
            <a:r>
              <a:t/>
            </a:r>
          </a:p>
          <a:p xmlns:a="http://schemas.openxmlformats.org/drawingml/2006/main">
            <a:r>
              <a:t>Sources: reports/raw/control/experiment_config.json and mixup_cutmix/experiment_config.json; configs/final_training.json.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would use this table if asked why there are several validation counts. The 368 subset is inside 388, and epoch selection still used the 388. The 623-image reporting mask came from the earlier 670 holdout pool after excluding detected related images. It had been evaluated before. I do not describe it as a new external test. These distinctions keep the scores comparable within a row and avoid treating every number as an independent result.</a:t>
            </a:r>
          </a:p>
          <a:p xmlns:a="http://schemas.openxmlformats.org/drawingml/2006/main">
            <a:r>
              <a:t/>
            </a:r>
          </a:p>
          <a:p xmlns:a="http://schemas.openxmlformats.org/drawingml/2006/main">
            <a:r>
              <a:t>Sources: reports/raw/split_summary.json; exact CSVs in data/manifests; reports/raw/eda_summary.json. reports/raw/FINAL_HOLDOUT_20261024T103253_167194Z/FINAL_HOLDOUT_RESULT.json and the previously saved four-model result on the same fixed 623-image subset. The holdout was previously evaluated.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bootstrap resamples the saved validation predictions. It does not redo training or checkpoint selection, and one seed per arm does not measure training variation. Both intervals shown here include zero. The scores helped me choose a bounded final system, but they do not prove a small improvement will repeat on new data. The three-model weighting test also used cross-fitting on cached predictions, not five independently retrained neural models.</a:t>
            </a:r>
          </a:p>
          <a:p xmlns:a="http://schemas.openxmlformats.org/drawingml/2006/main">
            <a:r>
              <a:t/>
            </a:r>
          </a:p>
          <a:p xmlns:a="http://schemas.openxmlformats.org/drawingml/2006/main">
            <a:r>
              <a:t>Sources: reports/raw/COMPLETED_COMPARISON.json, intervals; configs/ensemble_weight_grid.json; docs/evaluation.md.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builds on publicly released EVA-02 models and the timm implementation. The MixUp and CutMix papers motivated the final policy, but the MROOT experiment is the evidence for its observed behavior here. The repository includes the saved configuration and metric artifacts. The supplied ACA guidelines shaped the EDA, deployment, repository structure, and presentation coverage.</a:t>
            </a:r>
          </a:p>
          <a:p xmlns:a="http://schemas.openxmlformats.org/drawingml/2006/main">
            <a:r>
              <a:t/>
            </a:r>
          </a:p>
          <a:p xmlns:a="http://schemas.openxmlformats.org/drawingml/2006/main">
            <a:r>
              <a:t>Sources: Supplied ML Engineer Project Guidelines.pdf, Armenian Code Academy, pp. 1-3. Other references are the linked primary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25fced72e2f484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044f76d821c40c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065987586a94ab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8e2ce9e12c54a3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f0d012add68422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2ebee3e6e2a4ab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4A64BDF-8736-45B8-950A-C9F6E677036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FCD362F-F909-4E27-8936-3317B23D96C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A1F0865-B493-436D-892E-6F1DB1D2DE3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39D1499-A4B8-4676-9508-7C0E5AAD0E6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4ACA480-3E80-43A0-B0D9-2D75D39E1FD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7424EAF-A562-4ED6-B422-70736F26E3D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7FB50FF-42A8-4689-9CD2-78088A0A791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C80F5BC-CBB4-4E71-B339-B873A4BE646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B7FA1C1-2FC7-46E4-92B6-C8609BC566A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153C26F-0322-428E-9960-F81B476FCC0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837e5c741d24d1b" /><Relationship Type="http://schemas.openxmlformats.org/officeDocument/2006/relationships/slideLayout" Target="/ppt/slideLayouts/slideLayout1.xml" Id="Rc2c577bef1d8419b" /><Relationship Type="http://schemas.openxmlformats.org/officeDocument/2006/relationships/slideLayout" Target="/ppt/slideLayouts/slideLayout2.xml" Id="R0f7d017b0c3241cf" /><Relationship Type="http://schemas.openxmlformats.org/officeDocument/2006/relationships/slideLayout" Target="/ppt/slideLayouts/slideLayout3.xml" Id="R5a9c66fc51714993" /><Relationship Type="http://schemas.openxmlformats.org/officeDocument/2006/relationships/slideLayout" Target="/ppt/slideLayouts/slideLayout4.xml" Id="Rb8682e6581f6481e" /><Relationship Type="http://schemas.openxmlformats.org/officeDocument/2006/relationships/slideLayout" Target="/ppt/slideLayouts/slideLayout5.xml" Id="R74c5504f9ae24c44" /><Relationship Type="http://schemas.openxmlformats.org/officeDocument/2006/relationships/slideLayout" Target="/ppt/slideLayouts/slideLayout6.xml" Id="R986a994943b1474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2c577bef1d8419b"/>
    <p:sldLayoutId xmlns:r="http://schemas.openxmlformats.org/officeDocument/2006/relationships" id="2147483650" r:id="R0f7d017b0c3241cf"/>
    <p:sldLayoutId xmlns:r="http://schemas.openxmlformats.org/officeDocument/2006/relationships" id="2147483651" r:id="R5a9c66fc51714993"/>
    <p:sldLayoutId xmlns:r="http://schemas.openxmlformats.org/officeDocument/2006/relationships" id="2147483652" r:id="Rb8682e6581f6481e"/>
    <p:sldLayoutId xmlns:r="http://schemas.openxmlformats.org/officeDocument/2006/relationships" id="2147483653" r:id="R74c5504f9ae24c44"/>
    <p:sldLayoutId xmlns:r="http://schemas.openxmlformats.org/officeDocument/2006/relationships" id="2147483654" r:id="R986a994943b1474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ddce0803df14a36" /><Relationship Type="http://schemas.openxmlformats.org/officeDocument/2006/relationships/image" Target="/ppt/media/image.jpeg" Id="R613b61ee31234c36" /><Relationship Type="http://schemas.openxmlformats.org/officeDocument/2006/relationships/notesSlide" Target="/ppt/notesSlides/notesSlide1.xml" Id="R5e20e51e4c344bf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21c29bddb424a6b" /><Relationship Type="http://schemas.openxmlformats.org/officeDocument/2006/relationships/notesSlide" Target="/ppt/notesSlides/notesSlide2.xml" Id="Rcdf06ca5b7a4470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3254680f1a94530" /><Relationship Type="http://schemas.openxmlformats.org/officeDocument/2006/relationships/notesSlide" Target="/ppt/notesSlides/notesSlide3.xml" Id="Rf936c5dda350469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d9ffcbaf8364016" /><Relationship Type="http://schemas.openxmlformats.org/officeDocument/2006/relationships/chart" Target="/ppt/slides/charts/chart1.xml" Id="Rf84e81e4591d40b6" /><Relationship Type="http://schemas.openxmlformats.org/officeDocument/2006/relationships/notesSlide" Target="/ppt/notesSlides/notesSlide4.xml" Id="Rc4893dbd19354bc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c74ea5cc7de468a" /><Relationship Type="http://schemas.openxmlformats.org/officeDocument/2006/relationships/notesSlide" Target="/ppt/notesSlides/notesSlide5.xml" Id="Rc5521a4c312b431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4b6b7dfe4834ed7" /><Relationship Type="http://schemas.openxmlformats.org/officeDocument/2006/relationships/notesSlide" Target="/ppt/notesSlides/notesSlide6.xml" Id="Ra5701914caae486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e052200d726463f" /><Relationship Type="http://schemas.openxmlformats.org/officeDocument/2006/relationships/notesSlide" Target="/ppt/notesSlides/notesSlide7.xml" Id="Rd4ad3b9de3994b7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c2acaa403dc4b8c" /><Relationship Type="http://schemas.openxmlformats.org/officeDocument/2006/relationships/chart" Target="/ppt/slides/charts/chart2.xml" Id="R3929de516d4d4223" /><Relationship Type="http://schemas.openxmlformats.org/officeDocument/2006/relationships/notesSlide" Target="/ppt/notesSlides/notesSlide8.xml" Id="R85f3ec09f7f54e6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86a6c8297dd410c" /><Relationship Type="http://schemas.openxmlformats.org/officeDocument/2006/relationships/chart" Target="/ppt/slides/charts/chart3.xml" Id="Rf440aaed5dfa43ce" /><Relationship Type="http://schemas.openxmlformats.org/officeDocument/2006/relationships/notesSlide" Target="/ppt/notesSlides/notesSlide9.xml" Id="R8b92c3986f79407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34193a6bea04409" /><Relationship Type="http://schemas.openxmlformats.org/officeDocument/2006/relationships/notesSlide" Target="/ppt/notesSlides/notesSlide10.xml" Id="Rfb52318b9d12457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35370ab0a734aa6" /><Relationship Type="http://schemas.openxmlformats.org/officeDocument/2006/relationships/image" Target="/ppt/media/image2.jpeg" Id="R3690c88750184514" /><Relationship Type="http://schemas.openxmlformats.org/officeDocument/2006/relationships/notesSlide" Target="/ppt/notesSlides/notesSlide11.xml" Id="R7ffced97482c4ad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e9e02152b9a4946" /><Relationship Type="http://schemas.openxmlformats.org/officeDocument/2006/relationships/notesSlide" Target="/ppt/notesSlides/notesSlide12.xml" Id="R4ccfeb52a97d43d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a27838115e240cf" /><Relationship Type="http://schemas.openxmlformats.org/officeDocument/2006/relationships/image" Target="/ppt/media/image3.jpeg" Id="R65b429229c154121" /><Relationship Type="http://schemas.openxmlformats.org/officeDocument/2006/relationships/hyperlink" Target="https://huggingface.co/spaces/Armennnn/mroot-plant-disease-classifier-v2" TargetMode="External" Id="R7400731ebd8f4f1c" /><Relationship Type="http://schemas.openxmlformats.org/officeDocument/2006/relationships/notesSlide" Target="/ppt/notesSlides/notesSlide13.xml" Id="R7205b7433d124bc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f594489e41b4c42" /><Relationship Type="http://schemas.openxmlformats.org/officeDocument/2006/relationships/notesSlide" Target="/ppt/notesSlides/notesSlide14.xml" Id="R60fafb1eb00f4ae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e181e50cf3f4173" /><Relationship Type="http://schemas.openxmlformats.org/officeDocument/2006/relationships/notesSlide" Target="/ppt/notesSlides/notesSlide15.xml" Id="R6922e030c3f24a7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f1de26018b04653" /><Relationship Type="http://schemas.openxmlformats.org/officeDocument/2006/relationships/notesSlide" Target="/ppt/notesSlides/notesSlide16.xml" Id="Rbaa2c3b75f8a4d6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32bc7fa17e54a46" /><Relationship Type="http://schemas.openxmlformats.org/officeDocument/2006/relationships/notesSlide" Target="/ppt/notesSlides/notesSlide17.xml" Id="R95e4669db51b468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511e1d1390864309" /><Relationship Type="http://schemas.openxmlformats.org/officeDocument/2006/relationships/notesSlide" Target="/ppt/notesSlides/notesSlide18.xml" Id="R18c0e58c7f5e45c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2261e89a85df4a08" /><Relationship Type="http://schemas.openxmlformats.org/officeDocument/2006/relationships/notesSlide" Target="/ppt/notesSlides/notesSlide19.xml" Id="R0a1555414114401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061b0103c233424f" /><Relationship Type="http://schemas.openxmlformats.org/officeDocument/2006/relationships/hyperlink" Target="https://arxiv.org/abs/2303.11331" TargetMode="External" Id="R02c6ddc315664a8c" /><Relationship Type="http://schemas.openxmlformats.org/officeDocument/2006/relationships/hyperlink" Target="https://arxiv.org/abs/1710.09412" TargetMode="External" Id="R03ffddbda7b74393" /><Relationship Type="http://schemas.openxmlformats.org/officeDocument/2006/relationships/hyperlink" Target="https://arxiv.org/abs/1905.04899" TargetMode="External" Id="R353c44b3b969467f" /><Relationship Type="http://schemas.openxmlformats.org/officeDocument/2006/relationships/hyperlink" Target="https://github.com/abarseghian2005-collab/mroot-plant-disease-classifier" TargetMode="External" Id="R470a8e98df874374" /><Relationship Type="http://schemas.openxmlformats.org/officeDocument/2006/relationships/hyperlink" Target="https://huggingface.co/spaces/Armennnn/mroot-plant-disease-classifier-v2" TargetMode="External" Id="R96f1934e01cb4ef8" /><Relationship Type="http://schemas.openxmlformats.org/officeDocument/2006/relationships/notesSlide" Target="/ppt/notesSlides/notesSlide20.xml" Id="R5eb84e0def6a420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Training images</c:v>
          </c:tx>
          <c:spPr>
            <a:solidFill xmlns:a="http://schemas.openxmlformats.org/drawingml/2006/main">
              <a:srgbClr val="2E6B49"/>
            </a:solidFill>
          </c:spPr>
          <c:invertIfNegative val="0"/>
          <c:cat>
            <c:strRef>
              <c:f>'Chart Data'!$A$2:$A$8</c:f>
              <c:strCache>
                <c:ptCount val="7"/>
                <c:pt idx="0">
                  <c:v>Powdery mildew</c:v>
                </c:pt>
                <c:pt idx="1">
                  <c:v>Rust</c:v>
                </c:pt>
                <c:pt idx="2">
                  <c:v>Downy mildew</c:v>
                </c:pt>
                <c:pt idx="3">
                  <c:v>Black rot</c:v>
                </c:pt>
                <c:pt idx="4">
                  <c:v>Bacterial leaf spot</c:v>
                </c:pt>
                <c:pt idx="5">
                  <c:v>Septoria leaf spot</c:v>
                </c:pt>
                <c:pt idx="6">
                  <c:v>Berry blotch</c:v>
                </c:pt>
              </c:strCache>
            </c:strRef>
          </c:cat>
          <c:val>
            <c:numRef>
              <c:f>'Chart Data'!$B$2:$B$8</c:f>
              <c:numCache>
                <c:formatCode>0</c:formatCode>
                <c:ptCount val="7"/>
                <c:pt idx="0">
                  <c:v>755</c:v>
                </c:pt>
                <c:pt idx="1">
                  <c:v>616</c:v>
                </c:pt>
                <c:pt idx="2">
                  <c:v>602</c:v>
                </c:pt>
                <c:pt idx="3">
                  <c:v>247</c:v>
                </c:pt>
                <c:pt idx="4">
                  <c:v>78</c:v>
                </c:pt>
                <c:pt idx="5">
                  <c:v>77</c:v>
                </c:pt>
                <c:pt idx="6">
                  <c:v>68</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173E2C"/>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CE5DB"/>
            </a:solidFill>
          </a:ln>
        </c:spPr>
        <c:txPr>
          <a:bodyPr xmlns:a="http://schemas.openxmlformats.org/drawingml/2006/main" anchorCtr="1"/>
          <a:lstStyle xmlns:a="http://schemas.openxmlformats.org/drawingml/2006/main"/>
          <a:p xmlns:a="http://schemas.openxmlformats.org/drawingml/2006/main">
            <a:pPr>
              <a:defRPr sz="1650">
                <a:solidFill>
                  <a:srgbClr val="24352C"/>
                </a:solidFill>
                <a:latin typeface="Arial"/>
                <a:ea typeface="Arial"/>
                <a:cs typeface="Arial"/>
              </a:defRPr>
            </a:pPr>
          </a:p>
        </c:txPr>
        <c:crossAx val="48672768"/>
      </c:catAx>
      <c:valAx>
        <c:axId val="48672768"/>
        <c:scaling>
          <c:orientation val="minMax"/>
          <c:max val="800"/>
          <c:min val="0"/>
        </c:scaling>
        <c:delete val="0"/>
        <c:axPos val="b"/>
        <c:majorGridlines>
          <c:spPr>
            <a:ln xmlns:a="http://schemas.openxmlformats.org/drawingml/2006/main" w="9525">
              <a:solidFill>
                <a:srgbClr val="DCE5DB"/>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24352C"/>
                </a:solidFill>
                <a:latin typeface="Arial"/>
                <a:ea typeface="Arial"/>
                <a:cs typeface="Arial"/>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Control</c:v>
          </c:tx>
          <c:spPr>
            <a:ln xmlns:a="http://schemas.openxmlformats.org/drawingml/2006/main" w="28575">
              <a:solidFill>
                <a:srgbClr val="718078"/>
              </a:solidFill>
            </a:ln>
          </c:spPr>
          <c:marker>
            <c:symbol val="circle"/>
            <c:size val="5"/>
          </c:marker>
          <c:cat>
            <c:numRef>
              <c:f>'Chart Data'!$A$2:$A$16</c:f>
              <c:numCache>
                <c:formatCode>General</c:formatCod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numCache>
            </c:numRef>
          </c:cat>
          <c:val>
            <c:numRef>
              <c:f>'Chart Data'!$B$2:$B$16</c:f>
              <c:numCache>
                <c:formatCode>0%</c:formatCode>
                <c:ptCount val="15"/>
                <c:pt idx="0">
                  <c:v>0.66698042</c:v>
                </c:pt>
                <c:pt idx="1">
                  <c:v>0.81290446</c:v>
                </c:pt>
                <c:pt idx="2">
                  <c:v>0.91525053</c:v>
                </c:pt>
                <c:pt idx="3">
                  <c:v>0.94354759</c:v>
                </c:pt>
                <c:pt idx="4">
                  <c:v>0.93775739</c:v>
                </c:pt>
                <c:pt idx="5">
                  <c:v>0.9330158</c:v>
                </c:pt>
                <c:pt idx="6">
                  <c:v>0.94805279</c:v>
                </c:pt>
                <c:pt idx="7">
                  <c:v>0.93772957</c:v>
                </c:pt>
                <c:pt idx="8">
                  <c:v>0.93377939</c:v>
                </c:pt>
                <c:pt idx="9">
                  <c:v>0.93355321</c:v>
                </c:pt>
                <c:pt idx="10">
                  <c:v>0.93726375</c:v>
                </c:pt>
                <c:pt idx="11">
                  <c:v>0.94099317</c:v>
                </c:pt>
                <c:pt idx="12">
                  <c:v>0.932372</c:v>
                </c:pt>
                <c:pt idx="13">
                  <c:v>0.93826193</c:v>
                </c:pt>
                <c:pt idx="14">
                  <c:v>0.93369117</c:v>
                </c:pt>
              </c:numCache>
            </c:numRef>
          </c:val>
        </c:ser>
        <c:ser>
          <c:idx val="1"/>
          <c:order val="1"/>
          <c:tx>
            <c:v>MixUp/CutMix</c:v>
          </c:tx>
          <c:spPr>
            <a:ln xmlns:a="http://schemas.openxmlformats.org/drawingml/2006/main" w="38100">
              <a:solidFill>
                <a:srgbClr val="215F3E"/>
              </a:solidFill>
            </a:ln>
          </c:spPr>
          <c:marker>
            <c:symbol val="circle"/>
            <c:size val="5"/>
          </c:marker>
          <c:cat>
            <c:numRef>
              <c:f>'Chart Data'!$C$2:$C$20</c:f>
              <c:numCache>
                <c:formatCode>General</c:formatCode>
                <c:ptCount val="1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numCache>
            </c:numRef>
          </c:cat>
          <c:val>
            <c:numRef>
              <c:f>'Chart Data'!$D$2:$D$20</c:f>
              <c:numCache>
                <c:formatCode>0%</c:formatCode>
                <c:ptCount val="19"/>
                <c:pt idx="0">
                  <c:v>0.661696</c:v>
                </c:pt>
                <c:pt idx="1">
                  <c:v>0.79248563</c:v>
                </c:pt>
                <c:pt idx="2">
                  <c:v>0.89745071</c:v>
                </c:pt>
                <c:pt idx="3">
                  <c:v>0.93838411</c:v>
                </c:pt>
                <c:pt idx="4">
                  <c:v>0.94515849</c:v>
                </c:pt>
                <c:pt idx="5">
                  <c:v>0.94805581</c:v>
                </c:pt>
                <c:pt idx="6">
                  <c:v>0.9594099</c:v>
                </c:pt>
                <c:pt idx="7">
                  <c:v>0.95814955</c:v>
                </c:pt>
                <c:pt idx="8">
                  <c:v>0.95622698</c:v>
                </c:pt>
                <c:pt idx="9">
                  <c:v>0.95954492</c:v>
                </c:pt>
                <c:pt idx="10">
                  <c:v>0.96069908</c:v>
                </c:pt>
                <c:pt idx="11">
                  <c:v>0.95774301</c:v>
                </c:pt>
                <c:pt idx="12">
                  <c:v>0.9485369</c:v>
                </c:pt>
                <c:pt idx="13">
                  <c:v>0.95371284</c:v>
                </c:pt>
                <c:pt idx="14">
                  <c:v>0.95477687</c:v>
                </c:pt>
                <c:pt idx="15">
                  <c:v>0.95323538</c:v>
                </c:pt>
                <c:pt idx="16">
                  <c:v>0.95661552</c:v>
                </c:pt>
                <c:pt idx="17">
                  <c:v>0.95360514</c:v>
                </c:pt>
                <c:pt idx="18">
                  <c:v>0.95436985</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650">
                    <a:latin typeface="Arial"/>
                    <a:ea typeface="Arial"/>
                    <a:cs typeface="Arial"/>
                  </a:rPr>
                  <a:t>Epoch</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24352C"/>
                </a:solidFill>
                <a:latin typeface="Arial"/>
                <a:ea typeface="Arial"/>
                <a:cs typeface="Arial"/>
              </a:defRPr>
            </a:pPr>
          </a:p>
        </c:txPr>
        <c:crossAx val="48672768"/>
      </c:catAx>
      <c:valAx>
        <c:axId val="48672768"/>
        <c:scaling>
          <c:orientation val="minMax"/>
          <c:max val="1"/>
          <c:min val="0.6"/>
        </c:scaling>
        <c:delete val="0"/>
        <c:axPos val="l"/>
        <c:majorGridlines>
          <c:spPr>
            <a:ln xmlns:a="http://schemas.openxmlformats.org/drawingml/2006/main" w="9525">
              <a:solidFill>
                <a:srgbClr val="DCE5DB"/>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24352C"/>
                </a:solidFill>
                <a:latin typeface="Arial"/>
                <a:ea typeface="Arial"/>
                <a:cs typeface="Arial"/>
              </a:defRPr>
            </a:pPr>
          </a:p>
        </c:txPr>
        <c:crossAx val="48650112"/>
        <c:crossBetween val="between"/>
        <c:majorUnit val="0.1"/>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725">
              <a:solidFill>
                <a:srgbClr val="24352C"/>
              </a:solidFill>
              <a:latin typeface="Arial"/>
              <a:ea typeface="Arial"/>
              <a:cs typeface="Arial"/>
            </a:defRPr>
          </a:pPr>
        </a:p>
      </c:txPr>
    </c:legend>
    <c:plotVisOnly val="1"/>
    <c:dispBlanksAs val="gap"/>
  </c:chart>
  <c:spPr>
    <a:noFill xmlns:a="http://schemas.openxmlformats.org/drawingml/2006/main"/>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Macro mAP</c:v>
          </c:tx>
          <c:spPr>
            <a:solidFill xmlns:a="http://schemas.openxmlformats.org/drawingml/2006/main">
              <a:srgbClr val="9DAAA0"/>
            </a:solidFill>
          </c:spPr>
          <c:invertIfNegative val="0"/>
          <c:dPt>
            <c:idx val="4"/>
            <c:invertIfNegative val="0"/>
            <c:spPr>
              <a:solidFill xmlns:a="http://schemas.openxmlformats.org/drawingml/2006/main">
                <a:srgbClr val="215F3E"/>
              </a:solidFill>
            </c:spPr>
          </c:dPt>
          <c:cat>
            <c:strRef>
              <c:f>'Chart Data'!$A$2:$A$6</c:f>
              <c:strCache>
                <c:ptCount val="5"/>
                <c:pt idx="0">
                  <c:v>Control alone</c:v>
                </c:pt>
                <c:pt idx="1">
                  <c:v>Mixed model alone</c:v>
                </c:pt>
                <c:pt idx="2">
                  <c:v>Mixed + earlier Base</c:v>
                </c:pt>
                <c:pt idx="3">
                  <c:v>Mixed + newer Small</c:v>
                </c:pt>
                <c:pt idx="4">
                  <c:v>Mixed + clean control</c:v>
                </c:pt>
              </c:strCache>
            </c:strRef>
          </c:cat>
          <c:val>
            <c:numRef>
              <c:f>'Chart Data'!$B$2:$B$6</c:f>
              <c:numCache>
                <c:formatCode>0.0%</c:formatCode>
                <c:ptCount val="5"/>
                <c:pt idx="0">
                  <c:v>0.95093048</c:v>
                </c:pt>
                <c:pt idx="1">
                  <c:v>0.96030764</c:v>
                </c:pt>
                <c:pt idx="2">
                  <c:v>0.96175383</c:v>
                </c:pt>
                <c:pt idx="3">
                  <c:v>0.96032862</c:v>
                </c:pt>
                <c:pt idx="4">
                  <c:v>0.96482545</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650" b="1">
                  <a:solidFill>
                    <a:srgbClr val="173E2C"/>
                  </a:solidFill>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24352C"/>
                </a:solidFill>
                <a:latin typeface="Arial"/>
                <a:ea typeface="Arial"/>
                <a:cs typeface="Arial"/>
              </a:defRPr>
            </a:pPr>
          </a:p>
        </c:txPr>
        <c:crossAx val="48672768"/>
      </c:catAx>
      <c:valAx>
        <c:axId val="48672768"/>
        <c:scaling>
          <c:orientation val="minMax"/>
          <c:max val="0.97"/>
          <c:min val="0.94"/>
        </c:scaling>
        <c:delete val="0"/>
        <c:axPos val="b"/>
        <c:majorGridlines>
          <c:spPr>
            <a:ln xmlns:a="http://schemas.openxmlformats.org/drawingml/2006/main" w="9525">
              <a:solidFill>
                <a:srgbClr val="DCE5DB"/>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24352C"/>
                </a:solidFill>
                <a:latin typeface="Arial"/>
                <a:ea typeface="Arial"/>
                <a:cs typeface="Arial"/>
              </a:defRPr>
            </a:pPr>
          </a:p>
        </c:txPr>
        <c:crossAx val="48650112"/>
        <c:crossBetween val="between"/>
        <c:majorUnit val="0.005"/>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74A79037-A9AD-40F7-AF0B-E448C3D0E6FC}"/>
              </a:ext>
            </a:extLst>
          </p:cNvPr>
          <p:cNvSpPr>
            <a:spLocks xmlns:a="http://schemas.openxmlformats.org/drawingml/2006/main" noGrp="1"/>
          </p:cNvSpPr>
          <p:nvPr/>
        </p:nvSpPr>
        <p:spPr>
          <a:xfrm xmlns:a="http://schemas.openxmlformats.org/drawingml/2006/main">
            <a:off x="666750" y="1476375"/>
            <a:ext cx="5238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7050" b="1">
                <a:solidFill>
                  <a:srgbClr val="173E2C"/>
                </a:solidFill>
                <a:latin typeface="Arial"/>
                <a:ea typeface="Arial"/>
                <a:cs typeface="Arial"/>
              </a:defRPr>
            </a:defPPr>
            <a:lvl1pPr>
              <a:defRPr sz="7050" b="1">
                <a:solidFill>
                  <a:srgbClr val="173E2C"/>
                </a:solidFill>
                <a:latin typeface="Arial"/>
                <a:ea typeface="Arial"/>
                <a:cs typeface="Arial"/>
              </a:defRPr>
            </a:lvl1pPr>
            <a:lvl2pPr>
              <a:defRPr sz="7050" b="1">
                <a:solidFill>
                  <a:srgbClr val="173E2C"/>
                </a:solidFill>
                <a:latin typeface="Arial"/>
                <a:ea typeface="Arial"/>
                <a:cs typeface="Arial"/>
              </a:defRPr>
            </a:lvl2pPr>
            <a:lvl3pPr>
              <a:defRPr sz="7050" b="1">
                <a:solidFill>
                  <a:srgbClr val="173E2C"/>
                </a:solidFill>
                <a:latin typeface="Arial"/>
                <a:ea typeface="Arial"/>
                <a:cs typeface="Arial"/>
              </a:defRPr>
            </a:lvl3pPr>
            <a:lvl4pPr>
              <a:defRPr sz="7050" b="1">
                <a:solidFill>
                  <a:srgbClr val="173E2C"/>
                </a:solidFill>
                <a:latin typeface="Arial"/>
                <a:ea typeface="Arial"/>
                <a:cs typeface="Arial"/>
              </a:defRPr>
            </a:lvl4pPr>
            <a:lvl5pPr>
              <a:defRPr sz="7050" b="1">
                <a:solidFill>
                  <a:srgbClr val="173E2C"/>
                </a:solidFill>
                <a:latin typeface="Arial"/>
                <a:ea typeface="Arial"/>
                <a:cs typeface="Arial"/>
              </a:defRPr>
            </a:lvl5pPr>
            <a:lvl6pPr>
              <a:defRPr sz="7050" b="1">
                <a:solidFill>
                  <a:srgbClr val="173E2C"/>
                </a:solidFill>
                <a:latin typeface="Arial"/>
                <a:ea typeface="Arial"/>
                <a:cs typeface="Arial"/>
              </a:defRPr>
            </a:lvl6pPr>
            <a:lvl7pPr>
              <a:defRPr sz="7050" b="1">
                <a:solidFill>
                  <a:srgbClr val="173E2C"/>
                </a:solidFill>
                <a:latin typeface="Arial"/>
                <a:ea typeface="Arial"/>
                <a:cs typeface="Arial"/>
              </a:defRPr>
            </a:lvl7pPr>
            <a:lvl8pPr>
              <a:defRPr sz="7050" b="1">
                <a:solidFill>
                  <a:srgbClr val="173E2C"/>
                </a:solidFill>
                <a:latin typeface="Arial"/>
                <a:ea typeface="Arial"/>
                <a:cs typeface="Arial"/>
              </a:defRPr>
            </a:lvl8pPr>
            <a:lvl9pPr>
              <a:defRPr sz="7050" b="1">
                <a:solidFill>
                  <a:srgbClr val="173E2C"/>
                </a:solidFill>
                <a:latin typeface="Arial"/>
                <a:ea typeface="Arial"/>
                <a:cs typeface="Arial"/>
              </a:defRPr>
            </a:lvl9pPr>
          </a:lstStyle>
          <a:p xmlns:a="http://schemas.openxmlformats.org/drawingml/2006/main">
            <a:pPr>
              <a:defRPr sz="7050" b="1">
                <a:solidFill>
                  <a:srgbClr val="173E2C"/>
                </a:solidFill>
                <a:latin typeface="Arial"/>
                <a:ea typeface="Arial"/>
                <a:cs typeface="Arial"/>
              </a:defRPr>
            </a:pPr>
            <a:r>
              <a:rPr sz="7050" b="1">
                <a:solidFill>
                  <a:srgbClr val="173E2C"/>
                </a:solidFill>
                <a:latin typeface="Arial"/>
                <a:ea typeface="Arial"/>
                <a:cs typeface="Arial"/>
              </a:rPr>
              <a:t>MROOT</a:t>
            </a:r>
          </a:p>
        </p:txBody>
      </p:sp>
      <p:sp>
        <p:nvSpPr>
          <p:cNvPr id="2" name="text-1">
            <a:extLst xmlns:a="http://schemas.openxmlformats.org/drawingml/2006/main">
              <a:ext uri="{FF2B5EF4-FFF2-40B4-BE49-F238E27FC236}">
                <a16:creationId xmlns:a16="http://schemas.microsoft.com/office/drawing/2014/main" id="{2DA62C6D-71AC-4718-A947-6A6B5E9252EF}"/>
              </a:ext>
            </a:extLst>
          </p:cNvPr>
          <p:cNvSpPr>
            <a:spLocks xmlns:a="http://schemas.openxmlformats.org/drawingml/2006/main" noGrp="1"/>
          </p:cNvSpPr>
          <p:nvPr/>
        </p:nvSpPr>
        <p:spPr>
          <a:xfrm xmlns:a="http://schemas.openxmlformats.org/drawingml/2006/main">
            <a:off x="723900" y="2857500"/>
            <a:ext cx="5048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0">
                <a:solidFill>
                  <a:srgbClr val="24352C"/>
                </a:solidFill>
                <a:latin typeface="Arial"/>
                <a:ea typeface="Arial"/>
                <a:cs typeface="Arial"/>
              </a:defRPr>
            </a:defPPr>
            <a:lvl1pPr>
              <a:defRPr sz="3225" b="0">
                <a:solidFill>
                  <a:srgbClr val="24352C"/>
                </a:solidFill>
                <a:latin typeface="Arial"/>
                <a:ea typeface="Arial"/>
                <a:cs typeface="Arial"/>
              </a:defRPr>
            </a:lvl1pPr>
            <a:lvl2pPr>
              <a:defRPr sz="3225" b="0">
                <a:solidFill>
                  <a:srgbClr val="24352C"/>
                </a:solidFill>
                <a:latin typeface="Arial"/>
                <a:ea typeface="Arial"/>
                <a:cs typeface="Arial"/>
              </a:defRPr>
            </a:lvl2pPr>
            <a:lvl3pPr>
              <a:defRPr sz="3225" b="0">
                <a:solidFill>
                  <a:srgbClr val="24352C"/>
                </a:solidFill>
                <a:latin typeface="Arial"/>
                <a:ea typeface="Arial"/>
                <a:cs typeface="Arial"/>
              </a:defRPr>
            </a:lvl3pPr>
            <a:lvl4pPr>
              <a:defRPr sz="3225" b="0">
                <a:solidFill>
                  <a:srgbClr val="24352C"/>
                </a:solidFill>
                <a:latin typeface="Arial"/>
                <a:ea typeface="Arial"/>
                <a:cs typeface="Arial"/>
              </a:defRPr>
            </a:lvl4pPr>
            <a:lvl5pPr>
              <a:defRPr sz="3225" b="0">
                <a:solidFill>
                  <a:srgbClr val="24352C"/>
                </a:solidFill>
                <a:latin typeface="Arial"/>
                <a:ea typeface="Arial"/>
                <a:cs typeface="Arial"/>
              </a:defRPr>
            </a:lvl5pPr>
            <a:lvl6pPr>
              <a:defRPr sz="3225" b="0">
                <a:solidFill>
                  <a:srgbClr val="24352C"/>
                </a:solidFill>
                <a:latin typeface="Arial"/>
                <a:ea typeface="Arial"/>
                <a:cs typeface="Arial"/>
              </a:defRPr>
            </a:lvl6pPr>
            <a:lvl7pPr>
              <a:defRPr sz="3225" b="0">
                <a:solidFill>
                  <a:srgbClr val="24352C"/>
                </a:solidFill>
                <a:latin typeface="Arial"/>
                <a:ea typeface="Arial"/>
                <a:cs typeface="Arial"/>
              </a:defRPr>
            </a:lvl7pPr>
            <a:lvl8pPr>
              <a:defRPr sz="3225" b="0">
                <a:solidFill>
                  <a:srgbClr val="24352C"/>
                </a:solidFill>
                <a:latin typeface="Arial"/>
                <a:ea typeface="Arial"/>
                <a:cs typeface="Arial"/>
              </a:defRPr>
            </a:lvl8pPr>
            <a:lvl9pPr>
              <a:defRPr sz="3225" b="0">
                <a:solidFill>
                  <a:srgbClr val="24352C"/>
                </a:solidFill>
                <a:latin typeface="Arial"/>
                <a:ea typeface="Arial"/>
                <a:cs typeface="Arial"/>
              </a:defRPr>
            </a:lvl9pPr>
          </a:lstStyle>
          <a:p xmlns:a="http://schemas.openxmlformats.org/drawingml/2006/main">
            <a:pPr>
              <a:defRPr sz="3225" b="0">
                <a:solidFill>
                  <a:srgbClr val="24352C"/>
                </a:solidFill>
                <a:latin typeface="Arial"/>
                <a:ea typeface="Arial"/>
                <a:cs typeface="Arial"/>
              </a:defRPr>
            </a:pPr>
            <a:r>
              <a:rPr sz="3225" b="0">
                <a:solidFill>
                  <a:srgbClr val="24352C"/>
                </a:solidFill>
                <a:latin typeface="Arial"/>
                <a:ea typeface="Arial"/>
                <a:cs typeface="Arial"/>
              </a:rPr>
              <a:t>Plant disease</a:t>
            </a:r>
          </a:p>
          <a:p xmlns:a="http://schemas.openxmlformats.org/drawingml/2006/main">
            <a:pPr>
              <a:defRPr sz="3225" b="0">
                <a:solidFill>
                  <a:srgbClr val="24352C"/>
                </a:solidFill>
                <a:latin typeface="Arial"/>
                <a:ea typeface="Arial"/>
                <a:cs typeface="Arial"/>
              </a:defRPr>
            </a:pPr>
            <a:r>
              <a:rPr sz="3225" b="0">
                <a:solidFill>
                  <a:srgbClr val="24352C"/>
                </a:solidFill>
                <a:latin typeface="Arial"/>
                <a:ea typeface="Arial"/>
                <a:cs typeface="Arial"/>
              </a:rPr>
              <a:t>classification</a:t>
            </a:r>
          </a:p>
        </p:txBody>
      </p:sp>
      <p:sp>
        <p:nvSpPr>
          <p:cNvPr id="3" name="text-2">
            <a:extLst xmlns:a="http://schemas.openxmlformats.org/drawingml/2006/main">
              <a:ext uri="{FF2B5EF4-FFF2-40B4-BE49-F238E27FC236}">
                <a16:creationId xmlns:a16="http://schemas.microsoft.com/office/drawing/2014/main" id="{F692B3CE-93AD-4185-8106-12B00AEB8804}"/>
              </a:ext>
            </a:extLst>
          </p:cNvPr>
          <p:cNvSpPr>
            <a:spLocks xmlns:a="http://schemas.openxmlformats.org/drawingml/2006/main" noGrp="1"/>
          </p:cNvSpPr>
          <p:nvPr/>
        </p:nvSpPr>
        <p:spPr>
          <a:xfrm xmlns:a="http://schemas.openxmlformats.org/drawingml/2006/main">
            <a:off x="723900" y="5238750"/>
            <a:ext cx="5429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59665D"/>
                </a:solidFill>
                <a:latin typeface="Arial"/>
                <a:ea typeface="Arial"/>
                <a:cs typeface="Arial"/>
              </a:defRPr>
            </a:defPPr>
            <a:lvl1pPr>
              <a:defRPr sz="1725" b="0">
                <a:solidFill>
                  <a:srgbClr val="59665D"/>
                </a:solidFill>
                <a:latin typeface="Arial"/>
                <a:ea typeface="Arial"/>
                <a:cs typeface="Arial"/>
              </a:defRPr>
            </a:lvl1pPr>
            <a:lvl2pPr>
              <a:defRPr sz="1725" b="0">
                <a:solidFill>
                  <a:srgbClr val="59665D"/>
                </a:solidFill>
                <a:latin typeface="Arial"/>
                <a:ea typeface="Arial"/>
                <a:cs typeface="Arial"/>
              </a:defRPr>
            </a:lvl2pPr>
            <a:lvl3pPr>
              <a:defRPr sz="1725" b="0">
                <a:solidFill>
                  <a:srgbClr val="59665D"/>
                </a:solidFill>
                <a:latin typeface="Arial"/>
                <a:ea typeface="Arial"/>
                <a:cs typeface="Arial"/>
              </a:defRPr>
            </a:lvl3pPr>
            <a:lvl4pPr>
              <a:defRPr sz="1725" b="0">
                <a:solidFill>
                  <a:srgbClr val="59665D"/>
                </a:solidFill>
                <a:latin typeface="Arial"/>
                <a:ea typeface="Arial"/>
                <a:cs typeface="Arial"/>
              </a:defRPr>
            </a:lvl4pPr>
            <a:lvl5pPr>
              <a:defRPr sz="1725" b="0">
                <a:solidFill>
                  <a:srgbClr val="59665D"/>
                </a:solidFill>
                <a:latin typeface="Arial"/>
                <a:ea typeface="Arial"/>
                <a:cs typeface="Arial"/>
              </a:defRPr>
            </a:lvl5pPr>
            <a:lvl6pPr>
              <a:defRPr sz="1725" b="0">
                <a:solidFill>
                  <a:srgbClr val="59665D"/>
                </a:solidFill>
                <a:latin typeface="Arial"/>
                <a:ea typeface="Arial"/>
                <a:cs typeface="Arial"/>
              </a:defRPr>
            </a:lvl6pPr>
            <a:lvl7pPr>
              <a:defRPr sz="1725" b="0">
                <a:solidFill>
                  <a:srgbClr val="59665D"/>
                </a:solidFill>
                <a:latin typeface="Arial"/>
                <a:ea typeface="Arial"/>
                <a:cs typeface="Arial"/>
              </a:defRPr>
            </a:lvl7pPr>
            <a:lvl8pPr>
              <a:defRPr sz="1725" b="0">
                <a:solidFill>
                  <a:srgbClr val="59665D"/>
                </a:solidFill>
                <a:latin typeface="Arial"/>
                <a:ea typeface="Arial"/>
                <a:cs typeface="Arial"/>
              </a:defRPr>
            </a:lvl8pPr>
            <a:lvl9pPr>
              <a:defRPr sz="1725" b="0">
                <a:solidFill>
                  <a:srgbClr val="59665D"/>
                </a:solidFill>
                <a:latin typeface="Arial"/>
                <a:ea typeface="Arial"/>
                <a:cs typeface="Arial"/>
              </a:defRPr>
            </a:lvl9pPr>
          </a:lstStyle>
          <a:p xmlns:a="http://schemas.openxmlformats.org/drawingml/2006/main">
            <a:pPr>
              <a:defRPr sz="1725" b="0">
                <a:solidFill>
                  <a:srgbClr val="59665D"/>
                </a:solidFill>
                <a:latin typeface="Arial"/>
                <a:ea typeface="Arial"/>
                <a:cs typeface="Arial"/>
              </a:defRPr>
            </a:pPr>
            <a:r>
              <a:rPr sz="1725" b="0">
                <a:solidFill>
                  <a:srgbClr val="59665D"/>
                </a:solidFill>
                <a:latin typeface="Arial"/>
                <a:ea typeface="Arial"/>
                <a:cs typeface="Arial"/>
              </a:rPr>
              <a:t>Armen</a:t>
            </a:r>
          </a:p>
          <a:p xmlns:a="http://schemas.openxmlformats.org/drawingml/2006/main">
            <a:pPr>
              <a:defRPr sz="1725" b="0">
                <a:solidFill>
                  <a:srgbClr val="59665D"/>
                </a:solidFill>
                <a:latin typeface="Arial"/>
                <a:ea typeface="Arial"/>
                <a:cs typeface="Arial"/>
              </a:defRPr>
            </a:pPr>
            <a:r>
              <a:rPr sz="1725" b="0">
                <a:solidFill>
                  <a:srgbClr val="59665D"/>
                </a:solidFill>
                <a:latin typeface="Arial"/>
                <a:ea typeface="Arial"/>
                <a:cs typeface="Arial"/>
              </a:rPr>
              <a:t>ACA Machine Learning Engineering</a:t>
            </a:r>
          </a:p>
          <a:p xmlns:a="http://schemas.openxmlformats.org/drawingml/2006/main">
            <a:pPr>
              <a:defRPr sz="1725" b="0">
                <a:solidFill>
                  <a:srgbClr val="59665D"/>
                </a:solidFill>
                <a:latin typeface="Arial"/>
                <a:ea typeface="Arial"/>
                <a:cs typeface="Arial"/>
              </a:defRPr>
            </a:pPr>
            <a:r>
              <a:rPr sz="1725" b="0">
                <a:solidFill>
                  <a:srgbClr val="59665D"/>
                </a:solidFill>
                <a:latin typeface="Arial"/>
                <a:ea typeface="Arial"/>
                <a:cs typeface="Arial"/>
              </a:rPr>
              <a:t>October 2026</a:t>
            </a:r>
          </a:p>
        </p:txBody>
      </p:sp>
      <p:pic>
        <p:nvPicPr>
          <p:cNvPr id="4" name="">
            <a:extLst xmlns:a="http://schemas.openxmlformats.org/drawingml/2006/main">
              <a:ext uri="{FF2B5EF4-FFF2-40B4-BE49-F238E27FC236}">
                <a16:creationId xmlns:a16="http://schemas.microsoft.com/office/drawing/2014/main" id="{8D857920-D0CC-4985-8E9C-920ED5E6E61C}"/>
              </a:ext>
            </a:extLst>
          </p:cNvPr>
          <p:cNvPicPr>
            <a:picLocks xmlns:a="http://schemas.openxmlformats.org/drawingml/2006/main" noChangeAspect="1"/>
          </p:cNvPicPr>
          <p:nvPr/>
        </p:nvPicPr>
        <p:blipFill>
          <a:blip xmlns:r="http://schemas.openxmlformats.org/officeDocument/2006/relationships" xmlns:a="http://schemas.openxmlformats.org/drawingml/2006/main" r:embed="R613b61ee31234c36"/>
          <a:stretch xmlns:a="http://schemas.openxmlformats.org/drawingml/2006/main"/>
        </p:blipFill>
        <p:spPr>
          <a:xfrm xmlns:a="http://schemas.openxmlformats.org/drawingml/2006/main">
            <a:off x="6381750" y="1572994"/>
            <a:ext cx="5143500" cy="3426261"/>
          </a:xfrm>
          <a:prstGeom xmlns:a="http://schemas.openxmlformats.org/drawingml/2006/main" prst="rect">
            <a:avLst/>
          </a:prstGeom>
        </p:spPr>
      </p:pic>
      <p:sp>
        <p:nvSpPr>
          <p:cNvPr id="5" name="text-3">
            <a:extLst xmlns:a="http://schemas.openxmlformats.org/drawingml/2006/main">
              <a:ext uri="{FF2B5EF4-FFF2-40B4-BE49-F238E27FC236}">
                <a16:creationId xmlns:a16="http://schemas.microsoft.com/office/drawing/2014/main" id="{6BD11294-F034-452C-9864-FDD3B5C5B6AE}"/>
              </a:ext>
            </a:extLst>
          </p:cNvPr>
          <p:cNvSpPr>
            <a:spLocks xmlns:a="http://schemas.openxmlformats.org/drawingml/2006/main" noGrp="1"/>
          </p:cNvSpPr>
          <p:nvPr/>
        </p:nvSpPr>
        <p:spPr>
          <a:xfrm xmlns:a="http://schemas.openxmlformats.org/drawingml/2006/main">
            <a:off x="6572250" y="5524500"/>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9665D"/>
                </a:solidFill>
                <a:latin typeface="Arial"/>
                <a:ea typeface="Arial"/>
                <a:cs typeface="Arial"/>
              </a:defRPr>
            </a:defPPr>
            <a:lvl1pPr>
              <a:defRPr sz="1350" b="0">
                <a:solidFill>
                  <a:srgbClr val="59665D"/>
                </a:solidFill>
                <a:latin typeface="Arial"/>
                <a:ea typeface="Arial"/>
                <a:cs typeface="Arial"/>
              </a:defRPr>
            </a:lvl1pPr>
            <a:lvl2pPr>
              <a:defRPr sz="1350" b="0">
                <a:solidFill>
                  <a:srgbClr val="59665D"/>
                </a:solidFill>
                <a:latin typeface="Arial"/>
                <a:ea typeface="Arial"/>
                <a:cs typeface="Arial"/>
              </a:defRPr>
            </a:lvl2pPr>
            <a:lvl3pPr>
              <a:defRPr sz="1350" b="0">
                <a:solidFill>
                  <a:srgbClr val="59665D"/>
                </a:solidFill>
                <a:latin typeface="Arial"/>
                <a:ea typeface="Arial"/>
                <a:cs typeface="Arial"/>
              </a:defRPr>
            </a:lvl3pPr>
            <a:lvl4pPr>
              <a:defRPr sz="1350" b="0">
                <a:solidFill>
                  <a:srgbClr val="59665D"/>
                </a:solidFill>
                <a:latin typeface="Arial"/>
                <a:ea typeface="Arial"/>
                <a:cs typeface="Arial"/>
              </a:defRPr>
            </a:lvl4pPr>
            <a:lvl5pPr>
              <a:defRPr sz="1350" b="0">
                <a:solidFill>
                  <a:srgbClr val="59665D"/>
                </a:solidFill>
                <a:latin typeface="Arial"/>
                <a:ea typeface="Arial"/>
                <a:cs typeface="Arial"/>
              </a:defRPr>
            </a:lvl5pPr>
            <a:lvl6pPr>
              <a:defRPr sz="1350" b="0">
                <a:solidFill>
                  <a:srgbClr val="59665D"/>
                </a:solidFill>
                <a:latin typeface="Arial"/>
                <a:ea typeface="Arial"/>
                <a:cs typeface="Arial"/>
              </a:defRPr>
            </a:lvl6pPr>
            <a:lvl7pPr>
              <a:defRPr sz="1350" b="0">
                <a:solidFill>
                  <a:srgbClr val="59665D"/>
                </a:solidFill>
                <a:latin typeface="Arial"/>
                <a:ea typeface="Arial"/>
                <a:cs typeface="Arial"/>
              </a:defRPr>
            </a:lvl7pPr>
            <a:lvl8pPr>
              <a:defRPr sz="1350" b="0">
                <a:solidFill>
                  <a:srgbClr val="59665D"/>
                </a:solidFill>
                <a:latin typeface="Arial"/>
                <a:ea typeface="Arial"/>
                <a:cs typeface="Arial"/>
              </a:defRPr>
            </a:lvl8pPr>
            <a:lvl9pPr>
              <a:defRPr sz="1350" b="0">
                <a:solidFill>
                  <a:srgbClr val="59665D"/>
                </a:solidFill>
                <a:latin typeface="Arial"/>
                <a:ea typeface="Arial"/>
                <a:cs typeface="Arial"/>
              </a:defRPr>
            </a:lvl9pPr>
          </a:lstStyle>
          <a:p xmlns:a="http://schemas.openxmlformats.org/drawingml/2006/main">
            <a:pPr>
              <a:defRPr sz="1350" b="0">
                <a:solidFill>
                  <a:srgbClr val="59665D"/>
                </a:solidFill>
                <a:latin typeface="Arial"/>
                <a:ea typeface="Arial"/>
                <a:cs typeface="Arial"/>
              </a:defRPr>
            </a:pPr>
            <a:r>
              <a:rPr sz="1350" b="0">
                <a:solidFill>
                  <a:srgbClr val="59665D"/>
                </a:solidFill>
                <a:latin typeface="Arial"/>
                <a:ea typeface="Arial"/>
                <a:cs typeface="Arial"/>
              </a:rPr>
              <a:t>A photo from the project validation set</a:t>
            </a:r>
          </a:p>
        </p:txBody>
      </p:sp>
    </p:spTree>
    <p:extLst>
      <p:ext uri="{BB962C8B-B14F-4D97-AF65-F5344CB8AC3E}">
        <p14:creationId xmlns:p14="http://schemas.microsoft.com/office/powerpoint/2010/main" val="1333366954"/>
      </p:ext>
    </p:extLst>
  </p:cSld>
</p:sld>
</file>

<file path=ppt/slides/slide2.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DC641E1C-96AD-4840-BB85-BA565453A33A}"/>
              </a:ext>
            </a:extLst>
          </p:cNvPr>
          <p:cNvSpPr>
            <a:spLocks xmlns:a="http://schemas.openxmlformats.org/drawingml/2006/main" noGrp="1"/>
          </p:cNvSpPr>
          <p:nvPr/>
        </p:nvSpPr>
        <p:spPr>
          <a:xfrm xmlns:a="http://schemas.openxmlformats.org/drawingml/2006/main">
            <a:off x="66675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The problem I chose</a:t>
            </a:r>
          </a:p>
        </p:txBody>
      </p:sp>
      <p:sp>
        <p:nvSpPr>
          <p:cNvPr id="2" name="text-1">
            <a:extLst xmlns:a="http://schemas.openxmlformats.org/drawingml/2006/main">
              <a:ext uri="{FF2B5EF4-FFF2-40B4-BE49-F238E27FC236}">
                <a16:creationId xmlns:a16="http://schemas.microsoft.com/office/drawing/2014/main" id="{D1721275-B163-4AFE-99A9-7DB68107C33B}"/>
              </a:ext>
            </a:extLst>
          </p:cNvPr>
          <p:cNvSpPr>
            <a:spLocks xmlns:a="http://schemas.openxmlformats.org/drawingml/2006/main" noGrp="1"/>
          </p:cNvSpPr>
          <p:nvPr/>
        </p:nvSpPr>
        <p:spPr>
          <a:xfrm xmlns:a="http://schemas.openxmlformats.org/drawingml/2006/main">
            <a:off x="666750" y="641985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MROOT  02</a:t>
            </a:r>
          </a:p>
        </p:txBody>
      </p:sp>
      <p:sp>
        <p:nvSpPr>
          <p:cNvPr id="3" name="text-2">
            <a:extLst xmlns:a="http://schemas.openxmlformats.org/drawingml/2006/main">
              <a:ext uri="{FF2B5EF4-FFF2-40B4-BE49-F238E27FC236}">
                <a16:creationId xmlns:a16="http://schemas.microsoft.com/office/drawing/2014/main" id="{1E68E549-87D3-46A0-B6EB-9DE1B660BF60}"/>
              </a:ext>
            </a:extLst>
          </p:cNvPr>
          <p:cNvSpPr>
            <a:spLocks xmlns:a="http://schemas.openxmlformats.org/drawingml/2006/main" noGrp="1"/>
          </p:cNvSpPr>
          <p:nvPr/>
        </p:nvSpPr>
        <p:spPr>
          <a:xfrm xmlns:a="http://schemas.openxmlformats.org/drawingml/2006/main">
            <a:off x="666750" y="1714500"/>
            <a:ext cx="9906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675" b="1">
                <a:solidFill>
                  <a:srgbClr val="173E2C"/>
                </a:solidFill>
                <a:latin typeface="Arial"/>
                <a:ea typeface="Arial"/>
                <a:cs typeface="Arial"/>
              </a:defRPr>
            </a:defPPr>
            <a:lvl1pPr>
              <a:defRPr sz="3675" b="1">
                <a:solidFill>
                  <a:srgbClr val="173E2C"/>
                </a:solidFill>
                <a:latin typeface="Arial"/>
                <a:ea typeface="Arial"/>
                <a:cs typeface="Arial"/>
              </a:defRPr>
            </a:lvl1pPr>
            <a:lvl2pPr>
              <a:defRPr sz="3675" b="1">
                <a:solidFill>
                  <a:srgbClr val="173E2C"/>
                </a:solidFill>
                <a:latin typeface="Arial"/>
                <a:ea typeface="Arial"/>
                <a:cs typeface="Arial"/>
              </a:defRPr>
            </a:lvl2pPr>
            <a:lvl3pPr>
              <a:defRPr sz="3675" b="1">
                <a:solidFill>
                  <a:srgbClr val="173E2C"/>
                </a:solidFill>
                <a:latin typeface="Arial"/>
                <a:ea typeface="Arial"/>
                <a:cs typeface="Arial"/>
              </a:defRPr>
            </a:lvl3pPr>
            <a:lvl4pPr>
              <a:defRPr sz="3675" b="1">
                <a:solidFill>
                  <a:srgbClr val="173E2C"/>
                </a:solidFill>
                <a:latin typeface="Arial"/>
                <a:ea typeface="Arial"/>
                <a:cs typeface="Arial"/>
              </a:defRPr>
            </a:lvl4pPr>
            <a:lvl5pPr>
              <a:defRPr sz="3675" b="1">
                <a:solidFill>
                  <a:srgbClr val="173E2C"/>
                </a:solidFill>
                <a:latin typeface="Arial"/>
                <a:ea typeface="Arial"/>
                <a:cs typeface="Arial"/>
              </a:defRPr>
            </a:lvl5pPr>
            <a:lvl6pPr>
              <a:defRPr sz="3675" b="1">
                <a:solidFill>
                  <a:srgbClr val="173E2C"/>
                </a:solidFill>
                <a:latin typeface="Arial"/>
                <a:ea typeface="Arial"/>
                <a:cs typeface="Arial"/>
              </a:defRPr>
            </a:lvl6pPr>
            <a:lvl7pPr>
              <a:defRPr sz="3675" b="1">
                <a:solidFill>
                  <a:srgbClr val="173E2C"/>
                </a:solidFill>
                <a:latin typeface="Arial"/>
                <a:ea typeface="Arial"/>
                <a:cs typeface="Arial"/>
              </a:defRPr>
            </a:lvl7pPr>
            <a:lvl8pPr>
              <a:defRPr sz="3675" b="1">
                <a:solidFill>
                  <a:srgbClr val="173E2C"/>
                </a:solidFill>
                <a:latin typeface="Arial"/>
                <a:ea typeface="Arial"/>
                <a:cs typeface="Arial"/>
              </a:defRPr>
            </a:lvl8pPr>
            <a:lvl9pPr>
              <a:defRPr sz="3675" b="1">
                <a:solidFill>
                  <a:srgbClr val="173E2C"/>
                </a:solidFill>
                <a:latin typeface="Arial"/>
                <a:ea typeface="Arial"/>
                <a:cs typeface="Arial"/>
              </a:defRPr>
            </a:lvl9pPr>
          </a:lstStyle>
          <a:p xmlns:a="http://schemas.openxmlformats.org/drawingml/2006/main">
            <a:pPr>
              <a:defRPr sz="3675" b="1">
                <a:solidFill>
                  <a:srgbClr val="173E2C"/>
                </a:solidFill>
                <a:latin typeface="Arial"/>
                <a:ea typeface="Arial"/>
                <a:cs typeface="Arial"/>
              </a:defRPr>
            </a:pPr>
            <a:r>
              <a:rPr sz="3675" b="1">
                <a:solidFill>
                  <a:srgbClr val="173E2C"/>
                </a:solidFill>
                <a:latin typeface="Arial"/>
                <a:ea typeface="Arial"/>
                <a:cs typeface="Arial"/>
              </a:rPr>
              <a:t>One plant photo.</a:t>
            </a:r>
          </a:p>
          <a:p xmlns:a="http://schemas.openxmlformats.org/drawingml/2006/main">
            <a:pPr>
              <a:defRPr sz="3675" b="1">
                <a:solidFill>
                  <a:srgbClr val="173E2C"/>
                </a:solidFill>
                <a:latin typeface="Arial"/>
                <a:ea typeface="Arial"/>
                <a:cs typeface="Arial"/>
              </a:defRPr>
            </a:pPr>
            <a:r>
              <a:rPr sz="3675" b="1">
                <a:solidFill>
                  <a:srgbClr val="173E2C"/>
                </a:solidFill>
                <a:latin typeface="Arial"/>
                <a:ea typeface="Arial"/>
                <a:cs typeface="Arial"/>
              </a:rPr>
              <a:t>Five likely disease categories.</a:t>
            </a:r>
          </a:p>
        </p:txBody>
      </p:sp>
      <p:sp>
        <p:nvSpPr>
          <p:cNvPr id="4" name="text-3">
            <a:extLst xmlns:a="http://schemas.openxmlformats.org/drawingml/2006/main">
              <a:ext uri="{FF2B5EF4-FFF2-40B4-BE49-F238E27FC236}">
                <a16:creationId xmlns:a16="http://schemas.microsoft.com/office/drawing/2014/main" id="{C71BD533-0BC2-480A-8AB0-AD8CD8A84D1E}"/>
              </a:ext>
            </a:extLst>
          </p:cNvPr>
          <p:cNvSpPr>
            <a:spLocks xmlns:a="http://schemas.openxmlformats.org/drawingml/2006/main" noGrp="1"/>
          </p:cNvSpPr>
          <p:nvPr/>
        </p:nvSpPr>
        <p:spPr>
          <a:xfrm xmlns:a="http://schemas.openxmlformats.org/drawingml/2006/main">
            <a:off x="723900" y="34766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24352C"/>
                </a:solidFill>
                <a:latin typeface="Arial"/>
                <a:ea typeface="Arial"/>
                <a:cs typeface="Arial"/>
              </a:defRPr>
            </a:defPPr>
            <a:lvl1pPr>
              <a:defRPr sz="2250" b="0">
                <a:solidFill>
                  <a:srgbClr val="24352C"/>
                </a:solidFill>
                <a:latin typeface="Arial"/>
                <a:ea typeface="Arial"/>
                <a:cs typeface="Arial"/>
              </a:defRPr>
            </a:lvl1pPr>
            <a:lvl2pPr>
              <a:defRPr sz="2250" b="0">
                <a:solidFill>
                  <a:srgbClr val="24352C"/>
                </a:solidFill>
                <a:latin typeface="Arial"/>
                <a:ea typeface="Arial"/>
                <a:cs typeface="Arial"/>
              </a:defRPr>
            </a:lvl2pPr>
            <a:lvl3pPr>
              <a:defRPr sz="2250" b="0">
                <a:solidFill>
                  <a:srgbClr val="24352C"/>
                </a:solidFill>
                <a:latin typeface="Arial"/>
                <a:ea typeface="Arial"/>
                <a:cs typeface="Arial"/>
              </a:defRPr>
            </a:lvl3pPr>
            <a:lvl4pPr>
              <a:defRPr sz="2250" b="0">
                <a:solidFill>
                  <a:srgbClr val="24352C"/>
                </a:solidFill>
                <a:latin typeface="Arial"/>
                <a:ea typeface="Arial"/>
                <a:cs typeface="Arial"/>
              </a:defRPr>
            </a:lvl4pPr>
            <a:lvl5pPr>
              <a:defRPr sz="2250" b="0">
                <a:solidFill>
                  <a:srgbClr val="24352C"/>
                </a:solidFill>
                <a:latin typeface="Arial"/>
                <a:ea typeface="Arial"/>
                <a:cs typeface="Arial"/>
              </a:defRPr>
            </a:lvl5pPr>
            <a:lvl6pPr>
              <a:defRPr sz="2250" b="0">
                <a:solidFill>
                  <a:srgbClr val="24352C"/>
                </a:solidFill>
                <a:latin typeface="Arial"/>
                <a:ea typeface="Arial"/>
                <a:cs typeface="Arial"/>
              </a:defRPr>
            </a:lvl6pPr>
            <a:lvl7pPr>
              <a:defRPr sz="2250" b="0">
                <a:solidFill>
                  <a:srgbClr val="24352C"/>
                </a:solidFill>
                <a:latin typeface="Arial"/>
                <a:ea typeface="Arial"/>
                <a:cs typeface="Arial"/>
              </a:defRPr>
            </a:lvl7pPr>
            <a:lvl8pPr>
              <a:defRPr sz="2250" b="0">
                <a:solidFill>
                  <a:srgbClr val="24352C"/>
                </a:solidFill>
                <a:latin typeface="Arial"/>
                <a:ea typeface="Arial"/>
                <a:cs typeface="Arial"/>
              </a:defRPr>
            </a:lvl8pPr>
            <a:lvl9pPr>
              <a:defRPr sz="2250" b="0">
                <a:solidFill>
                  <a:srgbClr val="24352C"/>
                </a:solidFill>
                <a:latin typeface="Arial"/>
                <a:ea typeface="Arial"/>
                <a:cs typeface="Arial"/>
              </a:defRPr>
            </a:lvl9pPr>
          </a:lstStyle>
          <a:p xmlns:a="http://schemas.openxmlformats.org/drawingml/2006/main">
            <a:pPr>
              <a:defRPr sz="2250" b="0">
                <a:solidFill>
                  <a:srgbClr val="24352C"/>
                </a:solidFill>
                <a:latin typeface="Arial"/>
                <a:ea typeface="Arial"/>
                <a:cs typeface="Arial"/>
              </a:defRPr>
            </a:pPr>
            <a:r>
              <a:rPr sz="2250" b="0">
                <a:solidFill>
                  <a:srgbClr val="24352C"/>
                </a:solidFill>
                <a:latin typeface="Arial"/>
                <a:ea typeface="Arial"/>
                <a:cs typeface="Arial"/>
              </a:rPr>
              <a:t>39 disease labels, independent of plant species</a:t>
            </a:r>
          </a:p>
        </p:txBody>
      </p:sp>
      <p:sp>
        <p:nvSpPr>
          <p:cNvPr id="5" name="text-4">
            <a:extLst xmlns:a="http://schemas.openxmlformats.org/drawingml/2006/main">
              <a:ext uri="{FF2B5EF4-FFF2-40B4-BE49-F238E27FC236}">
                <a16:creationId xmlns:a16="http://schemas.microsoft.com/office/drawing/2014/main" id="{F24B6B91-6CED-4D67-A83C-4111D31A14B2}"/>
              </a:ext>
            </a:extLst>
          </p:cNvPr>
          <p:cNvSpPr>
            <a:spLocks xmlns:a="http://schemas.openxmlformats.org/drawingml/2006/main" noGrp="1"/>
          </p:cNvSpPr>
          <p:nvPr/>
        </p:nvSpPr>
        <p:spPr>
          <a:xfrm xmlns:a="http://schemas.openxmlformats.org/drawingml/2006/main">
            <a:off x="723900" y="4457700"/>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52C"/>
                </a:solidFill>
                <a:latin typeface="Arial"/>
                <a:ea typeface="Arial"/>
                <a:cs typeface="Arial"/>
              </a:defRPr>
            </a:defPPr>
            <a:lvl1pPr>
              <a:defRPr sz="2175" b="0">
                <a:solidFill>
                  <a:srgbClr val="24352C"/>
                </a:solidFill>
                <a:latin typeface="Arial"/>
                <a:ea typeface="Arial"/>
                <a:cs typeface="Arial"/>
              </a:defRPr>
            </a:lvl1pPr>
            <a:lvl2pPr>
              <a:defRPr sz="2175" b="0">
                <a:solidFill>
                  <a:srgbClr val="24352C"/>
                </a:solidFill>
                <a:latin typeface="Arial"/>
                <a:ea typeface="Arial"/>
                <a:cs typeface="Arial"/>
              </a:defRPr>
            </a:lvl2pPr>
            <a:lvl3pPr>
              <a:defRPr sz="2175" b="0">
                <a:solidFill>
                  <a:srgbClr val="24352C"/>
                </a:solidFill>
                <a:latin typeface="Arial"/>
                <a:ea typeface="Arial"/>
                <a:cs typeface="Arial"/>
              </a:defRPr>
            </a:lvl3pPr>
            <a:lvl4pPr>
              <a:defRPr sz="2175" b="0">
                <a:solidFill>
                  <a:srgbClr val="24352C"/>
                </a:solidFill>
                <a:latin typeface="Arial"/>
                <a:ea typeface="Arial"/>
                <a:cs typeface="Arial"/>
              </a:defRPr>
            </a:lvl4pPr>
            <a:lvl5pPr>
              <a:defRPr sz="2175" b="0">
                <a:solidFill>
                  <a:srgbClr val="24352C"/>
                </a:solidFill>
                <a:latin typeface="Arial"/>
                <a:ea typeface="Arial"/>
                <a:cs typeface="Arial"/>
              </a:defRPr>
            </a:lvl5pPr>
            <a:lvl6pPr>
              <a:defRPr sz="2175" b="0">
                <a:solidFill>
                  <a:srgbClr val="24352C"/>
                </a:solidFill>
                <a:latin typeface="Arial"/>
                <a:ea typeface="Arial"/>
                <a:cs typeface="Arial"/>
              </a:defRPr>
            </a:lvl6pPr>
            <a:lvl7pPr>
              <a:defRPr sz="2175" b="0">
                <a:solidFill>
                  <a:srgbClr val="24352C"/>
                </a:solidFill>
                <a:latin typeface="Arial"/>
                <a:ea typeface="Arial"/>
                <a:cs typeface="Arial"/>
              </a:defRPr>
            </a:lvl7pPr>
            <a:lvl8pPr>
              <a:defRPr sz="2175" b="0">
                <a:solidFill>
                  <a:srgbClr val="24352C"/>
                </a:solidFill>
                <a:latin typeface="Arial"/>
                <a:ea typeface="Arial"/>
                <a:cs typeface="Arial"/>
              </a:defRPr>
            </a:lvl8pPr>
            <a:lvl9pPr>
              <a:defRPr sz="2175" b="0">
                <a:solidFill>
                  <a:srgbClr val="24352C"/>
                </a:solidFill>
                <a:latin typeface="Arial"/>
                <a:ea typeface="Arial"/>
                <a:cs typeface="Arial"/>
              </a:defRPr>
            </a:lvl9pPr>
          </a:lstStyle>
          <a:p xmlns:a="http://schemas.openxmlformats.org/drawingml/2006/main">
            <a:pPr>
              <a:defRPr sz="2175" b="0">
                <a:solidFill>
                  <a:srgbClr val="24352C"/>
                </a:solidFill>
                <a:latin typeface="Arial"/>
                <a:ea typeface="Arial"/>
                <a:cs typeface="Arial"/>
              </a:defRPr>
            </a:pPr>
            <a:r>
              <a:rPr sz="2175" b="0">
                <a:solidFill>
                  <a:srgbClr val="24352C"/>
                </a:solidFill>
                <a:latin typeface="Arial"/>
                <a:ea typeface="Arial"/>
                <a:cs typeface="Arial"/>
              </a:rPr>
              <a:t>A working web demo, with the model and experiment history behind it</a:t>
            </a:r>
          </a:p>
        </p:txBody>
      </p:sp>
      <p:sp>
        <p:nvSpPr>
          <p:cNvPr id="6" name="text-5">
            <a:extLst xmlns:a="http://schemas.openxmlformats.org/drawingml/2006/main">
              <a:ext uri="{FF2B5EF4-FFF2-40B4-BE49-F238E27FC236}">
                <a16:creationId xmlns:a16="http://schemas.microsoft.com/office/drawing/2014/main" id="{8564030E-EFD0-4103-83B2-F2605637CE48}"/>
              </a:ext>
            </a:extLst>
          </p:cNvPr>
          <p:cNvSpPr>
            <a:spLocks xmlns:a="http://schemas.openxmlformats.org/drawingml/2006/main" noGrp="1"/>
          </p:cNvSpPr>
          <p:nvPr/>
        </p:nvSpPr>
        <p:spPr>
          <a:xfrm xmlns:a="http://schemas.openxmlformats.org/drawingml/2006/main">
            <a:off x="723900" y="5648325"/>
            <a:ext cx="1038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AB5A37"/>
                </a:solidFill>
                <a:latin typeface="Arial"/>
                <a:ea typeface="Arial"/>
                <a:cs typeface="Arial"/>
              </a:defRPr>
            </a:defPPr>
            <a:lvl1pPr>
              <a:defRPr sz="1800" b="0">
                <a:solidFill>
                  <a:srgbClr val="AB5A37"/>
                </a:solidFill>
                <a:latin typeface="Arial"/>
                <a:ea typeface="Arial"/>
                <a:cs typeface="Arial"/>
              </a:defRPr>
            </a:lvl1pPr>
            <a:lvl2pPr>
              <a:defRPr sz="1800" b="0">
                <a:solidFill>
                  <a:srgbClr val="AB5A37"/>
                </a:solidFill>
                <a:latin typeface="Arial"/>
                <a:ea typeface="Arial"/>
                <a:cs typeface="Arial"/>
              </a:defRPr>
            </a:lvl2pPr>
            <a:lvl3pPr>
              <a:defRPr sz="1800" b="0">
                <a:solidFill>
                  <a:srgbClr val="AB5A37"/>
                </a:solidFill>
                <a:latin typeface="Arial"/>
                <a:ea typeface="Arial"/>
                <a:cs typeface="Arial"/>
              </a:defRPr>
            </a:lvl3pPr>
            <a:lvl4pPr>
              <a:defRPr sz="1800" b="0">
                <a:solidFill>
                  <a:srgbClr val="AB5A37"/>
                </a:solidFill>
                <a:latin typeface="Arial"/>
                <a:ea typeface="Arial"/>
                <a:cs typeface="Arial"/>
              </a:defRPr>
            </a:lvl4pPr>
            <a:lvl5pPr>
              <a:defRPr sz="1800" b="0">
                <a:solidFill>
                  <a:srgbClr val="AB5A37"/>
                </a:solidFill>
                <a:latin typeface="Arial"/>
                <a:ea typeface="Arial"/>
                <a:cs typeface="Arial"/>
              </a:defRPr>
            </a:lvl5pPr>
            <a:lvl6pPr>
              <a:defRPr sz="1800" b="0">
                <a:solidFill>
                  <a:srgbClr val="AB5A37"/>
                </a:solidFill>
                <a:latin typeface="Arial"/>
                <a:ea typeface="Arial"/>
                <a:cs typeface="Arial"/>
              </a:defRPr>
            </a:lvl6pPr>
            <a:lvl7pPr>
              <a:defRPr sz="1800" b="0">
                <a:solidFill>
                  <a:srgbClr val="AB5A37"/>
                </a:solidFill>
                <a:latin typeface="Arial"/>
                <a:ea typeface="Arial"/>
                <a:cs typeface="Arial"/>
              </a:defRPr>
            </a:lvl7pPr>
            <a:lvl8pPr>
              <a:defRPr sz="1800" b="0">
                <a:solidFill>
                  <a:srgbClr val="AB5A37"/>
                </a:solidFill>
                <a:latin typeface="Arial"/>
                <a:ea typeface="Arial"/>
                <a:cs typeface="Arial"/>
              </a:defRPr>
            </a:lvl8pPr>
            <a:lvl9pPr>
              <a:defRPr sz="1800" b="0">
                <a:solidFill>
                  <a:srgbClr val="AB5A37"/>
                </a:solidFill>
                <a:latin typeface="Arial"/>
                <a:ea typeface="Arial"/>
                <a:cs typeface="Arial"/>
              </a:defRPr>
            </a:lvl9pPr>
          </a:lstStyle>
          <a:p xmlns:a="http://schemas.openxmlformats.org/drawingml/2006/main">
            <a:pPr>
              <a:defRPr sz="1800" b="0">
                <a:solidFill>
                  <a:srgbClr val="AB5A37"/>
                </a:solidFill>
                <a:latin typeface="Arial"/>
                <a:ea typeface="Arial"/>
                <a:cs typeface="Arial"/>
              </a:defRPr>
            </a:pPr>
            <a:r>
              <a:rPr sz="1800" b="0">
                <a:solidFill>
                  <a:srgbClr val="AB5A37"/>
                </a:solidFill>
                <a:latin typeface="Arial"/>
                <a:ea typeface="Arial"/>
                <a:cs typeface="Arial"/>
              </a:rPr>
              <a:t>The label set does not include healthy plants.</a:t>
            </a:r>
          </a:p>
        </p:txBody>
      </p:sp>
    </p:spTree>
    <p:extLst>
      <p:ext uri="{BB962C8B-B14F-4D97-AF65-F5344CB8AC3E}">
        <p14:creationId xmlns:p14="http://schemas.microsoft.com/office/powerpoint/2010/main" val="1548325218"/>
      </p:ext>
    </p:extLst>
  </p:cSld>
</p:sld>
</file>

<file path=ppt/slides/slide3.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58390E1A-9C6B-4CA3-AB49-8D0D2905D2A7}"/>
              </a:ext>
            </a:extLst>
          </p:cNvPr>
          <p:cNvSpPr>
            <a:spLocks xmlns:a="http://schemas.openxmlformats.org/drawingml/2006/main" noGrp="1"/>
          </p:cNvSpPr>
          <p:nvPr/>
        </p:nvSpPr>
        <p:spPr>
          <a:xfrm xmlns:a="http://schemas.openxmlformats.org/drawingml/2006/main">
            <a:off x="66675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The data and the final split</a:t>
            </a:r>
          </a:p>
        </p:txBody>
      </p:sp>
      <p:sp>
        <p:nvSpPr>
          <p:cNvPr id="2" name="text-1">
            <a:extLst xmlns:a="http://schemas.openxmlformats.org/drawingml/2006/main">
              <a:ext uri="{FF2B5EF4-FFF2-40B4-BE49-F238E27FC236}">
                <a16:creationId xmlns:a16="http://schemas.microsoft.com/office/drawing/2014/main" id="{C66393B1-F27C-4510-8E4E-4D9E98E90311}"/>
              </a:ext>
            </a:extLst>
          </p:cNvPr>
          <p:cNvSpPr>
            <a:spLocks xmlns:a="http://schemas.openxmlformats.org/drawingml/2006/main" noGrp="1"/>
          </p:cNvSpPr>
          <p:nvPr/>
        </p:nvSpPr>
        <p:spPr>
          <a:xfrm xmlns:a="http://schemas.openxmlformats.org/drawingml/2006/main">
            <a:off x="666750" y="641985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MROOT  03</a:t>
            </a:r>
          </a:p>
        </p:txBody>
      </p:sp>
      <p:graphicFrame>
        <p:nvGraphicFramePr>
          <p:cNvPr id="3" name="">
            <a:extLst xmlns:a="http://schemas.openxmlformats.org/drawingml/2006/main">
              <a:ext uri="{FF2B5EF4-FFF2-40B4-BE49-F238E27FC236}">
                <a16:creationId xmlns:a16="http://schemas.microsoft.com/office/drawing/2014/main" id="{3C9A38A5-2C50-44A5-8532-A5E34B69822F}"/>
              </a:ext>
            </a:extLst>
          </p:cNvPr>
          <p:cNvGraphicFramePr/>
          <p:nvPr/>
        </p:nvGraphicFramePr>
        <p:xfrm>
          <a:off xmlns:a="http://schemas.openxmlformats.org/drawingml/2006/main" x="666750" y="1619250"/>
          <a:ext xmlns:a="http://schemas.openxmlformats.org/drawingml/2006/main" cx="10858500" cy="3238500"/>
        </p:xfrm>
        <a:graphic xmlns:a="http://schemas.openxmlformats.org/drawingml/2006/main">
          <a:graphicData uri="http://schemas.openxmlformats.org/drawingml/2006/table">
            <a:tbl>
              <a:tblPr/>
              <a:tblGrid>
                <a:gridCol w="5619750"/>
                <a:gridCol w="2619375"/>
                <a:gridCol w="2619375"/>
              </a:tblGrid>
              <a:tr h="809625">
                <a:tc>
                  <a:txBody>
                    <a:bodyPr lIns="95250" tIns="95250" rIns="95250" bIns="95250"/>
                    <a:lstStyle/>
                    <a:p>
                      <a:r>
                        <a:rPr sz="1950" b="1">
                          <a:solidFill>
                            <a:srgbClr val="FFFFFF"/>
                          </a:solidFill>
                          <a:latin typeface="Arial"/>
                          <a:ea typeface="Arial"/>
                          <a:cs typeface="Arial"/>
                        </a:rPr>
                        <a:t>Stage</a:t>
                      </a:r>
                    </a:p>
                  </a:txBody>
                  <a:tcPr marL="91440" marR="91440" marT="45720" marB="45720" anchor="ctr">
                    <a:lnL w="5715">
                      <a:solidFill>
                        <a:srgbClr val="DCE5DB"/>
                      </a:solidFill>
                      <a:prstDash val="solid"/>
                    </a:lnL>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c>
                  <a:txBody>
                    <a:bodyPr lIns="95250" tIns="95250" rIns="95250" bIns="95250"/>
                    <a:lstStyle/>
                    <a:p>
                      <a:r>
                        <a:rPr sz="1950" b="1">
                          <a:solidFill>
                            <a:srgbClr val="FFFFFF"/>
                          </a:solidFill>
                          <a:latin typeface="Arial"/>
                          <a:ea typeface="Arial"/>
                          <a:cs typeface="Arial"/>
                        </a:rPr>
                        <a:t>Training</a:t>
                      </a:r>
                    </a:p>
                  </a:txBody>
                  <a:tcPr marL="91440" marR="91440" marT="45720" marB="45720" anchor="ctr">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c>
                  <a:txBody>
                    <a:bodyPr lIns="95250" tIns="95250" rIns="95250" bIns="95250"/>
                    <a:lstStyle/>
                    <a:p>
                      <a:r>
                        <a:rPr sz="1950" b="1">
                          <a:solidFill>
                            <a:srgbClr val="FFFFFF"/>
                          </a:solidFill>
                          <a:latin typeface="Arial"/>
                          <a:ea typeface="Arial"/>
                          <a:cs typeface="Arial"/>
                        </a:rPr>
                        <a:t>Validation</a:t>
                      </a:r>
                    </a:p>
                  </a:txBody>
                  <a:tcPr marL="91440" marR="91440" marT="45720" marB="45720" anchor="ctr">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r>
              <a:tr h="809625">
                <a:tc>
                  <a:txBody>
                    <a:bodyPr lIns="95250" tIns="95250" rIns="95250" bIns="95250"/>
                    <a:lstStyle/>
                    <a:p>
                      <a:r>
                        <a:rPr sz="1950" b="0">
                          <a:solidFill>
                            <a:srgbClr val="24352C"/>
                          </a:solidFill>
                          <a:latin typeface="Arial"/>
                          <a:ea typeface="Arial"/>
                          <a:cs typeface="Arial"/>
                        </a:rPr>
                        <a:t>Original clean split</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950" b="0">
                          <a:solidFill>
                            <a:srgbClr val="24352C"/>
                          </a:solidFill>
                          <a:latin typeface="Arial"/>
                          <a:ea typeface="Arial"/>
                          <a:cs typeface="Arial"/>
                        </a:rPr>
                        <a:t>6,870</a:t>
                      </a:r>
                    </a:p>
                  </a:txBody>
                  <a:tcPr marL="91440" marR="91440" marT="45720" marB="45720" anchor="ctr">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950" b="0">
                          <a:solidFill>
                            <a:srgbClr val="24352C"/>
                          </a:solidFill>
                          <a:latin typeface="Arial"/>
                          <a:ea typeface="Arial"/>
                          <a:cs typeface="Arial"/>
                        </a:rPr>
                        <a:t>390</a:t>
                      </a:r>
                    </a:p>
                  </a:txBody>
                  <a:tcPr marL="91440" marR="91440" marT="45720" marB="45720" anchor="ctr">
                    <a:lnR w="5715">
                      <a:solidFill>
                        <a:srgbClr val="DCE5DB"/>
                      </a:solidFill>
                      <a:prstDash val="solid"/>
                    </a:lnR>
                    <a:lnB w="5715">
                      <a:solidFill>
                        <a:srgbClr val="DCE5DB"/>
                      </a:solidFill>
                      <a:prstDash val="solid"/>
                    </a:lnB>
                    <a:solidFill>
                      <a:srgbClr val="FFFFFF"/>
                    </a:solidFill>
                  </a:tcPr>
                </a:tc>
              </a:tr>
              <a:tr h="809625">
                <a:tc>
                  <a:txBody>
                    <a:bodyPr lIns="95250" tIns="95250" rIns="95250" bIns="95250"/>
                    <a:lstStyle/>
                    <a:p>
                      <a:r>
                        <a:rPr sz="1950" b="0">
                          <a:solidFill>
                            <a:srgbClr val="24352C"/>
                          </a:solidFill>
                          <a:latin typeface="Arial"/>
                          <a:ea typeface="Arial"/>
                          <a:cs typeface="Arial"/>
                        </a:rPr>
                        <a:t>Final paired experiment</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1950" b="0">
                          <a:solidFill>
                            <a:srgbClr val="24352C"/>
                          </a:solidFill>
                          <a:latin typeface="Arial"/>
                          <a:ea typeface="Arial"/>
                          <a:cs typeface="Arial"/>
                        </a:rPr>
                        <a:t>6,790</a:t>
                      </a:r>
                    </a:p>
                  </a:txBody>
                  <a:tcPr marL="91440" marR="91440" marT="45720" marB="45720" anchor="ctr">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1950" b="0">
                          <a:solidFill>
                            <a:srgbClr val="24352C"/>
                          </a:solidFill>
                          <a:latin typeface="Arial"/>
                          <a:ea typeface="Arial"/>
                          <a:cs typeface="Arial"/>
                        </a:rPr>
                        <a:t>388</a:t>
                      </a:r>
                    </a:p>
                  </a:txBody>
                  <a:tcPr marL="91440" marR="91440" marT="45720" marB="45720" anchor="ctr">
                    <a:lnR w="5715">
                      <a:solidFill>
                        <a:srgbClr val="DCE5DB"/>
                      </a:solidFill>
                      <a:prstDash val="solid"/>
                    </a:lnR>
                    <a:lnB w="5715">
                      <a:solidFill>
                        <a:srgbClr val="DCE5DB"/>
                      </a:solidFill>
                      <a:prstDash val="solid"/>
                    </a:lnB>
                    <a:solidFill>
                      <a:srgbClr val="EBEFE7"/>
                    </a:solidFill>
                  </a:tcPr>
                </a:tc>
              </a:tr>
              <a:tr h="809625">
                <a:tc>
                  <a:txBody>
                    <a:bodyPr lIns="95250" tIns="95250" rIns="95250" bIns="95250"/>
                    <a:lstStyle/>
                    <a:p>
                      <a:r>
                        <a:rPr sz="1950" b="0">
                          <a:solidFill>
                            <a:srgbClr val="24352C"/>
                          </a:solidFill>
                          <a:latin typeface="Arial"/>
                          <a:ea typeface="Arial"/>
                          <a:cs typeface="Arial"/>
                        </a:rPr>
                        <a:t>Shared model comparison</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950" b="0">
                          <a:solidFill>
                            <a:srgbClr val="24352C"/>
                          </a:solidFill>
                          <a:latin typeface="Arial"/>
                          <a:ea typeface="Arial"/>
                          <a:cs typeface="Arial"/>
                        </a:rPr>
                        <a:t>depends on the model</a:t>
                      </a:r>
                    </a:p>
                  </a:txBody>
                  <a:tcPr marL="91440" marR="91440" marT="45720" marB="45720" anchor="ctr">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950" b="0">
                          <a:solidFill>
                            <a:srgbClr val="24352C"/>
                          </a:solidFill>
                          <a:latin typeface="Arial"/>
                          <a:ea typeface="Arial"/>
                          <a:cs typeface="Arial"/>
                        </a:rPr>
                        <a:t>368 of the 388</a:t>
                      </a:r>
                    </a:p>
                  </a:txBody>
                  <a:tcPr marL="91440" marR="91440" marT="45720" marB="45720" anchor="ctr">
                    <a:lnR w="5715">
                      <a:solidFill>
                        <a:srgbClr val="DCE5DB"/>
                      </a:solidFill>
                      <a:prstDash val="solid"/>
                    </a:lnR>
                    <a:lnB w="5715">
                      <a:solidFill>
                        <a:srgbClr val="DCE5DB"/>
                      </a:solidFill>
                      <a:prstDash val="solid"/>
                    </a:lnB>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B75207CC-9CD9-4BB0-B359-D9F5358330FC}"/>
              </a:ext>
            </a:extLst>
          </p:cNvPr>
          <p:cNvSpPr>
            <a:spLocks xmlns:a="http://schemas.openxmlformats.org/drawingml/2006/main" noGrp="1"/>
          </p:cNvSpPr>
          <p:nvPr/>
        </p:nvSpPr>
        <p:spPr>
          <a:xfrm xmlns:a="http://schemas.openxmlformats.org/drawingml/2006/main">
            <a:off x="723900" y="523875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24352C"/>
                </a:solidFill>
                <a:latin typeface="Arial"/>
                <a:ea typeface="Arial"/>
                <a:cs typeface="Arial"/>
              </a:defRPr>
            </a:defPPr>
            <a:lvl1pPr>
              <a:defRPr sz="1875" b="0">
                <a:solidFill>
                  <a:srgbClr val="24352C"/>
                </a:solidFill>
                <a:latin typeface="Arial"/>
                <a:ea typeface="Arial"/>
                <a:cs typeface="Arial"/>
              </a:defRPr>
            </a:lvl1pPr>
            <a:lvl2pPr>
              <a:defRPr sz="1875" b="0">
                <a:solidFill>
                  <a:srgbClr val="24352C"/>
                </a:solidFill>
                <a:latin typeface="Arial"/>
                <a:ea typeface="Arial"/>
                <a:cs typeface="Arial"/>
              </a:defRPr>
            </a:lvl2pPr>
            <a:lvl3pPr>
              <a:defRPr sz="1875" b="0">
                <a:solidFill>
                  <a:srgbClr val="24352C"/>
                </a:solidFill>
                <a:latin typeface="Arial"/>
                <a:ea typeface="Arial"/>
                <a:cs typeface="Arial"/>
              </a:defRPr>
            </a:lvl3pPr>
            <a:lvl4pPr>
              <a:defRPr sz="1875" b="0">
                <a:solidFill>
                  <a:srgbClr val="24352C"/>
                </a:solidFill>
                <a:latin typeface="Arial"/>
                <a:ea typeface="Arial"/>
                <a:cs typeface="Arial"/>
              </a:defRPr>
            </a:lvl4pPr>
            <a:lvl5pPr>
              <a:defRPr sz="1875" b="0">
                <a:solidFill>
                  <a:srgbClr val="24352C"/>
                </a:solidFill>
                <a:latin typeface="Arial"/>
                <a:ea typeface="Arial"/>
                <a:cs typeface="Arial"/>
              </a:defRPr>
            </a:lvl5pPr>
            <a:lvl6pPr>
              <a:defRPr sz="1875" b="0">
                <a:solidFill>
                  <a:srgbClr val="24352C"/>
                </a:solidFill>
                <a:latin typeface="Arial"/>
                <a:ea typeface="Arial"/>
                <a:cs typeface="Arial"/>
              </a:defRPr>
            </a:lvl6pPr>
            <a:lvl7pPr>
              <a:defRPr sz="1875" b="0">
                <a:solidFill>
                  <a:srgbClr val="24352C"/>
                </a:solidFill>
                <a:latin typeface="Arial"/>
                <a:ea typeface="Arial"/>
                <a:cs typeface="Arial"/>
              </a:defRPr>
            </a:lvl7pPr>
            <a:lvl8pPr>
              <a:defRPr sz="1875" b="0">
                <a:solidFill>
                  <a:srgbClr val="24352C"/>
                </a:solidFill>
                <a:latin typeface="Arial"/>
                <a:ea typeface="Arial"/>
                <a:cs typeface="Arial"/>
              </a:defRPr>
            </a:lvl8pPr>
            <a:lvl9pPr>
              <a:defRPr sz="1875" b="0">
                <a:solidFill>
                  <a:srgbClr val="24352C"/>
                </a:solidFill>
                <a:latin typeface="Arial"/>
                <a:ea typeface="Arial"/>
                <a:cs typeface="Arial"/>
              </a:defRPr>
            </a:lvl9pPr>
          </a:lstStyle>
          <a:p xmlns:a="http://schemas.openxmlformats.org/drawingml/2006/main">
            <a:pPr>
              <a:defRPr sz="1875" b="0">
                <a:solidFill>
                  <a:srgbClr val="24352C"/>
                </a:solidFill>
                <a:latin typeface="Arial"/>
                <a:ea typeface="Arial"/>
                <a:cs typeface="Arial"/>
              </a:defRPr>
            </a:pPr>
            <a:r>
              <a:rPr sz="1875" b="0">
                <a:solidFill>
                  <a:srgbClr val="24352C"/>
                </a:solidFill>
                <a:latin typeface="Arial"/>
                <a:ea typeface="Arial"/>
                <a:cs typeface="Arial"/>
              </a:rPr>
              <a:t>80 training rows and 2 validation rows quarantined after image-group review</a:t>
            </a:r>
          </a:p>
        </p:txBody>
      </p:sp>
      <p:sp>
        <p:nvSpPr>
          <p:cNvPr id="5" name="text-3">
            <a:extLst xmlns:a="http://schemas.openxmlformats.org/drawingml/2006/main">
              <a:ext uri="{FF2B5EF4-FFF2-40B4-BE49-F238E27FC236}">
                <a16:creationId xmlns:a16="http://schemas.microsoft.com/office/drawing/2014/main" id="{293CD1A9-E087-4359-873D-034729540BFF}"/>
              </a:ext>
            </a:extLst>
          </p:cNvPr>
          <p:cNvSpPr>
            <a:spLocks xmlns:a="http://schemas.openxmlformats.org/drawingml/2006/main" noGrp="1"/>
          </p:cNvSpPr>
          <p:nvPr/>
        </p:nvSpPr>
        <p:spPr>
          <a:xfrm xmlns:a="http://schemas.openxmlformats.org/drawingml/2006/main">
            <a:off x="723900" y="591502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65D"/>
                </a:solidFill>
                <a:latin typeface="Arial"/>
                <a:ea typeface="Arial"/>
                <a:cs typeface="Arial"/>
              </a:defRPr>
            </a:defPPr>
            <a:lvl1pPr>
              <a:defRPr sz="1650" b="0">
                <a:solidFill>
                  <a:srgbClr val="59665D"/>
                </a:solidFill>
                <a:latin typeface="Arial"/>
                <a:ea typeface="Arial"/>
                <a:cs typeface="Arial"/>
              </a:defRPr>
            </a:lvl1pPr>
            <a:lvl2pPr>
              <a:defRPr sz="1650" b="0">
                <a:solidFill>
                  <a:srgbClr val="59665D"/>
                </a:solidFill>
                <a:latin typeface="Arial"/>
                <a:ea typeface="Arial"/>
                <a:cs typeface="Arial"/>
              </a:defRPr>
            </a:lvl2pPr>
            <a:lvl3pPr>
              <a:defRPr sz="1650" b="0">
                <a:solidFill>
                  <a:srgbClr val="59665D"/>
                </a:solidFill>
                <a:latin typeface="Arial"/>
                <a:ea typeface="Arial"/>
                <a:cs typeface="Arial"/>
              </a:defRPr>
            </a:lvl3pPr>
            <a:lvl4pPr>
              <a:defRPr sz="1650" b="0">
                <a:solidFill>
                  <a:srgbClr val="59665D"/>
                </a:solidFill>
                <a:latin typeface="Arial"/>
                <a:ea typeface="Arial"/>
                <a:cs typeface="Arial"/>
              </a:defRPr>
            </a:lvl4pPr>
            <a:lvl5pPr>
              <a:defRPr sz="1650" b="0">
                <a:solidFill>
                  <a:srgbClr val="59665D"/>
                </a:solidFill>
                <a:latin typeface="Arial"/>
                <a:ea typeface="Arial"/>
                <a:cs typeface="Arial"/>
              </a:defRPr>
            </a:lvl5pPr>
            <a:lvl6pPr>
              <a:defRPr sz="1650" b="0">
                <a:solidFill>
                  <a:srgbClr val="59665D"/>
                </a:solidFill>
                <a:latin typeface="Arial"/>
                <a:ea typeface="Arial"/>
                <a:cs typeface="Arial"/>
              </a:defRPr>
            </a:lvl6pPr>
            <a:lvl7pPr>
              <a:defRPr sz="1650" b="0">
                <a:solidFill>
                  <a:srgbClr val="59665D"/>
                </a:solidFill>
                <a:latin typeface="Arial"/>
                <a:ea typeface="Arial"/>
                <a:cs typeface="Arial"/>
              </a:defRPr>
            </a:lvl7pPr>
            <a:lvl8pPr>
              <a:defRPr sz="1650" b="0">
                <a:solidFill>
                  <a:srgbClr val="59665D"/>
                </a:solidFill>
                <a:latin typeface="Arial"/>
                <a:ea typeface="Arial"/>
                <a:cs typeface="Arial"/>
              </a:defRPr>
            </a:lvl8pPr>
            <a:lvl9pPr>
              <a:defRPr sz="1650" b="0">
                <a:solidFill>
                  <a:srgbClr val="59665D"/>
                </a:solidFill>
                <a:latin typeface="Arial"/>
                <a:ea typeface="Arial"/>
                <a:cs typeface="Arial"/>
              </a:defRPr>
            </a:lvl9pPr>
          </a:lstStyle>
          <a:p xmlns:a="http://schemas.openxmlformats.org/drawingml/2006/main">
            <a:pPr>
              <a:defRPr sz="1650" b="0">
                <a:solidFill>
                  <a:srgbClr val="59665D"/>
                </a:solidFill>
                <a:latin typeface="Arial"/>
                <a:ea typeface="Arial"/>
                <a:cs typeface="Arial"/>
              </a:defRPr>
            </a:pPr>
            <a:r>
              <a:rPr sz="1650" b="0">
                <a:solidFill>
                  <a:srgbClr val="59665D"/>
                </a:solidFill>
                <a:latin typeface="Arial"/>
                <a:ea typeface="Arial"/>
                <a:cs typeface="Arial"/>
              </a:rPr>
              <a:t>Original images and manifests remain unchanged.</a:t>
            </a:r>
          </a:p>
        </p:txBody>
      </p:sp>
    </p:spTree>
    <p:extLst>
      <p:ext uri="{BB962C8B-B14F-4D97-AF65-F5344CB8AC3E}">
        <p14:creationId xmlns:p14="http://schemas.microsoft.com/office/powerpoint/2010/main" val="24632868"/>
      </p:ext>
    </p:extLst>
  </p:cSld>
</p:sld>
</file>

<file path=ppt/slides/slide4.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115810DD-7E2C-4E8F-BAC2-750188E0AAF4}"/>
              </a:ext>
            </a:extLst>
          </p:cNvPr>
          <p:cNvSpPr>
            <a:spLocks xmlns:a="http://schemas.openxmlformats.org/drawingml/2006/main" noGrp="1"/>
          </p:cNvSpPr>
          <p:nvPr/>
        </p:nvSpPr>
        <p:spPr>
          <a:xfrm xmlns:a="http://schemas.openxmlformats.org/drawingml/2006/main">
            <a:off x="66675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What I found in the data</a:t>
            </a:r>
          </a:p>
        </p:txBody>
      </p:sp>
      <p:sp>
        <p:nvSpPr>
          <p:cNvPr id="2" name="text-1">
            <a:extLst xmlns:a="http://schemas.openxmlformats.org/drawingml/2006/main">
              <a:ext uri="{FF2B5EF4-FFF2-40B4-BE49-F238E27FC236}">
                <a16:creationId xmlns:a16="http://schemas.microsoft.com/office/drawing/2014/main" id="{001227AF-D239-4AEE-BAE8-863F9282E6A2}"/>
              </a:ext>
            </a:extLst>
          </p:cNvPr>
          <p:cNvSpPr>
            <a:spLocks xmlns:a="http://schemas.openxmlformats.org/drawingml/2006/main" noGrp="1"/>
          </p:cNvSpPr>
          <p:nvPr/>
        </p:nvSpPr>
        <p:spPr>
          <a:xfrm xmlns:a="http://schemas.openxmlformats.org/drawingml/2006/main">
            <a:off x="666750" y="641985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MROOT  04</a:t>
            </a:r>
          </a:p>
        </p:txBody>
      </p:sp>
      <p:graphicFrame>
        <p:nvGraphicFramePr>
          <p:cNvPr id="3" name="Chart">
            <a:extLst xmlns:a="http://schemas.openxmlformats.org/drawingml/2006/main">
              <a:ext uri="{FF2B5EF4-FFF2-40B4-BE49-F238E27FC236}">
                <a16:creationId xmlns:a16="http://schemas.microsoft.com/office/drawing/2014/main" id="{CCA27052-153A-4F93-97B1-374A5369219B}"/>
              </a:ext>
            </a:extLst>
          </p:cNvPr>
          <p:cNvGraphicFramePr/>
          <p:nvPr/>
        </p:nvGraphicFramePr>
        <p:xfrm>
          <a:off xmlns:a="http://schemas.openxmlformats.org/drawingml/2006/main" x="666750" y="1428750"/>
          <a:ext xmlns:a="http://schemas.openxmlformats.org/drawingml/2006/main" cx="10572750" cy="4000500"/>
        </p:xfrm>
        <a:graphic xmlns:a="http://schemas.openxmlformats.org/drawingml/2006/main">
          <a:graphicData uri="http://schemas.openxmlformats.org/drawingml/2006/chart">
            <c:chart xmlns:r="http://schemas.openxmlformats.org/officeDocument/2006/relationships" xmlns:c="http://schemas.openxmlformats.org/drawingml/2006/chart" r:id="Rf84e81e4591d40b6"/>
          </a:graphicData>
        </a:graphic>
      </p:graphicFrame>
      <p:sp>
        <p:nvSpPr>
          <p:cNvPr id="4" name="text-2">
            <a:extLst xmlns:a="http://schemas.openxmlformats.org/drawingml/2006/main">
              <a:ext uri="{FF2B5EF4-FFF2-40B4-BE49-F238E27FC236}">
                <a16:creationId xmlns:a16="http://schemas.microsoft.com/office/drawing/2014/main" id="{11F36615-EB12-4352-B988-60D87F6A08D4}"/>
              </a:ext>
            </a:extLst>
          </p:cNvPr>
          <p:cNvSpPr>
            <a:spLocks xmlns:a="http://schemas.openxmlformats.org/drawingml/2006/main" noGrp="1"/>
          </p:cNvSpPr>
          <p:nvPr/>
        </p:nvSpPr>
        <p:spPr>
          <a:xfrm xmlns:a="http://schemas.openxmlformats.org/drawingml/2006/main">
            <a:off x="723900" y="565785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24352C"/>
                </a:solidFill>
                <a:latin typeface="Arial"/>
                <a:ea typeface="Arial"/>
                <a:cs typeface="Arial"/>
              </a:defRPr>
            </a:defPPr>
            <a:lvl1pPr>
              <a:defRPr sz="1875" b="0">
                <a:solidFill>
                  <a:srgbClr val="24352C"/>
                </a:solidFill>
                <a:latin typeface="Arial"/>
                <a:ea typeface="Arial"/>
                <a:cs typeface="Arial"/>
              </a:defRPr>
            </a:lvl1pPr>
            <a:lvl2pPr>
              <a:defRPr sz="1875" b="0">
                <a:solidFill>
                  <a:srgbClr val="24352C"/>
                </a:solidFill>
                <a:latin typeface="Arial"/>
                <a:ea typeface="Arial"/>
                <a:cs typeface="Arial"/>
              </a:defRPr>
            </a:lvl2pPr>
            <a:lvl3pPr>
              <a:defRPr sz="1875" b="0">
                <a:solidFill>
                  <a:srgbClr val="24352C"/>
                </a:solidFill>
                <a:latin typeface="Arial"/>
                <a:ea typeface="Arial"/>
                <a:cs typeface="Arial"/>
              </a:defRPr>
            </a:lvl3pPr>
            <a:lvl4pPr>
              <a:defRPr sz="1875" b="0">
                <a:solidFill>
                  <a:srgbClr val="24352C"/>
                </a:solidFill>
                <a:latin typeface="Arial"/>
                <a:ea typeface="Arial"/>
                <a:cs typeface="Arial"/>
              </a:defRPr>
            </a:lvl4pPr>
            <a:lvl5pPr>
              <a:defRPr sz="1875" b="0">
                <a:solidFill>
                  <a:srgbClr val="24352C"/>
                </a:solidFill>
                <a:latin typeface="Arial"/>
                <a:ea typeface="Arial"/>
                <a:cs typeface="Arial"/>
              </a:defRPr>
            </a:lvl5pPr>
            <a:lvl6pPr>
              <a:defRPr sz="1875" b="0">
                <a:solidFill>
                  <a:srgbClr val="24352C"/>
                </a:solidFill>
                <a:latin typeface="Arial"/>
                <a:ea typeface="Arial"/>
                <a:cs typeface="Arial"/>
              </a:defRPr>
            </a:lvl6pPr>
            <a:lvl7pPr>
              <a:defRPr sz="1875" b="0">
                <a:solidFill>
                  <a:srgbClr val="24352C"/>
                </a:solidFill>
                <a:latin typeface="Arial"/>
                <a:ea typeface="Arial"/>
                <a:cs typeface="Arial"/>
              </a:defRPr>
            </a:lvl7pPr>
            <a:lvl8pPr>
              <a:defRPr sz="1875" b="0">
                <a:solidFill>
                  <a:srgbClr val="24352C"/>
                </a:solidFill>
                <a:latin typeface="Arial"/>
                <a:ea typeface="Arial"/>
                <a:cs typeface="Arial"/>
              </a:defRPr>
            </a:lvl8pPr>
            <a:lvl9pPr>
              <a:defRPr sz="1875" b="0">
                <a:solidFill>
                  <a:srgbClr val="24352C"/>
                </a:solidFill>
                <a:latin typeface="Arial"/>
                <a:ea typeface="Arial"/>
                <a:cs typeface="Arial"/>
              </a:defRPr>
            </a:lvl9pPr>
          </a:lstStyle>
          <a:p xmlns:a="http://schemas.openxmlformats.org/drawingml/2006/main">
            <a:pPr>
              <a:defRPr sz="1875" b="0">
                <a:solidFill>
                  <a:srgbClr val="24352C"/>
                </a:solidFill>
                <a:latin typeface="Arial"/>
                <a:ea typeface="Arial"/>
                <a:cs typeface="Arial"/>
              </a:defRPr>
            </a:pPr>
            <a:r>
              <a:rPr sz="1875" b="0">
                <a:solidFill>
                  <a:srgbClr val="24352C"/>
                </a:solidFill>
                <a:latin typeface="Arial"/>
                <a:ea typeface="Arial"/>
                <a:cs typeface="Arial"/>
              </a:rPr>
              <a:t>7,178 files checked. No missing disease labels or unreadable files.</a:t>
            </a:r>
          </a:p>
        </p:txBody>
      </p:sp>
    </p:spTree>
    <p:extLst>
      <p:ext uri="{BB962C8B-B14F-4D97-AF65-F5344CB8AC3E}">
        <p14:creationId xmlns:p14="http://schemas.microsoft.com/office/powerpoint/2010/main" val="1263222828"/>
      </p:ext>
    </p:extLst>
  </p:cSld>
</p:sld>
</file>

<file path=ppt/slides/slide5.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A2E98150-D079-4F7D-9D4C-D7CF1281BE89}"/>
              </a:ext>
            </a:extLst>
          </p:cNvPr>
          <p:cNvSpPr>
            <a:spLocks xmlns:a="http://schemas.openxmlformats.org/drawingml/2006/main" noGrp="1"/>
          </p:cNvSpPr>
          <p:nvPr/>
        </p:nvSpPr>
        <p:spPr>
          <a:xfrm xmlns:a="http://schemas.openxmlformats.org/drawingml/2006/main">
            <a:off x="66675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The starting model</a:t>
            </a:r>
          </a:p>
        </p:txBody>
      </p:sp>
      <p:sp>
        <p:nvSpPr>
          <p:cNvPr id="2" name="text-1">
            <a:extLst xmlns:a="http://schemas.openxmlformats.org/drawingml/2006/main">
              <a:ext uri="{FF2B5EF4-FFF2-40B4-BE49-F238E27FC236}">
                <a16:creationId xmlns:a16="http://schemas.microsoft.com/office/drawing/2014/main" id="{B78F91E7-1B1F-44EC-891F-B8BC4449FF4D}"/>
              </a:ext>
            </a:extLst>
          </p:cNvPr>
          <p:cNvSpPr>
            <a:spLocks xmlns:a="http://schemas.openxmlformats.org/drawingml/2006/main" noGrp="1"/>
          </p:cNvSpPr>
          <p:nvPr/>
        </p:nvSpPr>
        <p:spPr>
          <a:xfrm xmlns:a="http://schemas.openxmlformats.org/drawingml/2006/main">
            <a:off x="666750" y="641985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MROOT  05</a:t>
            </a:r>
          </a:p>
        </p:txBody>
      </p:sp>
      <p:graphicFrame>
        <p:nvGraphicFramePr>
          <p:cNvPr id="3" name="">
            <a:extLst xmlns:a="http://schemas.openxmlformats.org/drawingml/2006/main">
              <a:ext uri="{FF2B5EF4-FFF2-40B4-BE49-F238E27FC236}">
                <a16:creationId xmlns:a16="http://schemas.microsoft.com/office/drawing/2014/main" id="{573E08EC-4897-42EC-81B9-72E3B5E13729}"/>
              </a:ext>
            </a:extLst>
          </p:cNvPr>
          <p:cNvGraphicFramePr/>
          <p:nvPr/>
        </p:nvGraphicFramePr>
        <p:xfrm>
          <a:off xmlns:a="http://schemas.openxmlformats.org/drawingml/2006/main" x="666750" y="1638300"/>
          <a:ext xmlns:a="http://schemas.openxmlformats.org/drawingml/2006/main" cx="10858500" cy="3143250"/>
        </p:xfrm>
        <a:graphic xmlns:a="http://schemas.openxmlformats.org/drawingml/2006/main">
          <a:graphicData uri="http://schemas.openxmlformats.org/drawingml/2006/table">
            <a:tbl>
              <a:tblPr/>
              <a:tblGrid>
                <a:gridCol w="8096250"/>
                <a:gridCol w="2762250"/>
              </a:tblGrid>
              <a:tr h="785813">
                <a:tc>
                  <a:txBody>
                    <a:bodyPr lIns="95250" tIns="95250" rIns="95250" bIns="95250"/>
                    <a:lstStyle/>
                    <a:p>
                      <a:r>
                        <a:rPr sz="1950" b="1">
                          <a:solidFill>
                            <a:srgbClr val="FFFFFF"/>
                          </a:solidFill>
                          <a:latin typeface="Arial"/>
                          <a:ea typeface="Arial"/>
                          <a:cs typeface="Arial"/>
                        </a:rPr>
                        <a:t>System on original validation</a:t>
                      </a:r>
                    </a:p>
                  </a:txBody>
                  <a:tcPr marL="91440" marR="91440" marT="45720" marB="45720" anchor="ctr">
                    <a:lnL w="5715">
                      <a:solidFill>
                        <a:srgbClr val="DCE5DB"/>
                      </a:solidFill>
                      <a:prstDash val="solid"/>
                    </a:lnL>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c>
                  <a:txBody>
                    <a:bodyPr lIns="95250" tIns="95250" rIns="95250" bIns="95250"/>
                    <a:lstStyle/>
                    <a:p>
                      <a:r>
                        <a:rPr sz="1950" b="1">
                          <a:solidFill>
                            <a:srgbClr val="FFFFFF"/>
                          </a:solidFill>
                          <a:latin typeface="Arial"/>
                          <a:ea typeface="Arial"/>
                          <a:cs typeface="Arial"/>
                        </a:rPr>
                        <a:t>Macro mAP</a:t>
                      </a:r>
                    </a:p>
                  </a:txBody>
                  <a:tcPr marL="91440" marR="91440" marT="45720" marB="45720" anchor="ctr">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r>
              <a:tr h="785813">
                <a:tc>
                  <a:txBody>
                    <a:bodyPr lIns="95250" tIns="95250" rIns="95250" bIns="95250"/>
                    <a:lstStyle/>
                    <a:p>
                      <a:r>
                        <a:rPr sz="1950" b="0">
                          <a:solidFill>
                            <a:srgbClr val="24352C"/>
                          </a:solidFill>
                          <a:latin typeface="Arial"/>
                          <a:ea typeface="Arial"/>
                          <a:cs typeface="Arial"/>
                        </a:rPr>
                        <a:t>Clean ViT baseline</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950" b="0">
                          <a:solidFill>
                            <a:srgbClr val="24352C"/>
                          </a:solidFill>
                          <a:latin typeface="Arial"/>
                          <a:ea typeface="Arial"/>
                          <a:cs typeface="Arial"/>
                        </a:rPr>
                        <a:t>about 90.64%</a:t>
                      </a:r>
                    </a:p>
                  </a:txBody>
                  <a:tcPr marL="91440" marR="91440" marT="45720" marB="45720" anchor="ctr">
                    <a:lnR w="5715">
                      <a:solidFill>
                        <a:srgbClr val="DCE5DB"/>
                      </a:solidFill>
                      <a:prstDash val="solid"/>
                    </a:lnR>
                    <a:lnB w="5715">
                      <a:solidFill>
                        <a:srgbClr val="DCE5DB"/>
                      </a:solidFill>
                      <a:prstDash val="solid"/>
                    </a:lnB>
                    <a:solidFill>
                      <a:srgbClr val="FFFFFF"/>
                    </a:solidFill>
                  </a:tcPr>
                </a:tc>
              </a:tr>
              <a:tr h="785813">
                <a:tc>
                  <a:txBody>
                    <a:bodyPr lIns="95250" tIns="95250" rIns="95250" bIns="95250"/>
                    <a:lstStyle/>
                    <a:p>
                      <a:r>
                        <a:rPr sz="1950" b="0">
                          <a:solidFill>
                            <a:srgbClr val="24352C"/>
                          </a:solidFill>
                          <a:latin typeface="Arial"/>
                          <a:ea typeface="Arial"/>
                          <a:cs typeface="Arial"/>
                        </a:rPr>
                        <a:t>Two EVA Small models</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1950" b="0">
                          <a:solidFill>
                            <a:srgbClr val="24352C"/>
                          </a:solidFill>
                          <a:latin typeface="Arial"/>
                          <a:ea typeface="Arial"/>
                          <a:cs typeface="Arial"/>
                        </a:rPr>
                        <a:t>about 93.53%</a:t>
                      </a:r>
                    </a:p>
                  </a:txBody>
                  <a:tcPr marL="91440" marR="91440" marT="45720" marB="45720" anchor="ctr">
                    <a:lnR w="5715">
                      <a:solidFill>
                        <a:srgbClr val="DCE5DB"/>
                      </a:solidFill>
                      <a:prstDash val="solid"/>
                    </a:lnR>
                    <a:lnB w="5715">
                      <a:solidFill>
                        <a:srgbClr val="DCE5DB"/>
                      </a:solidFill>
                      <a:prstDash val="solid"/>
                    </a:lnB>
                    <a:solidFill>
                      <a:srgbClr val="EBEFE7"/>
                    </a:solidFill>
                  </a:tcPr>
                </a:tc>
              </a:tr>
              <a:tr h="785813">
                <a:tc>
                  <a:txBody>
                    <a:bodyPr lIns="95250" tIns="95250" rIns="95250" bIns="95250"/>
                    <a:lstStyle/>
                    <a:p>
                      <a:r>
                        <a:rPr sz="1950" b="0">
                          <a:solidFill>
                            <a:srgbClr val="24352C"/>
                          </a:solidFill>
                          <a:latin typeface="Arial"/>
                          <a:ea typeface="Arial"/>
                          <a:cs typeface="Arial"/>
                        </a:rPr>
                        <a:t>Three EVA Small models, reproduced</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950" b="0">
                          <a:solidFill>
                            <a:srgbClr val="24352C"/>
                          </a:solidFill>
                          <a:latin typeface="Arial"/>
                          <a:ea typeface="Arial"/>
                          <a:cs typeface="Arial"/>
                        </a:rPr>
                        <a:t>94.72%</a:t>
                      </a:r>
                    </a:p>
                  </a:txBody>
                  <a:tcPr marL="91440" marR="91440" marT="45720" marB="45720" anchor="ctr">
                    <a:lnR w="5715">
                      <a:solidFill>
                        <a:srgbClr val="DCE5DB"/>
                      </a:solidFill>
                      <a:prstDash val="solid"/>
                    </a:lnR>
                    <a:lnB w="5715">
                      <a:solidFill>
                        <a:srgbClr val="DCE5DB"/>
                      </a:solidFill>
                      <a:prstDash val="solid"/>
                    </a:lnB>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FBA3C9C8-50CD-409E-9CB0-D843926C58C0}"/>
              </a:ext>
            </a:extLst>
          </p:cNvPr>
          <p:cNvSpPr>
            <a:spLocks xmlns:a="http://schemas.openxmlformats.org/drawingml/2006/main" noGrp="1"/>
          </p:cNvSpPr>
          <p:nvPr/>
        </p:nvSpPr>
        <p:spPr>
          <a:xfrm xmlns:a="http://schemas.openxmlformats.org/drawingml/2006/main">
            <a:off x="723900" y="518160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52C"/>
                </a:solidFill>
                <a:latin typeface="Arial"/>
                <a:ea typeface="Arial"/>
                <a:cs typeface="Arial"/>
              </a:defRPr>
            </a:defPPr>
            <a:lvl1pPr>
              <a:defRPr sz="2175" b="0">
                <a:solidFill>
                  <a:srgbClr val="24352C"/>
                </a:solidFill>
                <a:latin typeface="Arial"/>
                <a:ea typeface="Arial"/>
                <a:cs typeface="Arial"/>
              </a:defRPr>
            </a:lvl1pPr>
            <a:lvl2pPr>
              <a:defRPr sz="2175" b="0">
                <a:solidFill>
                  <a:srgbClr val="24352C"/>
                </a:solidFill>
                <a:latin typeface="Arial"/>
                <a:ea typeface="Arial"/>
                <a:cs typeface="Arial"/>
              </a:defRPr>
            </a:lvl2pPr>
            <a:lvl3pPr>
              <a:defRPr sz="2175" b="0">
                <a:solidFill>
                  <a:srgbClr val="24352C"/>
                </a:solidFill>
                <a:latin typeface="Arial"/>
                <a:ea typeface="Arial"/>
                <a:cs typeface="Arial"/>
              </a:defRPr>
            </a:lvl3pPr>
            <a:lvl4pPr>
              <a:defRPr sz="2175" b="0">
                <a:solidFill>
                  <a:srgbClr val="24352C"/>
                </a:solidFill>
                <a:latin typeface="Arial"/>
                <a:ea typeface="Arial"/>
                <a:cs typeface="Arial"/>
              </a:defRPr>
            </a:lvl4pPr>
            <a:lvl5pPr>
              <a:defRPr sz="2175" b="0">
                <a:solidFill>
                  <a:srgbClr val="24352C"/>
                </a:solidFill>
                <a:latin typeface="Arial"/>
                <a:ea typeface="Arial"/>
                <a:cs typeface="Arial"/>
              </a:defRPr>
            </a:lvl5pPr>
            <a:lvl6pPr>
              <a:defRPr sz="2175" b="0">
                <a:solidFill>
                  <a:srgbClr val="24352C"/>
                </a:solidFill>
                <a:latin typeface="Arial"/>
                <a:ea typeface="Arial"/>
                <a:cs typeface="Arial"/>
              </a:defRPr>
            </a:lvl6pPr>
            <a:lvl7pPr>
              <a:defRPr sz="2175" b="0">
                <a:solidFill>
                  <a:srgbClr val="24352C"/>
                </a:solidFill>
                <a:latin typeface="Arial"/>
                <a:ea typeface="Arial"/>
                <a:cs typeface="Arial"/>
              </a:defRPr>
            </a:lvl7pPr>
            <a:lvl8pPr>
              <a:defRPr sz="2175" b="0">
                <a:solidFill>
                  <a:srgbClr val="24352C"/>
                </a:solidFill>
                <a:latin typeface="Arial"/>
                <a:ea typeface="Arial"/>
                <a:cs typeface="Arial"/>
              </a:defRPr>
            </a:lvl8pPr>
            <a:lvl9pPr>
              <a:defRPr sz="2175" b="0">
                <a:solidFill>
                  <a:srgbClr val="24352C"/>
                </a:solidFill>
                <a:latin typeface="Arial"/>
                <a:ea typeface="Arial"/>
                <a:cs typeface="Arial"/>
              </a:defRPr>
            </a:lvl9pPr>
          </a:lstStyle>
          <a:p xmlns:a="http://schemas.openxmlformats.org/drawingml/2006/main">
            <a:pPr>
              <a:defRPr sz="2175" b="0">
                <a:solidFill>
                  <a:srgbClr val="24352C"/>
                </a:solidFill>
                <a:latin typeface="Arial"/>
                <a:ea typeface="Arial"/>
                <a:cs typeface="Arial"/>
              </a:defRPr>
            </a:pPr>
            <a:r>
              <a:rPr sz="2175" b="0">
                <a:solidFill>
                  <a:srgbClr val="24352C"/>
                </a:solidFill>
                <a:latin typeface="Arial"/>
                <a:ea typeface="Arial"/>
                <a:cs typeface="Arial"/>
              </a:rPr>
              <a:t>Three independent Small models at 336 × 336 pixels</a:t>
            </a:r>
          </a:p>
        </p:txBody>
      </p:sp>
      <p:sp>
        <p:nvSpPr>
          <p:cNvPr id="5" name="text-3">
            <a:extLst xmlns:a="http://schemas.openxmlformats.org/drawingml/2006/main">
              <a:ext uri="{FF2B5EF4-FFF2-40B4-BE49-F238E27FC236}">
                <a16:creationId xmlns:a16="http://schemas.microsoft.com/office/drawing/2014/main" id="{FB5903F5-1547-485C-8527-A797369F103E}"/>
              </a:ext>
            </a:extLst>
          </p:cNvPr>
          <p:cNvSpPr>
            <a:spLocks xmlns:a="http://schemas.openxmlformats.org/drawingml/2006/main" noGrp="1"/>
          </p:cNvSpPr>
          <p:nvPr/>
        </p:nvSpPr>
        <p:spPr>
          <a:xfrm xmlns:a="http://schemas.openxmlformats.org/drawingml/2006/main">
            <a:off x="723900" y="57912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9665D"/>
                </a:solidFill>
                <a:latin typeface="Arial"/>
                <a:ea typeface="Arial"/>
                <a:cs typeface="Arial"/>
              </a:defRPr>
            </a:defPPr>
            <a:lvl1pPr>
              <a:defRPr sz="1800" b="0">
                <a:solidFill>
                  <a:srgbClr val="59665D"/>
                </a:solidFill>
                <a:latin typeface="Arial"/>
                <a:ea typeface="Arial"/>
                <a:cs typeface="Arial"/>
              </a:defRPr>
            </a:lvl1pPr>
            <a:lvl2pPr>
              <a:defRPr sz="1800" b="0">
                <a:solidFill>
                  <a:srgbClr val="59665D"/>
                </a:solidFill>
                <a:latin typeface="Arial"/>
                <a:ea typeface="Arial"/>
                <a:cs typeface="Arial"/>
              </a:defRPr>
            </a:lvl2pPr>
            <a:lvl3pPr>
              <a:defRPr sz="1800" b="0">
                <a:solidFill>
                  <a:srgbClr val="59665D"/>
                </a:solidFill>
                <a:latin typeface="Arial"/>
                <a:ea typeface="Arial"/>
                <a:cs typeface="Arial"/>
              </a:defRPr>
            </a:lvl3pPr>
            <a:lvl4pPr>
              <a:defRPr sz="1800" b="0">
                <a:solidFill>
                  <a:srgbClr val="59665D"/>
                </a:solidFill>
                <a:latin typeface="Arial"/>
                <a:ea typeface="Arial"/>
                <a:cs typeface="Arial"/>
              </a:defRPr>
            </a:lvl4pPr>
            <a:lvl5pPr>
              <a:defRPr sz="1800" b="0">
                <a:solidFill>
                  <a:srgbClr val="59665D"/>
                </a:solidFill>
                <a:latin typeface="Arial"/>
                <a:ea typeface="Arial"/>
                <a:cs typeface="Arial"/>
              </a:defRPr>
            </a:lvl5pPr>
            <a:lvl6pPr>
              <a:defRPr sz="1800" b="0">
                <a:solidFill>
                  <a:srgbClr val="59665D"/>
                </a:solidFill>
                <a:latin typeface="Arial"/>
                <a:ea typeface="Arial"/>
                <a:cs typeface="Arial"/>
              </a:defRPr>
            </a:lvl6pPr>
            <a:lvl7pPr>
              <a:defRPr sz="1800" b="0">
                <a:solidFill>
                  <a:srgbClr val="59665D"/>
                </a:solidFill>
                <a:latin typeface="Arial"/>
                <a:ea typeface="Arial"/>
                <a:cs typeface="Arial"/>
              </a:defRPr>
            </a:lvl7pPr>
            <a:lvl8pPr>
              <a:defRPr sz="1800" b="0">
                <a:solidFill>
                  <a:srgbClr val="59665D"/>
                </a:solidFill>
                <a:latin typeface="Arial"/>
                <a:ea typeface="Arial"/>
                <a:cs typeface="Arial"/>
              </a:defRPr>
            </a:lvl8pPr>
            <a:lvl9pPr>
              <a:defRPr sz="1800" b="0">
                <a:solidFill>
                  <a:srgbClr val="59665D"/>
                </a:solidFill>
                <a:latin typeface="Arial"/>
                <a:ea typeface="Arial"/>
                <a:cs typeface="Arial"/>
              </a:defRPr>
            </a:lvl9pPr>
          </a:lstStyle>
          <a:p xmlns:a="http://schemas.openxmlformats.org/drawingml/2006/main">
            <a:pPr>
              <a:defRPr sz="1800" b="0">
                <a:solidFill>
                  <a:srgbClr val="59665D"/>
                </a:solidFill>
                <a:latin typeface="Arial"/>
                <a:ea typeface="Arial"/>
                <a:cs typeface="Arial"/>
              </a:defRPr>
            </a:pPr>
            <a:r>
              <a:rPr sz="1800" b="0">
                <a:solidFill>
                  <a:srgbClr val="59665D"/>
                </a:solidFill>
                <a:latin typeface="Arial"/>
                <a:ea typeface="Arial"/>
                <a:cs typeface="Arial"/>
              </a:rPr>
              <a:t>Macro mAP 94.72%     Top-1 accuracy 88.72%     390 images</a:t>
            </a:r>
          </a:p>
        </p:txBody>
      </p:sp>
    </p:spTree>
    <p:extLst>
      <p:ext uri="{BB962C8B-B14F-4D97-AF65-F5344CB8AC3E}">
        <p14:creationId xmlns:p14="http://schemas.microsoft.com/office/powerpoint/2010/main" val="475645356"/>
      </p:ext>
    </p:extLst>
  </p:cSld>
</p:sld>
</file>

<file path=ppt/slides/slide6.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A10F1B88-B47D-48CE-B67D-52F717A0E009}"/>
              </a:ext>
            </a:extLst>
          </p:cNvPr>
          <p:cNvSpPr>
            <a:spLocks xmlns:a="http://schemas.openxmlformats.org/drawingml/2006/main" noGrp="1"/>
          </p:cNvSpPr>
          <p:nvPr/>
        </p:nvSpPr>
        <p:spPr>
          <a:xfrm xmlns:a="http://schemas.openxmlformats.org/drawingml/2006/main">
            <a:off x="66675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The experiments before the final pair</a:t>
            </a:r>
          </a:p>
        </p:txBody>
      </p:sp>
      <p:sp>
        <p:nvSpPr>
          <p:cNvPr id="2" name="text-1">
            <a:extLst xmlns:a="http://schemas.openxmlformats.org/drawingml/2006/main">
              <a:ext uri="{FF2B5EF4-FFF2-40B4-BE49-F238E27FC236}">
                <a16:creationId xmlns:a16="http://schemas.microsoft.com/office/drawing/2014/main" id="{E62FE3CE-D40F-45C4-A369-95041E632E73}"/>
              </a:ext>
            </a:extLst>
          </p:cNvPr>
          <p:cNvSpPr>
            <a:spLocks xmlns:a="http://schemas.openxmlformats.org/drawingml/2006/main" noGrp="1"/>
          </p:cNvSpPr>
          <p:nvPr/>
        </p:nvSpPr>
        <p:spPr>
          <a:xfrm xmlns:a="http://schemas.openxmlformats.org/drawingml/2006/main">
            <a:off x="666750" y="641985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MROOT  06</a:t>
            </a:r>
          </a:p>
        </p:txBody>
      </p:sp>
      <p:graphicFrame>
        <p:nvGraphicFramePr>
          <p:cNvPr id="3" name="">
            <a:extLst xmlns:a="http://schemas.openxmlformats.org/drawingml/2006/main">
              <a:ext uri="{FF2B5EF4-FFF2-40B4-BE49-F238E27FC236}">
                <a16:creationId xmlns:a16="http://schemas.microsoft.com/office/drawing/2014/main" id="{FC744A89-DD3E-4A51-BCB8-18296DDCB2F7}"/>
              </a:ext>
            </a:extLst>
          </p:cNvPr>
          <p:cNvGraphicFramePr/>
          <p:nvPr/>
        </p:nvGraphicFramePr>
        <p:xfrm>
          <a:off xmlns:a="http://schemas.openxmlformats.org/drawingml/2006/main" x="666750" y="1571625"/>
          <a:ext xmlns:a="http://schemas.openxmlformats.org/drawingml/2006/main" cx="10858500" cy="3714750"/>
        </p:xfrm>
        <a:graphic xmlns:a="http://schemas.openxmlformats.org/drawingml/2006/main">
          <a:graphicData uri="http://schemas.openxmlformats.org/drawingml/2006/table">
            <a:tbl>
              <a:tblPr/>
              <a:tblGrid>
                <a:gridCol w="5715000"/>
                <a:gridCol w="5143500"/>
              </a:tblGrid>
              <a:tr h="742950">
                <a:tc>
                  <a:txBody>
                    <a:bodyPr lIns="95250" tIns="95250" rIns="95250" bIns="95250"/>
                    <a:lstStyle/>
                    <a:p>
                      <a:r>
                        <a:rPr sz="1875" b="1">
                          <a:solidFill>
                            <a:srgbClr val="FFFFFF"/>
                          </a:solidFill>
                          <a:latin typeface="Arial"/>
                          <a:ea typeface="Arial"/>
                          <a:cs typeface="Arial"/>
                        </a:rPr>
                        <a:t>Change</a:t>
                      </a:r>
                    </a:p>
                  </a:txBody>
                  <a:tcPr marL="91440" marR="91440" marT="45720" marB="45720" anchor="ctr">
                    <a:lnL w="5715">
                      <a:solidFill>
                        <a:srgbClr val="DCE5DB"/>
                      </a:solidFill>
                      <a:prstDash val="solid"/>
                    </a:lnL>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c>
                  <a:txBody>
                    <a:bodyPr lIns="95250" tIns="95250" rIns="95250" bIns="95250"/>
                    <a:lstStyle/>
                    <a:p>
                      <a:r>
                        <a:rPr sz="1875" b="1">
                          <a:solidFill>
                            <a:srgbClr val="FFFFFF"/>
                          </a:solidFill>
                          <a:latin typeface="Arial"/>
                          <a:ea typeface="Arial"/>
                          <a:cs typeface="Arial"/>
                        </a:rPr>
                        <a:t>What I learned</a:t>
                      </a:r>
                    </a:p>
                  </a:txBody>
                  <a:tcPr marL="91440" marR="91440" marT="45720" marB="45720" anchor="ctr">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r>
              <a:tr h="742950">
                <a:tc>
                  <a:txBody>
                    <a:bodyPr lIns="95250" tIns="95250" rIns="95250" bIns="95250"/>
                    <a:lstStyle/>
                    <a:p>
                      <a:r>
                        <a:rPr sz="1875" b="0">
                          <a:solidFill>
                            <a:srgbClr val="24352C"/>
                          </a:solidFill>
                          <a:latin typeface="Arial"/>
                          <a:ea typeface="Arial"/>
                          <a:cs typeface="Arial"/>
                        </a:rPr>
                        <a:t>Global ensemble weight grid</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875" b="0">
                          <a:solidFill>
                            <a:srgbClr val="24352C"/>
                          </a:solidFill>
                          <a:latin typeface="Arial"/>
                          <a:ea typeface="Arial"/>
                          <a:cs typeface="Arial"/>
                        </a:rPr>
                        <a:t>Cross-fitted result got worse</a:t>
                      </a:r>
                    </a:p>
                  </a:txBody>
                  <a:tcPr marL="91440" marR="91440" marT="45720" marB="45720" anchor="ctr">
                    <a:lnR w="5715">
                      <a:solidFill>
                        <a:srgbClr val="DCE5DB"/>
                      </a:solidFill>
                      <a:prstDash val="solid"/>
                    </a:lnR>
                    <a:lnB w="5715">
                      <a:solidFill>
                        <a:srgbClr val="DCE5DB"/>
                      </a:solidFill>
                      <a:prstDash val="solid"/>
                    </a:lnB>
                    <a:solidFill>
                      <a:srgbClr val="FFFFFF"/>
                    </a:solidFill>
                  </a:tcPr>
                </a:tc>
              </a:tr>
              <a:tr h="742950">
                <a:tc>
                  <a:txBody>
                    <a:bodyPr lIns="95250" tIns="95250" rIns="95250" bIns="95250"/>
                    <a:lstStyle/>
                    <a:p>
                      <a:r>
                        <a:rPr sz="1875" b="0">
                          <a:solidFill>
                            <a:srgbClr val="24352C"/>
                          </a:solidFill>
                          <a:latin typeface="Arial"/>
                          <a:ea typeface="Arial"/>
                          <a:cs typeface="Arial"/>
                        </a:rPr>
                        <a:t>Natural sampling and weighted loss</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1875" b="0">
                          <a:solidFill>
                            <a:srgbClr val="24352C"/>
                          </a:solidFill>
                          <a:latin typeface="Arial"/>
                          <a:ea typeface="Arial"/>
                          <a:cs typeface="Arial"/>
                        </a:rPr>
                        <a:t>Only a small ensemble gain</a:t>
                      </a:r>
                    </a:p>
                  </a:txBody>
                  <a:tcPr marL="91440" marR="91440" marT="45720" marB="45720" anchor="ctr">
                    <a:lnR w="5715">
                      <a:solidFill>
                        <a:srgbClr val="DCE5DB"/>
                      </a:solidFill>
                      <a:prstDash val="solid"/>
                    </a:lnR>
                    <a:lnB w="5715">
                      <a:solidFill>
                        <a:srgbClr val="DCE5DB"/>
                      </a:solidFill>
                      <a:prstDash val="solid"/>
                    </a:lnB>
                    <a:solidFill>
                      <a:srgbClr val="EBEFE7"/>
                    </a:solidFill>
                  </a:tcPr>
                </a:tc>
              </a:tr>
              <a:tr h="742950">
                <a:tc>
                  <a:txBody>
                    <a:bodyPr lIns="95250" tIns="95250" rIns="95250" bIns="95250"/>
                    <a:lstStyle/>
                    <a:p>
                      <a:r>
                        <a:rPr sz="1875" b="0">
                          <a:solidFill>
                            <a:srgbClr val="24352C"/>
                          </a:solidFill>
                          <a:latin typeface="Arial"/>
                          <a:ea typeface="Arial"/>
                          <a:cs typeface="Arial"/>
                        </a:rPr>
                        <a:t>Base model at 448 pixels</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875" b="0">
                          <a:solidFill>
                            <a:srgbClr val="24352C"/>
                          </a:solidFill>
                          <a:latin typeface="Arial"/>
                          <a:ea typeface="Arial"/>
                          <a:cs typeface="Arial"/>
                        </a:rPr>
                        <a:t>Useful in some combinations</a:t>
                      </a:r>
                    </a:p>
                  </a:txBody>
                  <a:tcPr marL="91440" marR="91440" marT="45720" marB="45720" anchor="ctr">
                    <a:lnR w="5715">
                      <a:solidFill>
                        <a:srgbClr val="DCE5DB"/>
                      </a:solidFill>
                      <a:prstDash val="solid"/>
                    </a:lnR>
                    <a:lnB w="5715">
                      <a:solidFill>
                        <a:srgbClr val="DCE5DB"/>
                      </a:solidFill>
                      <a:prstDash val="solid"/>
                    </a:lnB>
                    <a:solidFill>
                      <a:srgbClr val="FFFFFF"/>
                    </a:solidFill>
                  </a:tcPr>
                </a:tc>
              </a:tr>
              <a:tr h="742950">
                <a:tc>
                  <a:txBody>
                    <a:bodyPr lIns="95250" tIns="95250" rIns="95250" bIns="95250"/>
                    <a:lstStyle/>
                    <a:p>
                      <a:r>
                        <a:rPr sz="1875" b="0">
                          <a:solidFill>
                            <a:srgbClr val="24352C"/>
                          </a:solidFill>
                          <a:latin typeface="Arial"/>
                          <a:ea typeface="Arial"/>
                          <a:cs typeface="Arial"/>
                        </a:rPr>
                        <a:t>Learning rates divided by three</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1875" b="0">
                          <a:solidFill>
                            <a:srgbClr val="24352C"/>
                          </a:solidFill>
                          <a:latin typeface="Arial"/>
                          <a:ea typeface="Arial"/>
                          <a:cs typeface="Arial"/>
                        </a:rPr>
                        <a:t>Better alone did not mean a better ensemble</a:t>
                      </a:r>
                    </a:p>
                  </a:txBody>
                  <a:tcPr marL="91440" marR="91440" marT="45720" marB="45720" anchor="ctr">
                    <a:lnR w="5715">
                      <a:solidFill>
                        <a:srgbClr val="DCE5DB"/>
                      </a:solidFill>
                      <a:prstDash val="solid"/>
                    </a:lnR>
                    <a:lnB w="5715">
                      <a:solidFill>
                        <a:srgbClr val="DCE5DB"/>
                      </a:solidFill>
                      <a:prstDash val="solid"/>
                    </a:lnB>
                    <a:solidFill>
                      <a:srgbClr val="EBEFE7"/>
                    </a:solidFill>
                  </a:tcPr>
                </a:tc>
              </a:tr>
            </a:tbl>
          </a:graphicData>
        </a:graphic>
      </p:graphicFrame>
      <p:sp>
        <p:nvSpPr>
          <p:cNvPr id="4" name="text-2">
            <a:extLst xmlns:a="http://schemas.openxmlformats.org/drawingml/2006/main">
              <a:ext uri="{FF2B5EF4-FFF2-40B4-BE49-F238E27FC236}">
                <a16:creationId xmlns:a16="http://schemas.microsoft.com/office/drawing/2014/main" id="{04005DBC-67C8-4D9F-B7B9-B92B47711A37}"/>
              </a:ext>
            </a:extLst>
          </p:cNvPr>
          <p:cNvSpPr>
            <a:spLocks xmlns:a="http://schemas.openxmlformats.org/drawingml/2006/main" noGrp="1"/>
          </p:cNvSpPr>
          <p:nvPr/>
        </p:nvSpPr>
        <p:spPr>
          <a:xfrm xmlns:a="http://schemas.openxmlformats.org/drawingml/2006/main">
            <a:off x="723900" y="5667375"/>
            <a:ext cx="1038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73E2C"/>
                </a:solidFill>
                <a:latin typeface="Arial"/>
                <a:ea typeface="Arial"/>
                <a:cs typeface="Arial"/>
              </a:defRPr>
            </a:defPPr>
            <a:lvl1pPr>
              <a:defRPr sz="2100" b="0">
                <a:solidFill>
                  <a:srgbClr val="173E2C"/>
                </a:solidFill>
                <a:latin typeface="Arial"/>
                <a:ea typeface="Arial"/>
                <a:cs typeface="Arial"/>
              </a:defRPr>
            </a:lvl1pPr>
            <a:lvl2pPr>
              <a:defRPr sz="2100" b="0">
                <a:solidFill>
                  <a:srgbClr val="173E2C"/>
                </a:solidFill>
                <a:latin typeface="Arial"/>
                <a:ea typeface="Arial"/>
                <a:cs typeface="Arial"/>
              </a:defRPr>
            </a:lvl2pPr>
            <a:lvl3pPr>
              <a:defRPr sz="2100" b="0">
                <a:solidFill>
                  <a:srgbClr val="173E2C"/>
                </a:solidFill>
                <a:latin typeface="Arial"/>
                <a:ea typeface="Arial"/>
                <a:cs typeface="Arial"/>
              </a:defRPr>
            </a:lvl3pPr>
            <a:lvl4pPr>
              <a:defRPr sz="2100" b="0">
                <a:solidFill>
                  <a:srgbClr val="173E2C"/>
                </a:solidFill>
                <a:latin typeface="Arial"/>
                <a:ea typeface="Arial"/>
                <a:cs typeface="Arial"/>
              </a:defRPr>
            </a:lvl4pPr>
            <a:lvl5pPr>
              <a:defRPr sz="2100" b="0">
                <a:solidFill>
                  <a:srgbClr val="173E2C"/>
                </a:solidFill>
                <a:latin typeface="Arial"/>
                <a:ea typeface="Arial"/>
                <a:cs typeface="Arial"/>
              </a:defRPr>
            </a:lvl5pPr>
            <a:lvl6pPr>
              <a:defRPr sz="2100" b="0">
                <a:solidFill>
                  <a:srgbClr val="173E2C"/>
                </a:solidFill>
                <a:latin typeface="Arial"/>
                <a:ea typeface="Arial"/>
                <a:cs typeface="Arial"/>
              </a:defRPr>
            </a:lvl6pPr>
            <a:lvl7pPr>
              <a:defRPr sz="2100" b="0">
                <a:solidFill>
                  <a:srgbClr val="173E2C"/>
                </a:solidFill>
                <a:latin typeface="Arial"/>
                <a:ea typeface="Arial"/>
                <a:cs typeface="Arial"/>
              </a:defRPr>
            </a:lvl7pPr>
            <a:lvl8pPr>
              <a:defRPr sz="2100" b="0">
                <a:solidFill>
                  <a:srgbClr val="173E2C"/>
                </a:solidFill>
                <a:latin typeface="Arial"/>
                <a:ea typeface="Arial"/>
                <a:cs typeface="Arial"/>
              </a:defRPr>
            </a:lvl8pPr>
            <a:lvl9pPr>
              <a:defRPr sz="2100" b="0">
                <a:solidFill>
                  <a:srgbClr val="173E2C"/>
                </a:solidFill>
                <a:latin typeface="Arial"/>
                <a:ea typeface="Arial"/>
                <a:cs typeface="Arial"/>
              </a:defRPr>
            </a:lvl9pPr>
          </a:lstStyle>
          <a:p xmlns:a="http://schemas.openxmlformats.org/drawingml/2006/main">
            <a:pPr>
              <a:defRPr sz="2100" b="0">
                <a:solidFill>
                  <a:srgbClr val="173E2C"/>
                </a:solidFill>
                <a:latin typeface="Arial"/>
                <a:ea typeface="Arial"/>
                <a:cs typeface="Arial"/>
              </a:defRPr>
            </a:pPr>
            <a:r>
              <a:rPr sz="2100" b="0">
                <a:solidFill>
                  <a:srgbClr val="173E2C"/>
                </a:solidFill>
                <a:latin typeface="Arial"/>
                <a:ea typeface="Arial"/>
                <a:cs typeface="Arial"/>
              </a:rPr>
              <a:t>I kept the failed runs in the experiment log.</a:t>
            </a:r>
          </a:p>
        </p:txBody>
      </p:sp>
    </p:spTree>
    <p:extLst>
      <p:ext uri="{BB962C8B-B14F-4D97-AF65-F5344CB8AC3E}">
        <p14:creationId xmlns:p14="http://schemas.microsoft.com/office/powerpoint/2010/main" val="1753549438"/>
      </p:ext>
    </p:extLst>
  </p:cSld>
</p:sld>
</file>

<file path=ppt/slides/slide7.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AA4397D7-E838-4079-A7D6-FAE7373FE780}"/>
              </a:ext>
            </a:extLst>
          </p:cNvPr>
          <p:cNvSpPr>
            <a:spLocks xmlns:a="http://schemas.openxmlformats.org/drawingml/2006/main" noGrp="1"/>
          </p:cNvSpPr>
          <p:nvPr/>
        </p:nvSpPr>
        <p:spPr>
          <a:xfrm xmlns:a="http://schemas.openxmlformats.org/drawingml/2006/main">
            <a:off x="66675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The final controlled comparison</a:t>
            </a:r>
          </a:p>
        </p:txBody>
      </p:sp>
      <p:sp>
        <p:nvSpPr>
          <p:cNvPr id="2" name="text-1">
            <a:extLst xmlns:a="http://schemas.openxmlformats.org/drawingml/2006/main">
              <a:ext uri="{FF2B5EF4-FFF2-40B4-BE49-F238E27FC236}">
                <a16:creationId xmlns:a16="http://schemas.microsoft.com/office/drawing/2014/main" id="{11AF56E0-F962-4FDE-9C4F-3B048CDE584B}"/>
              </a:ext>
            </a:extLst>
          </p:cNvPr>
          <p:cNvSpPr>
            <a:spLocks xmlns:a="http://schemas.openxmlformats.org/drawingml/2006/main" noGrp="1"/>
          </p:cNvSpPr>
          <p:nvPr/>
        </p:nvSpPr>
        <p:spPr>
          <a:xfrm xmlns:a="http://schemas.openxmlformats.org/drawingml/2006/main">
            <a:off x="666750" y="641985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MROOT  07</a:t>
            </a:r>
          </a:p>
        </p:txBody>
      </p:sp>
      <p:sp>
        <p:nvSpPr>
          <p:cNvPr id="3" name="text-2">
            <a:extLst xmlns:a="http://schemas.openxmlformats.org/drawingml/2006/main">
              <a:ext uri="{FF2B5EF4-FFF2-40B4-BE49-F238E27FC236}">
                <a16:creationId xmlns:a16="http://schemas.microsoft.com/office/drawing/2014/main" id="{0EA53339-1F42-48B4-8601-EEEDF21256EA}"/>
              </a:ext>
            </a:extLst>
          </p:cNvPr>
          <p:cNvSpPr>
            <a:spLocks xmlns:a="http://schemas.openxmlformats.org/drawingml/2006/main" noGrp="1"/>
          </p:cNvSpPr>
          <p:nvPr/>
        </p:nvSpPr>
        <p:spPr>
          <a:xfrm xmlns:a="http://schemas.openxmlformats.org/drawingml/2006/main">
            <a:off x="723900" y="1619250"/>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73E2C"/>
                </a:solidFill>
                <a:latin typeface="Arial"/>
                <a:ea typeface="Arial"/>
                <a:cs typeface="Arial"/>
              </a:defRPr>
            </a:defPPr>
            <a:lvl1pPr>
              <a:defRPr sz="2850" b="1">
                <a:solidFill>
                  <a:srgbClr val="173E2C"/>
                </a:solidFill>
                <a:latin typeface="Arial"/>
                <a:ea typeface="Arial"/>
                <a:cs typeface="Arial"/>
              </a:defRPr>
            </a:lvl1pPr>
            <a:lvl2pPr>
              <a:defRPr sz="2850" b="1">
                <a:solidFill>
                  <a:srgbClr val="173E2C"/>
                </a:solidFill>
                <a:latin typeface="Arial"/>
                <a:ea typeface="Arial"/>
                <a:cs typeface="Arial"/>
              </a:defRPr>
            </a:lvl2pPr>
            <a:lvl3pPr>
              <a:defRPr sz="2850" b="1">
                <a:solidFill>
                  <a:srgbClr val="173E2C"/>
                </a:solidFill>
                <a:latin typeface="Arial"/>
                <a:ea typeface="Arial"/>
                <a:cs typeface="Arial"/>
              </a:defRPr>
            </a:lvl3pPr>
            <a:lvl4pPr>
              <a:defRPr sz="2850" b="1">
                <a:solidFill>
                  <a:srgbClr val="173E2C"/>
                </a:solidFill>
                <a:latin typeface="Arial"/>
                <a:ea typeface="Arial"/>
                <a:cs typeface="Arial"/>
              </a:defRPr>
            </a:lvl4pPr>
            <a:lvl5pPr>
              <a:defRPr sz="2850" b="1">
                <a:solidFill>
                  <a:srgbClr val="173E2C"/>
                </a:solidFill>
                <a:latin typeface="Arial"/>
                <a:ea typeface="Arial"/>
                <a:cs typeface="Arial"/>
              </a:defRPr>
            </a:lvl5pPr>
            <a:lvl6pPr>
              <a:defRPr sz="2850" b="1">
                <a:solidFill>
                  <a:srgbClr val="173E2C"/>
                </a:solidFill>
                <a:latin typeface="Arial"/>
                <a:ea typeface="Arial"/>
                <a:cs typeface="Arial"/>
              </a:defRPr>
            </a:lvl6pPr>
            <a:lvl7pPr>
              <a:defRPr sz="2850" b="1">
                <a:solidFill>
                  <a:srgbClr val="173E2C"/>
                </a:solidFill>
                <a:latin typeface="Arial"/>
                <a:ea typeface="Arial"/>
                <a:cs typeface="Arial"/>
              </a:defRPr>
            </a:lvl7pPr>
            <a:lvl8pPr>
              <a:defRPr sz="2850" b="1">
                <a:solidFill>
                  <a:srgbClr val="173E2C"/>
                </a:solidFill>
                <a:latin typeface="Arial"/>
                <a:ea typeface="Arial"/>
                <a:cs typeface="Arial"/>
              </a:defRPr>
            </a:lvl8pPr>
            <a:lvl9pPr>
              <a:defRPr sz="2850" b="1">
                <a:solidFill>
                  <a:srgbClr val="173E2C"/>
                </a:solidFill>
                <a:latin typeface="Arial"/>
                <a:ea typeface="Arial"/>
                <a:cs typeface="Arial"/>
              </a:defRPr>
            </a:lvl9pPr>
          </a:lstStyle>
          <a:p xmlns:a="http://schemas.openxmlformats.org/drawingml/2006/main">
            <a:pPr>
              <a:defRPr sz="2850" b="1">
                <a:solidFill>
                  <a:srgbClr val="173E2C"/>
                </a:solidFill>
                <a:latin typeface="Arial"/>
                <a:ea typeface="Arial"/>
                <a:cs typeface="Arial"/>
              </a:defRPr>
            </a:pPr>
            <a:r>
              <a:rPr sz="2850" b="1">
                <a:solidFill>
                  <a:srgbClr val="173E2C"/>
                </a:solidFill>
                <a:latin typeface="Arial"/>
                <a:ea typeface="Arial"/>
                <a:cs typeface="Arial"/>
              </a:rPr>
              <a:t>Control</a:t>
            </a:r>
          </a:p>
        </p:txBody>
      </p:sp>
      <p:sp>
        <p:nvSpPr>
          <p:cNvPr id="4" name="text-3">
            <a:extLst xmlns:a="http://schemas.openxmlformats.org/drawingml/2006/main">
              <a:ext uri="{FF2B5EF4-FFF2-40B4-BE49-F238E27FC236}">
                <a16:creationId xmlns:a16="http://schemas.microsoft.com/office/drawing/2014/main" id="{FC108774-3CD0-40EA-A667-445CBA5991C2}"/>
              </a:ext>
            </a:extLst>
          </p:cNvPr>
          <p:cNvSpPr>
            <a:spLocks xmlns:a="http://schemas.openxmlformats.org/drawingml/2006/main" noGrp="1"/>
          </p:cNvSpPr>
          <p:nvPr/>
        </p:nvSpPr>
        <p:spPr>
          <a:xfrm xmlns:a="http://schemas.openxmlformats.org/drawingml/2006/main">
            <a:off x="723900" y="2457450"/>
            <a:ext cx="4857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24352C"/>
                </a:solidFill>
                <a:latin typeface="Arial"/>
                <a:ea typeface="Arial"/>
                <a:cs typeface="Arial"/>
              </a:defRPr>
            </a:defPPr>
            <a:lvl1pPr>
              <a:defRPr sz="2250" b="0">
                <a:solidFill>
                  <a:srgbClr val="24352C"/>
                </a:solidFill>
                <a:latin typeface="Arial"/>
                <a:ea typeface="Arial"/>
                <a:cs typeface="Arial"/>
              </a:defRPr>
            </a:lvl1pPr>
            <a:lvl2pPr>
              <a:defRPr sz="2250" b="0">
                <a:solidFill>
                  <a:srgbClr val="24352C"/>
                </a:solidFill>
                <a:latin typeface="Arial"/>
                <a:ea typeface="Arial"/>
                <a:cs typeface="Arial"/>
              </a:defRPr>
            </a:lvl2pPr>
            <a:lvl3pPr>
              <a:defRPr sz="2250" b="0">
                <a:solidFill>
                  <a:srgbClr val="24352C"/>
                </a:solidFill>
                <a:latin typeface="Arial"/>
                <a:ea typeface="Arial"/>
                <a:cs typeface="Arial"/>
              </a:defRPr>
            </a:lvl3pPr>
            <a:lvl4pPr>
              <a:defRPr sz="2250" b="0">
                <a:solidFill>
                  <a:srgbClr val="24352C"/>
                </a:solidFill>
                <a:latin typeface="Arial"/>
                <a:ea typeface="Arial"/>
                <a:cs typeface="Arial"/>
              </a:defRPr>
            </a:lvl4pPr>
            <a:lvl5pPr>
              <a:defRPr sz="2250" b="0">
                <a:solidFill>
                  <a:srgbClr val="24352C"/>
                </a:solidFill>
                <a:latin typeface="Arial"/>
                <a:ea typeface="Arial"/>
                <a:cs typeface="Arial"/>
              </a:defRPr>
            </a:lvl5pPr>
            <a:lvl6pPr>
              <a:defRPr sz="2250" b="0">
                <a:solidFill>
                  <a:srgbClr val="24352C"/>
                </a:solidFill>
                <a:latin typeface="Arial"/>
                <a:ea typeface="Arial"/>
                <a:cs typeface="Arial"/>
              </a:defRPr>
            </a:lvl6pPr>
            <a:lvl7pPr>
              <a:defRPr sz="2250" b="0">
                <a:solidFill>
                  <a:srgbClr val="24352C"/>
                </a:solidFill>
                <a:latin typeface="Arial"/>
                <a:ea typeface="Arial"/>
                <a:cs typeface="Arial"/>
              </a:defRPr>
            </a:lvl7pPr>
            <a:lvl8pPr>
              <a:defRPr sz="2250" b="0">
                <a:solidFill>
                  <a:srgbClr val="24352C"/>
                </a:solidFill>
                <a:latin typeface="Arial"/>
                <a:ea typeface="Arial"/>
                <a:cs typeface="Arial"/>
              </a:defRPr>
            </a:lvl8pPr>
            <a:lvl9pPr>
              <a:defRPr sz="2250" b="0">
                <a:solidFill>
                  <a:srgbClr val="24352C"/>
                </a:solidFill>
                <a:latin typeface="Arial"/>
                <a:ea typeface="Arial"/>
                <a:cs typeface="Arial"/>
              </a:defRPr>
            </a:lvl9pPr>
          </a:lstStyle>
          <a:p xmlns:a="http://schemas.openxmlformats.org/drawingml/2006/main">
            <a:pPr>
              <a:defRPr sz="2250" b="0">
                <a:solidFill>
                  <a:srgbClr val="24352C"/>
                </a:solidFill>
                <a:latin typeface="Arial"/>
                <a:ea typeface="Arial"/>
                <a:cs typeface="Arial"/>
              </a:defRPr>
            </a:pPr>
            <a:r>
              <a:rPr sz="2250" b="0">
                <a:solidFill>
                  <a:srgbClr val="24352C"/>
                </a:solidFill>
                <a:latin typeface="Arial"/>
                <a:ea typeface="Arial"/>
                <a:cs typeface="Arial"/>
              </a:rPr>
              <a:t>EVA-02 Base 448</a:t>
            </a:r>
          </a:p>
          <a:p xmlns:a="http://schemas.openxmlformats.org/drawingml/2006/main">
            <a:pPr>
              <a:defRPr sz="2250" b="0">
                <a:solidFill>
                  <a:srgbClr val="24352C"/>
                </a:solidFill>
                <a:latin typeface="Arial"/>
                <a:ea typeface="Arial"/>
                <a:cs typeface="Arial"/>
              </a:defRPr>
            </a:pPr>
            <a:r>
              <a:rPr sz="2250" b="0">
                <a:solidFill>
                  <a:srgbClr val="24352C"/>
                </a:solidFill>
                <a:latin typeface="Arial"/>
                <a:ea typeface="Arial"/>
                <a:cs typeface="Arial"/>
              </a:rPr>
              <a:t>Standard recorded augmentation</a:t>
            </a:r>
          </a:p>
        </p:txBody>
      </p:sp>
      <p:sp>
        <p:nvSpPr>
          <p:cNvPr id="5" name="text-4">
            <a:extLst xmlns:a="http://schemas.openxmlformats.org/drawingml/2006/main">
              <a:ext uri="{FF2B5EF4-FFF2-40B4-BE49-F238E27FC236}">
                <a16:creationId xmlns:a16="http://schemas.microsoft.com/office/drawing/2014/main" id="{35F124F6-90AF-4E0E-A24C-353CC521E893}"/>
              </a:ext>
            </a:extLst>
          </p:cNvPr>
          <p:cNvSpPr>
            <a:spLocks xmlns:a="http://schemas.openxmlformats.org/drawingml/2006/main" noGrp="1"/>
          </p:cNvSpPr>
          <p:nvPr/>
        </p:nvSpPr>
        <p:spPr>
          <a:xfrm xmlns:a="http://schemas.openxmlformats.org/drawingml/2006/main">
            <a:off x="6667500" y="1619250"/>
            <a:ext cx="485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73E2C"/>
                </a:solidFill>
                <a:latin typeface="Arial"/>
                <a:ea typeface="Arial"/>
                <a:cs typeface="Arial"/>
              </a:defRPr>
            </a:defPPr>
            <a:lvl1pPr>
              <a:defRPr sz="2850" b="1">
                <a:solidFill>
                  <a:srgbClr val="173E2C"/>
                </a:solidFill>
                <a:latin typeface="Arial"/>
                <a:ea typeface="Arial"/>
                <a:cs typeface="Arial"/>
              </a:defRPr>
            </a:lvl1pPr>
            <a:lvl2pPr>
              <a:defRPr sz="2850" b="1">
                <a:solidFill>
                  <a:srgbClr val="173E2C"/>
                </a:solidFill>
                <a:latin typeface="Arial"/>
                <a:ea typeface="Arial"/>
                <a:cs typeface="Arial"/>
              </a:defRPr>
            </a:lvl2pPr>
            <a:lvl3pPr>
              <a:defRPr sz="2850" b="1">
                <a:solidFill>
                  <a:srgbClr val="173E2C"/>
                </a:solidFill>
                <a:latin typeface="Arial"/>
                <a:ea typeface="Arial"/>
                <a:cs typeface="Arial"/>
              </a:defRPr>
            </a:lvl3pPr>
            <a:lvl4pPr>
              <a:defRPr sz="2850" b="1">
                <a:solidFill>
                  <a:srgbClr val="173E2C"/>
                </a:solidFill>
                <a:latin typeface="Arial"/>
                <a:ea typeface="Arial"/>
                <a:cs typeface="Arial"/>
              </a:defRPr>
            </a:lvl4pPr>
            <a:lvl5pPr>
              <a:defRPr sz="2850" b="1">
                <a:solidFill>
                  <a:srgbClr val="173E2C"/>
                </a:solidFill>
                <a:latin typeface="Arial"/>
                <a:ea typeface="Arial"/>
                <a:cs typeface="Arial"/>
              </a:defRPr>
            </a:lvl5pPr>
            <a:lvl6pPr>
              <a:defRPr sz="2850" b="1">
                <a:solidFill>
                  <a:srgbClr val="173E2C"/>
                </a:solidFill>
                <a:latin typeface="Arial"/>
                <a:ea typeface="Arial"/>
                <a:cs typeface="Arial"/>
              </a:defRPr>
            </a:lvl6pPr>
            <a:lvl7pPr>
              <a:defRPr sz="2850" b="1">
                <a:solidFill>
                  <a:srgbClr val="173E2C"/>
                </a:solidFill>
                <a:latin typeface="Arial"/>
                <a:ea typeface="Arial"/>
                <a:cs typeface="Arial"/>
              </a:defRPr>
            </a:lvl7pPr>
            <a:lvl8pPr>
              <a:defRPr sz="2850" b="1">
                <a:solidFill>
                  <a:srgbClr val="173E2C"/>
                </a:solidFill>
                <a:latin typeface="Arial"/>
                <a:ea typeface="Arial"/>
                <a:cs typeface="Arial"/>
              </a:defRPr>
            </a:lvl8pPr>
            <a:lvl9pPr>
              <a:defRPr sz="2850" b="1">
                <a:solidFill>
                  <a:srgbClr val="173E2C"/>
                </a:solidFill>
                <a:latin typeface="Arial"/>
                <a:ea typeface="Arial"/>
                <a:cs typeface="Arial"/>
              </a:defRPr>
            </a:lvl9pPr>
          </a:lstStyle>
          <a:p xmlns:a="http://schemas.openxmlformats.org/drawingml/2006/main">
            <a:pPr>
              <a:defRPr sz="2850" b="1">
                <a:solidFill>
                  <a:srgbClr val="173E2C"/>
                </a:solidFill>
                <a:latin typeface="Arial"/>
                <a:ea typeface="Arial"/>
                <a:cs typeface="Arial"/>
              </a:defRPr>
            </a:pPr>
            <a:r>
              <a:rPr sz="2850" b="1">
                <a:solidFill>
                  <a:srgbClr val="173E2C"/>
                </a:solidFill>
                <a:latin typeface="Arial"/>
                <a:ea typeface="Arial"/>
                <a:cs typeface="Arial"/>
              </a:rPr>
              <a:t>MixUp/CutMix</a:t>
            </a:r>
          </a:p>
        </p:txBody>
      </p:sp>
      <p:sp>
        <p:nvSpPr>
          <p:cNvPr id="6" name="text-5">
            <a:extLst xmlns:a="http://schemas.openxmlformats.org/drawingml/2006/main">
              <a:ext uri="{FF2B5EF4-FFF2-40B4-BE49-F238E27FC236}">
                <a16:creationId xmlns:a16="http://schemas.microsoft.com/office/drawing/2014/main" id="{7F79886F-1067-47DD-ACE4-B17229DA9C77}"/>
              </a:ext>
            </a:extLst>
          </p:cNvPr>
          <p:cNvSpPr>
            <a:spLocks xmlns:a="http://schemas.openxmlformats.org/drawingml/2006/main" noGrp="1"/>
          </p:cNvSpPr>
          <p:nvPr/>
        </p:nvSpPr>
        <p:spPr>
          <a:xfrm xmlns:a="http://schemas.openxmlformats.org/drawingml/2006/main">
            <a:off x="6667500" y="2457450"/>
            <a:ext cx="4762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24352C"/>
                </a:solidFill>
                <a:latin typeface="Arial"/>
                <a:ea typeface="Arial"/>
                <a:cs typeface="Arial"/>
              </a:defRPr>
            </a:defPPr>
            <a:lvl1pPr>
              <a:defRPr sz="2250" b="0">
                <a:solidFill>
                  <a:srgbClr val="24352C"/>
                </a:solidFill>
                <a:latin typeface="Arial"/>
                <a:ea typeface="Arial"/>
                <a:cs typeface="Arial"/>
              </a:defRPr>
            </a:lvl1pPr>
            <a:lvl2pPr>
              <a:defRPr sz="2250" b="0">
                <a:solidFill>
                  <a:srgbClr val="24352C"/>
                </a:solidFill>
                <a:latin typeface="Arial"/>
                <a:ea typeface="Arial"/>
                <a:cs typeface="Arial"/>
              </a:defRPr>
            </a:lvl2pPr>
            <a:lvl3pPr>
              <a:defRPr sz="2250" b="0">
                <a:solidFill>
                  <a:srgbClr val="24352C"/>
                </a:solidFill>
                <a:latin typeface="Arial"/>
                <a:ea typeface="Arial"/>
                <a:cs typeface="Arial"/>
              </a:defRPr>
            </a:lvl3pPr>
            <a:lvl4pPr>
              <a:defRPr sz="2250" b="0">
                <a:solidFill>
                  <a:srgbClr val="24352C"/>
                </a:solidFill>
                <a:latin typeface="Arial"/>
                <a:ea typeface="Arial"/>
                <a:cs typeface="Arial"/>
              </a:defRPr>
            </a:lvl4pPr>
            <a:lvl5pPr>
              <a:defRPr sz="2250" b="0">
                <a:solidFill>
                  <a:srgbClr val="24352C"/>
                </a:solidFill>
                <a:latin typeface="Arial"/>
                <a:ea typeface="Arial"/>
                <a:cs typeface="Arial"/>
              </a:defRPr>
            </a:lvl5pPr>
            <a:lvl6pPr>
              <a:defRPr sz="2250" b="0">
                <a:solidFill>
                  <a:srgbClr val="24352C"/>
                </a:solidFill>
                <a:latin typeface="Arial"/>
                <a:ea typeface="Arial"/>
                <a:cs typeface="Arial"/>
              </a:defRPr>
            </a:lvl6pPr>
            <a:lvl7pPr>
              <a:defRPr sz="2250" b="0">
                <a:solidFill>
                  <a:srgbClr val="24352C"/>
                </a:solidFill>
                <a:latin typeface="Arial"/>
                <a:ea typeface="Arial"/>
                <a:cs typeface="Arial"/>
              </a:defRPr>
            </a:lvl7pPr>
            <a:lvl8pPr>
              <a:defRPr sz="2250" b="0">
                <a:solidFill>
                  <a:srgbClr val="24352C"/>
                </a:solidFill>
                <a:latin typeface="Arial"/>
                <a:ea typeface="Arial"/>
                <a:cs typeface="Arial"/>
              </a:defRPr>
            </a:lvl8pPr>
            <a:lvl9pPr>
              <a:defRPr sz="2250" b="0">
                <a:solidFill>
                  <a:srgbClr val="24352C"/>
                </a:solidFill>
                <a:latin typeface="Arial"/>
                <a:ea typeface="Arial"/>
                <a:cs typeface="Arial"/>
              </a:defRPr>
            </a:lvl9pPr>
          </a:lstStyle>
          <a:p xmlns:a="http://schemas.openxmlformats.org/drawingml/2006/main">
            <a:pPr>
              <a:defRPr sz="2250" b="0">
                <a:solidFill>
                  <a:srgbClr val="24352C"/>
                </a:solidFill>
                <a:latin typeface="Arial"/>
                <a:ea typeface="Arial"/>
                <a:cs typeface="Arial"/>
              </a:defRPr>
            </a:pPr>
            <a:r>
              <a:rPr sz="2250" b="0">
                <a:solidFill>
                  <a:srgbClr val="24352C"/>
                </a:solidFill>
                <a:latin typeface="Arial"/>
                <a:ea typeface="Arial"/>
                <a:cs typeface="Arial"/>
              </a:rPr>
              <a:t>Same setup</a:t>
            </a:r>
          </a:p>
          <a:p xmlns:a="http://schemas.openxmlformats.org/drawingml/2006/main">
            <a:pPr>
              <a:defRPr sz="2250" b="0">
                <a:solidFill>
                  <a:srgbClr val="24352C"/>
                </a:solidFill>
                <a:latin typeface="Arial"/>
                <a:ea typeface="Arial"/>
                <a:cs typeface="Arial"/>
              </a:defRPr>
            </a:pPr>
            <a:r>
              <a:rPr sz="2250" b="0">
                <a:solidFill>
                  <a:srgbClr val="24352C"/>
                </a:solidFill>
                <a:latin typeface="Arial"/>
                <a:ea typeface="Arial"/>
                <a:cs typeface="Arial"/>
              </a:rPr>
              <a:t>Mixed images and soft targets</a:t>
            </a:r>
          </a:p>
        </p:txBody>
      </p:sp>
      <p:sp>
        <p:nvSpPr>
          <p:cNvPr id="7" name="text-6">
            <a:extLst xmlns:a="http://schemas.openxmlformats.org/drawingml/2006/main">
              <a:ext uri="{FF2B5EF4-FFF2-40B4-BE49-F238E27FC236}">
                <a16:creationId xmlns:a16="http://schemas.microsoft.com/office/drawing/2014/main" id="{8B277857-CE87-4B0E-A7AA-99F15CBE62D9}"/>
              </a:ext>
            </a:extLst>
          </p:cNvPr>
          <p:cNvSpPr>
            <a:spLocks xmlns:a="http://schemas.openxmlformats.org/drawingml/2006/main" noGrp="1"/>
          </p:cNvSpPr>
          <p:nvPr/>
        </p:nvSpPr>
        <p:spPr>
          <a:xfrm xmlns:a="http://schemas.openxmlformats.org/drawingml/2006/main">
            <a:off x="723900" y="447675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52C"/>
                </a:solidFill>
                <a:latin typeface="Arial"/>
                <a:ea typeface="Arial"/>
                <a:cs typeface="Arial"/>
              </a:defRPr>
            </a:defPPr>
            <a:lvl1pPr>
              <a:defRPr sz="2175" b="0">
                <a:solidFill>
                  <a:srgbClr val="24352C"/>
                </a:solidFill>
                <a:latin typeface="Arial"/>
                <a:ea typeface="Arial"/>
                <a:cs typeface="Arial"/>
              </a:defRPr>
            </a:lvl1pPr>
            <a:lvl2pPr>
              <a:defRPr sz="2175" b="0">
                <a:solidFill>
                  <a:srgbClr val="24352C"/>
                </a:solidFill>
                <a:latin typeface="Arial"/>
                <a:ea typeface="Arial"/>
                <a:cs typeface="Arial"/>
              </a:defRPr>
            </a:lvl2pPr>
            <a:lvl3pPr>
              <a:defRPr sz="2175" b="0">
                <a:solidFill>
                  <a:srgbClr val="24352C"/>
                </a:solidFill>
                <a:latin typeface="Arial"/>
                <a:ea typeface="Arial"/>
                <a:cs typeface="Arial"/>
              </a:defRPr>
            </a:lvl3pPr>
            <a:lvl4pPr>
              <a:defRPr sz="2175" b="0">
                <a:solidFill>
                  <a:srgbClr val="24352C"/>
                </a:solidFill>
                <a:latin typeface="Arial"/>
                <a:ea typeface="Arial"/>
                <a:cs typeface="Arial"/>
              </a:defRPr>
            </a:lvl4pPr>
            <a:lvl5pPr>
              <a:defRPr sz="2175" b="0">
                <a:solidFill>
                  <a:srgbClr val="24352C"/>
                </a:solidFill>
                <a:latin typeface="Arial"/>
                <a:ea typeface="Arial"/>
                <a:cs typeface="Arial"/>
              </a:defRPr>
            </a:lvl5pPr>
            <a:lvl6pPr>
              <a:defRPr sz="2175" b="0">
                <a:solidFill>
                  <a:srgbClr val="24352C"/>
                </a:solidFill>
                <a:latin typeface="Arial"/>
                <a:ea typeface="Arial"/>
                <a:cs typeface="Arial"/>
              </a:defRPr>
            </a:lvl6pPr>
            <a:lvl7pPr>
              <a:defRPr sz="2175" b="0">
                <a:solidFill>
                  <a:srgbClr val="24352C"/>
                </a:solidFill>
                <a:latin typeface="Arial"/>
                <a:ea typeface="Arial"/>
                <a:cs typeface="Arial"/>
              </a:defRPr>
            </a:lvl7pPr>
            <a:lvl8pPr>
              <a:defRPr sz="2175" b="0">
                <a:solidFill>
                  <a:srgbClr val="24352C"/>
                </a:solidFill>
                <a:latin typeface="Arial"/>
                <a:ea typeface="Arial"/>
                <a:cs typeface="Arial"/>
              </a:defRPr>
            </a:lvl8pPr>
            <a:lvl9pPr>
              <a:defRPr sz="2175" b="0">
                <a:solidFill>
                  <a:srgbClr val="24352C"/>
                </a:solidFill>
                <a:latin typeface="Arial"/>
                <a:ea typeface="Arial"/>
                <a:cs typeface="Arial"/>
              </a:defRPr>
            </a:lvl9pPr>
          </a:lstStyle>
          <a:p xmlns:a="http://schemas.openxmlformats.org/drawingml/2006/main">
            <a:pPr>
              <a:defRPr sz="2175" b="0">
                <a:solidFill>
                  <a:srgbClr val="24352C"/>
                </a:solidFill>
                <a:latin typeface="Arial"/>
                <a:ea typeface="Arial"/>
                <a:cs typeface="Arial"/>
              </a:defRPr>
            </a:pPr>
            <a:r>
              <a:rPr sz="2175" b="0">
                <a:solidFill>
                  <a:srgbClr val="24352C"/>
                </a:solidFill>
                <a:latin typeface="Arial"/>
                <a:ea typeface="Arial"/>
                <a:cs typeface="Arial"/>
              </a:rPr>
              <a:t>Same initial weights and seed. Same 6,790 training and 388 validation images.</a:t>
            </a:r>
          </a:p>
        </p:txBody>
      </p:sp>
      <p:sp>
        <p:nvSpPr>
          <p:cNvPr id="8" name="text-7">
            <a:extLst xmlns:a="http://schemas.openxmlformats.org/drawingml/2006/main">
              <a:ext uri="{FF2B5EF4-FFF2-40B4-BE49-F238E27FC236}">
                <a16:creationId xmlns:a16="http://schemas.microsoft.com/office/drawing/2014/main" id="{54BF2D27-13CE-4D11-99D7-DA2A6DEAB247}"/>
              </a:ext>
            </a:extLst>
          </p:cNvPr>
          <p:cNvSpPr>
            <a:spLocks xmlns:a="http://schemas.openxmlformats.org/drawingml/2006/main" noGrp="1"/>
          </p:cNvSpPr>
          <p:nvPr/>
        </p:nvSpPr>
        <p:spPr>
          <a:xfrm xmlns:a="http://schemas.openxmlformats.org/drawingml/2006/main">
            <a:off x="723900" y="57245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9665D"/>
                </a:solidFill>
                <a:latin typeface="Arial"/>
                <a:ea typeface="Arial"/>
                <a:cs typeface="Arial"/>
              </a:defRPr>
            </a:defPPr>
            <a:lvl1pPr>
              <a:defRPr sz="1800" b="0">
                <a:solidFill>
                  <a:srgbClr val="59665D"/>
                </a:solidFill>
                <a:latin typeface="Arial"/>
                <a:ea typeface="Arial"/>
                <a:cs typeface="Arial"/>
              </a:defRPr>
            </a:lvl1pPr>
            <a:lvl2pPr>
              <a:defRPr sz="1800" b="0">
                <a:solidFill>
                  <a:srgbClr val="59665D"/>
                </a:solidFill>
                <a:latin typeface="Arial"/>
                <a:ea typeface="Arial"/>
                <a:cs typeface="Arial"/>
              </a:defRPr>
            </a:lvl2pPr>
            <a:lvl3pPr>
              <a:defRPr sz="1800" b="0">
                <a:solidFill>
                  <a:srgbClr val="59665D"/>
                </a:solidFill>
                <a:latin typeface="Arial"/>
                <a:ea typeface="Arial"/>
                <a:cs typeface="Arial"/>
              </a:defRPr>
            </a:lvl3pPr>
            <a:lvl4pPr>
              <a:defRPr sz="1800" b="0">
                <a:solidFill>
                  <a:srgbClr val="59665D"/>
                </a:solidFill>
                <a:latin typeface="Arial"/>
                <a:ea typeface="Arial"/>
                <a:cs typeface="Arial"/>
              </a:defRPr>
            </a:lvl4pPr>
            <a:lvl5pPr>
              <a:defRPr sz="1800" b="0">
                <a:solidFill>
                  <a:srgbClr val="59665D"/>
                </a:solidFill>
                <a:latin typeface="Arial"/>
                <a:ea typeface="Arial"/>
                <a:cs typeface="Arial"/>
              </a:defRPr>
            </a:lvl5pPr>
            <a:lvl6pPr>
              <a:defRPr sz="1800" b="0">
                <a:solidFill>
                  <a:srgbClr val="59665D"/>
                </a:solidFill>
                <a:latin typeface="Arial"/>
                <a:ea typeface="Arial"/>
                <a:cs typeface="Arial"/>
              </a:defRPr>
            </a:lvl6pPr>
            <a:lvl7pPr>
              <a:defRPr sz="1800" b="0">
                <a:solidFill>
                  <a:srgbClr val="59665D"/>
                </a:solidFill>
                <a:latin typeface="Arial"/>
                <a:ea typeface="Arial"/>
                <a:cs typeface="Arial"/>
              </a:defRPr>
            </a:lvl7pPr>
            <a:lvl8pPr>
              <a:defRPr sz="1800" b="0">
                <a:solidFill>
                  <a:srgbClr val="59665D"/>
                </a:solidFill>
                <a:latin typeface="Arial"/>
                <a:ea typeface="Arial"/>
                <a:cs typeface="Arial"/>
              </a:defRPr>
            </a:lvl8pPr>
            <a:lvl9pPr>
              <a:defRPr sz="1800" b="0">
                <a:solidFill>
                  <a:srgbClr val="59665D"/>
                </a:solidFill>
                <a:latin typeface="Arial"/>
                <a:ea typeface="Arial"/>
                <a:cs typeface="Arial"/>
              </a:defRPr>
            </a:lvl9pPr>
          </a:lstStyle>
          <a:p xmlns:a="http://schemas.openxmlformats.org/drawingml/2006/main">
            <a:pPr>
              <a:defRPr sz="1800" b="0">
                <a:solidFill>
                  <a:srgbClr val="59665D"/>
                </a:solidFill>
                <a:latin typeface="Arial"/>
                <a:ea typeface="Arial"/>
                <a:cs typeface="Arial"/>
              </a:defRPr>
            </a:pPr>
            <a:r>
              <a:rPr sz="1800" b="0">
                <a:solidFill>
                  <a:srgbClr val="59665D"/>
                </a:solidFill>
                <a:latin typeface="Arial"/>
                <a:ea typeface="Arial"/>
                <a:cs typeface="Arial"/>
              </a:rPr>
              <a:t>This tests the combined policy, not MixUp and CutMix separately.</a:t>
            </a:r>
          </a:p>
        </p:txBody>
      </p:sp>
    </p:spTree>
    <p:extLst>
      <p:ext uri="{BB962C8B-B14F-4D97-AF65-F5344CB8AC3E}">
        <p14:creationId xmlns:p14="http://schemas.microsoft.com/office/powerpoint/2010/main" val="461563870"/>
      </p:ext>
    </p:extLst>
  </p:cSld>
</p:sld>
</file>

<file path=ppt/slides/slide8.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7A550FF5-4010-4B84-BFBF-77841C04FDD6}"/>
              </a:ext>
            </a:extLst>
          </p:cNvPr>
          <p:cNvSpPr>
            <a:spLocks xmlns:a="http://schemas.openxmlformats.org/drawingml/2006/main" noGrp="1"/>
          </p:cNvSpPr>
          <p:nvPr/>
        </p:nvSpPr>
        <p:spPr>
          <a:xfrm xmlns:a="http://schemas.openxmlformats.org/drawingml/2006/main">
            <a:off x="66675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Validation after every complete epoch</a:t>
            </a:r>
          </a:p>
        </p:txBody>
      </p:sp>
      <p:sp>
        <p:nvSpPr>
          <p:cNvPr id="2" name="text-1">
            <a:extLst xmlns:a="http://schemas.openxmlformats.org/drawingml/2006/main">
              <a:ext uri="{FF2B5EF4-FFF2-40B4-BE49-F238E27FC236}">
                <a16:creationId xmlns:a16="http://schemas.microsoft.com/office/drawing/2014/main" id="{31091485-4B6C-4A8E-9DC0-9DC08C66A53F}"/>
              </a:ext>
            </a:extLst>
          </p:cNvPr>
          <p:cNvSpPr>
            <a:spLocks xmlns:a="http://schemas.openxmlformats.org/drawingml/2006/main" noGrp="1"/>
          </p:cNvSpPr>
          <p:nvPr/>
        </p:nvSpPr>
        <p:spPr>
          <a:xfrm xmlns:a="http://schemas.openxmlformats.org/drawingml/2006/main">
            <a:off x="666750" y="641985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MROOT  08</a:t>
            </a:r>
          </a:p>
        </p:txBody>
      </p:sp>
      <p:graphicFrame>
        <p:nvGraphicFramePr>
          <p:cNvPr id="3" name="Chart">
            <a:extLst xmlns:a="http://schemas.openxmlformats.org/drawingml/2006/main">
              <a:ext uri="{FF2B5EF4-FFF2-40B4-BE49-F238E27FC236}">
                <a16:creationId xmlns:a16="http://schemas.microsoft.com/office/drawing/2014/main" id="{CAA39C3F-1D2C-4BDF-8CF0-343874BD1137}"/>
              </a:ext>
            </a:extLst>
          </p:cNvPr>
          <p:cNvGraphicFramePr/>
          <p:nvPr/>
        </p:nvGraphicFramePr>
        <p:xfrm>
          <a:off xmlns:a="http://schemas.openxmlformats.org/drawingml/2006/main" x="762000" y="1428750"/>
          <a:ext xmlns:a="http://schemas.openxmlformats.org/drawingml/2006/main" cx="10572750" cy="4000500"/>
        </p:xfrm>
        <a:graphic xmlns:a="http://schemas.openxmlformats.org/drawingml/2006/main">
          <a:graphicData uri="http://schemas.openxmlformats.org/drawingml/2006/chart">
            <c:chart xmlns:r="http://schemas.openxmlformats.org/officeDocument/2006/relationships" xmlns:c="http://schemas.openxmlformats.org/drawingml/2006/chart" r:id="R3929de516d4d4223"/>
          </a:graphicData>
        </a:graphic>
      </p:graphicFrame>
      <p:sp>
        <p:nvSpPr>
          <p:cNvPr id="4" name="text-2">
            <a:extLst xmlns:a="http://schemas.openxmlformats.org/drawingml/2006/main">
              <a:ext uri="{FF2B5EF4-FFF2-40B4-BE49-F238E27FC236}">
                <a16:creationId xmlns:a16="http://schemas.microsoft.com/office/drawing/2014/main" id="{13EC7C21-7DA7-4A36-B674-E08CB87B7DED}"/>
              </a:ext>
            </a:extLst>
          </p:cNvPr>
          <p:cNvSpPr>
            <a:spLocks xmlns:a="http://schemas.openxmlformats.org/drawingml/2006/main" noGrp="1"/>
          </p:cNvSpPr>
          <p:nvPr/>
        </p:nvSpPr>
        <p:spPr>
          <a:xfrm xmlns:a="http://schemas.openxmlformats.org/drawingml/2006/main">
            <a:off x="723900" y="574357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24352C"/>
                </a:solidFill>
                <a:latin typeface="Arial"/>
                <a:ea typeface="Arial"/>
                <a:cs typeface="Arial"/>
              </a:defRPr>
            </a:defPPr>
            <a:lvl1pPr>
              <a:defRPr sz="1875" b="0">
                <a:solidFill>
                  <a:srgbClr val="24352C"/>
                </a:solidFill>
                <a:latin typeface="Arial"/>
                <a:ea typeface="Arial"/>
                <a:cs typeface="Arial"/>
              </a:defRPr>
            </a:lvl1pPr>
            <a:lvl2pPr>
              <a:defRPr sz="1875" b="0">
                <a:solidFill>
                  <a:srgbClr val="24352C"/>
                </a:solidFill>
                <a:latin typeface="Arial"/>
                <a:ea typeface="Arial"/>
                <a:cs typeface="Arial"/>
              </a:defRPr>
            </a:lvl2pPr>
            <a:lvl3pPr>
              <a:defRPr sz="1875" b="0">
                <a:solidFill>
                  <a:srgbClr val="24352C"/>
                </a:solidFill>
                <a:latin typeface="Arial"/>
                <a:ea typeface="Arial"/>
                <a:cs typeface="Arial"/>
              </a:defRPr>
            </a:lvl3pPr>
            <a:lvl4pPr>
              <a:defRPr sz="1875" b="0">
                <a:solidFill>
                  <a:srgbClr val="24352C"/>
                </a:solidFill>
                <a:latin typeface="Arial"/>
                <a:ea typeface="Arial"/>
                <a:cs typeface="Arial"/>
              </a:defRPr>
            </a:lvl4pPr>
            <a:lvl5pPr>
              <a:defRPr sz="1875" b="0">
                <a:solidFill>
                  <a:srgbClr val="24352C"/>
                </a:solidFill>
                <a:latin typeface="Arial"/>
                <a:ea typeface="Arial"/>
                <a:cs typeface="Arial"/>
              </a:defRPr>
            </a:lvl5pPr>
            <a:lvl6pPr>
              <a:defRPr sz="1875" b="0">
                <a:solidFill>
                  <a:srgbClr val="24352C"/>
                </a:solidFill>
                <a:latin typeface="Arial"/>
                <a:ea typeface="Arial"/>
                <a:cs typeface="Arial"/>
              </a:defRPr>
            </a:lvl6pPr>
            <a:lvl7pPr>
              <a:defRPr sz="1875" b="0">
                <a:solidFill>
                  <a:srgbClr val="24352C"/>
                </a:solidFill>
                <a:latin typeface="Arial"/>
                <a:ea typeface="Arial"/>
                <a:cs typeface="Arial"/>
              </a:defRPr>
            </a:lvl7pPr>
            <a:lvl8pPr>
              <a:defRPr sz="1875" b="0">
                <a:solidFill>
                  <a:srgbClr val="24352C"/>
                </a:solidFill>
                <a:latin typeface="Arial"/>
                <a:ea typeface="Arial"/>
                <a:cs typeface="Arial"/>
              </a:defRPr>
            </a:lvl8pPr>
            <a:lvl9pPr>
              <a:defRPr sz="1875" b="0">
                <a:solidFill>
                  <a:srgbClr val="24352C"/>
                </a:solidFill>
                <a:latin typeface="Arial"/>
                <a:ea typeface="Arial"/>
                <a:cs typeface="Arial"/>
              </a:defRPr>
            </a:lvl9pPr>
          </a:lstStyle>
          <a:p xmlns:a="http://schemas.openxmlformats.org/drawingml/2006/main">
            <a:pPr>
              <a:defRPr sz="1875" b="0">
                <a:solidFill>
                  <a:srgbClr val="24352C"/>
                </a:solidFill>
                <a:latin typeface="Arial"/>
                <a:ea typeface="Arial"/>
                <a:cs typeface="Arial"/>
              </a:defRPr>
            </a:pPr>
            <a:r>
              <a:rPr sz="1875" b="0">
                <a:solidFill>
                  <a:srgbClr val="24352C"/>
                </a:solidFill>
                <a:latin typeface="Arial"/>
                <a:ea typeface="Arial"/>
                <a:cs typeface="Arial"/>
              </a:rPr>
              <a:t>Selected: control epoch 7 at 94.81% mAP, mixed epoch 11 at 96.07% mAP</a:t>
            </a:r>
          </a:p>
        </p:txBody>
      </p:sp>
    </p:spTree>
    <p:extLst>
      <p:ext uri="{BB962C8B-B14F-4D97-AF65-F5344CB8AC3E}">
        <p14:creationId xmlns:p14="http://schemas.microsoft.com/office/powerpoint/2010/main" val="197023729"/>
      </p:ext>
    </p:extLst>
  </p:cSld>
</p:sld>
</file>

<file path=ppt/slides/slide9.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09751BCA-146E-41B2-AD74-F6087F2486B2}"/>
              </a:ext>
            </a:extLst>
          </p:cNvPr>
          <p:cNvSpPr>
            <a:spLocks xmlns:a="http://schemas.openxmlformats.org/drawingml/2006/main" noGrp="1"/>
          </p:cNvSpPr>
          <p:nvPr/>
        </p:nvSpPr>
        <p:spPr>
          <a:xfrm xmlns:a="http://schemas.openxmlformats.org/drawingml/2006/main">
            <a:off x="66675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Why I kept two models</a:t>
            </a:r>
          </a:p>
        </p:txBody>
      </p:sp>
      <p:sp>
        <p:nvSpPr>
          <p:cNvPr id="2" name="text-1">
            <a:extLst xmlns:a="http://schemas.openxmlformats.org/drawingml/2006/main">
              <a:ext uri="{FF2B5EF4-FFF2-40B4-BE49-F238E27FC236}">
                <a16:creationId xmlns:a16="http://schemas.microsoft.com/office/drawing/2014/main" id="{D26067FA-868E-4BAD-B6AC-162F714B2103}"/>
              </a:ext>
            </a:extLst>
          </p:cNvPr>
          <p:cNvSpPr>
            <a:spLocks xmlns:a="http://schemas.openxmlformats.org/drawingml/2006/main" noGrp="1"/>
          </p:cNvSpPr>
          <p:nvPr/>
        </p:nvSpPr>
        <p:spPr>
          <a:xfrm xmlns:a="http://schemas.openxmlformats.org/drawingml/2006/main">
            <a:off x="666750" y="641985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MROOT  09</a:t>
            </a:r>
          </a:p>
        </p:txBody>
      </p:sp>
      <p:graphicFrame>
        <p:nvGraphicFramePr>
          <p:cNvPr id="3" name="Chart">
            <a:extLst xmlns:a="http://schemas.openxmlformats.org/drawingml/2006/main">
              <a:ext uri="{FF2B5EF4-FFF2-40B4-BE49-F238E27FC236}">
                <a16:creationId xmlns:a16="http://schemas.microsoft.com/office/drawing/2014/main" id="{732CA30C-4E1B-4BA3-8C2C-FE3B9C84C2CA}"/>
              </a:ext>
            </a:extLst>
          </p:cNvPr>
          <p:cNvGraphicFramePr/>
          <p:nvPr/>
        </p:nvGraphicFramePr>
        <p:xfrm>
          <a:off xmlns:a="http://schemas.openxmlformats.org/drawingml/2006/main" x="666750" y="1476375"/>
          <a:ext xmlns:a="http://schemas.openxmlformats.org/drawingml/2006/main" cx="10668000" cy="3762375"/>
        </p:xfrm>
        <a:graphic xmlns:a="http://schemas.openxmlformats.org/drawingml/2006/main">
          <a:graphicData uri="http://schemas.openxmlformats.org/drawingml/2006/chart">
            <c:chart xmlns:r="http://schemas.openxmlformats.org/officeDocument/2006/relationships" xmlns:c="http://schemas.openxmlformats.org/drawingml/2006/chart" r:id="Rf440aaed5dfa43ce"/>
          </a:graphicData>
        </a:graphic>
      </p:graphicFrame>
      <p:sp>
        <p:nvSpPr>
          <p:cNvPr id="4" name="text-2">
            <a:extLst xmlns:a="http://schemas.openxmlformats.org/drawingml/2006/main">
              <a:ext uri="{FF2B5EF4-FFF2-40B4-BE49-F238E27FC236}">
                <a16:creationId xmlns:a16="http://schemas.microsoft.com/office/drawing/2014/main" id="{DF5680EE-3BA8-47D9-8637-2D2A570C5F41}"/>
              </a:ext>
            </a:extLst>
          </p:cNvPr>
          <p:cNvSpPr>
            <a:spLocks xmlns:a="http://schemas.openxmlformats.org/drawingml/2006/main" noGrp="1"/>
          </p:cNvSpPr>
          <p:nvPr/>
        </p:nvSpPr>
        <p:spPr>
          <a:xfrm xmlns:a="http://schemas.openxmlformats.org/drawingml/2006/main">
            <a:off x="723900" y="5457825"/>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24352C"/>
                </a:solidFill>
                <a:latin typeface="Arial"/>
                <a:ea typeface="Arial"/>
                <a:cs typeface="Arial"/>
              </a:defRPr>
            </a:defPPr>
            <a:lvl1pPr>
              <a:defRPr sz="1875" b="0">
                <a:solidFill>
                  <a:srgbClr val="24352C"/>
                </a:solidFill>
                <a:latin typeface="Arial"/>
                <a:ea typeface="Arial"/>
                <a:cs typeface="Arial"/>
              </a:defRPr>
            </a:lvl1pPr>
            <a:lvl2pPr>
              <a:defRPr sz="1875" b="0">
                <a:solidFill>
                  <a:srgbClr val="24352C"/>
                </a:solidFill>
                <a:latin typeface="Arial"/>
                <a:ea typeface="Arial"/>
                <a:cs typeface="Arial"/>
              </a:defRPr>
            </a:lvl2pPr>
            <a:lvl3pPr>
              <a:defRPr sz="1875" b="0">
                <a:solidFill>
                  <a:srgbClr val="24352C"/>
                </a:solidFill>
                <a:latin typeface="Arial"/>
                <a:ea typeface="Arial"/>
                <a:cs typeface="Arial"/>
              </a:defRPr>
            </a:lvl3pPr>
            <a:lvl4pPr>
              <a:defRPr sz="1875" b="0">
                <a:solidFill>
                  <a:srgbClr val="24352C"/>
                </a:solidFill>
                <a:latin typeface="Arial"/>
                <a:ea typeface="Arial"/>
                <a:cs typeface="Arial"/>
              </a:defRPr>
            </a:lvl4pPr>
            <a:lvl5pPr>
              <a:defRPr sz="1875" b="0">
                <a:solidFill>
                  <a:srgbClr val="24352C"/>
                </a:solidFill>
                <a:latin typeface="Arial"/>
                <a:ea typeface="Arial"/>
                <a:cs typeface="Arial"/>
              </a:defRPr>
            </a:lvl5pPr>
            <a:lvl6pPr>
              <a:defRPr sz="1875" b="0">
                <a:solidFill>
                  <a:srgbClr val="24352C"/>
                </a:solidFill>
                <a:latin typeface="Arial"/>
                <a:ea typeface="Arial"/>
                <a:cs typeface="Arial"/>
              </a:defRPr>
            </a:lvl6pPr>
            <a:lvl7pPr>
              <a:defRPr sz="1875" b="0">
                <a:solidFill>
                  <a:srgbClr val="24352C"/>
                </a:solidFill>
                <a:latin typeface="Arial"/>
                <a:ea typeface="Arial"/>
                <a:cs typeface="Arial"/>
              </a:defRPr>
            </a:lvl7pPr>
            <a:lvl8pPr>
              <a:defRPr sz="1875" b="0">
                <a:solidFill>
                  <a:srgbClr val="24352C"/>
                </a:solidFill>
                <a:latin typeface="Arial"/>
                <a:ea typeface="Arial"/>
                <a:cs typeface="Arial"/>
              </a:defRPr>
            </a:lvl8pPr>
            <a:lvl9pPr>
              <a:defRPr sz="1875" b="0">
                <a:solidFill>
                  <a:srgbClr val="24352C"/>
                </a:solidFill>
                <a:latin typeface="Arial"/>
                <a:ea typeface="Arial"/>
                <a:cs typeface="Arial"/>
              </a:defRPr>
            </a:lvl9pPr>
          </a:lstStyle>
          <a:p xmlns:a="http://schemas.openxmlformats.org/drawingml/2006/main">
            <a:pPr>
              <a:defRPr sz="1875" b="0">
                <a:solidFill>
                  <a:srgbClr val="24352C"/>
                </a:solidFill>
                <a:latin typeface="Arial"/>
                <a:ea typeface="Arial"/>
                <a:cs typeface="Arial"/>
              </a:defRPr>
            </a:pPr>
            <a:r>
              <a:rPr sz="1875" b="0">
                <a:solidFill>
                  <a:srgbClr val="24352C"/>
                </a:solidFill>
                <a:latin typeface="Arial"/>
                <a:ea typeface="Arial"/>
                <a:cs typeface="Arial"/>
              </a:rPr>
              <a:t>Same 368 validation images. The final pair had the highest observed mAP.</a:t>
            </a:r>
          </a:p>
        </p:txBody>
      </p:sp>
      <p:sp>
        <p:nvSpPr>
          <p:cNvPr id="5" name="text-3">
            <a:extLst xmlns:a="http://schemas.openxmlformats.org/drawingml/2006/main">
              <a:ext uri="{FF2B5EF4-FFF2-40B4-BE49-F238E27FC236}">
                <a16:creationId xmlns:a16="http://schemas.microsoft.com/office/drawing/2014/main" id="{CE86324D-4423-44AC-8167-C44A053143D7}"/>
              </a:ext>
            </a:extLst>
          </p:cNvPr>
          <p:cNvSpPr>
            <a:spLocks xmlns:a="http://schemas.openxmlformats.org/drawingml/2006/main" noGrp="1"/>
          </p:cNvSpPr>
          <p:nvPr/>
        </p:nvSpPr>
        <p:spPr>
          <a:xfrm xmlns:a="http://schemas.openxmlformats.org/drawingml/2006/main">
            <a:off x="723900" y="60102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AB5A37"/>
                </a:solidFill>
                <a:latin typeface="Arial"/>
                <a:ea typeface="Arial"/>
                <a:cs typeface="Arial"/>
              </a:defRPr>
            </a:defPPr>
            <a:lvl1pPr>
              <a:defRPr sz="1650" b="0">
                <a:solidFill>
                  <a:srgbClr val="AB5A37"/>
                </a:solidFill>
                <a:latin typeface="Arial"/>
                <a:ea typeface="Arial"/>
                <a:cs typeface="Arial"/>
              </a:defRPr>
            </a:lvl1pPr>
            <a:lvl2pPr>
              <a:defRPr sz="1650" b="0">
                <a:solidFill>
                  <a:srgbClr val="AB5A37"/>
                </a:solidFill>
                <a:latin typeface="Arial"/>
                <a:ea typeface="Arial"/>
                <a:cs typeface="Arial"/>
              </a:defRPr>
            </a:lvl2pPr>
            <a:lvl3pPr>
              <a:defRPr sz="1650" b="0">
                <a:solidFill>
                  <a:srgbClr val="AB5A37"/>
                </a:solidFill>
                <a:latin typeface="Arial"/>
                <a:ea typeface="Arial"/>
                <a:cs typeface="Arial"/>
              </a:defRPr>
            </a:lvl3pPr>
            <a:lvl4pPr>
              <a:defRPr sz="1650" b="0">
                <a:solidFill>
                  <a:srgbClr val="AB5A37"/>
                </a:solidFill>
                <a:latin typeface="Arial"/>
                <a:ea typeface="Arial"/>
                <a:cs typeface="Arial"/>
              </a:defRPr>
            </a:lvl4pPr>
            <a:lvl5pPr>
              <a:defRPr sz="1650" b="0">
                <a:solidFill>
                  <a:srgbClr val="AB5A37"/>
                </a:solidFill>
                <a:latin typeface="Arial"/>
                <a:ea typeface="Arial"/>
                <a:cs typeface="Arial"/>
              </a:defRPr>
            </a:lvl5pPr>
            <a:lvl6pPr>
              <a:defRPr sz="1650" b="0">
                <a:solidFill>
                  <a:srgbClr val="AB5A37"/>
                </a:solidFill>
                <a:latin typeface="Arial"/>
                <a:ea typeface="Arial"/>
                <a:cs typeface="Arial"/>
              </a:defRPr>
            </a:lvl6pPr>
            <a:lvl7pPr>
              <a:defRPr sz="1650" b="0">
                <a:solidFill>
                  <a:srgbClr val="AB5A37"/>
                </a:solidFill>
                <a:latin typeface="Arial"/>
                <a:ea typeface="Arial"/>
                <a:cs typeface="Arial"/>
              </a:defRPr>
            </a:lvl7pPr>
            <a:lvl8pPr>
              <a:defRPr sz="1650" b="0">
                <a:solidFill>
                  <a:srgbClr val="AB5A37"/>
                </a:solidFill>
                <a:latin typeface="Arial"/>
                <a:ea typeface="Arial"/>
                <a:cs typeface="Arial"/>
              </a:defRPr>
            </a:lvl8pPr>
            <a:lvl9pPr>
              <a:defRPr sz="1650" b="0">
                <a:solidFill>
                  <a:srgbClr val="AB5A37"/>
                </a:solidFill>
                <a:latin typeface="Arial"/>
                <a:ea typeface="Arial"/>
                <a:cs typeface="Arial"/>
              </a:defRPr>
            </a:lvl9pPr>
          </a:lstStyle>
          <a:p xmlns:a="http://schemas.openxmlformats.org/drawingml/2006/main">
            <a:pPr>
              <a:defRPr sz="1650" b="0">
                <a:solidFill>
                  <a:srgbClr val="AB5A37"/>
                </a:solidFill>
                <a:latin typeface="Arial"/>
                <a:ea typeface="Arial"/>
                <a:cs typeface="Arial"/>
              </a:defRPr>
            </a:pPr>
            <a:r>
              <a:rPr sz="1650" b="0">
                <a:solidFill>
                  <a:srgbClr val="AB5A37"/>
                </a:solidFill>
                <a:latin typeface="Arial"/>
                <a:ea typeface="Arial"/>
                <a:cs typeface="Arial"/>
              </a:rPr>
              <a:t>The paired uncertainty intervals include zero.</a:t>
            </a:r>
          </a:p>
        </p:txBody>
      </p:sp>
    </p:spTree>
    <p:extLst>
      <p:ext uri="{BB962C8B-B14F-4D97-AF65-F5344CB8AC3E}">
        <p14:creationId xmlns:p14="http://schemas.microsoft.com/office/powerpoint/2010/main" val="1333022653"/>
      </p:ext>
    </p:extLst>
  </p:cSld>
</p:sld>
</file>

<file path=ppt/slides/slide10.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F82B2451-61CE-4EBC-BFDF-A5FB5DC2ECAE}"/>
              </a:ext>
            </a:extLst>
          </p:cNvPr>
          <p:cNvSpPr>
            <a:spLocks xmlns:a="http://schemas.openxmlformats.org/drawingml/2006/main" noGrp="1"/>
          </p:cNvSpPr>
          <p:nvPr/>
        </p:nvSpPr>
        <p:spPr>
          <a:xfrm xmlns:a="http://schemas.openxmlformats.org/drawingml/2006/main">
            <a:off x="66675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The final holdout report</a:t>
            </a:r>
          </a:p>
        </p:txBody>
      </p:sp>
      <p:sp>
        <p:nvSpPr>
          <p:cNvPr id="2" name="text-1">
            <a:extLst xmlns:a="http://schemas.openxmlformats.org/drawingml/2006/main">
              <a:ext uri="{FF2B5EF4-FFF2-40B4-BE49-F238E27FC236}">
                <a16:creationId xmlns:a16="http://schemas.microsoft.com/office/drawing/2014/main" id="{91913FE0-8E89-4681-8076-984FC97DEFE2}"/>
              </a:ext>
            </a:extLst>
          </p:cNvPr>
          <p:cNvSpPr>
            <a:spLocks xmlns:a="http://schemas.openxmlformats.org/drawingml/2006/main" noGrp="1"/>
          </p:cNvSpPr>
          <p:nvPr/>
        </p:nvSpPr>
        <p:spPr>
          <a:xfrm xmlns:a="http://schemas.openxmlformats.org/drawingml/2006/main">
            <a:off x="666750" y="641985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MROOT  10</a:t>
            </a:r>
          </a:p>
        </p:txBody>
      </p:sp>
      <p:sp>
        <p:nvSpPr>
          <p:cNvPr id="3" name="text-2">
            <a:extLst xmlns:a="http://schemas.openxmlformats.org/drawingml/2006/main">
              <a:ext uri="{FF2B5EF4-FFF2-40B4-BE49-F238E27FC236}">
                <a16:creationId xmlns:a16="http://schemas.microsoft.com/office/drawing/2014/main" id="{6C28C31E-DDF3-4554-994E-A82501A8D68A}"/>
              </a:ext>
            </a:extLst>
          </p:cNvPr>
          <p:cNvSpPr>
            <a:spLocks xmlns:a="http://schemas.openxmlformats.org/drawingml/2006/main" noGrp="1"/>
          </p:cNvSpPr>
          <p:nvPr/>
        </p:nvSpPr>
        <p:spPr>
          <a:xfrm xmlns:a="http://schemas.openxmlformats.org/drawingml/2006/main">
            <a:off x="723900" y="1638300"/>
            <a:ext cx="466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5850" b="1">
                <a:solidFill>
                  <a:srgbClr val="173E2C"/>
                </a:solidFill>
                <a:latin typeface="Arial"/>
                <a:ea typeface="Arial"/>
                <a:cs typeface="Arial"/>
              </a:defRPr>
            </a:defPPr>
            <a:lvl1pPr>
              <a:defRPr sz="5850" b="1">
                <a:solidFill>
                  <a:srgbClr val="173E2C"/>
                </a:solidFill>
                <a:latin typeface="Arial"/>
                <a:ea typeface="Arial"/>
                <a:cs typeface="Arial"/>
              </a:defRPr>
            </a:lvl1pPr>
            <a:lvl2pPr>
              <a:defRPr sz="5850" b="1">
                <a:solidFill>
                  <a:srgbClr val="173E2C"/>
                </a:solidFill>
                <a:latin typeface="Arial"/>
                <a:ea typeface="Arial"/>
                <a:cs typeface="Arial"/>
              </a:defRPr>
            </a:lvl2pPr>
            <a:lvl3pPr>
              <a:defRPr sz="5850" b="1">
                <a:solidFill>
                  <a:srgbClr val="173E2C"/>
                </a:solidFill>
                <a:latin typeface="Arial"/>
                <a:ea typeface="Arial"/>
                <a:cs typeface="Arial"/>
              </a:defRPr>
            </a:lvl3pPr>
            <a:lvl4pPr>
              <a:defRPr sz="5850" b="1">
                <a:solidFill>
                  <a:srgbClr val="173E2C"/>
                </a:solidFill>
                <a:latin typeface="Arial"/>
                <a:ea typeface="Arial"/>
                <a:cs typeface="Arial"/>
              </a:defRPr>
            </a:lvl4pPr>
            <a:lvl5pPr>
              <a:defRPr sz="5850" b="1">
                <a:solidFill>
                  <a:srgbClr val="173E2C"/>
                </a:solidFill>
                <a:latin typeface="Arial"/>
                <a:ea typeface="Arial"/>
                <a:cs typeface="Arial"/>
              </a:defRPr>
            </a:lvl5pPr>
            <a:lvl6pPr>
              <a:defRPr sz="5850" b="1">
                <a:solidFill>
                  <a:srgbClr val="173E2C"/>
                </a:solidFill>
                <a:latin typeface="Arial"/>
                <a:ea typeface="Arial"/>
                <a:cs typeface="Arial"/>
              </a:defRPr>
            </a:lvl6pPr>
            <a:lvl7pPr>
              <a:defRPr sz="5850" b="1">
                <a:solidFill>
                  <a:srgbClr val="173E2C"/>
                </a:solidFill>
                <a:latin typeface="Arial"/>
                <a:ea typeface="Arial"/>
                <a:cs typeface="Arial"/>
              </a:defRPr>
            </a:lvl7pPr>
            <a:lvl8pPr>
              <a:defRPr sz="5850" b="1">
                <a:solidFill>
                  <a:srgbClr val="173E2C"/>
                </a:solidFill>
                <a:latin typeface="Arial"/>
                <a:ea typeface="Arial"/>
                <a:cs typeface="Arial"/>
              </a:defRPr>
            </a:lvl8pPr>
            <a:lvl9pPr>
              <a:defRPr sz="5850" b="1">
                <a:solidFill>
                  <a:srgbClr val="173E2C"/>
                </a:solidFill>
                <a:latin typeface="Arial"/>
                <a:ea typeface="Arial"/>
                <a:cs typeface="Arial"/>
              </a:defRPr>
            </a:lvl9pPr>
          </a:lstStyle>
          <a:p xmlns:a="http://schemas.openxmlformats.org/drawingml/2006/main">
            <a:pPr>
              <a:defRPr sz="5850" b="1">
                <a:solidFill>
                  <a:srgbClr val="173E2C"/>
                </a:solidFill>
                <a:latin typeface="Arial"/>
                <a:ea typeface="Arial"/>
                <a:cs typeface="Arial"/>
              </a:defRPr>
            </a:pPr>
            <a:r>
              <a:rPr sz="5850" b="1">
                <a:solidFill>
                  <a:srgbClr val="173E2C"/>
                </a:solidFill>
                <a:latin typeface="Arial"/>
                <a:ea typeface="Arial"/>
                <a:cs typeface="Arial"/>
              </a:rPr>
              <a:t>92.99%</a:t>
            </a:r>
          </a:p>
        </p:txBody>
      </p:sp>
      <p:sp>
        <p:nvSpPr>
          <p:cNvPr id="4" name="text-3">
            <a:extLst xmlns:a="http://schemas.openxmlformats.org/drawingml/2006/main">
              <a:ext uri="{FF2B5EF4-FFF2-40B4-BE49-F238E27FC236}">
                <a16:creationId xmlns:a16="http://schemas.microsoft.com/office/drawing/2014/main" id="{52374263-9C8F-4209-8D55-EC2EDD52C3AF}"/>
              </a:ext>
            </a:extLst>
          </p:cNvPr>
          <p:cNvSpPr>
            <a:spLocks xmlns:a="http://schemas.openxmlformats.org/drawingml/2006/main" noGrp="1"/>
          </p:cNvSpPr>
          <p:nvPr/>
        </p:nvSpPr>
        <p:spPr>
          <a:xfrm xmlns:a="http://schemas.openxmlformats.org/drawingml/2006/main">
            <a:off x="762000" y="2809875"/>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24352C"/>
                </a:solidFill>
                <a:latin typeface="Arial"/>
                <a:ea typeface="Arial"/>
                <a:cs typeface="Arial"/>
              </a:defRPr>
            </a:defPPr>
            <a:lvl1pPr>
              <a:defRPr sz="2325" b="0">
                <a:solidFill>
                  <a:srgbClr val="24352C"/>
                </a:solidFill>
                <a:latin typeface="Arial"/>
                <a:ea typeface="Arial"/>
                <a:cs typeface="Arial"/>
              </a:defRPr>
            </a:lvl1pPr>
            <a:lvl2pPr>
              <a:defRPr sz="2325" b="0">
                <a:solidFill>
                  <a:srgbClr val="24352C"/>
                </a:solidFill>
                <a:latin typeface="Arial"/>
                <a:ea typeface="Arial"/>
                <a:cs typeface="Arial"/>
              </a:defRPr>
            </a:lvl2pPr>
            <a:lvl3pPr>
              <a:defRPr sz="2325" b="0">
                <a:solidFill>
                  <a:srgbClr val="24352C"/>
                </a:solidFill>
                <a:latin typeface="Arial"/>
                <a:ea typeface="Arial"/>
                <a:cs typeface="Arial"/>
              </a:defRPr>
            </a:lvl3pPr>
            <a:lvl4pPr>
              <a:defRPr sz="2325" b="0">
                <a:solidFill>
                  <a:srgbClr val="24352C"/>
                </a:solidFill>
                <a:latin typeface="Arial"/>
                <a:ea typeface="Arial"/>
                <a:cs typeface="Arial"/>
              </a:defRPr>
            </a:lvl4pPr>
            <a:lvl5pPr>
              <a:defRPr sz="2325" b="0">
                <a:solidFill>
                  <a:srgbClr val="24352C"/>
                </a:solidFill>
                <a:latin typeface="Arial"/>
                <a:ea typeface="Arial"/>
                <a:cs typeface="Arial"/>
              </a:defRPr>
            </a:lvl5pPr>
            <a:lvl6pPr>
              <a:defRPr sz="2325" b="0">
                <a:solidFill>
                  <a:srgbClr val="24352C"/>
                </a:solidFill>
                <a:latin typeface="Arial"/>
                <a:ea typeface="Arial"/>
                <a:cs typeface="Arial"/>
              </a:defRPr>
            </a:lvl6pPr>
            <a:lvl7pPr>
              <a:defRPr sz="2325" b="0">
                <a:solidFill>
                  <a:srgbClr val="24352C"/>
                </a:solidFill>
                <a:latin typeface="Arial"/>
                <a:ea typeface="Arial"/>
                <a:cs typeface="Arial"/>
              </a:defRPr>
            </a:lvl7pPr>
            <a:lvl8pPr>
              <a:defRPr sz="2325" b="0">
                <a:solidFill>
                  <a:srgbClr val="24352C"/>
                </a:solidFill>
                <a:latin typeface="Arial"/>
                <a:ea typeface="Arial"/>
                <a:cs typeface="Arial"/>
              </a:defRPr>
            </a:lvl8pPr>
            <a:lvl9pPr>
              <a:defRPr sz="2325" b="0">
                <a:solidFill>
                  <a:srgbClr val="24352C"/>
                </a:solidFill>
                <a:latin typeface="Arial"/>
                <a:ea typeface="Arial"/>
                <a:cs typeface="Arial"/>
              </a:defRPr>
            </a:lvl9pPr>
          </a:lstStyle>
          <a:p xmlns:a="http://schemas.openxmlformats.org/drawingml/2006/main">
            <a:pPr>
              <a:defRPr sz="2325" b="0">
                <a:solidFill>
                  <a:srgbClr val="24352C"/>
                </a:solidFill>
                <a:latin typeface="Arial"/>
                <a:ea typeface="Arial"/>
                <a:cs typeface="Arial"/>
              </a:defRPr>
            </a:pPr>
            <a:r>
              <a:rPr sz="2325" b="0">
                <a:solidFill>
                  <a:srgbClr val="24352C"/>
                </a:solidFill>
                <a:latin typeface="Arial"/>
                <a:ea typeface="Arial"/>
                <a:cs typeface="Arial"/>
              </a:rPr>
              <a:t>Macro mAP on 623 images</a:t>
            </a:r>
          </a:p>
        </p:txBody>
      </p:sp>
      <p:sp>
        <p:nvSpPr>
          <p:cNvPr id="5" name="text-4">
            <a:extLst xmlns:a="http://schemas.openxmlformats.org/drawingml/2006/main">
              <a:ext uri="{FF2B5EF4-FFF2-40B4-BE49-F238E27FC236}">
                <a16:creationId xmlns:a16="http://schemas.microsoft.com/office/drawing/2014/main" id="{7AF4AEE1-2F35-44FD-968A-12AB5C65F281}"/>
              </a:ext>
            </a:extLst>
          </p:cNvPr>
          <p:cNvSpPr>
            <a:spLocks xmlns:a="http://schemas.openxmlformats.org/drawingml/2006/main" noGrp="1"/>
          </p:cNvSpPr>
          <p:nvPr/>
        </p:nvSpPr>
        <p:spPr>
          <a:xfrm xmlns:a="http://schemas.openxmlformats.org/drawingml/2006/main">
            <a:off x="6953250" y="1809750"/>
            <a:ext cx="4476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00" b="0">
                <a:solidFill>
                  <a:srgbClr val="24352C"/>
                </a:solidFill>
                <a:latin typeface="Arial"/>
                <a:ea typeface="Arial"/>
                <a:cs typeface="Arial"/>
              </a:defRPr>
            </a:defPPr>
            <a:lvl1pPr>
              <a:defRPr sz="2700" b="0">
                <a:solidFill>
                  <a:srgbClr val="24352C"/>
                </a:solidFill>
                <a:latin typeface="Arial"/>
                <a:ea typeface="Arial"/>
                <a:cs typeface="Arial"/>
              </a:defRPr>
            </a:lvl1pPr>
            <a:lvl2pPr>
              <a:defRPr sz="2700" b="0">
                <a:solidFill>
                  <a:srgbClr val="24352C"/>
                </a:solidFill>
                <a:latin typeface="Arial"/>
                <a:ea typeface="Arial"/>
                <a:cs typeface="Arial"/>
              </a:defRPr>
            </a:lvl2pPr>
            <a:lvl3pPr>
              <a:defRPr sz="2700" b="0">
                <a:solidFill>
                  <a:srgbClr val="24352C"/>
                </a:solidFill>
                <a:latin typeface="Arial"/>
                <a:ea typeface="Arial"/>
                <a:cs typeface="Arial"/>
              </a:defRPr>
            </a:lvl3pPr>
            <a:lvl4pPr>
              <a:defRPr sz="2700" b="0">
                <a:solidFill>
                  <a:srgbClr val="24352C"/>
                </a:solidFill>
                <a:latin typeface="Arial"/>
                <a:ea typeface="Arial"/>
                <a:cs typeface="Arial"/>
              </a:defRPr>
            </a:lvl4pPr>
            <a:lvl5pPr>
              <a:defRPr sz="2700" b="0">
                <a:solidFill>
                  <a:srgbClr val="24352C"/>
                </a:solidFill>
                <a:latin typeface="Arial"/>
                <a:ea typeface="Arial"/>
                <a:cs typeface="Arial"/>
              </a:defRPr>
            </a:lvl5pPr>
            <a:lvl6pPr>
              <a:defRPr sz="2700" b="0">
                <a:solidFill>
                  <a:srgbClr val="24352C"/>
                </a:solidFill>
                <a:latin typeface="Arial"/>
                <a:ea typeface="Arial"/>
                <a:cs typeface="Arial"/>
              </a:defRPr>
            </a:lvl6pPr>
            <a:lvl7pPr>
              <a:defRPr sz="2700" b="0">
                <a:solidFill>
                  <a:srgbClr val="24352C"/>
                </a:solidFill>
                <a:latin typeface="Arial"/>
                <a:ea typeface="Arial"/>
                <a:cs typeface="Arial"/>
              </a:defRPr>
            </a:lvl7pPr>
            <a:lvl8pPr>
              <a:defRPr sz="2700" b="0">
                <a:solidFill>
                  <a:srgbClr val="24352C"/>
                </a:solidFill>
                <a:latin typeface="Arial"/>
                <a:ea typeface="Arial"/>
                <a:cs typeface="Arial"/>
              </a:defRPr>
            </a:lvl8pPr>
            <a:lvl9pPr>
              <a:defRPr sz="2700" b="0">
                <a:solidFill>
                  <a:srgbClr val="24352C"/>
                </a:solidFill>
                <a:latin typeface="Arial"/>
                <a:ea typeface="Arial"/>
                <a:cs typeface="Arial"/>
              </a:defRPr>
            </a:lvl9pPr>
          </a:lstStyle>
          <a:p xmlns:a="http://schemas.openxmlformats.org/drawingml/2006/main">
            <a:pPr>
              <a:defRPr sz="2700" b="0">
                <a:solidFill>
                  <a:srgbClr val="24352C"/>
                </a:solidFill>
                <a:latin typeface="Arial"/>
                <a:ea typeface="Arial"/>
                <a:cs typeface="Arial"/>
              </a:defRPr>
            </a:pPr>
            <a:r>
              <a:rPr sz="2700" b="0">
                <a:solidFill>
                  <a:srgbClr val="24352C"/>
                </a:solidFill>
                <a:latin typeface="Arial"/>
                <a:ea typeface="Arial"/>
                <a:cs typeface="Arial"/>
              </a:rPr>
              <a:t>89.41% Top-1 accuracy</a:t>
            </a:r>
          </a:p>
          <a:p xmlns:a="http://schemas.openxmlformats.org/drawingml/2006/main">
            <a:pPr>
              <a:defRPr sz="2700" b="0">
                <a:solidFill>
                  <a:srgbClr val="24352C"/>
                </a:solidFill>
                <a:latin typeface="Arial"/>
                <a:ea typeface="Arial"/>
                <a:cs typeface="Arial"/>
              </a:defRPr>
            </a:pPr>
            <a:r>
              <a:rPr sz="2700" b="0">
                <a:solidFill>
                  <a:srgbClr val="24352C"/>
                </a:solidFill>
                <a:latin typeface="Arial"/>
                <a:ea typeface="Arial"/>
                <a:cs typeface="Arial"/>
              </a:rPr>
              <a:t>99.36% Top-5 accuracy</a:t>
            </a:r>
          </a:p>
        </p:txBody>
      </p:sp>
      <p:graphicFrame>
        <p:nvGraphicFramePr>
          <p:cNvPr id="6" name="">
            <a:extLst xmlns:a="http://schemas.openxmlformats.org/drawingml/2006/main">
              <a:ext uri="{FF2B5EF4-FFF2-40B4-BE49-F238E27FC236}">
                <a16:creationId xmlns:a16="http://schemas.microsoft.com/office/drawing/2014/main" id="{081BC312-2A25-4F7E-B0A8-202C00708E85}"/>
              </a:ext>
            </a:extLst>
          </p:cNvPr>
          <p:cNvGraphicFramePr/>
          <p:nvPr/>
        </p:nvGraphicFramePr>
        <p:xfrm>
          <a:off xmlns:a="http://schemas.openxmlformats.org/drawingml/2006/main" x="666750" y="3781425"/>
          <a:ext xmlns:a="http://schemas.openxmlformats.org/drawingml/2006/main" cx="10858500" cy="1657350"/>
        </p:xfrm>
        <a:graphic xmlns:a="http://schemas.openxmlformats.org/drawingml/2006/main">
          <a:graphicData uri="http://schemas.openxmlformats.org/drawingml/2006/table">
            <a:tbl>
              <a:tblPr/>
              <a:tblGrid>
                <a:gridCol w="5715000"/>
                <a:gridCol w="2571750"/>
                <a:gridCol w="2571750"/>
              </a:tblGrid>
              <a:tr h="552450">
                <a:tc>
                  <a:txBody>
                    <a:bodyPr lIns="95250" tIns="95250" rIns="95250" bIns="95250"/>
                    <a:lstStyle/>
                    <a:p>
                      <a:r>
                        <a:rPr sz="1875" b="1">
                          <a:solidFill>
                            <a:srgbClr val="FFFFFF"/>
                          </a:solidFill>
                          <a:latin typeface="Arial"/>
                          <a:ea typeface="Arial"/>
                          <a:cs typeface="Arial"/>
                        </a:rPr>
                        <a:t>Same 623 images</a:t>
                      </a:r>
                    </a:p>
                  </a:txBody>
                  <a:tcPr marL="91440" marR="91440" marT="45720" marB="45720" anchor="ctr">
                    <a:lnL w="5715">
                      <a:solidFill>
                        <a:srgbClr val="DCE5DB"/>
                      </a:solidFill>
                      <a:prstDash val="solid"/>
                    </a:lnL>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c>
                  <a:txBody>
                    <a:bodyPr lIns="95250" tIns="95250" rIns="95250" bIns="95250"/>
                    <a:lstStyle/>
                    <a:p>
                      <a:r>
                        <a:rPr sz="1875" b="1">
                          <a:solidFill>
                            <a:srgbClr val="FFFFFF"/>
                          </a:solidFill>
                          <a:latin typeface="Arial"/>
                          <a:ea typeface="Arial"/>
                          <a:cs typeface="Arial"/>
                        </a:rPr>
                        <a:t>Correct Top-1</a:t>
                      </a:r>
                    </a:p>
                  </a:txBody>
                  <a:tcPr marL="91440" marR="91440" marT="45720" marB="45720" anchor="ctr">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c>
                  <a:txBody>
                    <a:bodyPr lIns="95250" tIns="95250" rIns="95250" bIns="95250"/>
                    <a:lstStyle/>
                    <a:p>
                      <a:r>
                        <a:rPr sz="1875" b="1">
                          <a:solidFill>
                            <a:srgbClr val="FFFFFF"/>
                          </a:solidFill>
                          <a:latin typeface="Arial"/>
                          <a:ea typeface="Arial"/>
                          <a:cs typeface="Arial"/>
                        </a:rPr>
                        <a:t>Macro mAP</a:t>
                      </a:r>
                    </a:p>
                  </a:txBody>
                  <a:tcPr marL="91440" marR="91440" marT="45720" marB="45720" anchor="ctr">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r>
              <a:tr h="552450">
                <a:tc>
                  <a:txBody>
                    <a:bodyPr lIns="95250" tIns="95250" rIns="95250" bIns="95250"/>
                    <a:lstStyle/>
                    <a:p>
                      <a:r>
                        <a:rPr sz="1875" b="0">
                          <a:solidFill>
                            <a:srgbClr val="24352C"/>
                          </a:solidFill>
                          <a:latin typeface="Arial"/>
                          <a:ea typeface="Arial"/>
                          <a:cs typeface="Arial"/>
                        </a:rPr>
                        <a:t>Previous four models</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875" b="0">
                          <a:solidFill>
                            <a:srgbClr val="24352C"/>
                          </a:solidFill>
                          <a:latin typeface="Arial"/>
                          <a:ea typeface="Arial"/>
                          <a:cs typeface="Arial"/>
                        </a:rPr>
                        <a:t>549</a:t>
                      </a:r>
                    </a:p>
                  </a:txBody>
                  <a:tcPr marL="91440" marR="91440" marT="45720" marB="45720" anchor="ctr">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875" b="0">
                          <a:solidFill>
                            <a:srgbClr val="24352C"/>
                          </a:solidFill>
                          <a:latin typeface="Arial"/>
                          <a:ea typeface="Arial"/>
                          <a:cs typeface="Arial"/>
                        </a:rPr>
                        <a:t>92.5852%</a:t>
                      </a:r>
                    </a:p>
                  </a:txBody>
                  <a:tcPr marL="91440" marR="91440" marT="45720" marB="45720" anchor="ctr">
                    <a:lnR w="5715">
                      <a:solidFill>
                        <a:srgbClr val="DCE5DB"/>
                      </a:solidFill>
                      <a:prstDash val="solid"/>
                    </a:lnR>
                    <a:lnB w="5715">
                      <a:solidFill>
                        <a:srgbClr val="DCE5DB"/>
                      </a:solidFill>
                      <a:prstDash val="solid"/>
                    </a:lnB>
                    <a:solidFill>
                      <a:srgbClr val="FFFFFF"/>
                    </a:solidFill>
                  </a:tcPr>
                </a:tc>
              </a:tr>
              <a:tr h="552450">
                <a:tc>
                  <a:txBody>
                    <a:bodyPr lIns="95250" tIns="95250" rIns="95250" bIns="95250"/>
                    <a:lstStyle/>
                    <a:p>
                      <a:r>
                        <a:rPr sz="1875" b="0">
                          <a:solidFill>
                            <a:srgbClr val="24352C"/>
                          </a:solidFill>
                          <a:latin typeface="Arial"/>
                          <a:ea typeface="Arial"/>
                          <a:cs typeface="Arial"/>
                        </a:rPr>
                        <a:t>Final two models</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1875" b="0">
                          <a:solidFill>
                            <a:srgbClr val="24352C"/>
                          </a:solidFill>
                          <a:latin typeface="Arial"/>
                          <a:ea typeface="Arial"/>
                          <a:cs typeface="Arial"/>
                        </a:rPr>
                        <a:t>557</a:t>
                      </a:r>
                    </a:p>
                  </a:txBody>
                  <a:tcPr marL="91440" marR="91440" marT="45720" marB="45720" anchor="ctr">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1875" b="0">
                          <a:solidFill>
                            <a:srgbClr val="24352C"/>
                          </a:solidFill>
                          <a:latin typeface="Arial"/>
                          <a:ea typeface="Arial"/>
                          <a:cs typeface="Arial"/>
                        </a:rPr>
                        <a:t>92.9896%</a:t>
                      </a:r>
                    </a:p>
                  </a:txBody>
                  <a:tcPr marL="91440" marR="91440" marT="45720" marB="45720" anchor="ctr">
                    <a:lnR w="5715">
                      <a:solidFill>
                        <a:srgbClr val="DCE5DB"/>
                      </a:solidFill>
                      <a:prstDash val="solid"/>
                    </a:lnR>
                    <a:lnB w="5715">
                      <a:solidFill>
                        <a:srgbClr val="DCE5DB"/>
                      </a:solidFill>
                      <a:prstDash val="solid"/>
                    </a:lnB>
                    <a:solidFill>
                      <a:srgbClr val="EBEFE7"/>
                    </a:solidFill>
                  </a:tcPr>
                </a:tc>
              </a:tr>
            </a:tbl>
          </a:graphicData>
        </a:graphic>
      </p:graphicFrame>
      <p:sp>
        <p:nvSpPr>
          <p:cNvPr id="7" name="text-5">
            <a:extLst xmlns:a="http://schemas.openxmlformats.org/drawingml/2006/main">
              <a:ext uri="{FF2B5EF4-FFF2-40B4-BE49-F238E27FC236}">
                <a16:creationId xmlns:a16="http://schemas.microsoft.com/office/drawing/2014/main" id="{3B94D07B-B525-411E-8DCC-C08C1F7294C4}"/>
              </a:ext>
            </a:extLst>
          </p:cNvPr>
          <p:cNvSpPr>
            <a:spLocks xmlns:a="http://schemas.openxmlformats.org/drawingml/2006/main" noGrp="1"/>
          </p:cNvSpPr>
          <p:nvPr/>
        </p:nvSpPr>
        <p:spPr>
          <a:xfrm xmlns:a="http://schemas.openxmlformats.org/drawingml/2006/main">
            <a:off x="723900" y="57435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AB5A37"/>
                </a:solidFill>
                <a:latin typeface="Arial"/>
                <a:ea typeface="Arial"/>
                <a:cs typeface="Arial"/>
              </a:defRPr>
            </a:defPPr>
            <a:lvl1pPr>
              <a:defRPr sz="1800" b="0">
                <a:solidFill>
                  <a:srgbClr val="AB5A37"/>
                </a:solidFill>
                <a:latin typeface="Arial"/>
                <a:ea typeface="Arial"/>
                <a:cs typeface="Arial"/>
              </a:defRPr>
            </a:lvl1pPr>
            <a:lvl2pPr>
              <a:defRPr sz="1800" b="0">
                <a:solidFill>
                  <a:srgbClr val="AB5A37"/>
                </a:solidFill>
                <a:latin typeface="Arial"/>
                <a:ea typeface="Arial"/>
                <a:cs typeface="Arial"/>
              </a:defRPr>
            </a:lvl2pPr>
            <a:lvl3pPr>
              <a:defRPr sz="1800" b="0">
                <a:solidFill>
                  <a:srgbClr val="AB5A37"/>
                </a:solidFill>
                <a:latin typeface="Arial"/>
                <a:ea typeface="Arial"/>
                <a:cs typeface="Arial"/>
              </a:defRPr>
            </a:lvl3pPr>
            <a:lvl4pPr>
              <a:defRPr sz="1800" b="0">
                <a:solidFill>
                  <a:srgbClr val="AB5A37"/>
                </a:solidFill>
                <a:latin typeface="Arial"/>
                <a:ea typeface="Arial"/>
                <a:cs typeface="Arial"/>
              </a:defRPr>
            </a:lvl4pPr>
            <a:lvl5pPr>
              <a:defRPr sz="1800" b="0">
                <a:solidFill>
                  <a:srgbClr val="AB5A37"/>
                </a:solidFill>
                <a:latin typeface="Arial"/>
                <a:ea typeface="Arial"/>
                <a:cs typeface="Arial"/>
              </a:defRPr>
            </a:lvl5pPr>
            <a:lvl6pPr>
              <a:defRPr sz="1800" b="0">
                <a:solidFill>
                  <a:srgbClr val="AB5A37"/>
                </a:solidFill>
                <a:latin typeface="Arial"/>
                <a:ea typeface="Arial"/>
                <a:cs typeface="Arial"/>
              </a:defRPr>
            </a:lvl6pPr>
            <a:lvl7pPr>
              <a:defRPr sz="1800" b="0">
                <a:solidFill>
                  <a:srgbClr val="AB5A37"/>
                </a:solidFill>
                <a:latin typeface="Arial"/>
                <a:ea typeface="Arial"/>
                <a:cs typeface="Arial"/>
              </a:defRPr>
            </a:lvl7pPr>
            <a:lvl8pPr>
              <a:defRPr sz="1800" b="0">
                <a:solidFill>
                  <a:srgbClr val="AB5A37"/>
                </a:solidFill>
                <a:latin typeface="Arial"/>
                <a:ea typeface="Arial"/>
                <a:cs typeface="Arial"/>
              </a:defRPr>
            </a:lvl8pPr>
            <a:lvl9pPr>
              <a:defRPr sz="1800" b="0">
                <a:solidFill>
                  <a:srgbClr val="AB5A37"/>
                </a:solidFill>
                <a:latin typeface="Arial"/>
                <a:ea typeface="Arial"/>
                <a:cs typeface="Arial"/>
              </a:defRPr>
            </a:lvl9pPr>
          </a:lstStyle>
          <a:p xmlns:a="http://schemas.openxmlformats.org/drawingml/2006/main">
            <a:pPr>
              <a:defRPr sz="1800" b="0">
                <a:solidFill>
                  <a:srgbClr val="AB5A37"/>
                </a:solidFill>
                <a:latin typeface="Arial"/>
                <a:ea typeface="Arial"/>
                <a:cs typeface="Arial"/>
              </a:defRPr>
            </a:pPr>
            <a:r>
              <a:rPr sz="1800" b="0">
                <a:solidFill>
                  <a:srgbClr val="AB5A37"/>
                </a:solidFill>
                <a:latin typeface="Arial"/>
                <a:ea typeface="Arial"/>
                <a:cs typeface="Arial"/>
              </a:rPr>
              <a:t>The holdout was previously evaluated. This is not a new untouched-test estimate.</a:t>
            </a:r>
          </a:p>
        </p:txBody>
      </p:sp>
    </p:spTree>
    <p:extLst>
      <p:ext uri="{BB962C8B-B14F-4D97-AF65-F5344CB8AC3E}">
        <p14:creationId xmlns:p14="http://schemas.microsoft.com/office/powerpoint/2010/main" val="736979421"/>
      </p:ext>
    </p:extLst>
  </p:cSld>
</p:sld>
</file>

<file path=ppt/slides/slide11.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5AFFD1E5-1E81-42F9-9732-C3621F4635BD}"/>
              </a:ext>
            </a:extLst>
          </p:cNvPr>
          <p:cNvSpPr>
            <a:spLocks xmlns:a="http://schemas.openxmlformats.org/drawingml/2006/main" noGrp="1"/>
          </p:cNvSpPr>
          <p:nvPr/>
        </p:nvSpPr>
        <p:spPr>
          <a:xfrm xmlns:a="http://schemas.openxmlformats.org/drawingml/2006/main">
            <a:off x="66675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The limitations I would keep visible</a:t>
            </a:r>
          </a:p>
        </p:txBody>
      </p:sp>
      <p:sp>
        <p:nvSpPr>
          <p:cNvPr id="2" name="text-1">
            <a:extLst xmlns:a="http://schemas.openxmlformats.org/drawingml/2006/main">
              <a:ext uri="{FF2B5EF4-FFF2-40B4-BE49-F238E27FC236}">
                <a16:creationId xmlns:a16="http://schemas.microsoft.com/office/drawing/2014/main" id="{A60D0780-9F60-4511-A529-0F9930BDF285}"/>
              </a:ext>
            </a:extLst>
          </p:cNvPr>
          <p:cNvSpPr>
            <a:spLocks xmlns:a="http://schemas.openxmlformats.org/drawingml/2006/main" noGrp="1"/>
          </p:cNvSpPr>
          <p:nvPr/>
        </p:nvSpPr>
        <p:spPr>
          <a:xfrm xmlns:a="http://schemas.openxmlformats.org/drawingml/2006/main">
            <a:off x="666750" y="641985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MROOT  11</a:t>
            </a:r>
          </a:p>
        </p:txBody>
      </p:sp>
      <p:sp>
        <p:nvSpPr>
          <p:cNvPr id="3" name="text-2">
            <a:extLst xmlns:a="http://schemas.openxmlformats.org/drawingml/2006/main">
              <a:ext uri="{FF2B5EF4-FFF2-40B4-BE49-F238E27FC236}">
                <a16:creationId xmlns:a16="http://schemas.microsoft.com/office/drawing/2014/main" id="{EB6DC424-C6B1-4DFC-874F-725D55084548}"/>
              </a:ext>
            </a:extLst>
          </p:cNvPr>
          <p:cNvSpPr>
            <a:spLocks xmlns:a="http://schemas.openxmlformats.org/drawingml/2006/main" noGrp="1"/>
          </p:cNvSpPr>
          <p:nvPr/>
        </p:nvSpPr>
        <p:spPr>
          <a:xfrm xmlns:a="http://schemas.openxmlformats.org/drawingml/2006/main">
            <a:off x="723900" y="1714500"/>
            <a:ext cx="52387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24352C"/>
                </a:solidFill>
                <a:latin typeface="Arial"/>
                <a:ea typeface="Arial"/>
                <a:cs typeface="Arial"/>
              </a:defRPr>
            </a:defPPr>
            <a:lvl1pPr>
              <a:defRPr sz="2250" b="0">
                <a:solidFill>
                  <a:srgbClr val="24352C"/>
                </a:solidFill>
                <a:latin typeface="Arial"/>
                <a:ea typeface="Arial"/>
                <a:cs typeface="Arial"/>
              </a:defRPr>
            </a:lvl1pPr>
            <a:lvl2pPr>
              <a:defRPr sz="2250" b="0">
                <a:solidFill>
                  <a:srgbClr val="24352C"/>
                </a:solidFill>
                <a:latin typeface="Arial"/>
                <a:ea typeface="Arial"/>
                <a:cs typeface="Arial"/>
              </a:defRPr>
            </a:lvl2pPr>
            <a:lvl3pPr>
              <a:defRPr sz="2250" b="0">
                <a:solidFill>
                  <a:srgbClr val="24352C"/>
                </a:solidFill>
                <a:latin typeface="Arial"/>
                <a:ea typeface="Arial"/>
                <a:cs typeface="Arial"/>
              </a:defRPr>
            </a:lvl3pPr>
            <a:lvl4pPr>
              <a:defRPr sz="2250" b="0">
                <a:solidFill>
                  <a:srgbClr val="24352C"/>
                </a:solidFill>
                <a:latin typeface="Arial"/>
                <a:ea typeface="Arial"/>
                <a:cs typeface="Arial"/>
              </a:defRPr>
            </a:lvl4pPr>
            <a:lvl5pPr>
              <a:defRPr sz="2250" b="0">
                <a:solidFill>
                  <a:srgbClr val="24352C"/>
                </a:solidFill>
                <a:latin typeface="Arial"/>
                <a:ea typeface="Arial"/>
                <a:cs typeface="Arial"/>
              </a:defRPr>
            </a:lvl5pPr>
            <a:lvl6pPr>
              <a:defRPr sz="2250" b="0">
                <a:solidFill>
                  <a:srgbClr val="24352C"/>
                </a:solidFill>
                <a:latin typeface="Arial"/>
                <a:ea typeface="Arial"/>
                <a:cs typeface="Arial"/>
              </a:defRPr>
            </a:lvl6pPr>
            <a:lvl7pPr>
              <a:defRPr sz="2250" b="0">
                <a:solidFill>
                  <a:srgbClr val="24352C"/>
                </a:solidFill>
                <a:latin typeface="Arial"/>
                <a:ea typeface="Arial"/>
                <a:cs typeface="Arial"/>
              </a:defRPr>
            </a:lvl7pPr>
            <a:lvl8pPr>
              <a:defRPr sz="2250" b="0">
                <a:solidFill>
                  <a:srgbClr val="24352C"/>
                </a:solidFill>
                <a:latin typeface="Arial"/>
                <a:ea typeface="Arial"/>
                <a:cs typeface="Arial"/>
              </a:defRPr>
            </a:lvl8pPr>
            <a:lvl9pPr>
              <a:defRPr sz="2250" b="0">
                <a:solidFill>
                  <a:srgbClr val="24352C"/>
                </a:solidFill>
                <a:latin typeface="Arial"/>
                <a:ea typeface="Arial"/>
                <a:cs typeface="Arial"/>
              </a:defRPr>
            </a:lvl9pPr>
          </a:lstStyle>
          <a:p xmlns:a="http://schemas.openxmlformats.org/drawingml/2006/main">
            <a:pPr>
              <a:defRPr sz="2250" b="0">
                <a:solidFill>
                  <a:srgbClr val="24352C"/>
                </a:solidFill>
                <a:latin typeface="Arial"/>
                <a:ea typeface="Arial"/>
                <a:cs typeface="Arial"/>
              </a:defRPr>
            </a:pPr>
            <a:r>
              <a:rPr sz="2250" b="0">
                <a:solidFill>
                  <a:srgbClr val="24352C"/>
                </a:solidFill>
                <a:latin typeface="Arial"/>
                <a:ea typeface="Arial"/>
                <a:cs typeface="Arial"/>
              </a:rPr>
              <a:t>Small, reused validation set</a:t>
            </a:r>
          </a:p>
          <a:p xmlns:a="http://schemas.openxmlformats.org/drawingml/2006/main">
            <a:r>
              <a:t/>
            </a:r>
          </a:p>
          <a:p xmlns:a="http://schemas.openxmlformats.org/drawingml/2006/main">
            <a:pPr>
              <a:defRPr sz="2250" b="0">
                <a:solidFill>
                  <a:srgbClr val="24352C"/>
                </a:solidFill>
                <a:latin typeface="Arial"/>
                <a:ea typeface="Arial"/>
                <a:cs typeface="Arial"/>
              </a:defRPr>
            </a:pPr>
            <a:r>
              <a:rPr sz="2250" b="0">
                <a:solidFill>
                  <a:srgbClr val="24352C"/>
                </a:solidFill>
                <a:latin typeface="Arial"/>
                <a:ea typeface="Arial"/>
                <a:cs typeface="Arial"/>
              </a:rPr>
              <a:t>Ambiguous disease labels</a:t>
            </a:r>
          </a:p>
          <a:p xmlns:a="http://schemas.openxmlformats.org/drawingml/2006/main">
            <a:r>
              <a:t/>
            </a:r>
          </a:p>
          <a:p xmlns:a="http://schemas.openxmlformats.org/drawingml/2006/main">
            <a:pPr>
              <a:defRPr sz="2250" b="0">
                <a:solidFill>
                  <a:srgbClr val="24352C"/>
                </a:solidFill>
                <a:latin typeface="Arial"/>
                <a:ea typeface="Arial"/>
                <a:cs typeface="Arial"/>
              </a:defRPr>
            </a:pPr>
            <a:r>
              <a:rPr sz="2250" b="0">
                <a:solidFill>
                  <a:srgbClr val="24352C"/>
                </a:solidFill>
                <a:latin typeface="Arial"/>
                <a:ea typeface="Arial"/>
                <a:cs typeface="Arial"/>
              </a:rPr>
              <a:t>Watermarks and source differences</a:t>
            </a:r>
          </a:p>
          <a:p xmlns:a="http://schemas.openxmlformats.org/drawingml/2006/main">
            <a:r>
              <a:t/>
            </a:r>
          </a:p>
          <a:p xmlns:a="http://schemas.openxmlformats.org/drawingml/2006/main">
            <a:pPr>
              <a:defRPr sz="2250" b="0">
                <a:solidFill>
                  <a:srgbClr val="24352C"/>
                </a:solidFill>
                <a:latin typeface="Arial"/>
                <a:ea typeface="Arial"/>
                <a:cs typeface="Arial"/>
              </a:defRPr>
            </a:pPr>
            <a:r>
              <a:rPr sz="2250" b="0">
                <a:solidFill>
                  <a:srgbClr val="24352C"/>
                </a:solidFill>
                <a:latin typeface="Arial"/>
                <a:ea typeface="Arial"/>
                <a:cs typeface="Arial"/>
              </a:rPr>
              <a:t>No healthy or unknown category</a:t>
            </a:r>
          </a:p>
        </p:txBody>
      </p:sp>
      <p:pic>
        <p:nvPicPr>
          <p:cNvPr id="4" name="">
            <a:extLst xmlns:a="http://schemas.openxmlformats.org/drawingml/2006/main">
              <a:ext uri="{FF2B5EF4-FFF2-40B4-BE49-F238E27FC236}">
                <a16:creationId xmlns:a16="http://schemas.microsoft.com/office/drawing/2014/main" id="{96E83571-E6CA-4F3F-8283-8F0BC167B2BD}"/>
              </a:ext>
            </a:extLst>
          </p:cNvPr>
          <p:cNvPicPr>
            <a:picLocks xmlns:a="http://schemas.openxmlformats.org/drawingml/2006/main" noChangeAspect="1"/>
          </p:cNvPicPr>
          <p:nvPr/>
        </p:nvPicPr>
        <p:blipFill>
          <a:blip xmlns:r="http://schemas.openxmlformats.org/officeDocument/2006/relationships" xmlns:a="http://schemas.openxmlformats.org/drawingml/2006/main" r:embed="R3690c88750184514"/>
          <a:stretch xmlns:a="http://schemas.openxmlformats.org/drawingml/2006/main"/>
        </p:blipFill>
        <p:spPr>
          <a:xfrm xmlns:a="http://schemas.openxmlformats.org/drawingml/2006/main">
            <a:off x="6667500" y="1800225"/>
            <a:ext cx="4762500" cy="3495675"/>
          </a:xfrm>
          <a:prstGeom xmlns:a="http://schemas.openxmlformats.org/drawingml/2006/main" prst="rect">
            <a:avLst/>
          </a:prstGeom>
        </p:spPr>
      </p:pic>
      <p:sp>
        <p:nvSpPr>
          <p:cNvPr id="5" name="text-3">
            <a:extLst xmlns:a="http://schemas.openxmlformats.org/drawingml/2006/main">
              <a:ext uri="{FF2B5EF4-FFF2-40B4-BE49-F238E27FC236}">
                <a16:creationId xmlns:a16="http://schemas.microsoft.com/office/drawing/2014/main" id="{AD83B71B-4A54-4A43-AB66-28863EB5EAC7}"/>
              </a:ext>
            </a:extLst>
          </p:cNvPr>
          <p:cNvSpPr>
            <a:spLocks xmlns:a="http://schemas.openxmlformats.org/drawingml/2006/main" noGrp="1"/>
          </p:cNvSpPr>
          <p:nvPr/>
        </p:nvSpPr>
        <p:spPr>
          <a:xfrm xmlns:a="http://schemas.openxmlformats.org/drawingml/2006/main">
            <a:off x="6715125" y="5572125"/>
            <a:ext cx="4572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65D"/>
                </a:solidFill>
                <a:latin typeface="Arial"/>
                <a:ea typeface="Arial"/>
                <a:cs typeface="Arial"/>
              </a:defRPr>
            </a:defPPr>
            <a:lvl1pPr>
              <a:defRPr sz="1650" b="0">
                <a:solidFill>
                  <a:srgbClr val="59665D"/>
                </a:solidFill>
                <a:latin typeface="Arial"/>
                <a:ea typeface="Arial"/>
                <a:cs typeface="Arial"/>
              </a:defRPr>
            </a:lvl1pPr>
            <a:lvl2pPr>
              <a:defRPr sz="1650" b="0">
                <a:solidFill>
                  <a:srgbClr val="59665D"/>
                </a:solidFill>
                <a:latin typeface="Arial"/>
                <a:ea typeface="Arial"/>
                <a:cs typeface="Arial"/>
              </a:defRPr>
            </a:lvl2pPr>
            <a:lvl3pPr>
              <a:defRPr sz="1650" b="0">
                <a:solidFill>
                  <a:srgbClr val="59665D"/>
                </a:solidFill>
                <a:latin typeface="Arial"/>
                <a:ea typeface="Arial"/>
                <a:cs typeface="Arial"/>
              </a:defRPr>
            </a:lvl3pPr>
            <a:lvl4pPr>
              <a:defRPr sz="1650" b="0">
                <a:solidFill>
                  <a:srgbClr val="59665D"/>
                </a:solidFill>
                <a:latin typeface="Arial"/>
                <a:ea typeface="Arial"/>
                <a:cs typeface="Arial"/>
              </a:defRPr>
            </a:lvl4pPr>
            <a:lvl5pPr>
              <a:defRPr sz="1650" b="0">
                <a:solidFill>
                  <a:srgbClr val="59665D"/>
                </a:solidFill>
                <a:latin typeface="Arial"/>
                <a:ea typeface="Arial"/>
                <a:cs typeface="Arial"/>
              </a:defRPr>
            </a:lvl5pPr>
            <a:lvl6pPr>
              <a:defRPr sz="1650" b="0">
                <a:solidFill>
                  <a:srgbClr val="59665D"/>
                </a:solidFill>
                <a:latin typeface="Arial"/>
                <a:ea typeface="Arial"/>
                <a:cs typeface="Arial"/>
              </a:defRPr>
            </a:lvl6pPr>
            <a:lvl7pPr>
              <a:defRPr sz="1650" b="0">
                <a:solidFill>
                  <a:srgbClr val="59665D"/>
                </a:solidFill>
                <a:latin typeface="Arial"/>
                <a:ea typeface="Arial"/>
                <a:cs typeface="Arial"/>
              </a:defRPr>
            </a:lvl7pPr>
            <a:lvl8pPr>
              <a:defRPr sz="1650" b="0">
                <a:solidFill>
                  <a:srgbClr val="59665D"/>
                </a:solidFill>
                <a:latin typeface="Arial"/>
                <a:ea typeface="Arial"/>
                <a:cs typeface="Arial"/>
              </a:defRPr>
            </a:lvl8pPr>
            <a:lvl9pPr>
              <a:defRPr sz="1650" b="0">
                <a:solidFill>
                  <a:srgbClr val="59665D"/>
                </a:solidFill>
                <a:latin typeface="Arial"/>
                <a:ea typeface="Arial"/>
                <a:cs typeface="Arial"/>
              </a:defRPr>
            </a:lvl9pPr>
          </a:lstStyle>
          <a:p xmlns:a="http://schemas.openxmlformats.org/drawingml/2006/main">
            <a:pPr>
              <a:defRPr sz="1650" b="0">
                <a:solidFill>
                  <a:srgbClr val="59665D"/>
                </a:solidFill>
                <a:latin typeface="Arial"/>
                <a:ea typeface="Arial"/>
                <a:cs typeface="Arial"/>
              </a:defRPr>
            </a:pPr>
            <a:r>
              <a:rPr sz="1650" b="0">
                <a:solidFill>
                  <a:srgbClr val="59665D"/>
                </a:solidFill>
                <a:latin typeface="Arial"/>
                <a:ea typeface="Arial"/>
                <a:cs typeface="Arial"/>
              </a:rPr>
              <a:t>A source image can carry cues unrelated to the disease.</a:t>
            </a:r>
          </a:p>
        </p:txBody>
      </p:sp>
    </p:spTree>
    <p:extLst>
      <p:ext uri="{BB962C8B-B14F-4D97-AF65-F5344CB8AC3E}">
        <p14:creationId xmlns:p14="http://schemas.microsoft.com/office/powerpoint/2010/main" val="178935004"/>
      </p:ext>
    </p:extLst>
  </p:cSld>
</p:sld>
</file>

<file path=ppt/slides/slide12.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6EAE0857-5ADB-4E9D-8865-70CC2EF25FB1}"/>
              </a:ext>
            </a:extLst>
          </p:cNvPr>
          <p:cNvSpPr>
            <a:spLocks xmlns:a="http://schemas.openxmlformats.org/drawingml/2006/main" noGrp="1"/>
          </p:cNvSpPr>
          <p:nvPr/>
        </p:nvSpPr>
        <p:spPr>
          <a:xfrm xmlns:a="http://schemas.openxmlformats.org/drawingml/2006/main">
            <a:off x="66675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How the final app makes a prediction</a:t>
            </a:r>
          </a:p>
        </p:txBody>
      </p:sp>
      <p:sp>
        <p:nvSpPr>
          <p:cNvPr id="2" name="text-1">
            <a:extLst xmlns:a="http://schemas.openxmlformats.org/drawingml/2006/main">
              <a:ext uri="{FF2B5EF4-FFF2-40B4-BE49-F238E27FC236}">
                <a16:creationId xmlns:a16="http://schemas.microsoft.com/office/drawing/2014/main" id="{6DEB9A8E-BF12-4BFE-8161-E4DC01B41D30}"/>
              </a:ext>
            </a:extLst>
          </p:cNvPr>
          <p:cNvSpPr>
            <a:spLocks xmlns:a="http://schemas.openxmlformats.org/drawingml/2006/main" noGrp="1"/>
          </p:cNvSpPr>
          <p:nvPr/>
        </p:nvSpPr>
        <p:spPr>
          <a:xfrm xmlns:a="http://schemas.openxmlformats.org/drawingml/2006/main">
            <a:off x="666750" y="641985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MROOT  12</a:t>
            </a:r>
          </a:p>
        </p:txBody>
      </p:sp>
      <p:sp>
        <p:nvSpPr>
          <p:cNvPr id="3" name="text-2">
            <a:extLst xmlns:a="http://schemas.openxmlformats.org/drawingml/2006/main">
              <a:ext uri="{FF2B5EF4-FFF2-40B4-BE49-F238E27FC236}">
                <a16:creationId xmlns:a16="http://schemas.microsoft.com/office/drawing/2014/main" id="{66A4FCC0-274B-41C7-99D7-867C86607EF0}"/>
              </a:ext>
            </a:extLst>
          </p:cNvPr>
          <p:cNvSpPr>
            <a:spLocks xmlns:a="http://schemas.openxmlformats.org/drawingml/2006/main" noGrp="1"/>
          </p:cNvSpPr>
          <p:nvPr/>
        </p:nvSpPr>
        <p:spPr>
          <a:xfrm xmlns:a="http://schemas.openxmlformats.org/drawingml/2006/main">
            <a:off x="723900" y="160020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0">
                <a:solidFill>
                  <a:srgbClr val="24352C"/>
                </a:solidFill>
                <a:latin typeface="Arial"/>
                <a:ea typeface="Arial"/>
                <a:cs typeface="Arial"/>
              </a:defRPr>
            </a:defPPr>
            <a:lvl1pPr>
              <a:defRPr sz="2400" b="0">
                <a:solidFill>
                  <a:srgbClr val="24352C"/>
                </a:solidFill>
                <a:latin typeface="Arial"/>
                <a:ea typeface="Arial"/>
                <a:cs typeface="Arial"/>
              </a:defRPr>
            </a:lvl1pPr>
            <a:lvl2pPr>
              <a:defRPr sz="2400" b="0">
                <a:solidFill>
                  <a:srgbClr val="24352C"/>
                </a:solidFill>
                <a:latin typeface="Arial"/>
                <a:ea typeface="Arial"/>
                <a:cs typeface="Arial"/>
              </a:defRPr>
            </a:lvl2pPr>
            <a:lvl3pPr>
              <a:defRPr sz="2400" b="0">
                <a:solidFill>
                  <a:srgbClr val="24352C"/>
                </a:solidFill>
                <a:latin typeface="Arial"/>
                <a:ea typeface="Arial"/>
                <a:cs typeface="Arial"/>
              </a:defRPr>
            </a:lvl3pPr>
            <a:lvl4pPr>
              <a:defRPr sz="2400" b="0">
                <a:solidFill>
                  <a:srgbClr val="24352C"/>
                </a:solidFill>
                <a:latin typeface="Arial"/>
                <a:ea typeface="Arial"/>
                <a:cs typeface="Arial"/>
              </a:defRPr>
            </a:lvl4pPr>
            <a:lvl5pPr>
              <a:defRPr sz="2400" b="0">
                <a:solidFill>
                  <a:srgbClr val="24352C"/>
                </a:solidFill>
                <a:latin typeface="Arial"/>
                <a:ea typeface="Arial"/>
                <a:cs typeface="Arial"/>
              </a:defRPr>
            </a:lvl5pPr>
            <a:lvl6pPr>
              <a:defRPr sz="2400" b="0">
                <a:solidFill>
                  <a:srgbClr val="24352C"/>
                </a:solidFill>
                <a:latin typeface="Arial"/>
                <a:ea typeface="Arial"/>
                <a:cs typeface="Arial"/>
              </a:defRPr>
            </a:lvl6pPr>
            <a:lvl7pPr>
              <a:defRPr sz="2400" b="0">
                <a:solidFill>
                  <a:srgbClr val="24352C"/>
                </a:solidFill>
                <a:latin typeface="Arial"/>
                <a:ea typeface="Arial"/>
                <a:cs typeface="Arial"/>
              </a:defRPr>
            </a:lvl7pPr>
            <a:lvl8pPr>
              <a:defRPr sz="2400" b="0">
                <a:solidFill>
                  <a:srgbClr val="24352C"/>
                </a:solidFill>
                <a:latin typeface="Arial"/>
                <a:ea typeface="Arial"/>
                <a:cs typeface="Arial"/>
              </a:defRPr>
            </a:lvl8pPr>
            <a:lvl9pPr>
              <a:defRPr sz="2400" b="0">
                <a:solidFill>
                  <a:srgbClr val="24352C"/>
                </a:solidFill>
                <a:latin typeface="Arial"/>
                <a:ea typeface="Arial"/>
                <a:cs typeface="Arial"/>
              </a:defRPr>
            </a:lvl9pPr>
          </a:lstStyle>
          <a:p xmlns:a="http://schemas.openxmlformats.org/drawingml/2006/main">
            <a:pPr>
              <a:defRPr sz="2400" b="0">
                <a:solidFill>
                  <a:srgbClr val="24352C"/>
                </a:solidFill>
                <a:latin typeface="Arial"/>
                <a:ea typeface="Arial"/>
                <a:cs typeface="Arial"/>
              </a:defRPr>
            </a:pPr>
            <a:r>
              <a:rPr sz="2400" b="0">
                <a:solidFill>
                  <a:srgbClr val="24352C"/>
                </a:solidFill>
                <a:latin typeface="Arial"/>
                <a:ea typeface="Arial"/>
                <a:cs typeface="Arial"/>
              </a:rPr>
              <a:t>1  Convert the uploaded photo to RGB</a:t>
            </a:r>
          </a:p>
        </p:txBody>
      </p:sp>
      <p:sp>
        <p:nvSpPr>
          <p:cNvPr id="4" name="text-3">
            <a:extLst xmlns:a="http://schemas.openxmlformats.org/drawingml/2006/main">
              <a:ext uri="{FF2B5EF4-FFF2-40B4-BE49-F238E27FC236}">
                <a16:creationId xmlns:a16="http://schemas.microsoft.com/office/drawing/2014/main" id="{F62A4831-8FA9-4F1A-903E-05E68FD52EBC}"/>
              </a:ext>
            </a:extLst>
          </p:cNvPr>
          <p:cNvSpPr>
            <a:spLocks xmlns:a="http://schemas.openxmlformats.org/drawingml/2006/main" noGrp="1"/>
          </p:cNvSpPr>
          <p:nvPr/>
        </p:nvSpPr>
        <p:spPr>
          <a:xfrm xmlns:a="http://schemas.openxmlformats.org/drawingml/2006/main">
            <a:off x="723900" y="248602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24352C"/>
                </a:solidFill>
                <a:latin typeface="Arial"/>
                <a:ea typeface="Arial"/>
                <a:cs typeface="Arial"/>
              </a:defRPr>
            </a:defPPr>
            <a:lvl1pPr>
              <a:defRPr sz="2325" b="0">
                <a:solidFill>
                  <a:srgbClr val="24352C"/>
                </a:solidFill>
                <a:latin typeface="Arial"/>
                <a:ea typeface="Arial"/>
                <a:cs typeface="Arial"/>
              </a:defRPr>
            </a:lvl1pPr>
            <a:lvl2pPr>
              <a:defRPr sz="2325" b="0">
                <a:solidFill>
                  <a:srgbClr val="24352C"/>
                </a:solidFill>
                <a:latin typeface="Arial"/>
                <a:ea typeface="Arial"/>
                <a:cs typeface="Arial"/>
              </a:defRPr>
            </a:lvl2pPr>
            <a:lvl3pPr>
              <a:defRPr sz="2325" b="0">
                <a:solidFill>
                  <a:srgbClr val="24352C"/>
                </a:solidFill>
                <a:latin typeface="Arial"/>
                <a:ea typeface="Arial"/>
                <a:cs typeface="Arial"/>
              </a:defRPr>
            </a:lvl3pPr>
            <a:lvl4pPr>
              <a:defRPr sz="2325" b="0">
                <a:solidFill>
                  <a:srgbClr val="24352C"/>
                </a:solidFill>
                <a:latin typeface="Arial"/>
                <a:ea typeface="Arial"/>
                <a:cs typeface="Arial"/>
              </a:defRPr>
            </a:lvl4pPr>
            <a:lvl5pPr>
              <a:defRPr sz="2325" b="0">
                <a:solidFill>
                  <a:srgbClr val="24352C"/>
                </a:solidFill>
                <a:latin typeface="Arial"/>
                <a:ea typeface="Arial"/>
                <a:cs typeface="Arial"/>
              </a:defRPr>
            </a:lvl5pPr>
            <a:lvl6pPr>
              <a:defRPr sz="2325" b="0">
                <a:solidFill>
                  <a:srgbClr val="24352C"/>
                </a:solidFill>
                <a:latin typeface="Arial"/>
                <a:ea typeface="Arial"/>
                <a:cs typeface="Arial"/>
              </a:defRPr>
            </a:lvl6pPr>
            <a:lvl7pPr>
              <a:defRPr sz="2325" b="0">
                <a:solidFill>
                  <a:srgbClr val="24352C"/>
                </a:solidFill>
                <a:latin typeface="Arial"/>
                <a:ea typeface="Arial"/>
                <a:cs typeface="Arial"/>
              </a:defRPr>
            </a:lvl7pPr>
            <a:lvl8pPr>
              <a:defRPr sz="2325" b="0">
                <a:solidFill>
                  <a:srgbClr val="24352C"/>
                </a:solidFill>
                <a:latin typeface="Arial"/>
                <a:ea typeface="Arial"/>
                <a:cs typeface="Arial"/>
              </a:defRPr>
            </a:lvl8pPr>
            <a:lvl9pPr>
              <a:defRPr sz="2325" b="0">
                <a:solidFill>
                  <a:srgbClr val="24352C"/>
                </a:solidFill>
                <a:latin typeface="Arial"/>
                <a:ea typeface="Arial"/>
                <a:cs typeface="Arial"/>
              </a:defRPr>
            </a:lvl9pPr>
          </a:lstStyle>
          <a:p xmlns:a="http://schemas.openxmlformats.org/drawingml/2006/main">
            <a:pPr>
              <a:defRPr sz="2325" b="0">
                <a:solidFill>
                  <a:srgbClr val="24352C"/>
                </a:solidFill>
                <a:latin typeface="Arial"/>
                <a:ea typeface="Arial"/>
                <a:cs typeface="Arial"/>
              </a:defRPr>
            </a:pPr>
            <a:r>
              <a:rPr sz="2325" b="0">
                <a:solidFill>
                  <a:srgbClr val="24352C"/>
                </a:solidFill>
                <a:latin typeface="Arial"/>
                <a:ea typeface="Arial"/>
                <a:cs typeface="Arial"/>
              </a:rPr>
              <a:t>2  Create the normal, flipped, and whole-image padded views</a:t>
            </a:r>
          </a:p>
        </p:txBody>
      </p:sp>
      <p:sp>
        <p:nvSpPr>
          <p:cNvPr id="5" name="text-4">
            <a:extLst xmlns:a="http://schemas.openxmlformats.org/drawingml/2006/main">
              <a:ext uri="{FF2B5EF4-FFF2-40B4-BE49-F238E27FC236}">
                <a16:creationId xmlns:a16="http://schemas.microsoft.com/office/drawing/2014/main" id="{A2E67323-60A2-479A-956C-A69B440B046F}"/>
              </a:ext>
            </a:extLst>
          </p:cNvPr>
          <p:cNvSpPr>
            <a:spLocks xmlns:a="http://schemas.openxmlformats.org/drawingml/2006/main" noGrp="1"/>
          </p:cNvSpPr>
          <p:nvPr/>
        </p:nvSpPr>
        <p:spPr>
          <a:xfrm xmlns:a="http://schemas.openxmlformats.org/drawingml/2006/main">
            <a:off x="723900" y="347662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24352C"/>
                </a:solidFill>
                <a:latin typeface="Arial"/>
                <a:ea typeface="Arial"/>
                <a:cs typeface="Arial"/>
              </a:defRPr>
            </a:defPPr>
            <a:lvl1pPr>
              <a:defRPr sz="2325" b="0">
                <a:solidFill>
                  <a:srgbClr val="24352C"/>
                </a:solidFill>
                <a:latin typeface="Arial"/>
                <a:ea typeface="Arial"/>
                <a:cs typeface="Arial"/>
              </a:defRPr>
            </a:lvl1pPr>
            <a:lvl2pPr>
              <a:defRPr sz="2325" b="0">
                <a:solidFill>
                  <a:srgbClr val="24352C"/>
                </a:solidFill>
                <a:latin typeface="Arial"/>
                <a:ea typeface="Arial"/>
                <a:cs typeface="Arial"/>
              </a:defRPr>
            </a:lvl2pPr>
            <a:lvl3pPr>
              <a:defRPr sz="2325" b="0">
                <a:solidFill>
                  <a:srgbClr val="24352C"/>
                </a:solidFill>
                <a:latin typeface="Arial"/>
                <a:ea typeface="Arial"/>
                <a:cs typeface="Arial"/>
              </a:defRPr>
            </a:lvl3pPr>
            <a:lvl4pPr>
              <a:defRPr sz="2325" b="0">
                <a:solidFill>
                  <a:srgbClr val="24352C"/>
                </a:solidFill>
                <a:latin typeface="Arial"/>
                <a:ea typeface="Arial"/>
                <a:cs typeface="Arial"/>
              </a:defRPr>
            </a:lvl4pPr>
            <a:lvl5pPr>
              <a:defRPr sz="2325" b="0">
                <a:solidFill>
                  <a:srgbClr val="24352C"/>
                </a:solidFill>
                <a:latin typeface="Arial"/>
                <a:ea typeface="Arial"/>
                <a:cs typeface="Arial"/>
              </a:defRPr>
            </a:lvl5pPr>
            <a:lvl6pPr>
              <a:defRPr sz="2325" b="0">
                <a:solidFill>
                  <a:srgbClr val="24352C"/>
                </a:solidFill>
                <a:latin typeface="Arial"/>
                <a:ea typeface="Arial"/>
                <a:cs typeface="Arial"/>
              </a:defRPr>
            </a:lvl6pPr>
            <a:lvl7pPr>
              <a:defRPr sz="2325" b="0">
                <a:solidFill>
                  <a:srgbClr val="24352C"/>
                </a:solidFill>
                <a:latin typeface="Arial"/>
                <a:ea typeface="Arial"/>
                <a:cs typeface="Arial"/>
              </a:defRPr>
            </a:lvl7pPr>
            <a:lvl8pPr>
              <a:defRPr sz="2325" b="0">
                <a:solidFill>
                  <a:srgbClr val="24352C"/>
                </a:solidFill>
                <a:latin typeface="Arial"/>
                <a:ea typeface="Arial"/>
                <a:cs typeface="Arial"/>
              </a:defRPr>
            </a:lvl8pPr>
            <a:lvl9pPr>
              <a:defRPr sz="2325" b="0">
                <a:solidFill>
                  <a:srgbClr val="24352C"/>
                </a:solidFill>
                <a:latin typeface="Arial"/>
                <a:ea typeface="Arial"/>
                <a:cs typeface="Arial"/>
              </a:defRPr>
            </a:lvl9pPr>
          </a:lstStyle>
          <a:p xmlns:a="http://schemas.openxmlformats.org/drawingml/2006/main">
            <a:pPr>
              <a:defRPr sz="2325" b="0">
                <a:solidFill>
                  <a:srgbClr val="24352C"/>
                </a:solidFill>
                <a:latin typeface="Arial"/>
                <a:ea typeface="Arial"/>
                <a:cs typeface="Arial"/>
              </a:defRPr>
            </a:pPr>
            <a:r>
              <a:rPr sz="2325" b="0">
                <a:solidFill>
                  <a:srgbClr val="24352C"/>
                </a:solidFill>
                <a:latin typeface="Arial"/>
                <a:ea typeface="Arial"/>
                <a:cs typeface="Arial"/>
              </a:rPr>
              <a:t>3  Combine each model’s probabilities: 0.375, 0.375, 0.25</a:t>
            </a:r>
          </a:p>
        </p:txBody>
      </p:sp>
      <p:sp>
        <p:nvSpPr>
          <p:cNvPr id="6" name="text-5">
            <a:extLst xmlns:a="http://schemas.openxmlformats.org/drawingml/2006/main">
              <a:ext uri="{FF2B5EF4-FFF2-40B4-BE49-F238E27FC236}">
                <a16:creationId xmlns:a16="http://schemas.microsoft.com/office/drawing/2014/main" id="{AF318212-4B82-48AF-8F97-D09224DCEB6E}"/>
              </a:ext>
            </a:extLst>
          </p:cNvPr>
          <p:cNvSpPr>
            <a:spLocks xmlns:a="http://schemas.openxmlformats.org/drawingml/2006/main" noGrp="1"/>
          </p:cNvSpPr>
          <p:nvPr/>
        </p:nvSpPr>
        <p:spPr>
          <a:xfrm xmlns:a="http://schemas.openxmlformats.org/drawingml/2006/main">
            <a:off x="723900" y="454342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24352C"/>
                </a:solidFill>
                <a:latin typeface="Arial"/>
                <a:ea typeface="Arial"/>
                <a:cs typeface="Arial"/>
              </a:defRPr>
            </a:defPPr>
            <a:lvl1pPr>
              <a:defRPr sz="2325" b="0">
                <a:solidFill>
                  <a:srgbClr val="24352C"/>
                </a:solidFill>
                <a:latin typeface="Arial"/>
                <a:ea typeface="Arial"/>
                <a:cs typeface="Arial"/>
              </a:defRPr>
            </a:lvl1pPr>
            <a:lvl2pPr>
              <a:defRPr sz="2325" b="0">
                <a:solidFill>
                  <a:srgbClr val="24352C"/>
                </a:solidFill>
                <a:latin typeface="Arial"/>
                <a:ea typeface="Arial"/>
                <a:cs typeface="Arial"/>
              </a:defRPr>
            </a:lvl2pPr>
            <a:lvl3pPr>
              <a:defRPr sz="2325" b="0">
                <a:solidFill>
                  <a:srgbClr val="24352C"/>
                </a:solidFill>
                <a:latin typeface="Arial"/>
                <a:ea typeface="Arial"/>
                <a:cs typeface="Arial"/>
              </a:defRPr>
            </a:lvl3pPr>
            <a:lvl4pPr>
              <a:defRPr sz="2325" b="0">
                <a:solidFill>
                  <a:srgbClr val="24352C"/>
                </a:solidFill>
                <a:latin typeface="Arial"/>
                <a:ea typeface="Arial"/>
                <a:cs typeface="Arial"/>
              </a:defRPr>
            </a:lvl4pPr>
            <a:lvl5pPr>
              <a:defRPr sz="2325" b="0">
                <a:solidFill>
                  <a:srgbClr val="24352C"/>
                </a:solidFill>
                <a:latin typeface="Arial"/>
                <a:ea typeface="Arial"/>
                <a:cs typeface="Arial"/>
              </a:defRPr>
            </a:lvl5pPr>
            <a:lvl6pPr>
              <a:defRPr sz="2325" b="0">
                <a:solidFill>
                  <a:srgbClr val="24352C"/>
                </a:solidFill>
                <a:latin typeface="Arial"/>
                <a:ea typeface="Arial"/>
                <a:cs typeface="Arial"/>
              </a:defRPr>
            </a:lvl6pPr>
            <a:lvl7pPr>
              <a:defRPr sz="2325" b="0">
                <a:solidFill>
                  <a:srgbClr val="24352C"/>
                </a:solidFill>
                <a:latin typeface="Arial"/>
                <a:ea typeface="Arial"/>
                <a:cs typeface="Arial"/>
              </a:defRPr>
            </a:lvl7pPr>
            <a:lvl8pPr>
              <a:defRPr sz="2325" b="0">
                <a:solidFill>
                  <a:srgbClr val="24352C"/>
                </a:solidFill>
                <a:latin typeface="Arial"/>
                <a:ea typeface="Arial"/>
                <a:cs typeface="Arial"/>
              </a:defRPr>
            </a:lvl8pPr>
            <a:lvl9pPr>
              <a:defRPr sz="2325" b="0">
                <a:solidFill>
                  <a:srgbClr val="24352C"/>
                </a:solidFill>
                <a:latin typeface="Arial"/>
                <a:ea typeface="Arial"/>
                <a:cs typeface="Arial"/>
              </a:defRPr>
            </a:lvl9pPr>
          </a:lstStyle>
          <a:p xmlns:a="http://schemas.openxmlformats.org/drawingml/2006/main">
            <a:pPr>
              <a:defRPr sz="2325" b="0">
                <a:solidFill>
                  <a:srgbClr val="24352C"/>
                </a:solidFill>
                <a:latin typeface="Arial"/>
                <a:ea typeface="Arial"/>
                <a:cs typeface="Arial"/>
              </a:defRPr>
            </a:pPr>
            <a:r>
              <a:rPr sz="2325" b="0">
                <a:solidFill>
                  <a:srgbClr val="24352C"/>
                </a:solidFill>
                <a:latin typeface="Arial"/>
                <a:ea typeface="Arial"/>
                <a:cs typeface="Arial"/>
              </a:rPr>
              <a:t>4  Average the two models equally and show the top five</a:t>
            </a:r>
          </a:p>
        </p:txBody>
      </p:sp>
      <p:sp>
        <p:nvSpPr>
          <p:cNvPr id="7" name="text-6">
            <a:extLst xmlns:a="http://schemas.openxmlformats.org/drawingml/2006/main">
              <a:ext uri="{FF2B5EF4-FFF2-40B4-BE49-F238E27FC236}">
                <a16:creationId xmlns:a16="http://schemas.microsoft.com/office/drawing/2014/main" id="{6A0A1663-320A-4B55-9B1C-FB6B29FAF1C3}"/>
              </a:ext>
            </a:extLst>
          </p:cNvPr>
          <p:cNvSpPr>
            <a:spLocks xmlns:a="http://schemas.openxmlformats.org/drawingml/2006/main" noGrp="1"/>
          </p:cNvSpPr>
          <p:nvPr/>
        </p:nvSpPr>
        <p:spPr>
          <a:xfrm xmlns:a="http://schemas.openxmlformats.org/drawingml/2006/main">
            <a:off x="723900" y="574357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173E2C"/>
                </a:solidFill>
                <a:latin typeface="Arial"/>
                <a:ea typeface="Arial"/>
                <a:cs typeface="Arial"/>
              </a:defRPr>
            </a:defPPr>
            <a:lvl1pPr>
              <a:defRPr sz="1950" b="1">
                <a:solidFill>
                  <a:srgbClr val="173E2C"/>
                </a:solidFill>
                <a:latin typeface="Arial"/>
                <a:ea typeface="Arial"/>
                <a:cs typeface="Arial"/>
              </a:defRPr>
            </a:lvl1pPr>
            <a:lvl2pPr>
              <a:defRPr sz="1950" b="1">
                <a:solidFill>
                  <a:srgbClr val="173E2C"/>
                </a:solidFill>
                <a:latin typeface="Arial"/>
                <a:ea typeface="Arial"/>
                <a:cs typeface="Arial"/>
              </a:defRPr>
            </a:lvl2pPr>
            <a:lvl3pPr>
              <a:defRPr sz="1950" b="1">
                <a:solidFill>
                  <a:srgbClr val="173E2C"/>
                </a:solidFill>
                <a:latin typeface="Arial"/>
                <a:ea typeface="Arial"/>
                <a:cs typeface="Arial"/>
              </a:defRPr>
            </a:lvl3pPr>
            <a:lvl4pPr>
              <a:defRPr sz="1950" b="1">
                <a:solidFill>
                  <a:srgbClr val="173E2C"/>
                </a:solidFill>
                <a:latin typeface="Arial"/>
                <a:ea typeface="Arial"/>
                <a:cs typeface="Arial"/>
              </a:defRPr>
            </a:lvl4pPr>
            <a:lvl5pPr>
              <a:defRPr sz="1950" b="1">
                <a:solidFill>
                  <a:srgbClr val="173E2C"/>
                </a:solidFill>
                <a:latin typeface="Arial"/>
                <a:ea typeface="Arial"/>
                <a:cs typeface="Arial"/>
              </a:defRPr>
            </a:lvl5pPr>
            <a:lvl6pPr>
              <a:defRPr sz="1950" b="1">
                <a:solidFill>
                  <a:srgbClr val="173E2C"/>
                </a:solidFill>
                <a:latin typeface="Arial"/>
                <a:ea typeface="Arial"/>
                <a:cs typeface="Arial"/>
              </a:defRPr>
            </a:lvl6pPr>
            <a:lvl7pPr>
              <a:defRPr sz="1950" b="1">
                <a:solidFill>
                  <a:srgbClr val="173E2C"/>
                </a:solidFill>
                <a:latin typeface="Arial"/>
                <a:ea typeface="Arial"/>
                <a:cs typeface="Arial"/>
              </a:defRPr>
            </a:lvl7pPr>
            <a:lvl8pPr>
              <a:defRPr sz="1950" b="1">
                <a:solidFill>
                  <a:srgbClr val="173E2C"/>
                </a:solidFill>
                <a:latin typeface="Arial"/>
                <a:ea typeface="Arial"/>
                <a:cs typeface="Arial"/>
              </a:defRPr>
            </a:lvl8pPr>
            <a:lvl9pPr>
              <a:defRPr sz="1950" b="1">
                <a:solidFill>
                  <a:srgbClr val="173E2C"/>
                </a:solidFill>
                <a:latin typeface="Arial"/>
                <a:ea typeface="Arial"/>
                <a:cs typeface="Arial"/>
              </a:defRPr>
            </a:lvl9pPr>
          </a:lstStyle>
          <a:p xmlns:a="http://schemas.openxmlformats.org/drawingml/2006/main">
            <a:pPr>
              <a:defRPr sz="1950" b="1">
                <a:solidFill>
                  <a:srgbClr val="173E2C"/>
                </a:solidFill>
                <a:latin typeface="Arial"/>
                <a:ea typeface="Arial"/>
                <a:cs typeface="Arial"/>
              </a:defRPr>
            </a:pPr>
            <a:r>
              <a:rPr sz="1950" b="1">
                <a:solidFill>
                  <a:srgbClr val="173E2C"/>
                </a:solidFill>
                <a:latin typeface="Arial"/>
                <a:ea typeface="Arial"/>
                <a:cs typeface="Arial"/>
              </a:rPr>
              <a:t>The saved class order and transforms stay fixed.</a:t>
            </a:r>
          </a:p>
        </p:txBody>
      </p:sp>
    </p:spTree>
    <p:extLst>
      <p:ext uri="{BB962C8B-B14F-4D97-AF65-F5344CB8AC3E}">
        <p14:creationId xmlns:p14="http://schemas.microsoft.com/office/powerpoint/2010/main" val="1364548831"/>
      </p:ext>
    </p:extLst>
  </p:cSld>
</p:sld>
</file>

<file path=ppt/slides/slide13.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29962B09-9EB0-4DA8-848D-BDCD46C43873}"/>
              </a:ext>
            </a:extLst>
          </p:cNvPr>
          <p:cNvSpPr>
            <a:spLocks xmlns:a="http://schemas.openxmlformats.org/drawingml/2006/main" noGrp="1"/>
          </p:cNvSpPr>
          <p:nvPr/>
        </p:nvSpPr>
        <p:spPr>
          <a:xfrm xmlns:a="http://schemas.openxmlformats.org/drawingml/2006/main">
            <a:off x="66675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Live demonstration</a:t>
            </a:r>
          </a:p>
        </p:txBody>
      </p:sp>
      <p:sp>
        <p:nvSpPr>
          <p:cNvPr id="2" name="text-1">
            <a:extLst xmlns:a="http://schemas.openxmlformats.org/drawingml/2006/main">
              <a:ext uri="{FF2B5EF4-FFF2-40B4-BE49-F238E27FC236}">
                <a16:creationId xmlns:a16="http://schemas.microsoft.com/office/drawing/2014/main" id="{99698968-8E6F-41D3-B46E-6FF6E5A90B38}"/>
              </a:ext>
            </a:extLst>
          </p:cNvPr>
          <p:cNvSpPr>
            <a:spLocks xmlns:a="http://schemas.openxmlformats.org/drawingml/2006/main" noGrp="1"/>
          </p:cNvSpPr>
          <p:nvPr/>
        </p:nvSpPr>
        <p:spPr>
          <a:xfrm xmlns:a="http://schemas.openxmlformats.org/drawingml/2006/main">
            <a:off x="666750" y="641985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MROOT  13</a:t>
            </a:r>
          </a:p>
        </p:txBody>
      </p:sp>
      <p:pic>
        <p:nvPicPr>
          <p:cNvPr id="3" name="">
            <a:extLst xmlns:a="http://schemas.openxmlformats.org/drawingml/2006/main">
              <a:ext uri="{FF2B5EF4-FFF2-40B4-BE49-F238E27FC236}">
                <a16:creationId xmlns:a16="http://schemas.microsoft.com/office/drawing/2014/main" id="{97E78E00-FBBB-4410-A482-5AB18BD1C003}"/>
              </a:ext>
            </a:extLst>
          </p:cNvPr>
          <p:cNvPicPr>
            <a:picLocks xmlns:a="http://schemas.openxmlformats.org/drawingml/2006/main" noChangeAspect="1"/>
          </p:cNvPicPr>
          <p:nvPr/>
        </p:nvPicPr>
        <p:blipFill>
          <a:blip xmlns:r="http://schemas.openxmlformats.org/officeDocument/2006/relationships" xmlns:a="http://schemas.openxmlformats.org/drawingml/2006/main" r:embed="R65b429229c154121"/>
          <a:stretch xmlns:a="http://schemas.openxmlformats.org/drawingml/2006/main"/>
        </p:blipFill>
        <p:spPr>
          <a:xfrm xmlns:a="http://schemas.openxmlformats.org/drawingml/2006/main">
            <a:off x="1199754" y="1428750"/>
            <a:ext cx="6934993" cy="4667250"/>
          </a:xfrm>
          <a:prstGeom xmlns:a="http://schemas.openxmlformats.org/drawingml/2006/main" prst="rect">
            <a:avLst/>
          </a:prstGeom>
        </p:spPr>
      </p:pic>
      <p:sp>
        <p:nvSpPr>
          <p:cNvPr id="4" name="text-2">
            <a:extLst xmlns:a="http://schemas.openxmlformats.org/drawingml/2006/main">
              <a:ext uri="{FF2B5EF4-FFF2-40B4-BE49-F238E27FC236}">
                <a16:creationId xmlns:a16="http://schemas.microsoft.com/office/drawing/2014/main" id="{BAC5D5DA-7832-454B-BBF3-B3B5DC4E7F71}"/>
              </a:ext>
            </a:extLst>
          </p:cNvPr>
          <p:cNvSpPr>
            <a:spLocks xmlns:a="http://schemas.openxmlformats.org/drawingml/2006/main" noGrp="1"/>
          </p:cNvSpPr>
          <p:nvPr/>
        </p:nvSpPr>
        <p:spPr>
          <a:xfrm xmlns:a="http://schemas.openxmlformats.org/drawingml/2006/main">
            <a:off x="8905875" y="1857375"/>
            <a:ext cx="26670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Upload a photo</a:t>
            </a:r>
          </a:p>
          <a:p xmlns:a="http://schemas.openxmlformats.org/drawingml/2006/main">
            <a:r>
              <a:t/>
            </a:r>
          </a:p>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Click Analyze photo</a:t>
            </a:r>
          </a:p>
          <a:p xmlns:a="http://schemas.openxmlformats.org/drawingml/2006/main">
            <a:r>
              <a:t/>
            </a:r>
          </a:p>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Read the top five</a:t>
            </a:r>
          </a:p>
        </p:txBody>
      </p:sp>
      <p:sp>
        <p:nvSpPr>
          <p:cNvPr id="5" name="text-3">
            <a:extLst xmlns:a="http://schemas.openxmlformats.org/drawingml/2006/main">
              <a:ext uri="{FF2B5EF4-FFF2-40B4-BE49-F238E27FC236}">
                <a16:creationId xmlns:a16="http://schemas.microsoft.com/office/drawing/2014/main" id="{E0626DD8-6E4D-4C22-B1D8-A18F83FC5326}"/>
              </a:ext>
            </a:extLst>
          </p:cNvPr>
          <p:cNvSpPr>
            <a:spLocks xmlns:a="http://schemas.openxmlformats.org/drawingml/2006/main" noGrp="1"/>
          </p:cNvSpPr>
          <p:nvPr/>
        </p:nvSpPr>
        <p:spPr>
          <a:xfrm xmlns:a="http://schemas.openxmlformats.org/drawingml/2006/main">
            <a:off x="8915400" y="5048250"/>
            <a:ext cx="2619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173E2C"/>
                </a:solidFill>
                <a:latin typeface="Arial"/>
                <a:ea typeface="Arial"/>
                <a:cs typeface="Arial"/>
              </a:defRPr>
            </a:defPPr>
            <a:lvl1pPr>
              <a:defRPr sz="2100" b="1">
                <a:solidFill>
                  <a:srgbClr val="173E2C"/>
                </a:solidFill>
                <a:latin typeface="Arial"/>
                <a:ea typeface="Arial"/>
                <a:cs typeface="Arial"/>
              </a:defRPr>
            </a:lvl1pPr>
            <a:lvl2pPr>
              <a:defRPr sz="2100" b="1">
                <a:solidFill>
                  <a:srgbClr val="173E2C"/>
                </a:solidFill>
                <a:latin typeface="Arial"/>
                <a:ea typeface="Arial"/>
                <a:cs typeface="Arial"/>
              </a:defRPr>
            </a:lvl2pPr>
            <a:lvl3pPr>
              <a:defRPr sz="2100" b="1">
                <a:solidFill>
                  <a:srgbClr val="173E2C"/>
                </a:solidFill>
                <a:latin typeface="Arial"/>
                <a:ea typeface="Arial"/>
                <a:cs typeface="Arial"/>
              </a:defRPr>
            </a:lvl3pPr>
            <a:lvl4pPr>
              <a:defRPr sz="2100" b="1">
                <a:solidFill>
                  <a:srgbClr val="173E2C"/>
                </a:solidFill>
                <a:latin typeface="Arial"/>
                <a:ea typeface="Arial"/>
                <a:cs typeface="Arial"/>
              </a:defRPr>
            </a:lvl4pPr>
            <a:lvl5pPr>
              <a:defRPr sz="2100" b="1">
                <a:solidFill>
                  <a:srgbClr val="173E2C"/>
                </a:solidFill>
                <a:latin typeface="Arial"/>
                <a:ea typeface="Arial"/>
                <a:cs typeface="Arial"/>
              </a:defRPr>
            </a:lvl5pPr>
            <a:lvl6pPr>
              <a:defRPr sz="2100" b="1">
                <a:solidFill>
                  <a:srgbClr val="173E2C"/>
                </a:solidFill>
                <a:latin typeface="Arial"/>
                <a:ea typeface="Arial"/>
                <a:cs typeface="Arial"/>
              </a:defRPr>
            </a:lvl6pPr>
            <a:lvl7pPr>
              <a:defRPr sz="2100" b="1">
                <a:solidFill>
                  <a:srgbClr val="173E2C"/>
                </a:solidFill>
                <a:latin typeface="Arial"/>
                <a:ea typeface="Arial"/>
                <a:cs typeface="Arial"/>
              </a:defRPr>
            </a:lvl7pPr>
            <a:lvl8pPr>
              <a:defRPr sz="2100" b="1">
                <a:solidFill>
                  <a:srgbClr val="173E2C"/>
                </a:solidFill>
                <a:latin typeface="Arial"/>
                <a:ea typeface="Arial"/>
                <a:cs typeface="Arial"/>
              </a:defRPr>
            </a:lvl8pPr>
            <a:lvl9pPr>
              <a:defRPr sz="2100" b="1">
                <a:solidFill>
                  <a:srgbClr val="173E2C"/>
                </a:solidFill>
                <a:latin typeface="Arial"/>
                <a:ea typeface="Arial"/>
                <a:cs typeface="Arial"/>
              </a:defRPr>
            </a:lvl9pPr>
          </a:lstStyle>
          <a:p xmlns:a="http://schemas.openxmlformats.org/drawingml/2006/main">
            <a:pPr>
              <a:defRPr sz="2100" b="1">
                <a:solidFill>
                  <a:srgbClr val="173E2C"/>
                </a:solidFill>
                <a:latin typeface="Arial"/>
                <a:ea typeface="Arial"/>
                <a:cs typeface="Arial"/>
              </a:defRPr>
            </a:pPr>
            <a:r>
              <a:rPr sz="2100" b="1">
                <a:solidFill>
                  <a:srgbClr val="173E2C"/>
                </a:solidFill>
                <a:latin typeface="Arial"/>
                <a:ea typeface="Arial"/>
                <a:cs typeface="Arial"/>
                <a:hlinkClick xmlns:r="http://schemas.openxmlformats.org/officeDocument/2006/relationships" r:id="R7400731ebd8f4f1c"/>
              </a:rPr>
              <a:t>Open MROOT V2</a:t>
            </a:r>
          </a:p>
        </p:txBody>
      </p:sp>
      <p:sp>
        <p:nvSpPr>
          <p:cNvPr id="6" name="text-4">
            <a:extLst xmlns:a="http://schemas.openxmlformats.org/drawingml/2006/main">
              <a:ext uri="{FF2B5EF4-FFF2-40B4-BE49-F238E27FC236}">
                <a16:creationId xmlns:a16="http://schemas.microsoft.com/office/drawing/2014/main" id="{401904AA-81AE-45AC-BDA0-A948527436F1}"/>
              </a:ext>
            </a:extLst>
          </p:cNvPr>
          <p:cNvSpPr>
            <a:spLocks xmlns:a="http://schemas.openxmlformats.org/drawingml/2006/main" noGrp="1"/>
          </p:cNvSpPr>
          <p:nvPr/>
        </p:nvSpPr>
        <p:spPr>
          <a:xfrm xmlns:a="http://schemas.openxmlformats.org/drawingml/2006/main">
            <a:off x="723900" y="6048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59665D"/>
                </a:solidFill>
                <a:latin typeface="Arial"/>
                <a:ea typeface="Arial"/>
                <a:cs typeface="Arial"/>
              </a:defRPr>
            </a:defPPr>
            <a:lvl1pPr>
              <a:defRPr sz="1575" b="0">
                <a:solidFill>
                  <a:srgbClr val="59665D"/>
                </a:solidFill>
                <a:latin typeface="Arial"/>
                <a:ea typeface="Arial"/>
                <a:cs typeface="Arial"/>
              </a:defRPr>
            </a:lvl1pPr>
            <a:lvl2pPr>
              <a:defRPr sz="1575" b="0">
                <a:solidFill>
                  <a:srgbClr val="59665D"/>
                </a:solidFill>
                <a:latin typeface="Arial"/>
                <a:ea typeface="Arial"/>
                <a:cs typeface="Arial"/>
              </a:defRPr>
            </a:lvl2pPr>
            <a:lvl3pPr>
              <a:defRPr sz="1575" b="0">
                <a:solidFill>
                  <a:srgbClr val="59665D"/>
                </a:solidFill>
                <a:latin typeface="Arial"/>
                <a:ea typeface="Arial"/>
                <a:cs typeface="Arial"/>
              </a:defRPr>
            </a:lvl3pPr>
            <a:lvl4pPr>
              <a:defRPr sz="1575" b="0">
                <a:solidFill>
                  <a:srgbClr val="59665D"/>
                </a:solidFill>
                <a:latin typeface="Arial"/>
                <a:ea typeface="Arial"/>
                <a:cs typeface="Arial"/>
              </a:defRPr>
            </a:lvl4pPr>
            <a:lvl5pPr>
              <a:defRPr sz="1575" b="0">
                <a:solidFill>
                  <a:srgbClr val="59665D"/>
                </a:solidFill>
                <a:latin typeface="Arial"/>
                <a:ea typeface="Arial"/>
                <a:cs typeface="Arial"/>
              </a:defRPr>
            </a:lvl5pPr>
            <a:lvl6pPr>
              <a:defRPr sz="1575" b="0">
                <a:solidFill>
                  <a:srgbClr val="59665D"/>
                </a:solidFill>
                <a:latin typeface="Arial"/>
                <a:ea typeface="Arial"/>
                <a:cs typeface="Arial"/>
              </a:defRPr>
            </a:lvl6pPr>
            <a:lvl7pPr>
              <a:defRPr sz="1575" b="0">
                <a:solidFill>
                  <a:srgbClr val="59665D"/>
                </a:solidFill>
                <a:latin typeface="Arial"/>
                <a:ea typeface="Arial"/>
                <a:cs typeface="Arial"/>
              </a:defRPr>
            </a:lvl7pPr>
            <a:lvl8pPr>
              <a:defRPr sz="1575" b="0">
                <a:solidFill>
                  <a:srgbClr val="59665D"/>
                </a:solidFill>
                <a:latin typeface="Arial"/>
                <a:ea typeface="Arial"/>
                <a:cs typeface="Arial"/>
              </a:defRPr>
            </a:lvl8pPr>
            <a:lvl9pPr>
              <a:defRPr sz="1575" b="0">
                <a:solidFill>
                  <a:srgbClr val="59665D"/>
                </a:solidFill>
                <a:latin typeface="Arial"/>
                <a:ea typeface="Arial"/>
                <a:cs typeface="Arial"/>
              </a:defRPr>
            </a:lvl9pPr>
          </a:lstStyle>
          <a:p xmlns:a="http://schemas.openxmlformats.org/drawingml/2006/main">
            <a:pPr>
              <a:defRPr sz="1575" b="0">
                <a:solidFill>
                  <a:srgbClr val="59665D"/>
                </a:solidFill>
                <a:latin typeface="Arial"/>
                <a:ea typeface="Arial"/>
                <a:cs typeface="Arial"/>
              </a:defRPr>
            </a:pPr>
            <a:r>
              <a:rPr sz="1575" b="0">
                <a:solidFill>
                  <a:srgbClr val="59665D"/>
                </a:solidFill>
                <a:latin typeface="Arial"/>
                <a:ea typeface="Arial"/>
                <a:cs typeface="Arial"/>
              </a:rPr>
              <a:t>Original V1 app remains available.</a:t>
            </a:r>
          </a:p>
        </p:txBody>
      </p:sp>
    </p:spTree>
    <p:extLst>
      <p:ext uri="{BB962C8B-B14F-4D97-AF65-F5344CB8AC3E}">
        <p14:creationId xmlns:p14="http://schemas.microsoft.com/office/powerpoint/2010/main" val="1383623186"/>
      </p:ext>
    </p:extLst>
  </p:cSld>
</p:sld>
</file>

<file path=ppt/slides/slide14.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5537C595-9F6B-497A-B0FE-B0DFD88851D5}"/>
              </a:ext>
            </a:extLst>
          </p:cNvPr>
          <p:cNvSpPr>
            <a:spLocks xmlns:a="http://schemas.openxmlformats.org/drawingml/2006/main" noGrp="1"/>
          </p:cNvSpPr>
          <p:nvPr/>
        </p:nvSpPr>
        <p:spPr>
          <a:xfrm xmlns:a="http://schemas.openxmlformats.org/drawingml/2006/main">
            <a:off x="66675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What I learned</a:t>
            </a:r>
          </a:p>
        </p:txBody>
      </p:sp>
      <p:sp>
        <p:nvSpPr>
          <p:cNvPr id="2" name="text-1">
            <a:extLst xmlns:a="http://schemas.openxmlformats.org/drawingml/2006/main">
              <a:ext uri="{FF2B5EF4-FFF2-40B4-BE49-F238E27FC236}">
                <a16:creationId xmlns:a16="http://schemas.microsoft.com/office/drawing/2014/main" id="{F027B00E-2879-49A4-B58B-3B7D6887FF1E}"/>
              </a:ext>
            </a:extLst>
          </p:cNvPr>
          <p:cNvSpPr>
            <a:spLocks xmlns:a="http://schemas.openxmlformats.org/drawingml/2006/main" noGrp="1"/>
          </p:cNvSpPr>
          <p:nvPr/>
        </p:nvSpPr>
        <p:spPr>
          <a:xfrm xmlns:a="http://schemas.openxmlformats.org/drawingml/2006/main">
            <a:off x="666750" y="641985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MROOT  14</a:t>
            </a:r>
          </a:p>
        </p:txBody>
      </p:sp>
      <p:sp>
        <p:nvSpPr>
          <p:cNvPr id="3" name="text-2">
            <a:extLst xmlns:a="http://schemas.openxmlformats.org/drawingml/2006/main">
              <a:ext uri="{FF2B5EF4-FFF2-40B4-BE49-F238E27FC236}">
                <a16:creationId xmlns:a16="http://schemas.microsoft.com/office/drawing/2014/main" id="{A3B9D5B8-A108-4F4D-B64C-D8BD267EEFBA}"/>
              </a:ext>
            </a:extLst>
          </p:cNvPr>
          <p:cNvSpPr>
            <a:spLocks xmlns:a="http://schemas.openxmlformats.org/drawingml/2006/main" noGrp="1"/>
          </p:cNvSpPr>
          <p:nvPr/>
        </p:nvSpPr>
        <p:spPr>
          <a:xfrm xmlns:a="http://schemas.openxmlformats.org/drawingml/2006/main">
            <a:off x="723900" y="17430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925" b="1">
                <a:solidFill>
                  <a:srgbClr val="173E2C"/>
                </a:solidFill>
                <a:latin typeface="Arial"/>
                <a:ea typeface="Arial"/>
                <a:cs typeface="Arial"/>
              </a:defRPr>
            </a:defPPr>
            <a:lvl1pPr>
              <a:defRPr sz="2925" b="1">
                <a:solidFill>
                  <a:srgbClr val="173E2C"/>
                </a:solidFill>
                <a:latin typeface="Arial"/>
                <a:ea typeface="Arial"/>
                <a:cs typeface="Arial"/>
              </a:defRPr>
            </a:lvl1pPr>
            <a:lvl2pPr>
              <a:defRPr sz="2925" b="1">
                <a:solidFill>
                  <a:srgbClr val="173E2C"/>
                </a:solidFill>
                <a:latin typeface="Arial"/>
                <a:ea typeface="Arial"/>
                <a:cs typeface="Arial"/>
              </a:defRPr>
            </a:lvl2pPr>
            <a:lvl3pPr>
              <a:defRPr sz="2925" b="1">
                <a:solidFill>
                  <a:srgbClr val="173E2C"/>
                </a:solidFill>
                <a:latin typeface="Arial"/>
                <a:ea typeface="Arial"/>
                <a:cs typeface="Arial"/>
              </a:defRPr>
            </a:lvl3pPr>
            <a:lvl4pPr>
              <a:defRPr sz="2925" b="1">
                <a:solidFill>
                  <a:srgbClr val="173E2C"/>
                </a:solidFill>
                <a:latin typeface="Arial"/>
                <a:ea typeface="Arial"/>
                <a:cs typeface="Arial"/>
              </a:defRPr>
            </a:lvl4pPr>
            <a:lvl5pPr>
              <a:defRPr sz="2925" b="1">
                <a:solidFill>
                  <a:srgbClr val="173E2C"/>
                </a:solidFill>
                <a:latin typeface="Arial"/>
                <a:ea typeface="Arial"/>
                <a:cs typeface="Arial"/>
              </a:defRPr>
            </a:lvl5pPr>
            <a:lvl6pPr>
              <a:defRPr sz="2925" b="1">
                <a:solidFill>
                  <a:srgbClr val="173E2C"/>
                </a:solidFill>
                <a:latin typeface="Arial"/>
                <a:ea typeface="Arial"/>
                <a:cs typeface="Arial"/>
              </a:defRPr>
            </a:lvl6pPr>
            <a:lvl7pPr>
              <a:defRPr sz="2925" b="1">
                <a:solidFill>
                  <a:srgbClr val="173E2C"/>
                </a:solidFill>
                <a:latin typeface="Arial"/>
                <a:ea typeface="Arial"/>
                <a:cs typeface="Arial"/>
              </a:defRPr>
            </a:lvl7pPr>
            <a:lvl8pPr>
              <a:defRPr sz="2925" b="1">
                <a:solidFill>
                  <a:srgbClr val="173E2C"/>
                </a:solidFill>
                <a:latin typeface="Arial"/>
                <a:ea typeface="Arial"/>
                <a:cs typeface="Arial"/>
              </a:defRPr>
            </a:lvl8pPr>
            <a:lvl9pPr>
              <a:defRPr sz="2925" b="1">
                <a:solidFill>
                  <a:srgbClr val="173E2C"/>
                </a:solidFill>
                <a:latin typeface="Arial"/>
                <a:ea typeface="Arial"/>
                <a:cs typeface="Arial"/>
              </a:defRPr>
            </a:lvl9pPr>
          </a:lstStyle>
          <a:p xmlns:a="http://schemas.openxmlformats.org/drawingml/2006/main">
            <a:pPr>
              <a:defRPr sz="2925" b="1">
                <a:solidFill>
                  <a:srgbClr val="173E2C"/>
                </a:solidFill>
                <a:latin typeface="Arial"/>
                <a:ea typeface="Arial"/>
                <a:cs typeface="Arial"/>
              </a:defRPr>
            </a:pPr>
            <a:r>
              <a:rPr sz="2925" b="1">
                <a:solidFill>
                  <a:srgbClr val="173E2C"/>
                </a:solidFill>
                <a:latin typeface="Arial"/>
                <a:ea typeface="Arial"/>
                <a:cs typeface="Arial"/>
              </a:rPr>
              <a:t>I check the data before trusting a score.</a:t>
            </a:r>
          </a:p>
        </p:txBody>
      </p:sp>
      <p:sp>
        <p:nvSpPr>
          <p:cNvPr id="4" name="text-3">
            <a:extLst xmlns:a="http://schemas.openxmlformats.org/drawingml/2006/main">
              <a:ext uri="{FF2B5EF4-FFF2-40B4-BE49-F238E27FC236}">
                <a16:creationId xmlns:a16="http://schemas.microsoft.com/office/drawing/2014/main" id="{9044E1FD-02EA-4FDC-9233-861D2A5DA1D2}"/>
              </a:ext>
            </a:extLst>
          </p:cNvPr>
          <p:cNvSpPr>
            <a:spLocks xmlns:a="http://schemas.openxmlformats.org/drawingml/2006/main" noGrp="1"/>
          </p:cNvSpPr>
          <p:nvPr/>
        </p:nvSpPr>
        <p:spPr>
          <a:xfrm xmlns:a="http://schemas.openxmlformats.org/drawingml/2006/main">
            <a:off x="723900" y="2971800"/>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925" b="1">
                <a:solidFill>
                  <a:srgbClr val="173E2C"/>
                </a:solidFill>
                <a:latin typeface="Arial"/>
                <a:ea typeface="Arial"/>
                <a:cs typeface="Arial"/>
              </a:defRPr>
            </a:defPPr>
            <a:lvl1pPr>
              <a:defRPr sz="2925" b="1">
                <a:solidFill>
                  <a:srgbClr val="173E2C"/>
                </a:solidFill>
                <a:latin typeface="Arial"/>
                <a:ea typeface="Arial"/>
                <a:cs typeface="Arial"/>
              </a:defRPr>
            </a:lvl1pPr>
            <a:lvl2pPr>
              <a:defRPr sz="2925" b="1">
                <a:solidFill>
                  <a:srgbClr val="173E2C"/>
                </a:solidFill>
                <a:latin typeface="Arial"/>
                <a:ea typeface="Arial"/>
                <a:cs typeface="Arial"/>
              </a:defRPr>
            </a:lvl2pPr>
            <a:lvl3pPr>
              <a:defRPr sz="2925" b="1">
                <a:solidFill>
                  <a:srgbClr val="173E2C"/>
                </a:solidFill>
                <a:latin typeface="Arial"/>
                <a:ea typeface="Arial"/>
                <a:cs typeface="Arial"/>
              </a:defRPr>
            </a:lvl3pPr>
            <a:lvl4pPr>
              <a:defRPr sz="2925" b="1">
                <a:solidFill>
                  <a:srgbClr val="173E2C"/>
                </a:solidFill>
                <a:latin typeface="Arial"/>
                <a:ea typeface="Arial"/>
                <a:cs typeface="Arial"/>
              </a:defRPr>
            </a:lvl4pPr>
            <a:lvl5pPr>
              <a:defRPr sz="2925" b="1">
                <a:solidFill>
                  <a:srgbClr val="173E2C"/>
                </a:solidFill>
                <a:latin typeface="Arial"/>
                <a:ea typeface="Arial"/>
                <a:cs typeface="Arial"/>
              </a:defRPr>
            </a:lvl5pPr>
            <a:lvl6pPr>
              <a:defRPr sz="2925" b="1">
                <a:solidFill>
                  <a:srgbClr val="173E2C"/>
                </a:solidFill>
                <a:latin typeface="Arial"/>
                <a:ea typeface="Arial"/>
                <a:cs typeface="Arial"/>
              </a:defRPr>
            </a:lvl6pPr>
            <a:lvl7pPr>
              <a:defRPr sz="2925" b="1">
                <a:solidFill>
                  <a:srgbClr val="173E2C"/>
                </a:solidFill>
                <a:latin typeface="Arial"/>
                <a:ea typeface="Arial"/>
                <a:cs typeface="Arial"/>
              </a:defRPr>
            </a:lvl7pPr>
            <a:lvl8pPr>
              <a:defRPr sz="2925" b="1">
                <a:solidFill>
                  <a:srgbClr val="173E2C"/>
                </a:solidFill>
                <a:latin typeface="Arial"/>
                <a:ea typeface="Arial"/>
                <a:cs typeface="Arial"/>
              </a:defRPr>
            </a:lvl8pPr>
            <a:lvl9pPr>
              <a:defRPr sz="2925" b="1">
                <a:solidFill>
                  <a:srgbClr val="173E2C"/>
                </a:solidFill>
                <a:latin typeface="Arial"/>
                <a:ea typeface="Arial"/>
                <a:cs typeface="Arial"/>
              </a:defRPr>
            </a:lvl9pPr>
          </a:lstStyle>
          <a:p xmlns:a="http://schemas.openxmlformats.org/drawingml/2006/main">
            <a:pPr>
              <a:defRPr sz="2925" b="1">
                <a:solidFill>
                  <a:srgbClr val="173E2C"/>
                </a:solidFill>
                <a:latin typeface="Arial"/>
                <a:ea typeface="Arial"/>
                <a:cs typeface="Arial"/>
              </a:defRPr>
            </a:pPr>
            <a:r>
              <a:rPr sz="2925" b="1">
                <a:solidFill>
                  <a:srgbClr val="173E2C"/>
                </a:solidFill>
                <a:latin typeface="Arial"/>
                <a:ea typeface="Arial"/>
                <a:cs typeface="Arial"/>
              </a:rPr>
              <a:t>I keep a model when it helps the ensemble.</a:t>
            </a:r>
          </a:p>
        </p:txBody>
      </p:sp>
      <p:sp>
        <p:nvSpPr>
          <p:cNvPr id="5" name="text-4">
            <a:extLst xmlns:a="http://schemas.openxmlformats.org/drawingml/2006/main">
              <a:ext uri="{FF2B5EF4-FFF2-40B4-BE49-F238E27FC236}">
                <a16:creationId xmlns:a16="http://schemas.microsoft.com/office/drawing/2014/main" id="{BA0004EA-799A-4766-B5B5-C442844228AB}"/>
              </a:ext>
            </a:extLst>
          </p:cNvPr>
          <p:cNvSpPr>
            <a:spLocks xmlns:a="http://schemas.openxmlformats.org/drawingml/2006/main" noGrp="1"/>
          </p:cNvSpPr>
          <p:nvPr/>
        </p:nvSpPr>
        <p:spPr>
          <a:xfrm xmlns:a="http://schemas.openxmlformats.org/drawingml/2006/main">
            <a:off x="723900" y="42100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73E2C"/>
                </a:solidFill>
                <a:latin typeface="Arial"/>
                <a:ea typeface="Arial"/>
                <a:cs typeface="Arial"/>
              </a:defRPr>
            </a:defPPr>
            <a:lvl1pPr>
              <a:defRPr sz="2850" b="1">
                <a:solidFill>
                  <a:srgbClr val="173E2C"/>
                </a:solidFill>
                <a:latin typeface="Arial"/>
                <a:ea typeface="Arial"/>
                <a:cs typeface="Arial"/>
              </a:defRPr>
            </a:lvl1pPr>
            <a:lvl2pPr>
              <a:defRPr sz="2850" b="1">
                <a:solidFill>
                  <a:srgbClr val="173E2C"/>
                </a:solidFill>
                <a:latin typeface="Arial"/>
                <a:ea typeface="Arial"/>
                <a:cs typeface="Arial"/>
              </a:defRPr>
            </a:lvl2pPr>
            <a:lvl3pPr>
              <a:defRPr sz="2850" b="1">
                <a:solidFill>
                  <a:srgbClr val="173E2C"/>
                </a:solidFill>
                <a:latin typeface="Arial"/>
                <a:ea typeface="Arial"/>
                <a:cs typeface="Arial"/>
              </a:defRPr>
            </a:lvl3pPr>
            <a:lvl4pPr>
              <a:defRPr sz="2850" b="1">
                <a:solidFill>
                  <a:srgbClr val="173E2C"/>
                </a:solidFill>
                <a:latin typeface="Arial"/>
                <a:ea typeface="Arial"/>
                <a:cs typeface="Arial"/>
              </a:defRPr>
            </a:lvl4pPr>
            <a:lvl5pPr>
              <a:defRPr sz="2850" b="1">
                <a:solidFill>
                  <a:srgbClr val="173E2C"/>
                </a:solidFill>
                <a:latin typeface="Arial"/>
                <a:ea typeface="Arial"/>
                <a:cs typeface="Arial"/>
              </a:defRPr>
            </a:lvl5pPr>
            <a:lvl6pPr>
              <a:defRPr sz="2850" b="1">
                <a:solidFill>
                  <a:srgbClr val="173E2C"/>
                </a:solidFill>
                <a:latin typeface="Arial"/>
                <a:ea typeface="Arial"/>
                <a:cs typeface="Arial"/>
              </a:defRPr>
            </a:lvl6pPr>
            <a:lvl7pPr>
              <a:defRPr sz="2850" b="1">
                <a:solidFill>
                  <a:srgbClr val="173E2C"/>
                </a:solidFill>
                <a:latin typeface="Arial"/>
                <a:ea typeface="Arial"/>
                <a:cs typeface="Arial"/>
              </a:defRPr>
            </a:lvl7pPr>
            <a:lvl8pPr>
              <a:defRPr sz="2850" b="1">
                <a:solidFill>
                  <a:srgbClr val="173E2C"/>
                </a:solidFill>
                <a:latin typeface="Arial"/>
                <a:ea typeface="Arial"/>
                <a:cs typeface="Arial"/>
              </a:defRPr>
            </a:lvl8pPr>
            <a:lvl9pPr>
              <a:defRPr sz="2850" b="1">
                <a:solidFill>
                  <a:srgbClr val="173E2C"/>
                </a:solidFill>
                <a:latin typeface="Arial"/>
                <a:ea typeface="Arial"/>
                <a:cs typeface="Arial"/>
              </a:defRPr>
            </a:lvl9pPr>
          </a:lstStyle>
          <a:p xmlns:a="http://schemas.openxmlformats.org/drawingml/2006/main">
            <a:pPr>
              <a:defRPr sz="2850" b="1">
                <a:solidFill>
                  <a:srgbClr val="173E2C"/>
                </a:solidFill>
                <a:latin typeface="Arial"/>
                <a:ea typeface="Arial"/>
                <a:cs typeface="Arial"/>
              </a:defRPr>
            </a:pPr>
            <a:r>
              <a:rPr sz="2850" b="1">
                <a:solidFill>
                  <a:srgbClr val="173E2C"/>
                </a:solidFill>
                <a:latin typeface="Arial"/>
                <a:ea typeface="Arial"/>
                <a:cs typeface="Arial"/>
              </a:rPr>
              <a:t>I save enough evidence to explain the result later.</a:t>
            </a:r>
          </a:p>
        </p:txBody>
      </p:sp>
      <p:sp>
        <p:nvSpPr>
          <p:cNvPr id="6" name="text-5">
            <a:extLst xmlns:a="http://schemas.openxmlformats.org/drawingml/2006/main">
              <a:ext uri="{FF2B5EF4-FFF2-40B4-BE49-F238E27FC236}">
                <a16:creationId xmlns:a16="http://schemas.microsoft.com/office/drawing/2014/main" id="{872C6F45-D1F6-4723-864E-580A5ED2AAEF}"/>
              </a:ext>
            </a:extLst>
          </p:cNvPr>
          <p:cNvSpPr>
            <a:spLocks xmlns:a="http://schemas.openxmlformats.org/drawingml/2006/main" noGrp="1"/>
          </p:cNvSpPr>
          <p:nvPr/>
        </p:nvSpPr>
        <p:spPr>
          <a:xfrm xmlns:a="http://schemas.openxmlformats.org/drawingml/2006/main">
            <a:off x="723900" y="5715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59665D"/>
                </a:solidFill>
                <a:latin typeface="Arial"/>
                <a:ea typeface="Arial"/>
                <a:cs typeface="Arial"/>
              </a:defRPr>
            </a:defPPr>
            <a:lvl1pPr>
              <a:defRPr sz="1950" b="0">
                <a:solidFill>
                  <a:srgbClr val="59665D"/>
                </a:solidFill>
                <a:latin typeface="Arial"/>
                <a:ea typeface="Arial"/>
                <a:cs typeface="Arial"/>
              </a:defRPr>
            </a:lvl1pPr>
            <a:lvl2pPr>
              <a:defRPr sz="1950" b="0">
                <a:solidFill>
                  <a:srgbClr val="59665D"/>
                </a:solidFill>
                <a:latin typeface="Arial"/>
                <a:ea typeface="Arial"/>
                <a:cs typeface="Arial"/>
              </a:defRPr>
            </a:lvl2pPr>
            <a:lvl3pPr>
              <a:defRPr sz="1950" b="0">
                <a:solidFill>
                  <a:srgbClr val="59665D"/>
                </a:solidFill>
                <a:latin typeface="Arial"/>
                <a:ea typeface="Arial"/>
                <a:cs typeface="Arial"/>
              </a:defRPr>
            </a:lvl3pPr>
            <a:lvl4pPr>
              <a:defRPr sz="1950" b="0">
                <a:solidFill>
                  <a:srgbClr val="59665D"/>
                </a:solidFill>
                <a:latin typeface="Arial"/>
                <a:ea typeface="Arial"/>
                <a:cs typeface="Arial"/>
              </a:defRPr>
            </a:lvl4pPr>
            <a:lvl5pPr>
              <a:defRPr sz="1950" b="0">
                <a:solidFill>
                  <a:srgbClr val="59665D"/>
                </a:solidFill>
                <a:latin typeface="Arial"/>
                <a:ea typeface="Arial"/>
                <a:cs typeface="Arial"/>
              </a:defRPr>
            </a:lvl5pPr>
            <a:lvl6pPr>
              <a:defRPr sz="1950" b="0">
                <a:solidFill>
                  <a:srgbClr val="59665D"/>
                </a:solidFill>
                <a:latin typeface="Arial"/>
                <a:ea typeface="Arial"/>
                <a:cs typeface="Arial"/>
              </a:defRPr>
            </a:lvl6pPr>
            <a:lvl7pPr>
              <a:defRPr sz="1950" b="0">
                <a:solidFill>
                  <a:srgbClr val="59665D"/>
                </a:solidFill>
                <a:latin typeface="Arial"/>
                <a:ea typeface="Arial"/>
                <a:cs typeface="Arial"/>
              </a:defRPr>
            </a:lvl7pPr>
            <a:lvl8pPr>
              <a:defRPr sz="1950" b="0">
                <a:solidFill>
                  <a:srgbClr val="59665D"/>
                </a:solidFill>
                <a:latin typeface="Arial"/>
                <a:ea typeface="Arial"/>
                <a:cs typeface="Arial"/>
              </a:defRPr>
            </a:lvl8pPr>
            <a:lvl9pPr>
              <a:defRPr sz="1950" b="0">
                <a:solidFill>
                  <a:srgbClr val="59665D"/>
                </a:solidFill>
                <a:latin typeface="Arial"/>
                <a:ea typeface="Arial"/>
                <a:cs typeface="Arial"/>
              </a:defRPr>
            </a:lvl9pPr>
          </a:lstStyle>
          <a:p xmlns:a="http://schemas.openxmlformats.org/drawingml/2006/main">
            <a:pPr>
              <a:defRPr sz="1950" b="0">
                <a:solidFill>
                  <a:srgbClr val="59665D"/>
                </a:solidFill>
                <a:latin typeface="Arial"/>
                <a:ea typeface="Arial"/>
                <a:cs typeface="Arial"/>
              </a:defRPr>
            </a:pPr>
            <a:r>
              <a:rPr sz="1950" b="0">
                <a:solidFill>
                  <a:srgbClr val="59665D"/>
                </a:solidFill>
                <a:latin typeface="Arial"/>
                <a:ea typeface="Arial"/>
                <a:cs typeface="Arial"/>
              </a:rPr>
              <a:t>Next: reviewed external photos and a healthy/unknown option</a:t>
            </a:r>
          </a:p>
        </p:txBody>
      </p:sp>
    </p:spTree>
    <p:extLst>
      <p:ext uri="{BB962C8B-B14F-4D97-AF65-F5344CB8AC3E}">
        <p14:creationId xmlns:p14="http://schemas.microsoft.com/office/powerpoint/2010/main" val="2091661566"/>
      </p:ext>
    </p:extLst>
  </p:cSld>
</p:sld>
</file>

<file path=ppt/slides/slide15.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286E1AD6-ED4D-41AF-A265-BD85B821841D}"/>
              </a:ext>
            </a:extLst>
          </p:cNvPr>
          <p:cNvSpPr>
            <a:spLocks xmlns:a="http://schemas.openxmlformats.org/drawingml/2006/main" noGrp="1"/>
          </p:cNvSpPr>
          <p:nvPr/>
        </p:nvSpPr>
        <p:spPr>
          <a:xfrm xmlns:a="http://schemas.openxmlformats.org/drawingml/2006/main">
            <a:off x="66675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Earlier experiments</a:t>
            </a:r>
          </a:p>
        </p:txBody>
      </p:sp>
      <p:sp>
        <p:nvSpPr>
          <p:cNvPr id="2" name="text-1">
            <a:extLst xmlns:a="http://schemas.openxmlformats.org/drawingml/2006/main">
              <a:ext uri="{FF2B5EF4-FFF2-40B4-BE49-F238E27FC236}">
                <a16:creationId xmlns:a16="http://schemas.microsoft.com/office/drawing/2014/main" id="{D5B1041F-E125-4621-9527-C85BC6B78F48}"/>
              </a:ext>
            </a:extLst>
          </p:cNvPr>
          <p:cNvSpPr>
            <a:spLocks xmlns:a="http://schemas.openxmlformats.org/drawingml/2006/main" noGrp="1"/>
          </p:cNvSpPr>
          <p:nvPr/>
        </p:nvSpPr>
        <p:spPr>
          <a:xfrm xmlns:a="http://schemas.openxmlformats.org/drawingml/2006/main">
            <a:off x="666750" y="641985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Appendix  15</a:t>
            </a:r>
          </a:p>
        </p:txBody>
      </p:sp>
      <p:graphicFrame>
        <p:nvGraphicFramePr>
          <p:cNvPr id="3" name="">
            <a:extLst xmlns:a="http://schemas.openxmlformats.org/drawingml/2006/main">
              <a:ext uri="{FF2B5EF4-FFF2-40B4-BE49-F238E27FC236}">
                <a16:creationId xmlns:a16="http://schemas.microsoft.com/office/drawing/2014/main" id="{FC67D146-01C2-4507-B7DC-0221ADAA7FFA}"/>
              </a:ext>
            </a:extLst>
          </p:cNvPr>
          <p:cNvGraphicFramePr/>
          <p:nvPr/>
        </p:nvGraphicFramePr>
        <p:xfrm>
          <a:off xmlns:a="http://schemas.openxmlformats.org/drawingml/2006/main" x="666750" y="1476375"/>
          <a:ext xmlns:a="http://schemas.openxmlformats.org/drawingml/2006/main" cx="10858500" cy="4286250"/>
        </p:xfrm>
        <a:graphic xmlns:a="http://schemas.openxmlformats.org/drawingml/2006/main">
          <a:graphicData uri="http://schemas.openxmlformats.org/drawingml/2006/table">
            <a:tbl>
              <a:tblPr/>
              <a:tblGrid>
                <a:gridCol w="4000500"/>
                <a:gridCol w="3143250"/>
                <a:gridCol w="3714750"/>
              </a:tblGrid>
              <a:tr h="612321">
                <a:tc>
                  <a:txBody>
                    <a:bodyPr lIns="95250" tIns="95250" rIns="95250" bIns="95250"/>
                    <a:lstStyle/>
                    <a:p>
                      <a:r>
                        <a:rPr sz="1650" b="1">
                          <a:solidFill>
                            <a:srgbClr val="FFFFFF"/>
                          </a:solidFill>
                          <a:latin typeface="Arial"/>
                          <a:ea typeface="Arial"/>
                          <a:cs typeface="Arial"/>
                        </a:rPr>
                        <a:t>Run</a:t>
                      </a:r>
                    </a:p>
                  </a:txBody>
                  <a:tcPr marL="91440" marR="91440" marT="45720" marB="45720" anchor="ctr">
                    <a:lnL w="5715">
                      <a:solidFill>
                        <a:srgbClr val="DCE5DB"/>
                      </a:solidFill>
                      <a:prstDash val="solid"/>
                    </a:lnL>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c>
                  <a:txBody>
                    <a:bodyPr lIns="95250" tIns="95250" rIns="95250" bIns="95250"/>
                    <a:lstStyle/>
                    <a:p>
                      <a:r>
                        <a:rPr sz="1650" b="1">
                          <a:solidFill>
                            <a:srgbClr val="FFFFFF"/>
                          </a:solidFill>
                          <a:latin typeface="Arial"/>
                          <a:ea typeface="Arial"/>
                          <a:cs typeface="Arial"/>
                        </a:rPr>
                        <a:t>Observed result</a:t>
                      </a:r>
                    </a:p>
                  </a:txBody>
                  <a:tcPr marL="91440" marR="91440" marT="45720" marB="45720" anchor="ctr">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c>
                  <a:txBody>
                    <a:bodyPr lIns="95250" tIns="95250" rIns="95250" bIns="95250"/>
                    <a:lstStyle/>
                    <a:p>
                      <a:r>
                        <a:rPr sz="1650" b="1">
                          <a:solidFill>
                            <a:srgbClr val="FFFFFF"/>
                          </a:solidFill>
                          <a:latin typeface="Arial"/>
                          <a:ea typeface="Arial"/>
                          <a:cs typeface="Arial"/>
                        </a:rPr>
                        <a:t>Status</a:t>
                      </a:r>
                    </a:p>
                  </a:txBody>
                  <a:tcPr marL="91440" marR="91440" marT="45720" marB="45720" anchor="ctr">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r>
              <a:tr h="612321">
                <a:tc>
                  <a:txBody>
                    <a:bodyPr lIns="95250" tIns="95250" rIns="95250" bIns="95250"/>
                    <a:lstStyle/>
                    <a:p>
                      <a:r>
                        <a:rPr sz="1650" b="0">
                          <a:solidFill>
                            <a:srgbClr val="24352C"/>
                          </a:solidFill>
                          <a:latin typeface="Arial"/>
                          <a:ea typeface="Arial"/>
                          <a:cs typeface="Arial"/>
                        </a:rPr>
                        <a:t>ViT baseline</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650" b="0">
                          <a:solidFill>
                            <a:srgbClr val="24352C"/>
                          </a:solidFill>
                          <a:latin typeface="Arial"/>
                          <a:ea typeface="Arial"/>
                          <a:cs typeface="Arial"/>
                        </a:rPr>
                        <a:t>about 0.9064 mAP</a:t>
                      </a:r>
                    </a:p>
                  </a:txBody>
                  <a:tcPr marL="91440" marR="91440" marT="45720" marB="45720" anchor="ctr">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650" b="0">
                          <a:solidFill>
                            <a:srgbClr val="24352C"/>
                          </a:solidFill>
                          <a:latin typeface="Arial"/>
                          <a:ea typeface="Arial"/>
                          <a:cs typeface="Arial"/>
                        </a:rPr>
                        <a:t>Historical baseline</a:t>
                      </a:r>
                    </a:p>
                  </a:txBody>
                  <a:tcPr marL="91440" marR="91440" marT="45720" marB="45720" anchor="ctr">
                    <a:lnR w="5715">
                      <a:solidFill>
                        <a:srgbClr val="DCE5DB"/>
                      </a:solidFill>
                      <a:prstDash val="solid"/>
                    </a:lnR>
                    <a:lnB w="5715">
                      <a:solidFill>
                        <a:srgbClr val="DCE5DB"/>
                      </a:solidFill>
                      <a:prstDash val="solid"/>
                    </a:lnB>
                    <a:solidFill>
                      <a:srgbClr val="FFFFFF"/>
                    </a:solidFill>
                  </a:tcPr>
                </a:tc>
              </a:tr>
              <a:tr h="612321">
                <a:tc>
                  <a:txBody>
                    <a:bodyPr lIns="95250" tIns="95250" rIns="95250" bIns="95250"/>
                    <a:lstStyle/>
                    <a:p>
                      <a:r>
                        <a:rPr sz="1650" b="0">
                          <a:solidFill>
                            <a:srgbClr val="24352C"/>
                          </a:solidFill>
                          <a:latin typeface="Arial"/>
                          <a:ea typeface="Arial"/>
                          <a:cs typeface="Arial"/>
                        </a:rPr>
                        <a:t>Extra Small seed</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1650" b="0">
                          <a:solidFill>
                            <a:srgbClr val="24352C"/>
                          </a:solidFill>
                          <a:latin typeface="Arial"/>
                          <a:ea typeface="Arial"/>
                          <a:cs typeface="Arial"/>
                        </a:rPr>
                        <a:t>ensemble about 0.9449</a:t>
                      </a:r>
                    </a:p>
                  </a:txBody>
                  <a:tcPr marL="91440" marR="91440" marT="45720" marB="45720" anchor="ctr">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1650" b="0">
                          <a:solidFill>
                            <a:srgbClr val="24352C"/>
                          </a:solidFill>
                          <a:latin typeface="Arial"/>
                          <a:ea typeface="Arial"/>
                          <a:cs typeface="Arial"/>
                        </a:rPr>
                        <a:t>Hurt the three-model reference</a:t>
                      </a:r>
                    </a:p>
                  </a:txBody>
                  <a:tcPr marL="91440" marR="91440" marT="45720" marB="45720" anchor="ctr">
                    <a:lnR w="5715">
                      <a:solidFill>
                        <a:srgbClr val="DCE5DB"/>
                      </a:solidFill>
                      <a:prstDash val="solid"/>
                    </a:lnR>
                    <a:lnB w="5715">
                      <a:solidFill>
                        <a:srgbClr val="DCE5DB"/>
                      </a:solidFill>
                      <a:prstDash val="solid"/>
                    </a:lnB>
                    <a:solidFill>
                      <a:srgbClr val="EBEFE7"/>
                    </a:solidFill>
                  </a:tcPr>
                </a:tc>
              </a:tr>
              <a:tr h="612321">
                <a:tc>
                  <a:txBody>
                    <a:bodyPr lIns="95250" tIns="95250" rIns="95250" bIns="95250"/>
                    <a:lstStyle/>
                    <a:p>
                      <a:r>
                        <a:rPr sz="1650" b="0">
                          <a:solidFill>
                            <a:srgbClr val="24352C"/>
                          </a:solidFill>
                          <a:latin typeface="Arial"/>
                          <a:ea typeface="Arial"/>
                          <a:cs typeface="Arial"/>
                        </a:rPr>
                        <a:t>ConvNeXt V2 Tiny 384</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650" b="0">
                          <a:solidFill>
                            <a:srgbClr val="24352C"/>
                          </a:solidFill>
                          <a:latin typeface="Arial"/>
                          <a:ea typeface="Arial"/>
                          <a:cs typeface="Arial"/>
                        </a:rPr>
                        <a:t>about 0.9054 mAP</a:t>
                      </a:r>
                    </a:p>
                  </a:txBody>
                  <a:tcPr marL="91440" marR="91440" marT="45720" marB="45720" anchor="ctr">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650" b="0">
                          <a:solidFill>
                            <a:srgbClr val="24352C"/>
                          </a:solidFill>
                          <a:latin typeface="Arial"/>
                          <a:ea typeface="Arial"/>
                          <a:cs typeface="Arial"/>
                        </a:rPr>
                        <a:t>Hurt the EVA ensemble</a:t>
                      </a:r>
                    </a:p>
                  </a:txBody>
                  <a:tcPr marL="91440" marR="91440" marT="45720" marB="45720" anchor="ctr">
                    <a:lnR w="5715">
                      <a:solidFill>
                        <a:srgbClr val="DCE5DB"/>
                      </a:solidFill>
                      <a:prstDash val="solid"/>
                    </a:lnR>
                    <a:lnB w="5715">
                      <a:solidFill>
                        <a:srgbClr val="DCE5DB"/>
                      </a:solidFill>
                      <a:prstDash val="solid"/>
                    </a:lnB>
                    <a:solidFill>
                      <a:srgbClr val="FFFFFF"/>
                    </a:solidFill>
                  </a:tcPr>
                </a:tc>
              </a:tr>
              <a:tr h="612321">
                <a:tc>
                  <a:txBody>
                    <a:bodyPr lIns="95250" tIns="95250" rIns="95250" bIns="95250"/>
                    <a:lstStyle/>
                    <a:p>
                      <a:r>
                        <a:rPr sz="1650" b="0">
                          <a:solidFill>
                            <a:srgbClr val="24352C"/>
                          </a:solidFill>
                          <a:latin typeface="Arial"/>
                          <a:ea typeface="Arial"/>
                          <a:cs typeface="Arial"/>
                        </a:rPr>
                        <a:t>Seed 1 continuation</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1650" b="0">
                          <a:solidFill>
                            <a:srgbClr val="24352C"/>
                          </a:solidFill>
                          <a:latin typeface="Arial"/>
                          <a:ea typeface="Arial"/>
                          <a:cs typeface="Arial"/>
                        </a:rPr>
                        <a:t>No improvement</a:t>
                      </a:r>
                    </a:p>
                  </a:txBody>
                  <a:tcPr marL="91440" marR="91440" marT="45720" marB="45720" anchor="ctr">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1650" b="0">
                          <a:solidFill>
                            <a:srgbClr val="24352C"/>
                          </a:solidFill>
                          <a:latin typeface="Arial"/>
                          <a:ea typeface="Arial"/>
                          <a:cs typeface="Arial"/>
                        </a:rPr>
                        <a:t>Did not repeat unchanged</a:t>
                      </a:r>
                    </a:p>
                  </a:txBody>
                  <a:tcPr marL="91440" marR="91440" marT="45720" marB="45720" anchor="ctr">
                    <a:lnR w="5715">
                      <a:solidFill>
                        <a:srgbClr val="DCE5DB"/>
                      </a:solidFill>
                      <a:prstDash val="solid"/>
                    </a:lnR>
                    <a:lnB w="5715">
                      <a:solidFill>
                        <a:srgbClr val="DCE5DB"/>
                      </a:solidFill>
                      <a:prstDash val="solid"/>
                    </a:lnB>
                    <a:solidFill>
                      <a:srgbClr val="EBEFE7"/>
                    </a:solidFill>
                  </a:tcPr>
                </a:tc>
              </a:tr>
              <a:tr h="612321">
                <a:tc>
                  <a:txBody>
                    <a:bodyPr lIns="95250" tIns="95250" rIns="95250" bIns="95250"/>
                    <a:lstStyle/>
                    <a:p>
                      <a:r>
                        <a:rPr sz="1650" b="0">
                          <a:solidFill>
                            <a:srgbClr val="24352C"/>
                          </a:solidFill>
                          <a:latin typeface="Arial"/>
                          <a:ea typeface="Arial"/>
                          <a:cs typeface="Arial"/>
                        </a:rPr>
                        <a:t>Historical Base 448</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650" b="0">
                          <a:solidFill>
                            <a:srgbClr val="24352C"/>
                          </a:solidFill>
                          <a:latin typeface="Arial"/>
                          <a:ea typeface="Arial"/>
                          <a:cs typeface="Arial"/>
                        </a:rPr>
                        <a:t>ensemble about 0.9482</a:t>
                      </a:r>
                    </a:p>
                  </a:txBody>
                  <a:tcPr marL="91440" marR="91440" marT="45720" marB="45720" anchor="ctr">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650" b="0">
                          <a:solidFill>
                            <a:srgbClr val="24352C"/>
                          </a:solidFill>
                          <a:latin typeface="Arial"/>
                          <a:ea typeface="Arial"/>
                          <a:cs typeface="Arial"/>
                        </a:rPr>
                        <a:t>Exact checkpoint lost</a:t>
                      </a:r>
                    </a:p>
                  </a:txBody>
                  <a:tcPr marL="91440" marR="91440" marT="45720" marB="45720" anchor="ctr">
                    <a:lnR w="5715">
                      <a:solidFill>
                        <a:srgbClr val="DCE5DB"/>
                      </a:solidFill>
                      <a:prstDash val="solid"/>
                    </a:lnR>
                    <a:lnB w="5715">
                      <a:solidFill>
                        <a:srgbClr val="DCE5DB"/>
                      </a:solidFill>
                      <a:prstDash val="solid"/>
                    </a:lnB>
                    <a:solidFill>
                      <a:srgbClr val="FFFFFF"/>
                    </a:solidFill>
                  </a:tcPr>
                </a:tc>
              </a:tr>
              <a:tr h="612321">
                <a:tc>
                  <a:txBody>
                    <a:bodyPr lIns="95250" tIns="95250" rIns="95250" bIns="95250"/>
                    <a:lstStyle/>
                    <a:p>
                      <a:r>
                        <a:rPr sz="1650" b="0">
                          <a:solidFill>
                            <a:srgbClr val="24352C"/>
                          </a:solidFill>
                          <a:latin typeface="Arial"/>
                          <a:ea typeface="Arial"/>
                          <a:cs typeface="Arial"/>
                        </a:rPr>
                        <a:t>Rebuilt historical Base</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1650" b="0">
                          <a:solidFill>
                            <a:srgbClr val="24352C"/>
                          </a:solidFill>
                          <a:latin typeface="Arial"/>
                          <a:ea typeface="Arial"/>
                          <a:cs typeface="Arial"/>
                        </a:rPr>
                        <a:t>ensemble about 0.9454</a:t>
                      </a:r>
                    </a:p>
                  </a:txBody>
                  <a:tcPr marL="91440" marR="91440" marT="45720" marB="45720" anchor="ctr">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1650" b="0">
                          <a:solidFill>
                            <a:srgbClr val="24352C"/>
                          </a:solidFill>
                          <a:latin typeface="Arial"/>
                          <a:ea typeface="Arial"/>
                          <a:cs typeface="Arial"/>
                        </a:rPr>
                        <a:t>Did not reproduce the lost run</a:t>
                      </a:r>
                    </a:p>
                  </a:txBody>
                  <a:tcPr marL="91440" marR="91440" marT="45720" marB="45720" anchor="ctr">
                    <a:lnR w="5715">
                      <a:solidFill>
                        <a:srgbClr val="DCE5DB"/>
                      </a:solidFill>
                      <a:prstDash val="solid"/>
                    </a:lnR>
                    <a:lnB w="5715">
                      <a:solidFill>
                        <a:srgbClr val="DCE5DB"/>
                      </a:solidFill>
                      <a:prstDash val="solid"/>
                    </a:lnB>
                    <a:solidFill>
                      <a:srgbClr val="EBEFE7"/>
                    </a:solidFill>
                  </a:tcPr>
                </a:tc>
              </a:tr>
            </a:tbl>
          </a:graphicData>
        </a:graphic>
      </p:graphicFrame>
      <p:sp>
        <p:nvSpPr>
          <p:cNvPr id="4" name="text-2">
            <a:extLst xmlns:a="http://schemas.openxmlformats.org/drawingml/2006/main">
              <a:ext uri="{FF2B5EF4-FFF2-40B4-BE49-F238E27FC236}">
                <a16:creationId xmlns:a16="http://schemas.microsoft.com/office/drawing/2014/main" id="{7C006982-83FE-49AF-8CCA-5D8066254F4A}"/>
              </a:ext>
            </a:extLst>
          </p:cNvPr>
          <p:cNvSpPr>
            <a:spLocks xmlns:a="http://schemas.openxmlformats.org/drawingml/2006/main" noGrp="1"/>
          </p:cNvSpPr>
          <p:nvPr/>
        </p:nvSpPr>
        <p:spPr>
          <a:xfrm xmlns:a="http://schemas.openxmlformats.org/drawingml/2006/main">
            <a:off x="723900" y="597217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65D"/>
                </a:solidFill>
                <a:latin typeface="Arial"/>
                <a:ea typeface="Arial"/>
                <a:cs typeface="Arial"/>
              </a:defRPr>
            </a:defPPr>
            <a:lvl1pPr>
              <a:defRPr sz="1650" b="0">
                <a:solidFill>
                  <a:srgbClr val="59665D"/>
                </a:solidFill>
                <a:latin typeface="Arial"/>
                <a:ea typeface="Arial"/>
                <a:cs typeface="Arial"/>
              </a:defRPr>
            </a:lvl1pPr>
            <a:lvl2pPr>
              <a:defRPr sz="1650" b="0">
                <a:solidFill>
                  <a:srgbClr val="59665D"/>
                </a:solidFill>
                <a:latin typeface="Arial"/>
                <a:ea typeface="Arial"/>
                <a:cs typeface="Arial"/>
              </a:defRPr>
            </a:lvl2pPr>
            <a:lvl3pPr>
              <a:defRPr sz="1650" b="0">
                <a:solidFill>
                  <a:srgbClr val="59665D"/>
                </a:solidFill>
                <a:latin typeface="Arial"/>
                <a:ea typeface="Arial"/>
                <a:cs typeface="Arial"/>
              </a:defRPr>
            </a:lvl3pPr>
            <a:lvl4pPr>
              <a:defRPr sz="1650" b="0">
                <a:solidFill>
                  <a:srgbClr val="59665D"/>
                </a:solidFill>
                <a:latin typeface="Arial"/>
                <a:ea typeface="Arial"/>
                <a:cs typeface="Arial"/>
              </a:defRPr>
            </a:lvl4pPr>
            <a:lvl5pPr>
              <a:defRPr sz="1650" b="0">
                <a:solidFill>
                  <a:srgbClr val="59665D"/>
                </a:solidFill>
                <a:latin typeface="Arial"/>
                <a:ea typeface="Arial"/>
                <a:cs typeface="Arial"/>
              </a:defRPr>
            </a:lvl5pPr>
            <a:lvl6pPr>
              <a:defRPr sz="1650" b="0">
                <a:solidFill>
                  <a:srgbClr val="59665D"/>
                </a:solidFill>
                <a:latin typeface="Arial"/>
                <a:ea typeface="Arial"/>
                <a:cs typeface="Arial"/>
              </a:defRPr>
            </a:lvl6pPr>
            <a:lvl7pPr>
              <a:defRPr sz="1650" b="0">
                <a:solidFill>
                  <a:srgbClr val="59665D"/>
                </a:solidFill>
                <a:latin typeface="Arial"/>
                <a:ea typeface="Arial"/>
                <a:cs typeface="Arial"/>
              </a:defRPr>
            </a:lvl7pPr>
            <a:lvl8pPr>
              <a:defRPr sz="1650" b="0">
                <a:solidFill>
                  <a:srgbClr val="59665D"/>
                </a:solidFill>
                <a:latin typeface="Arial"/>
                <a:ea typeface="Arial"/>
                <a:cs typeface="Arial"/>
              </a:defRPr>
            </a:lvl8pPr>
            <a:lvl9pPr>
              <a:defRPr sz="1650" b="0">
                <a:solidFill>
                  <a:srgbClr val="59665D"/>
                </a:solidFill>
                <a:latin typeface="Arial"/>
                <a:ea typeface="Arial"/>
                <a:cs typeface="Arial"/>
              </a:defRPr>
            </a:lvl9pPr>
          </a:lstStyle>
          <a:p xmlns:a="http://schemas.openxmlformats.org/drawingml/2006/main">
            <a:pPr>
              <a:defRPr sz="1650" b="0">
                <a:solidFill>
                  <a:srgbClr val="59665D"/>
                </a:solidFill>
                <a:latin typeface="Arial"/>
                <a:ea typeface="Arial"/>
                <a:cs typeface="Arial"/>
              </a:defRPr>
            </a:pPr>
            <a:r>
              <a:rPr sz="1650" b="0">
                <a:solidFill>
                  <a:srgbClr val="59665D"/>
                </a:solidFill>
                <a:latin typeface="Arial"/>
                <a:ea typeface="Arial"/>
                <a:cs typeface="Arial"/>
              </a:rPr>
              <a:t>Historical approximate results are not new reproductions.</a:t>
            </a:r>
          </a:p>
        </p:txBody>
      </p:sp>
    </p:spTree>
    <p:extLst>
      <p:ext uri="{BB962C8B-B14F-4D97-AF65-F5344CB8AC3E}">
        <p14:creationId xmlns:p14="http://schemas.microsoft.com/office/powerpoint/2010/main" val="1750975628"/>
      </p:ext>
    </p:extLst>
  </p:cSld>
</p:sld>
</file>

<file path=ppt/slides/slide16.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FC796780-0B0A-4560-B719-CA79E8DAFCFD}"/>
              </a:ext>
            </a:extLst>
          </p:cNvPr>
          <p:cNvSpPr>
            <a:spLocks xmlns:a="http://schemas.openxmlformats.org/drawingml/2006/main" noGrp="1"/>
          </p:cNvSpPr>
          <p:nvPr/>
        </p:nvSpPr>
        <p:spPr>
          <a:xfrm xmlns:a="http://schemas.openxmlformats.org/drawingml/2006/main">
            <a:off x="66675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New training runs and selected epochs</a:t>
            </a:r>
          </a:p>
        </p:txBody>
      </p:sp>
      <p:sp>
        <p:nvSpPr>
          <p:cNvPr id="2" name="text-1">
            <a:extLst xmlns:a="http://schemas.openxmlformats.org/drawingml/2006/main">
              <a:ext uri="{FF2B5EF4-FFF2-40B4-BE49-F238E27FC236}">
                <a16:creationId xmlns:a16="http://schemas.microsoft.com/office/drawing/2014/main" id="{23B95475-EAD5-4DC4-B462-AD096757B75B}"/>
              </a:ext>
            </a:extLst>
          </p:cNvPr>
          <p:cNvSpPr>
            <a:spLocks xmlns:a="http://schemas.openxmlformats.org/drawingml/2006/main" noGrp="1"/>
          </p:cNvSpPr>
          <p:nvPr/>
        </p:nvSpPr>
        <p:spPr>
          <a:xfrm xmlns:a="http://schemas.openxmlformats.org/drawingml/2006/main">
            <a:off x="666750" y="641985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Appendix  16</a:t>
            </a:r>
          </a:p>
        </p:txBody>
      </p:sp>
      <p:graphicFrame>
        <p:nvGraphicFramePr>
          <p:cNvPr id="3" name="">
            <a:extLst xmlns:a="http://schemas.openxmlformats.org/drawingml/2006/main">
              <a:ext uri="{FF2B5EF4-FFF2-40B4-BE49-F238E27FC236}">
                <a16:creationId xmlns:a16="http://schemas.microsoft.com/office/drawing/2014/main" id="{B7002A68-6906-43F1-BDD8-5838C5342214}"/>
              </a:ext>
            </a:extLst>
          </p:cNvPr>
          <p:cNvGraphicFramePr/>
          <p:nvPr/>
        </p:nvGraphicFramePr>
        <p:xfrm>
          <a:off xmlns:a="http://schemas.openxmlformats.org/drawingml/2006/main" x="666750" y="1600200"/>
          <a:ext xmlns:a="http://schemas.openxmlformats.org/drawingml/2006/main" cx="10858500" cy="3714750"/>
        </p:xfrm>
        <a:graphic xmlns:a="http://schemas.openxmlformats.org/drawingml/2006/main">
          <a:graphicData uri="http://schemas.openxmlformats.org/drawingml/2006/table">
            <a:tbl>
              <a:tblPr/>
              <a:tblGrid>
                <a:gridCol w="3714750"/>
                <a:gridCol w="1524000"/>
                <a:gridCol w="1524000"/>
                <a:gridCol w="2047875"/>
                <a:gridCol w="2047875"/>
              </a:tblGrid>
              <a:tr h="619125">
                <a:tc>
                  <a:txBody>
                    <a:bodyPr lIns="95250" tIns="95250" rIns="95250" bIns="95250"/>
                    <a:lstStyle/>
                    <a:p>
                      <a:r>
                        <a:rPr sz="1725" b="1">
                          <a:solidFill>
                            <a:srgbClr val="FFFFFF"/>
                          </a:solidFill>
                          <a:latin typeface="Arial"/>
                          <a:ea typeface="Arial"/>
                          <a:cs typeface="Arial"/>
                        </a:rPr>
                        <a:t>Model</a:t>
                      </a:r>
                    </a:p>
                  </a:txBody>
                  <a:tcPr marL="91440" marR="91440" marT="45720" marB="45720" anchor="ctr">
                    <a:lnL w="5715">
                      <a:solidFill>
                        <a:srgbClr val="DCE5DB"/>
                      </a:solidFill>
                      <a:prstDash val="solid"/>
                    </a:lnL>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c>
                  <a:txBody>
                    <a:bodyPr lIns="95250" tIns="95250" rIns="95250" bIns="95250"/>
                    <a:lstStyle/>
                    <a:p>
                      <a:r>
                        <a:rPr sz="1725" b="1">
                          <a:solidFill>
                            <a:srgbClr val="FFFFFF"/>
                          </a:solidFill>
                          <a:latin typeface="Arial"/>
                          <a:ea typeface="Arial"/>
                          <a:cs typeface="Arial"/>
                        </a:rPr>
                        <a:t>Val images</a:t>
                      </a:r>
                    </a:p>
                  </a:txBody>
                  <a:tcPr marL="91440" marR="91440" marT="45720" marB="45720" anchor="ctr">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c>
                  <a:txBody>
                    <a:bodyPr lIns="95250" tIns="95250" rIns="95250" bIns="95250"/>
                    <a:lstStyle/>
                    <a:p>
                      <a:r>
                        <a:rPr sz="1725" b="1">
                          <a:solidFill>
                            <a:srgbClr val="FFFFFF"/>
                          </a:solidFill>
                          <a:latin typeface="Arial"/>
                          <a:ea typeface="Arial"/>
                          <a:cs typeface="Arial"/>
                        </a:rPr>
                        <a:t>Best epoch</a:t>
                      </a:r>
                    </a:p>
                  </a:txBody>
                  <a:tcPr marL="91440" marR="91440" marT="45720" marB="45720" anchor="ctr">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c>
                  <a:txBody>
                    <a:bodyPr lIns="95250" tIns="95250" rIns="95250" bIns="95250"/>
                    <a:lstStyle/>
                    <a:p>
                      <a:r>
                        <a:rPr sz="1725" b="1">
                          <a:solidFill>
                            <a:srgbClr val="FFFFFF"/>
                          </a:solidFill>
                          <a:latin typeface="Arial"/>
                          <a:ea typeface="Arial"/>
                          <a:cs typeface="Arial"/>
                        </a:rPr>
                        <a:t>Normal mAP</a:t>
                      </a:r>
                    </a:p>
                  </a:txBody>
                  <a:tcPr marL="91440" marR="91440" marT="45720" marB="45720" anchor="ctr">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c>
                  <a:txBody>
                    <a:bodyPr lIns="95250" tIns="95250" rIns="95250" bIns="95250"/>
                    <a:lstStyle/>
                    <a:p>
                      <a:r>
                        <a:rPr sz="1725" b="1">
                          <a:solidFill>
                            <a:srgbClr val="FFFFFF"/>
                          </a:solidFill>
                          <a:latin typeface="Arial"/>
                          <a:ea typeface="Arial"/>
                          <a:cs typeface="Arial"/>
                        </a:rPr>
                        <a:t>Fixed TTA mAP</a:t>
                      </a:r>
                    </a:p>
                  </a:txBody>
                  <a:tcPr marL="91440" marR="91440" marT="45720" marB="45720" anchor="ctr">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r>
              <a:tr h="619125">
                <a:tc>
                  <a:txBody>
                    <a:bodyPr lIns="95250" tIns="95250" rIns="95250" bIns="95250"/>
                    <a:lstStyle/>
                    <a:p>
                      <a:r>
                        <a:rPr sz="1725" b="0">
                          <a:solidFill>
                            <a:srgbClr val="24352C"/>
                          </a:solidFill>
                          <a:latin typeface="Arial"/>
                          <a:ea typeface="Arial"/>
                          <a:cs typeface="Arial"/>
                        </a:rPr>
                        <a:t>Natural-sampling Small</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725" b="0">
                          <a:solidFill>
                            <a:srgbClr val="24352C"/>
                          </a:solidFill>
                          <a:latin typeface="Arial"/>
                          <a:ea typeface="Arial"/>
                          <a:cs typeface="Arial"/>
                        </a:rPr>
                        <a:t>390</a:t>
                      </a:r>
                    </a:p>
                  </a:txBody>
                  <a:tcPr marL="91440" marR="91440" marT="45720" marB="45720" anchor="ctr">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725" b="0">
                          <a:solidFill>
                            <a:srgbClr val="24352C"/>
                          </a:solidFill>
                          <a:latin typeface="Arial"/>
                          <a:ea typeface="Arial"/>
                          <a:cs typeface="Arial"/>
                        </a:rPr>
                        <a:t>13</a:t>
                      </a:r>
                    </a:p>
                  </a:txBody>
                  <a:tcPr marL="91440" marR="91440" marT="45720" marB="45720" anchor="ctr">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725" b="0">
                          <a:solidFill>
                            <a:srgbClr val="24352C"/>
                          </a:solidFill>
                          <a:latin typeface="Arial"/>
                          <a:ea typeface="Arial"/>
                          <a:cs typeface="Arial"/>
                        </a:rPr>
                        <a:t>0.923738</a:t>
                      </a:r>
                    </a:p>
                  </a:txBody>
                  <a:tcPr marL="91440" marR="91440" marT="45720" marB="45720" anchor="ctr">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725" b="0">
                          <a:solidFill>
                            <a:srgbClr val="24352C"/>
                          </a:solidFill>
                          <a:latin typeface="Arial"/>
                          <a:ea typeface="Arial"/>
                          <a:cs typeface="Arial"/>
                        </a:rPr>
                        <a:t>0.927203</a:t>
                      </a:r>
                    </a:p>
                  </a:txBody>
                  <a:tcPr marL="91440" marR="91440" marT="45720" marB="45720" anchor="ctr">
                    <a:lnR w="5715">
                      <a:solidFill>
                        <a:srgbClr val="DCE5DB"/>
                      </a:solidFill>
                      <a:prstDash val="solid"/>
                    </a:lnR>
                    <a:lnB w="5715">
                      <a:solidFill>
                        <a:srgbClr val="DCE5DB"/>
                      </a:solidFill>
                      <a:prstDash val="solid"/>
                    </a:lnB>
                    <a:solidFill>
                      <a:srgbClr val="FFFFFF"/>
                    </a:solidFill>
                  </a:tcPr>
                </a:tc>
              </a:tr>
              <a:tr h="619125">
                <a:tc>
                  <a:txBody>
                    <a:bodyPr lIns="95250" tIns="95250" rIns="95250" bIns="95250"/>
                    <a:lstStyle/>
                    <a:p>
                      <a:r>
                        <a:rPr sz="1725" b="0">
                          <a:solidFill>
                            <a:srgbClr val="24352C"/>
                          </a:solidFill>
                          <a:latin typeface="Arial"/>
                          <a:ea typeface="Arial"/>
                          <a:cs typeface="Arial"/>
                        </a:rPr>
                        <a:t>Base 448</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1725" b="0">
                          <a:solidFill>
                            <a:srgbClr val="24352C"/>
                          </a:solidFill>
                          <a:latin typeface="Arial"/>
                          <a:ea typeface="Arial"/>
                          <a:cs typeface="Arial"/>
                        </a:rPr>
                        <a:t>390</a:t>
                      </a:r>
                    </a:p>
                  </a:txBody>
                  <a:tcPr marL="91440" marR="91440" marT="45720" marB="45720" anchor="ctr">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1725" b="0">
                          <a:solidFill>
                            <a:srgbClr val="24352C"/>
                          </a:solidFill>
                          <a:latin typeface="Arial"/>
                          <a:ea typeface="Arial"/>
                          <a:cs typeface="Arial"/>
                        </a:rPr>
                        <a:t>4</a:t>
                      </a:r>
                    </a:p>
                  </a:txBody>
                  <a:tcPr marL="91440" marR="91440" marT="45720" marB="45720" anchor="ctr">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1725" b="0">
                          <a:solidFill>
                            <a:srgbClr val="24352C"/>
                          </a:solidFill>
                          <a:latin typeface="Arial"/>
                          <a:ea typeface="Arial"/>
                          <a:cs typeface="Arial"/>
                        </a:rPr>
                        <a:t>0.938581</a:t>
                      </a:r>
                    </a:p>
                  </a:txBody>
                  <a:tcPr marL="91440" marR="91440" marT="45720" marB="45720" anchor="ctr">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1725" b="0">
                          <a:solidFill>
                            <a:srgbClr val="24352C"/>
                          </a:solidFill>
                          <a:latin typeface="Arial"/>
                          <a:ea typeface="Arial"/>
                          <a:cs typeface="Arial"/>
                        </a:rPr>
                        <a:t>0.942226</a:t>
                      </a:r>
                    </a:p>
                  </a:txBody>
                  <a:tcPr marL="91440" marR="91440" marT="45720" marB="45720" anchor="ctr">
                    <a:lnR w="5715">
                      <a:solidFill>
                        <a:srgbClr val="DCE5DB"/>
                      </a:solidFill>
                      <a:prstDash val="solid"/>
                    </a:lnR>
                    <a:lnB w="5715">
                      <a:solidFill>
                        <a:srgbClr val="DCE5DB"/>
                      </a:solidFill>
                      <a:prstDash val="solid"/>
                    </a:lnB>
                    <a:solidFill>
                      <a:srgbClr val="EBEFE7"/>
                    </a:solidFill>
                  </a:tcPr>
                </a:tc>
              </a:tr>
              <a:tr h="619125">
                <a:tc>
                  <a:txBody>
                    <a:bodyPr lIns="95250" tIns="95250" rIns="95250" bIns="95250"/>
                    <a:lstStyle/>
                    <a:p>
                      <a:r>
                        <a:rPr sz="1725" b="0">
                          <a:solidFill>
                            <a:srgbClr val="24352C"/>
                          </a:solidFill>
                          <a:latin typeface="Arial"/>
                          <a:ea typeface="Arial"/>
                          <a:cs typeface="Arial"/>
                        </a:rPr>
                        <a:t>Gentler Base 448</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725" b="0">
                          <a:solidFill>
                            <a:srgbClr val="24352C"/>
                          </a:solidFill>
                          <a:latin typeface="Arial"/>
                          <a:ea typeface="Arial"/>
                          <a:cs typeface="Arial"/>
                        </a:rPr>
                        <a:t>390</a:t>
                      </a:r>
                    </a:p>
                  </a:txBody>
                  <a:tcPr marL="91440" marR="91440" marT="45720" marB="45720" anchor="ctr">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725" b="0">
                          <a:solidFill>
                            <a:srgbClr val="24352C"/>
                          </a:solidFill>
                          <a:latin typeface="Arial"/>
                          <a:ea typeface="Arial"/>
                          <a:cs typeface="Arial"/>
                        </a:rPr>
                        <a:t>4</a:t>
                      </a:r>
                    </a:p>
                  </a:txBody>
                  <a:tcPr marL="91440" marR="91440" marT="45720" marB="45720" anchor="ctr">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725" b="0">
                          <a:solidFill>
                            <a:srgbClr val="24352C"/>
                          </a:solidFill>
                          <a:latin typeface="Arial"/>
                          <a:ea typeface="Arial"/>
                          <a:cs typeface="Arial"/>
                        </a:rPr>
                        <a:t>0.944735</a:t>
                      </a:r>
                    </a:p>
                  </a:txBody>
                  <a:tcPr marL="91440" marR="91440" marT="45720" marB="45720" anchor="ctr">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725" b="0">
                          <a:solidFill>
                            <a:srgbClr val="24352C"/>
                          </a:solidFill>
                          <a:latin typeface="Arial"/>
                          <a:ea typeface="Arial"/>
                          <a:cs typeface="Arial"/>
                        </a:rPr>
                        <a:t>0.946558</a:t>
                      </a:r>
                    </a:p>
                  </a:txBody>
                  <a:tcPr marL="91440" marR="91440" marT="45720" marB="45720" anchor="ctr">
                    <a:lnR w="5715">
                      <a:solidFill>
                        <a:srgbClr val="DCE5DB"/>
                      </a:solidFill>
                      <a:prstDash val="solid"/>
                    </a:lnR>
                    <a:lnB w="5715">
                      <a:solidFill>
                        <a:srgbClr val="DCE5DB"/>
                      </a:solidFill>
                      <a:prstDash val="solid"/>
                    </a:lnB>
                    <a:solidFill>
                      <a:srgbClr val="FFFFFF"/>
                    </a:solidFill>
                  </a:tcPr>
                </a:tc>
              </a:tr>
              <a:tr h="619125">
                <a:tc>
                  <a:txBody>
                    <a:bodyPr lIns="95250" tIns="95250" rIns="95250" bIns="95250"/>
                    <a:lstStyle/>
                    <a:p>
                      <a:r>
                        <a:rPr sz="1725" b="0">
                          <a:solidFill>
                            <a:srgbClr val="24352C"/>
                          </a:solidFill>
                          <a:latin typeface="Arial"/>
                          <a:ea typeface="Arial"/>
                          <a:cs typeface="Arial"/>
                        </a:rPr>
                        <a:t>Clean control Base</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1725" b="0">
                          <a:solidFill>
                            <a:srgbClr val="24352C"/>
                          </a:solidFill>
                          <a:latin typeface="Arial"/>
                          <a:ea typeface="Arial"/>
                          <a:cs typeface="Arial"/>
                        </a:rPr>
                        <a:t>388</a:t>
                      </a:r>
                    </a:p>
                  </a:txBody>
                  <a:tcPr marL="91440" marR="91440" marT="45720" marB="45720" anchor="ctr">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1725" b="0">
                          <a:solidFill>
                            <a:srgbClr val="24352C"/>
                          </a:solidFill>
                          <a:latin typeface="Arial"/>
                          <a:ea typeface="Arial"/>
                          <a:cs typeface="Arial"/>
                        </a:rPr>
                        <a:t>7</a:t>
                      </a:r>
                    </a:p>
                  </a:txBody>
                  <a:tcPr marL="91440" marR="91440" marT="45720" marB="45720" anchor="ctr">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1725" b="0">
                          <a:solidFill>
                            <a:srgbClr val="24352C"/>
                          </a:solidFill>
                          <a:latin typeface="Arial"/>
                          <a:ea typeface="Arial"/>
                          <a:cs typeface="Arial"/>
                        </a:rPr>
                        <a:t>0.948053</a:t>
                      </a:r>
                    </a:p>
                  </a:txBody>
                  <a:tcPr marL="91440" marR="91440" marT="45720" marB="45720" anchor="ctr">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1725" b="0">
                          <a:solidFill>
                            <a:srgbClr val="24352C"/>
                          </a:solidFill>
                          <a:latin typeface="Arial"/>
                          <a:ea typeface="Arial"/>
                          <a:cs typeface="Arial"/>
                        </a:rPr>
                        <a:t>0.949691</a:t>
                      </a:r>
                    </a:p>
                  </a:txBody>
                  <a:tcPr marL="91440" marR="91440" marT="45720" marB="45720" anchor="ctr">
                    <a:lnR w="5715">
                      <a:solidFill>
                        <a:srgbClr val="DCE5DB"/>
                      </a:solidFill>
                      <a:prstDash val="solid"/>
                    </a:lnR>
                    <a:lnB w="5715">
                      <a:solidFill>
                        <a:srgbClr val="DCE5DB"/>
                      </a:solidFill>
                      <a:prstDash val="solid"/>
                    </a:lnB>
                    <a:solidFill>
                      <a:srgbClr val="EBEFE7"/>
                    </a:solidFill>
                  </a:tcPr>
                </a:tc>
              </a:tr>
              <a:tr h="619125">
                <a:tc>
                  <a:txBody>
                    <a:bodyPr lIns="95250" tIns="95250" rIns="95250" bIns="95250"/>
                    <a:lstStyle/>
                    <a:p>
                      <a:r>
                        <a:rPr sz="1725" b="0">
                          <a:solidFill>
                            <a:srgbClr val="24352C"/>
                          </a:solidFill>
                          <a:latin typeface="Arial"/>
                          <a:ea typeface="Arial"/>
                          <a:cs typeface="Arial"/>
                        </a:rPr>
                        <a:t>MixUp/CutMix Base</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725" b="0">
                          <a:solidFill>
                            <a:srgbClr val="24352C"/>
                          </a:solidFill>
                          <a:latin typeface="Arial"/>
                          <a:ea typeface="Arial"/>
                          <a:cs typeface="Arial"/>
                        </a:rPr>
                        <a:t>388</a:t>
                      </a:r>
                    </a:p>
                  </a:txBody>
                  <a:tcPr marL="91440" marR="91440" marT="45720" marB="45720" anchor="ctr">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725" b="0">
                          <a:solidFill>
                            <a:srgbClr val="24352C"/>
                          </a:solidFill>
                          <a:latin typeface="Arial"/>
                          <a:ea typeface="Arial"/>
                          <a:cs typeface="Arial"/>
                        </a:rPr>
                        <a:t>11</a:t>
                      </a:r>
                    </a:p>
                  </a:txBody>
                  <a:tcPr marL="91440" marR="91440" marT="45720" marB="45720" anchor="ctr">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725" b="0">
                          <a:solidFill>
                            <a:srgbClr val="24352C"/>
                          </a:solidFill>
                          <a:latin typeface="Arial"/>
                          <a:ea typeface="Arial"/>
                          <a:cs typeface="Arial"/>
                        </a:rPr>
                        <a:t>0.960699</a:t>
                      </a:r>
                    </a:p>
                  </a:txBody>
                  <a:tcPr marL="91440" marR="91440" marT="45720" marB="45720" anchor="ctr">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725" b="0">
                          <a:solidFill>
                            <a:srgbClr val="24352C"/>
                          </a:solidFill>
                          <a:latin typeface="Arial"/>
                          <a:ea typeface="Arial"/>
                          <a:cs typeface="Arial"/>
                        </a:rPr>
                        <a:t>0.960542</a:t>
                      </a:r>
                    </a:p>
                  </a:txBody>
                  <a:tcPr marL="91440" marR="91440" marT="45720" marB="45720" anchor="ctr">
                    <a:lnR w="5715">
                      <a:solidFill>
                        <a:srgbClr val="DCE5DB"/>
                      </a:solidFill>
                      <a:prstDash val="solid"/>
                    </a:lnR>
                    <a:lnB w="5715">
                      <a:solidFill>
                        <a:srgbClr val="DCE5DB"/>
                      </a:solidFill>
                      <a:prstDash val="solid"/>
                    </a:lnB>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175C491C-5250-4405-90A8-D3B70EBE6507}"/>
              </a:ext>
            </a:extLst>
          </p:cNvPr>
          <p:cNvSpPr>
            <a:spLocks xmlns:a="http://schemas.openxmlformats.org/drawingml/2006/main" noGrp="1"/>
          </p:cNvSpPr>
          <p:nvPr/>
        </p:nvSpPr>
        <p:spPr>
          <a:xfrm xmlns:a="http://schemas.openxmlformats.org/drawingml/2006/main">
            <a:off x="723900" y="57816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9665D"/>
                </a:solidFill>
                <a:latin typeface="Arial"/>
                <a:ea typeface="Arial"/>
                <a:cs typeface="Arial"/>
              </a:defRPr>
            </a:defPPr>
            <a:lvl1pPr>
              <a:defRPr sz="1800" b="0">
                <a:solidFill>
                  <a:srgbClr val="59665D"/>
                </a:solidFill>
                <a:latin typeface="Arial"/>
                <a:ea typeface="Arial"/>
                <a:cs typeface="Arial"/>
              </a:defRPr>
            </a:lvl1pPr>
            <a:lvl2pPr>
              <a:defRPr sz="1800" b="0">
                <a:solidFill>
                  <a:srgbClr val="59665D"/>
                </a:solidFill>
                <a:latin typeface="Arial"/>
                <a:ea typeface="Arial"/>
                <a:cs typeface="Arial"/>
              </a:defRPr>
            </a:lvl2pPr>
            <a:lvl3pPr>
              <a:defRPr sz="1800" b="0">
                <a:solidFill>
                  <a:srgbClr val="59665D"/>
                </a:solidFill>
                <a:latin typeface="Arial"/>
                <a:ea typeface="Arial"/>
                <a:cs typeface="Arial"/>
              </a:defRPr>
            </a:lvl3pPr>
            <a:lvl4pPr>
              <a:defRPr sz="1800" b="0">
                <a:solidFill>
                  <a:srgbClr val="59665D"/>
                </a:solidFill>
                <a:latin typeface="Arial"/>
                <a:ea typeface="Arial"/>
                <a:cs typeface="Arial"/>
              </a:defRPr>
            </a:lvl4pPr>
            <a:lvl5pPr>
              <a:defRPr sz="1800" b="0">
                <a:solidFill>
                  <a:srgbClr val="59665D"/>
                </a:solidFill>
                <a:latin typeface="Arial"/>
                <a:ea typeface="Arial"/>
                <a:cs typeface="Arial"/>
              </a:defRPr>
            </a:lvl5pPr>
            <a:lvl6pPr>
              <a:defRPr sz="1800" b="0">
                <a:solidFill>
                  <a:srgbClr val="59665D"/>
                </a:solidFill>
                <a:latin typeface="Arial"/>
                <a:ea typeface="Arial"/>
                <a:cs typeface="Arial"/>
              </a:defRPr>
            </a:lvl6pPr>
            <a:lvl7pPr>
              <a:defRPr sz="1800" b="0">
                <a:solidFill>
                  <a:srgbClr val="59665D"/>
                </a:solidFill>
                <a:latin typeface="Arial"/>
                <a:ea typeface="Arial"/>
                <a:cs typeface="Arial"/>
              </a:defRPr>
            </a:lvl7pPr>
            <a:lvl8pPr>
              <a:defRPr sz="1800" b="0">
                <a:solidFill>
                  <a:srgbClr val="59665D"/>
                </a:solidFill>
                <a:latin typeface="Arial"/>
                <a:ea typeface="Arial"/>
                <a:cs typeface="Arial"/>
              </a:defRPr>
            </a:lvl8pPr>
            <a:lvl9pPr>
              <a:defRPr sz="1800" b="0">
                <a:solidFill>
                  <a:srgbClr val="59665D"/>
                </a:solidFill>
                <a:latin typeface="Arial"/>
                <a:ea typeface="Arial"/>
                <a:cs typeface="Arial"/>
              </a:defRPr>
            </a:lvl9pPr>
          </a:lstStyle>
          <a:p xmlns:a="http://schemas.openxmlformats.org/drawingml/2006/main">
            <a:pPr>
              <a:defRPr sz="1800" b="0">
                <a:solidFill>
                  <a:srgbClr val="59665D"/>
                </a:solidFill>
                <a:latin typeface="Arial"/>
                <a:ea typeface="Arial"/>
                <a:cs typeface="Arial"/>
              </a:defRPr>
            </a:pPr>
            <a:r>
              <a:rPr sz="1800" b="0">
                <a:solidFill>
                  <a:srgbClr val="59665D"/>
                </a:solidFill>
                <a:latin typeface="Arial"/>
                <a:ea typeface="Arial"/>
                <a:cs typeface="Arial"/>
              </a:rPr>
              <a:t>The canceled queued proposal was not a trained experiment.</a:t>
            </a:r>
          </a:p>
        </p:txBody>
      </p:sp>
    </p:spTree>
    <p:extLst>
      <p:ext uri="{BB962C8B-B14F-4D97-AF65-F5344CB8AC3E}">
        <p14:creationId xmlns:p14="http://schemas.microsoft.com/office/powerpoint/2010/main" val="1557837555"/>
      </p:ext>
    </p:extLst>
  </p:cSld>
</p:sld>
</file>

<file path=ppt/slides/slide17.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5C0BB792-6FA3-4B24-943A-FB44A8DCA962}"/>
              </a:ext>
            </a:extLst>
          </p:cNvPr>
          <p:cNvSpPr>
            <a:spLocks xmlns:a="http://schemas.openxmlformats.org/drawingml/2006/main" noGrp="1"/>
          </p:cNvSpPr>
          <p:nvPr/>
        </p:nvSpPr>
        <p:spPr>
          <a:xfrm xmlns:a="http://schemas.openxmlformats.org/drawingml/2006/main">
            <a:off x="66675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The shared final training recipe</a:t>
            </a:r>
          </a:p>
        </p:txBody>
      </p:sp>
      <p:sp>
        <p:nvSpPr>
          <p:cNvPr id="2" name="text-1">
            <a:extLst xmlns:a="http://schemas.openxmlformats.org/drawingml/2006/main">
              <a:ext uri="{FF2B5EF4-FFF2-40B4-BE49-F238E27FC236}">
                <a16:creationId xmlns:a16="http://schemas.microsoft.com/office/drawing/2014/main" id="{BD0EC42F-49CC-432C-8D0A-2A0BB78934EE}"/>
              </a:ext>
            </a:extLst>
          </p:cNvPr>
          <p:cNvSpPr>
            <a:spLocks xmlns:a="http://schemas.openxmlformats.org/drawingml/2006/main" noGrp="1"/>
          </p:cNvSpPr>
          <p:nvPr/>
        </p:nvSpPr>
        <p:spPr>
          <a:xfrm xmlns:a="http://schemas.openxmlformats.org/drawingml/2006/main">
            <a:off x="666750" y="641985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Appendix  17</a:t>
            </a:r>
          </a:p>
        </p:txBody>
      </p:sp>
      <p:graphicFrame>
        <p:nvGraphicFramePr>
          <p:cNvPr id="3" name="">
            <a:extLst xmlns:a="http://schemas.openxmlformats.org/drawingml/2006/main">
              <a:ext uri="{FF2B5EF4-FFF2-40B4-BE49-F238E27FC236}">
                <a16:creationId xmlns:a16="http://schemas.microsoft.com/office/drawing/2014/main" id="{F01BB0FA-E559-4504-B744-AB93D15E3848}"/>
              </a:ext>
            </a:extLst>
          </p:cNvPr>
          <p:cNvGraphicFramePr/>
          <p:nvPr/>
        </p:nvGraphicFramePr>
        <p:xfrm>
          <a:off xmlns:a="http://schemas.openxmlformats.org/drawingml/2006/main" x="666750" y="1504950"/>
          <a:ext xmlns:a="http://schemas.openxmlformats.org/drawingml/2006/main" cx="10858500" cy="4267200"/>
        </p:xfrm>
        <a:graphic xmlns:a="http://schemas.openxmlformats.org/drawingml/2006/main">
          <a:graphicData uri="http://schemas.openxmlformats.org/drawingml/2006/table">
            <a:tbl>
              <a:tblPr/>
              <a:tblGrid>
                <a:gridCol w="4333875"/>
                <a:gridCol w="6524625"/>
              </a:tblGrid>
              <a:tr h="533400">
                <a:tc>
                  <a:txBody>
                    <a:bodyPr lIns="95250" tIns="95250" rIns="95250" bIns="95250"/>
                    <a:lstStyle/>
                    <a:p>
                      <a:r>
                        <a:rPr sz="1800" b="1">
                          <a:solidFill>
                            <a:srgbClr val="FFFFFF"/>
                          </a:solidFill>
                          <a:latin typeface="Arial"/>
                          <a:ea typeface="Arial"/>
                          <a:cs typeface="Arial"/>
                        </a:rPr>
                        <a:t>Setting</a:t>
                      </a:r>
                    </a:p>
                  </a:txBody>
                  <a:tcPr marL="91440" marR="91440" marT="45720" marB="45720" anchor="ctr">
                    <a:lnL w="5715">
                      <a:solidFill>
                        <a:srgbClr val="DCE5DB"/>
                      </a:solidFill>
                      <a:prstDash val="solid"/>
                    </a:lnL>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c>
                  <a:txBody>
                    <a:bodyPr lIns="95250" tIns="95250" rIns="95250" bIns="95250"/>
                    <a:lstStyle/>
                    <a:p>
                      <a:r>
                        <a:rPr sz="1800" b="1">
                          <a:solidFill>
                            <a:srgbClr val="FFFFFF"/>
                          </a:solidFill>
                          <a:latin typeface="Arial"/>
                          <a:ea typeface="Arial"/>
                          <a:cs typeface="Arial"/>
                        </a:rPr>
                        <a:t>Value</a:t>
                      </a:r>
                    </a:p>
                  </a:txBody>
                  <a:tcPr marL="91440" marR="91440" marT="45720" marB="45720" anchor="ctr">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r>
              <a:tr h="533400">
                <a:tc>
                  <a:txBody>
                    <a:bodyPr lIns="95250" tIns="95250" rIns="95250" bIns="95250"/>
                    <a:lstStyle/>
                    <a:p>
                      <a:r>
                        <a:rPr sz="1800" b="0">
                          <a:solidFill>
                            <a:srgbClr val="24352C"/>
                          </a:solidFill>
                          <a:latin typeface="Arial"/>
                          <a:ea typeface="Arial"/>
                          <a:cs typeface="Arial"/>
                        </a:rPr>
                        <a:t>Architecture and input</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800" b="0">
                          <a:solidFill>
                            <a:srgbClr val="24352C"/>
                          </a:solidFill>
                          <a:latin typeface="Arial"/>
                          <a:ea typeface="Arial"/>
                          <a:cs typeface="Arial"/>
                        </a:rPr>
                        <a:t>EVA-02 Base, 448 × 448, 39 classes</a:t>
                      </a:r>
                    </a:p>
                  </a:txBody>
                  <a:tcPr marL="91440" marR="91440" marT="45720" marB="45720" anchor="ctr">
                    <a:lnR w="5715">
                      <a:solidFill>
                        <a:srgbClr val="DCE5DB"/>
                      </a:solidFill>
                      <a:prstDash val="solid"/>
                    </a:lnR>
                    <a:lnB w="5715">
                      <a:solidFill>
                        <a:srgbClr val="DCE5DB"/>
                      </a:solidFill>
                      <a:prstDash val="solid"/>
                    </a:lnB>
                    <a:solidFill>
                      <a:srgbClr val="FFFFFF"/>
                    </a:solidFill>
                  </a:tcPr>
                </a:tc>
              </a:tr>
              <a:tr h="533400">
                <a:tc>
                  <a:txBody>
                    <a:bodyPr lIns="95250" tIns="95250" rIns="95250" bIns="95250"/>
                    <a:lstStyle/>
                    <a:p>
                      <a:r>
                        <a:rPr sz="1800" b="0">
                          <a:solidFill>
                            <a:srgbClr val="24352C"/>
                          </a:solidFill>
                          <a:latin typeface="Arial"/>
                          <a:ea typeface="Arial"/>
                          <a:cs typeface="Arial"/>
                        </a:rPr>
                        <a:t>Seed and batch</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1800" b="0">
                          <a:solidFill>
                            <a:srgbClr val="24352C"/>
                          </a:solidFill>
                          <a:latin typeface="Arial"/>
                          <a:ea typeface="Arial"/>
                          <a:cs typeface="Arial"/>
                        </a:rPr>
                        <a:t>27182, effective batch 16, two T4 GPUs</a:t>
                      </a:r>
                    </a:p>
                  </a:txBody>
                  <a:tcPr marL="91440" marR="91440" marT="45720" marB="45720" anchor="ctr">
                    <a:lnR w="5715">
                      <a:solidFill>
                        <a:srgbClr val="DCE5DB"/>
                      </a:solidFill>
                      <a:prstDash val="solid"/>
                    </a:lnR>
                    <a:lnB w="5715">
                      <a:solidFill>
                        <a:srgbClr val="DCE5DB"/>
                      </a:solidFill>
                      <a:prstDash val="solid"/>
                    </a:lnB>
                    <a:solidFill>
                      <a:srgbClr val="EBEFE7"/>
                    </a:solidFill>
                  </a:tcPr>
                </a:tc>
              </a:tr>
              <a:tr h="533400">
                <a:tc>
                  <a:txBody>
                    <a:bodyPr lIns="95250" tIns="95250" rIns="95250" bIns="95250"/>
                    <a:lstStyle/>
                    <a:p>
                      <a:r>
                        <a:rPr sz="1800" b="0">
                          <a:solidFill>
                            <a:srgbClr val="24352C"/>
                          </a:solidFill>
                          <a:latin typeface="Arial"/>
                          <a:ea typeface="Arial"/>
                          <a:cs typeface="Arial"/>
                        </a:rPr>
                        <a:t>Optimizer</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800" b="0">
                          <a:solidFill>
                            <a:srgbClr val="24352C"/>
                          </a:solidFill>
                          <a:latin typeface="Arial"/>
                          <a:ea typeface="Arial"/>
                          <a:cs typeface="Arial"/>
                        </a:rPr>
                        <a:t>AdamW, weight decay 0.05</a:t>
                      </a:r>
                    </a:p>
                  </a:txBody>
                  <a:tcPr marL="91440" marR="91440" marT="45720" marB="45720" anchor="ctr">
                    <a:lnR w="5715">
                      <a:solidFill>
                        <a:srgbClr val="DCE5DB"/>
                      </a:solidFill>
                      <a:prstDash val="solid"/>
                    </a:lnR>
                    <a:lnB w="5715">
                      <a:solidFill>
                        <a:srgbClr val="DCE5DB"/>
                      </a:solidFill>
                      <a:prstDash val="solid"/>
                    </a:lnB>
                    <a:solidFill>
                      <a:srgbClr val="FFFFFF"/>
                    </a:solidFill>
                  </a:tcPr>
                </a:tc>
              </a:tr>
              <a:tr h="533400">
                <a:tc>
                  <a:txBody>
                    <a:bodyPr lIns="95250" tIns="95250" rIns="95250" bIns="95250"/>
                    <a:lstStyle/>
                    <a:p>
                      <a:r>
                        <a:rPr sz="1800" b="0">
                          <a:solidFill>
                            <a:srgbClr val="24352C"/>
                          </a:solidFill>
                          <a:latin typeface="Arial"/>
                          <a:ea typeface="Arial"/>
                          <a:cs typeface="Arial"/>
                        </a:rPr>
                        <a:t>Head and last-backbone LR</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1800" b="0">
                          <a:solidFill>
                            <a:srgbClr val="24352C"/>
                          </a:solidFill>
                          <a:latin typeface="Arial"/>
                          <a:ea typeface="Arial"/>
                          <a:cs typeface="Arial"/>
                        </a:rPr>
                        <a:t>3.333e-5 and 6.667e-6, layer decay 0.8</a:t>
                      </a:r>
                    </a:p>
                  </a:txBody>
                  <a:tcPr marL="91440" marR="91440" marT="45720" marB="45720" anchor="ctr">
                    <a:lnR w="5715">
                      <a:solidFill>
                        <a:srgbClr val="DCE5DB"/>
                      </a:solidFill>
                      <a:prstDash val="solid"/>
                    </a:lnR>
                    <a:lnB w="5715">
                      <a:solidFill>
                        <a:srgbClr val="DCE5DB"/>
                      </a:solidFill>
                      <a:prstDash val="solid"/>
                    </a:lnB>
                    <a:solidFill>
                      <a:srgbClr val="EBEFE7"/>
                    </a:solidFill>
                  </a:tcPr>
                </a:tc>
              </a:tr>
              <a:tr h="533400">
                <a:tc>
                  <a:txBody>
                    <a:bodyPr lIns="95250" tIns="95250" rIns="95250" bIns="95250"/>
                    <a:lstStyle/>
                    <a:p>
                      <a:r>
                        <a:rPr sz="1800" b="0">
                          <a:solidFill>
                            <a:srgbClr val="24352C"/>
                          </a:solidFill>
                          <a:latin typeface="Arial"/>
                          <a:ea typeface="Arial"/>
                          <a:cs typeface="Arial"/>
                        </a:rPr>
                        <a:t>Schedule and stopping</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800" b="0">
                          <a:solidFill>
                            <a:srgbClr val="24352C"/>
                          </a:solidFill>
                          <a:latin typeface="Arial"/>
                          <a:ea typeface="Arial"/>
                          <a:cs typeface="Arial"/>
                        </a:rPr>
                        <a:t>3 warmup epochs, cosine, max 20, patience 8</a:t>
                      </a:r>
                    </a:p>
                  </a:txBody>
                  <a:tcPr marL="91440" marR="91440" marT="45720" marB="45720" anchor="ctr">
                    <a:lnR w="5715">
                      <a:solidFill>
                        <a:srgbClr val="DCE5DB"/>
                      </a:solidFill>
                      <a:prstDash val="solid"/>
                    </a:lnR>
                    <a:lnB w="5715">
                      <a:solidFill>
                        <a:srgbClr val="DCE5DB"/>
                      </a:solidFill>
                      <a:prstDash val="solid"/>
                    </a:lnB>
                    <a:solidFill>
                      <a:srgbClr val="FFFFFF"/>
                    </a:solidFill>
                  </a:tcPr>
                </a:tc>
              </a:tr>
              <a:tr h="533400">
                <a:tc>
                  <a:txBody>
                    <a:bodyPr lIns="95250" tIns="95250" rIns="95250" bIns="95250"/>
                    <a:lstStyle/>
                    <a:p>
                      <a:r>
                        <a:rPr sz="1800" b="0">
                          <a:solidFill>
                            <a:srgbClr val="24352C"/>
                          </a:solidFill>
                          <a:latin typeface="Arial"/>
                          <a:ea typeface="Arial"/>
                          <a:cs typeface="Arial"/>
                        </a:rPr>
                        <a:t>Loss and precision</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1800" b="0">
                          <a:solidFill>
                            <a:srgbClr val="24352C"/>
                          </a:solidFill>
                          <a:latin typeface="Arial"/>
                          <a:ea typeface="Arial"/>
                          <a:cs typeface="Arial"/>
                        </a:rPr>
                        <a:t>Smoothing 0.05, FP16 AMP, clipping 1.0</a:t>
                      </a:r>
                    </a:p>
                  </a:txBody>
                  <a:tcPr marL="91440" marR="91440" marT="45720" marB="45720" anchor="ctr">
                    <a:lnR w="5715">
                      <a:solidFill>
                        <a:srgbClr val="DCE5DB"/>
                      </a:solidFill>
                      <a:prstDash val="solid"/>
                    </a:lnR>
                    <a:lnB w="5715">
                      <a:solidFill>
                        <a:srgbClr val="DCE5DB"/>
                      </a:solidFill>
                      <a:prstDash val="solid"/>
                    </a:lnB>
                    <a:solidFill>
                      <a:srgbClr val="EBEFE7"/>
                    </a:solidFill>
                  </a:tcPr>
                </a:tc>
              </a:tr>
              <a:tr h="533400">
                <a:tc>
                  <a:txBody>
                    <a:bodyPr lIns="95250" tIns="95250" rIns="95250" bIns="95250"/>
                    <a:lstStyle/>
                    <a:p>
                      <a:r>
                        <a:rPr sz="1800" b="0">
                          <a:solidFill>
                            <a:srgbClr val="24352C"/>
                          </a:solidFill>
                          <a:latin typeface="Arial"/>
                          <a:ea typeface="Arial"/>
                          <a:cs typeface="Arial"/>
                        </a:rPr>
                        <a:t>Mixed candidate</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800" b="0">
                          <a:solidFill>
                            <a:srgbClr val="24352C"/>
                          </a:solidFill>
                          <a:latin typeface="Arial"/>
                          <a:ea typeface="Arial"/>
                          <a:cs typeface="Arial"/>
                        </a:rPr>
                        <a:t>MixUp 0.2, CutMix 1.0, probability 0.5</a:t>
                      </a:r>
                    </a:p>
                  </a:txBody>
                  <a:tcPr marL="91440" marR="91440" marT="45720" marB="45720" anchor="ctr">
                    <a:lnR w="5715">
                      <a:solidFill>
                        <a:srgbClr val="DCE5DB"/>
                      </a:solidFill>
                      <a:prstDash val="solid"/>
                    </a:lnR>
                    <a:lnB w="5715">
                      <a:solidFill>
                        <a:srgbClr val="DCE5DB"/>
                      </a:solidFill>
                      <a:prstDash val="solid"/>
                    </a:lnB>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FA79ED19-E3B8-42C9-980E-86BC5CB3D5C5}"/>
              </a:ext>
            </a:extLst>
          </p:cNvPr>
          <p:cNvSpPr>
            <a:spLocks xmlns:a="http://schemas.openxmlformats.org/drawingml/2006/main" noGrp="1"/>
          </p:cNvSpPr>
          <p:nvPr/>
        </p:nvSpPr>
        <p:spPr>
          <a:xfrm xmlns:a="http://schemas.openxmlformats.org/drawingml/2006/main">
            <a:off x="723900" y="597217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65D"/>
                </a:solidFill>
                <a:latin typeface="Arial"/>
                <a:ea typeface="Arial"/>
                <a:cs typeface="Arial"/>
              </a:defRPr>
            </a:defPPr>
            <a:lvl1pPr>
              <a:defRPr sz="1650" b="0">
                <a:solidFill>
                  <a:srgbClr val="59665D"/>
                </a:solidFill>
                <a:latin typeface="Arial"/>
                <a:ea typeface="Arial"/>
                <a:cs typeface="Arial"/>
              </a:defRPr>
            </a:lvl1pPr>
            <a:lvl2pPr>
              <a:defRPr sz="1650" b="0">
                <a:solidFill>
                  <a:srgbClr val="59665D"/>
                </a:solidFill>
                <a:latin typeface="Arial"/>
                <a:ea typeface="Arial"/>
                <a:cs typeface="Arial"/>
              </a:defRPr>
            </a:lvl2pPr>
            <a:lvl3pPr>
              <a:defRPr sz="1650" b="0">
                <a:solidFill>
                  <a:srgbClr val="59665D"/>
                </a:solidFill>
                <a:latin typeface="Arial"/>
                <a:ea typeface="Arial"/>
                <a:cs typeface="Arial"/>
              </a:defRPr>
            </a:lvl3pPr>
            <a:lvl4pPr>
              <a:defRPr sz="1650" b="0">
                <a:solidFill>
                  <a:srgbClr val="59665D"/>
                </a:solidFill>
                <a:latin typeface="Arial"/>
                <a:ea typeface="Arial"/>
                <a:cs typeface="Arial"/>
              </a:defRPr>
            </a:lvl4pPr>
            <a:lvl5pPr>
              <a:defRPr sz="1650" b="0">
                <a:solidFill>
                  <a:srgbClr val="59665D"/>
                </a:solidFill>
                <a:latin typeface="Arial"/>
                <a:ea typeface="Arial"/>
                <a:cs typeface="Arial"/>
              </a:defRPr>
            </a:lvl5pPr>
            <a:lvl6pPr>
              <a:defRPr sz="1650" b="0">
                <a:solidFill>
                  <a:srgbClr val="59665D"/>
                </a:solidFill>
                <a:latin typeface="Arial"/>
                <a:ea typeface="Arial"/>
                <a:cs typeface="Arial"/>
              </a:defRPr>
            </a:lvl6pPr>
            <a:lvl7pPr>
              <a:defRPr sz="1650" b="0">
                <a:solidFill>
                  <a:srgbClr val="59665D"/>
                </a:solidFill>
                <a:latin typeface="Arial"/>
                <a:ea typeface="Arial"/>
                <a:cs typeface="Arial"/>
              </a:defRPr>
            </a:lvl7pPr>
            <a:lvl8pPr>
              <a:defRPr sz="1650" b="0">
                <a:solidFill>
                  <a:srgbClr val="59665D"/>
                </a:solidFill>
                <a:latin typeface="Arial"/>
                <a:ea typeface="Arial"/>
                <a:cs typeface="Arial"/>
              </a:defRPr>
            </a:lvl8pPr>
            <a:lvl9pPr>
              <a:defRPr sz="1650" b="0">
                <a:solidFill>
                  <a:srgbClr val="59665D"/>
                </a:solidFill>
                <a:latin typeface="Arial"/>
                <a:ea typeface="Arial"/>
                <a:cs typeface="Arial"/>
              </a:defRPr>
            </a:lvl9pPr>
          </a:lstStyle>
          <a:p xmlns:a="http://schemas.openxmlformats.org/drawingml/2006/main">
            <a:pPr>
              <a:defRPr sz="1650" b="0">
                <a:solidFill>
                  <a:srgbClr val="59665D"/>
                </a:solidFill>
                <a:latin typeface="Arial"/>
                <a:ea typeface="Arial"/>
                <a:cs typeface="Arial"/>
              </a:defRPr>
            </a:pPr>
            <a:r>
              <a:rPr sz="1650" b="0">
                <a:solidFill>
                  <a:srgbClr val="59665D"/>
                </a:solidFill>
                <a:latin typeface="Arial"/>
                <a:ea typeface="Arial"/>
                <a:cs typeface="Arial"/>
              </a:rPr>
              <a:t>No EMA in the final pair. Mixing switch probability: 0.5.</a:t>
            </a:r>
          </a:p>
        </p:txBody>
      </p:sp>
    </p:spTree>
    <p:extLst>
      <p:ext uri="{BB962C8B-B14F-4D97-AF65-F5344CB8AC3E}">
        <p14:creationId xmlns:p14="http://schemas.microsoft.com/office/powerpoint/2010/main" val="1395097200"/>
      </p:ext>
    </p:extLst>
  </p:cSld>
</p:sld>
</file>

<file path=ppt/slides/slide18.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CEA21653-2FE0-4539-8259-5F91E13A6D38}"/>
              </a:ext>
            </a:extLst>
          </p:cNvPr>
          <p:cNvSpPr>
            <a:spLocks xmlns:a="http://schemas.openxmlformats.org/drawingml/2006/main" noGrp="1"/>
          </p:cNvSpPr>
          <p:nvPr/>
        </p:nvSpPr>
        <p:spPr>
          <a:xfrm xmlns:a="http://schemas.openxmlformats.org/drawingml/2006/main">
            <a:off x="66675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Which split each result uses</a:t>
            </a:r>
          </a:p>
        </p:txBody>
      </p:sp>
      <p:sp>
        <p:nvSpPr>
          <p:cNvPr id="2" name="text-1">
            <a:extLst xmlns:a="http://schemas.openxmlformats.org/drawingml/2006/main">
              <a:ext uri="{FF2B5EF4-FFF2-40B4-BE49-F238E27FC236}">
                <a16:creationId xmlns:a16="http://schemas.microsoft.com/office/drawing/2014/main" id="{AB24CF71-214E-4C23-94F7-D881A2004785}"/>
              </a:ext>
            </a:extLst>
          </p:cNvPr>
          <p:cNvSpPr>
            <a:spLocks xmlns:a="http://schemas.openxmlformats.org/drawingml/2006/main" noGrp="1"/>
          </p:cNvSpPr>
          <p:nvPr/>
        </p:nvSpPr>
        <p:spPr>
          <a:xfrm xmlns:a="http://schemas.openxmlformats.org/drawingml/2006/main">
            <a:off x="666750" y="641985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Appendix  18</a:t>
            </a:r>
          </a:p>
        </p:txBody>
      </p:sp>
      <p:graphicFrame>
        <p:nvGraphicFramePr>
          <p:cNvPr id="3" name="">
            <a:extLst xmlns:a="http://schemas.openxmlformats.org/drawingml/2006/main">
              <a:ext uri="{FF2B5EF4-FFF2-40B4-BE49-F238E27FC236}">
                <a16:creationId xmlns:a16="http://schemas.microsoft.com/office/drawing/2014/main" id="{A88C1119-78F1-42D4-863C-30A2B8369071}"/>
              </a:ext>
            </a:extLst>
          </p:cNvPr>
          <p:cNvGraphicFramePr/>
          <p:nvPr/>
        </p:nvGraphicFramePr>
        <p:xfrm>
          <a:off xmlns:a="http://schemas.openxmlformats.org/drawingml/2006/main" x="666750" y="1552575"/>
          <a:ext xmlns:a="http://schemas.openxmlformats.org/drawingml/2006/main" cx="10858500" cy="3810000"/>
        </p:xfrm>
        <a:graphic xmlns:a="http://schemas.openxmlformats.org/drawingml/2006/main">
          <a:graphicData uri="http://schemas.openxmlformats.org/drawingml/2006/table">
            <a:tbl>
              <a:tblPr/>
              <a:tblGrid>
                <a:gridCol w="1619250"/>
                <a:gridCol w="4333875"/>
                <a:gridCol w="4905375"/>
              </a:tblGrid>
              <a:tr h="635000">
                <a:tc>
                  <a:txBody>
                    <a:bodyPr lIns="95250" tIns="95250" rIns="95250" bIns="95250"/>
                    <a:lstStyle/>
                    <a:p>
                      <a:r>
                        <a:rPr sz="1800" b="1">
                          <a:solidFill>
                            <a:srgbClr val="FFFFFF"/>
                          </a:solidFill>
                          <a:latin typeface="Arial"/>
                          <a:ea typeface="Arial"/>
                          <a:cs typeface="Arial"/>
                        </a:rPr>
                        <a:t>Images</a:t>
                      </a:r>
                    </a:p>
                  </a:txBody>
                  <a:tcPr marL="91440" marR="91440" marT="45720" marB="45720" anchor="ctr">
                    <a:lnL w="5715">
                      <a:solidFill>
                        <a:srgbClr val="DCE5DB"/>
                      </a:solidFill>
                      <a:prstDash val="solid"/>
                    </a:lnL>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c>
                  <a:txBody>
                    <a:bodyPr lIns="95250" tIns="95250" rIns="95250" bIns="95250"/>
                    <a:lstStyle/>
                    <a:p>
                      <a:r>
                        <a:rPr sz="1800" b="1">
                          <a:solidFill>
                            <a:srgbClr val="FFFFFF"/>
                          </a:solidFill>
                          <a:latin typeface="Arial"/>
                          <a:ea typeface="Arial"/>
                          <a:cs typeface="Arial"/>
                        </a:rPr>
                        <a:t>Role</a:t>
                      </a:r>
                    </a:p>
                  </a:txBody>
                  <a:tcPr marL="91440" marR="91440" marT="45720" marB="45720" anchor="ctr">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c>
                  <a:txBody>
                    <a:bodyPr lIns="95250" tIns="95250" rIns="95250" bIns="95250"/>
                    <a:lstStyle/>
                    <a:p>
                      <a:r>
                        <a:rPr sz="1800" b="1">
                          <a:solidFill>
                            <a:srgbClr val="FFFFFF"/>
                          </a:solidFill>
                          <a:latin typeface="Arial"/>
                          <a:ea typeface="Arial"/>
                          <a:cs typeface="Arial"/>
                        </a:rPr>
                        <a:t>Interpretation</a:t>
                      </a:r>
                    </a:p>
                  </a:txBody>
                  <a:tcPr marL="91440" marR="91440" marT="45720" marB="45720" anchor="ctr">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r>
              <a:tr h="635000">
                <a:tc>
                  <a:txBody>
                    <a:bodyPr lIns="95250" tIns="95250" rIns="95250" bIns="95250"/>
                    <a:lstStyle/>
                    <a:p>
                      <a:r>
                        <a:rPr sz="1800" b="0">
                          <a:solidFill>
                            <a:srgbClr val="24352C"/>
                          </a:solidFill>
                          <a:latin typeface="Arial"/>
                          <a:ea typeface="Arial"/>
                          <a:cs typeface="Arial"/>
                        </a:rPr>
                        <a:t>390</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800" b="0">
                          <a:solidFill>
                            <a:srgbClr val="24352C"/>
                          </a:solidFill>
                          <a:latin typeface="Arial"/>
                          <a:ea typeface="Arial"/>
                          <a:cs typeface="Arial"/>
                        </a:rPr>
                        <a:t>Original validation</a:t>
                      </a:r>
                    </a:p>
                  </a:txBody>
                  <a:tcPr marL="91440" marR="91440" marT="45720" marB="45720" anchor="ctr">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800" b="0">
                          <a:solidFill>
                            <a:srgbClr val="24352C"/>
                          </a:solidFill>
                          <a:latin typeface="Arial"/>
                          <a:ea typeface="Arial"/>
                          <a:cs typeface="Arial"/>
                        </a:rPr>
                        <a:t>V1 and early V2 development</a:t>
                      </a:r>
                    </a:p>
                  </a:txBody>
                  <a:tcPr marL="91440" marR="91440" marT="45720" marB="45720" anchor="ctr">
                    <a:lnR w="5715">
                      <a:solidFill>
                        <a:srgbClr val="DCE5DB"/>
                      </a:solidFill>
                      <a:prstDash val="solid"/>
                    </a:lnR>
                    <a:lnB w="5715">
                      <a:solidFill>
                        <a:srgbClr val="DCE5DB"/>
                      </a:solidFill>
                      <a:prstDash val="solid"/>
                    </a:lnB>
                    <a:solidFill>
                      <a:srgbClr val="FFFFFF"/>
                    </a:solidFill>
                  </a:tcPr>
                </a:tc>
              </a:tr>
              <a:tr h="635000">
                <a:tc>
                  <a:txBody>
                    <a:bodyPr lIns="95250" tIns="95250" rIns="95250" bIns="95250"/>
                    <a:lstStyle/>
                    <a:p>
                      <a:r>
                        <a:rPr sz="1800" b="0">
                          <a:solidFill>
                            <a:srgbClr val="24352C"/>
                          </a:solidFill>
                          <a:latin typeface="Arial"/>
                          <a:ea typeface="Arial"/>
                          <a:cs typeface="Arial"/>
                        </a:rPr>
                        <a:t>388</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1800" b="0">
                          <a:solidFill>
                            <a:srgbClr val="24352C"/>
                          </a:solidFill>
                          <a:latin typeface="Arial"/>
                          <a:ea typeface="Arial"/>
                          <a:cs typeface="Arial"/>
                        </a:rPr>
                        <a:t>Final epoch selection</a:t>
                      </a:r>
                    </a:p>
                  </a:txBody>
                  <a:tcPr marL="91440" marR="91440" marT="45720" marB="45720" anchor="ctr">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1800" b="0">
                          <a:solidFill>
                            <a:srgbClr val="24352C"/>
                          </a:solidFill>
                          <a:latin typeface="Arial"/>
                          <a:ea typeface="Arial"/>
                          <a:cs typeface="Arial"/>
                        </a:rPr>
                        <a:t>Same validation for both final arms</a:t>
                      </a:r>
                    </a:p>
                  </a:txBody>
                  <a:tcPr marL="91440" marR="91440" marT="45720" marB="45720" anchor="ctr">
                    <a:lnR w="5715">
                      <a:solidFill>
                        <a:srgbClr val="DCE5DB"/>
                      </a:solidFill>
                      <a:prstDash val="solid"/>
                    </a:lnR>
                    <a:lnB w="5715">
                      <a:solidFill>
                        <a:srgbClr val="DCE5DB"/>
                      </a:solidFill>
                      <a:prstDash val="solid"/>
                    </a:lnB>
                    <a:solidFill>
                      <a:srgbClr val="EBEFE7"/>
                    </a:solidFill>
                  </a:tcPr>
                </a:tc>
              </a:tr>
              <a:tr h="635000">
                <a:tc>
                  <a:txBody>
                    <a:bodyPr lIns="95250" tIns="95250" rIns="95250" bIns="95250"/>
                    <a:lstStyle/>
                    <a:p>
                      <a:r>
                        <a:rPr sz="1800" b="0">
                          <a:solidFill>
                            <a:srgbClr val="24352C"/>
                          </a:solidFill>
                          <a:latin typeface="Arial"/>
                          <a:ea typeface="Arial"/>
                          <a:cs typeface="Arial"/>
                        </a:rPr>
                        <a:t>368</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800" b="0">
                          <a:solidFill>
                            <a:srgbClr val="24352C"/>
                          </a:solidFill>
                          <a:latin typeface="Arial"/>
                          <a:ea typeface="Arial"/>
                          <a:cs typeface="Arial"/>
                        </a:rPr>
                        <a:t>Shared model comparison</a:t>
                      </a:r>
                    </a:p>
                  </a:txBody>
                  <a:tcPr marL="91440" marR="91440" marT="45720" marB="45720" anchor="ctr">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800" b="0">
                          <a:solidFill>
                            <a:srgbClr val="24352C"/>
                          </a:solidFill>
                          <a:latin typeface="Arial"/>
                          <a:ea typeface="Arial"/>
                          <a:cs typeface="Arial"/>
                        </a:rPr>
                        <a:t>Subset of 388, not a new test</a:t>
                      </a:r>
                    </a:p>
                  </a:txBody>
                  <a:tcPr marL="91440" marR="91440" marT="45720" marB="45720" anchor="ctr">
                    <a:lnR w="5715">
                      <a:solidFill>
                        <a:srgbClr val="DCE5DB"/>
                      </a:solidFill>
                      <a:prstDash val="solid"/>
                    </a:lnR>
                    <a:lnB w="5715">
                      <a:solidFill>
                        <a:srgbClr val="DCE5DB"/>
                      </a:solidFill>
                      <a:prstDash val="solid"/>
                    </a:lnB>
                    <a:solidFill>
                      <a:srgbClr val="FFFFFF"/>
                    </a:solidFill>
                  </a:tcPr>
                </a:tc>
              </a:tr>
              <a:tr h="635000">
                <a:tc>
                  <a:txBody>
                    <a:bodyPr lIns="95250" tIns="95250" rIns="95250" bIns="95250"/>
                    <a:lstStyle/>
                    <a:p>
                      <a:r>
                        <a:rPr sz="1800" b="0">
                          <a:solidFill>
                            <a:srgbClr val="24352C"/>
                          </a:solidFill>
                          <a:latin typeface="Arial"/>
                          <a:ea typeface="Arial"/>
                          <a:cs typeface="Arial"/>
                        </a:rPr>
                        <a:t>670</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1800" b="0">
                          <a:solidFill>
                            <a:srgbClr val="24352C"/>
                          </a:solidFill>
                          <a:latin typeface="Arial"/>
                          <a:ea typeface="Arial"/>
                          <a:cs typeface="Arial"/>
                        </a:rPr>
                        <a:t>Historical holdout pool</a:t>
                      </a:r>
                    </a:p>
                  </a:txBody>
                  <a:tcPr marL="91440" marR="91440" marT="45720" marB="45720" anchor="ctr">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1800" b="0">
                          <a:solidFill>
                            <a:srgbClr val="24352C"/>
                          </a:solidFill>
                          <a:latin typeface="Arial"/>
                          <a:ea typeface="Arial"/>
                          <a:cs typeface="Arial"/>
                        </a:rPr>
                        <a:t>Already evaluated earlier</a:t>
                      </a:r>
                    </a:p>
                  </a:txBody>
                  <a:tcPr marL="91440" marR="91440" marT="45720" marB="45720" anchor="ctr">
                    <a:lnR w="5715">
                      <a:solidFill>
                        <a:srgbClr val="DCE5DB"/>
                      </a:solidFill>
                      <a:prstDash val="solid"/>
                    </a:lnR>
                    <a:lnB w="5715">
                      <a:solidFill>
                        <a:srgbClr val="DCE5DB"/>
                      </a:solidFill>
                      <a:prstDash val="solid"/>
                    </a:lnB>
                    <a:solidFill>
                      <a:srgbClr val="EBEFE7"/>
                    </a:solidFill>
                  </a:tcPr>
                </a:tc>
              </a:tr>
              <a:tr h="635000">
                <a:tc>
                  <a:txBody>
                    <a:bodyPr lIns="95250" tIns="95250" rIns="95250" bIns="95250"/>
                    <a:lstStyle/>
                    <a:p>
                      <a:r>
                        <a:rPr sz="1800" b="0">
                          <a:solidFill>
                            <a:srgbClr val="24352C"/>
                          </a:solidFill>
                          <a:latin typeface="Arial"/>
                          <a:ea typeface="Arial"/>
                          <a:cs typeface="Arial"/>
                        </a:rPr>
                        <a:t>623</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800" b="0">
                          <a:solidFill>
                            <a:srgbClr val="24352C"/>
                          </a:solidFill>
                          <a:latin typeface="Arial"/>
                          <a:ea typeface="Arial"/>
                          <a:cs typeface="Arial"/>
                        </a:rPr>
                        <a:t>Fixed final reporting subset</a:t>
                      </a:r>
                    </a:p>
                  </a:txBody>
                  <a:tcPr marL="91440" marR="91440" marT="45720" marB="45720" anchor="ctr">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800" b="0">
                          <a:solidFill>
                            <a:srgbClr val="24352C"/>
                          </a:solidFill>
                          <a:latin typeface="Arial"/>
                          <a:ea typeface="Arial"/>
                          <a:cs typeface="Arial"/>
                        </a:rPr>
                        <a:t>Previously used subset, not pristine</a:t>
                      </a:r>
                    </a:p>
                  </a:txBody>
                  <a:tcPr marL="91440" marR="91440" marT="45720" marB="45720" anchor="ctr">
                    <a:lnR w="5715">
                      <a:solidFill>
                        <a:srgbClr val="DCE5DB"/>
                      </a:solidFill>
                      <a:prstDash val="solid"/>
                    </a:lnR>
                    <a:lnB w="5715">
                      <a:solidFill>
                        <a:srgbClr val="DCE5DB"/>
                      </a:solidFill>
                      <a:prstDash val="solid"/>
                    </a:lnB>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70398FA3-3850-4C14-A2E2-671F1CC8BCCD}"/>
              </a:ext>
            </a:extLst>
          </p:cNvPr>
          <p:cNvSpPr>
            <a:spLocks xmlns:a="http://schemas.openxmlformats.org/drawingml/2006/main" noGrp="1"/>
          </p:cNvSpPr>
          <p:nvPr/>
        </p:nvSpPr>
        <p:spPr>
          <a:xfrm xmlns:a="http://schemas.openxmlformats.org/drawingml/2006/main">
            <a:off x="723900" y="576262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73E2C"/>
                </a:solidFill>
                <a:latin typeface="Arial"/>
                <a:ea typeface="Arial"/>
                <a:cs typeface="Arial"/>
              </a:defRPr>
            </a:defPPr>
            <a:lvl1pPr>
              <a:defRPr sz="1875" b="0">
                <a:solidFill>
                  <a:srgbClr val="173E2C"/>
                </a:solidFill>
                <a:latin typeface="Arial"/>
                <a:ea typeface="Arial"/>
                <a:cs typeface="Arial"/>
              </a:defRPr>
            </a:lvl1pPr>
            <a:lvl2pPr>
              <a:defRPr sz="1875" b="0">
                <a:solidFill>
                  <a:srgbClr val="173E2C"/>
                </a:solidFill>
                <a:latin typeface="Arial"/>
                <a:ea typeface="Arial"/>
                <a:cs typeface="Arial"/>
              </a:defRPr>
            </a:lvl2pPr>
            <a:lvl3pPr>
              <a:defRPr sz="1875" b="0">
                <a:solidFill>
                  <a:srgbClr val="173E2C"/>
                </a:solidFill>
                <a:latin typeface="Arial"/>
                <a:ea typeface="Arial"/>
                <a:cs typeface="Arial"/>
              </a:defRPr>
            </a:lvl3pPr>
            <a:lvl4pPr>
              <a:defRPr sz="1875" b="0">
                <a:solidFill>
                  <a:srgbClr val="173E2C"/>
                </a:solidFill>
                <a:latin typeface="Arial"/>
                <a:ea typeface="Arial"/>
                <a:cs typeface="Arial"/>
              </a:defRPr>
            </a:lvl4pPr>
            <a:lvl5pPr>
              <a:defRPr sz="1875" b="0">
                <a:solidFill>
                  <a:srgbClr val="173E2C"/>
                </a:solidFill>
                <a:latin typeface="Arial"/>
                <a:ea typeface="Arial"/>
                <a:cs typeface="Arial"/>
              </a:defRPr>
            </a:lvl5pPr>
            <a:lvl6pPr>
              <a:defRPr sz="1875" b="0">
                <a:solidFill>
                  <a:srgbClr val="173E2C"/>
                </a:solidFill>
                <a:latin typeface="Arial"/>
                <a:ea typeface="Arial"/>
                <a:cs typeface="Arial"/>
              </a:defRPr>
            </a:lvl6pPr>
            <a:lvl7pPr>
              <a:defRPr sz="1875" b="0">
                <a:solidFill>
                  <a:srgbClr val="173E2C"/>
                </a:solidFill>
                <a:latin typeface="Arial"/>
                <a:ea typeface="Arial"/>
                <a:cs typeface="Arial"/>
              </a:defRPr>
            </a:lvl7pPr>
            <a:lvl8pPr>
              <a:defRPr sz="1875" b="0">
                <a:solidFill>
                  <a:srgbClr val="173E2C"/>
                </a:solidFill>
                <a:latin typeface="Arial"/>
                <a:ea typeface="Arial"/>
                <a:cs typeface="Arial"/>
              </a:defRPr>
            </a:lvl8pPr>
            <a:lvl9pPr>
              <a:defRPr sz="1875" b="0">
                <a:solidFill>
                  <a:srgbClr val="173E2C"/>
                </a:solidFill>
                <a:latin typeface="Arial"/>
                <a:ea typeface="Arial"/>
                <a:cs typeface="Arial"/>
              </a:defRPr>
            </a:lvl9pPr>
          </a:lstStyle>
          <a:p xmlns:a="http://schemas.openxmlformats.org/drawingml/2006/main">
            <a:pPr>
              <a:defRPr sz="1875" b="0">
                <a:solidFill>
                  <a:srgbClr val="173E2C"/>
                </a:solidFill>
                <a:latin typeface="Arial"/>
                <a:ea typeface="Arial"/>
                <a:cs typeface="Arial"/>
              </a:defRPr>
            </a:pPr>
            <a:r>
              <a:rPr sz="1875" b="0">
                <a:solidFill>
                  <a:srgbClr val="173E2C"/>
                </a:solidFill>
                <a:latin typeface="Arial"/>
                <a:ea typeface="Arial"/>
                <a:cs typeface="Arial"/>
              </a:rPr>
              <a:t>A new unseen external set would give a stronger generalization check.</a:t>
            </a:r>
          </a:p>
        </p:txBody>
      </p:sp>
    </p:spTree>
    <p:extLst>
      <p:ext uri="{BB962C8B-B14F-4D97-AF65-F5344CB8AC3E}">
        <p14:creationId xmlns:p14="http://schemas.microsoft.com/office/powerpoint/2010/main" val="1984229362"/>
      </p:ext>
    </p:extLst>
  </p:cSld>
</p:sld>
</file>

<file path=ppt/slides/slide19.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84C1F62C-6C32-4281-A00B-9A70FC0DB7DF}"/>
              </a:ext>
            </a:extLst>
          </p:cNvPr>
          <p:cNvSpPr>
            <a:spLocks xmlns:a="http://schemas.openxmlformats.org/drawingml/2006/main" noGrp="1"/>
          </p:cNvSpPr>
          <p:nvPr/>
        </p:nvSpPr>
        <p:spPr>
          <a:xfrm xmlns:a="http://schemas.openxmlformats.org/drawingml/2006/main">
            <a:off x="66675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Uncertainty and model selection</a:t>
            </a:r>
          </a:p>
        </p:txBody>
      </p:sp>
      <p:sp>
        <p:nvSpPr>
          <p:cNvPr id="2" name="text-1">
            <a:extLst xmlns:a="http://schemas.openxmlformats.org/drawingml/2006/main">
              <a:ext uri="{FF2B5EF4-FFF2-40B4-BE49-F238E27FC236}">
                <a16:creationId xmlns:a16="http://schemas.microsoft.com/office/drawing/2014/main" id="{ADB89FD9-31D8-4718-85C8-2BCE82C486D2}"/>
              </a:ext>
            </a:extLst>
          </p:cNvPr>
          <p:cNvSpPr>
            <a:spLocks xmlns:a="http://schemas.openxmlformats.org/drawingml/2006/main" noGrp="1"/>
          </p:cNvSpPr>
          <p:nvPr/>
        </p:nvSpPr>
        <p:spPr>
          <a:xfrm xmlns:a="http://schemas.openxmlformats.org/drawingml/2006/main">
            <a:off x="666750" y="641985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Appendix  19</a:t>
            </a:r>
          </a:p>
        </p:txBody>
      </p:sp>
      <p:graphicFrame>
        <p:nvGraphicFramePr>
          <p:cNvPr id="3" name="">
            <a:extLst xmlns:a="http://schemas.openxmlformats.org/drawingml/2006/main">
              <a:ext uri="{FF2B5EF4-FFF2-40B4-BE49-F238E27FC236}">
                <a16:creationId xmlns:a16="http://schemas.microsoft.com/office/drawing/2014/main" id="{FAF13573-A154-4CFD-AD3E-40AF3B1BFDAF}"/>
              </a:ext>
            </a:extLst>
          </p:cNvPr>
          <p:cNvGraphicFramePr/>
          <p:nvPr/>
        </p:nvGraphicFramePr>
        <p:xfrm>
          <a:off xmlns:a="http://schemas.openxmlformats.org/drawingml/2006/main" x="666750" y="1762125"/>
          <a:ext xmlns:a="http://schemas.openxmlformats.org/drawingml/2006/main" cx="10858500" cy="2333625"/>
        </p:xfrm>
        <a:graphic xmlns:a="http://schemas.openxmlformats.org/drawingml/2006/main">
          <a:graphicData uri="http://schemas.openxmlformats.org/drawingml/2006/table">
            <a:tbl>
              <a:tblPr/>
              <a:tblGrid>
                <a:gridCol w="6191250"/>
                <a:gridCol w="4667250"/>
              </a:tblGrid>
              <a:tr h="777875">
                <a:tc>
                  <a:txBody>
                    <a:bodyPr lIns="95250" tIns="95250" rIns="95250" bIns="95250"/>
                    <a:lstStyle/>
                    <a:p>
                      <a:r>
                        <a:rPr sz="1875" b="1">
                          <a:solidFill>
                            <a:srgbClr val="FFFFFF"/>
                          </a:solidFill>
                          <a:latin typeface="Arial"/>
                          <a:ea typeface="Arial"/>
                          <a:cs typeface="Arial"/>
                        </a:rPr>
                        <a:t>Comparison</a:t>
                      </a:r>
                    </a:p>
                  </a:txBody>
                  <a:tcPr marL="91440" marR="91440" marT="45720" marB="45720" anchor="ctr">
                    <a:lnL w="5715">
                      <a:solidFill>
                        <a:srgbClr val="DCE5DB"/>
                      </a:solidFill>
                      <a:prstDash val="solid"/>
                    </a:lnL>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c>
                  <a:txBody>
                    <a:bodyPr lIns="95250" tIns="95250" rIns="95250" bIns="95250"/>
                    <a:lstStyle/>
                    <a:p>
                      <a:r>
                        <a:rPr sz="1875" b="1">
                          <a:solidFill>
                            <a:srgbClr val="FFFFFF"/>
                          </a:solidFill>
                          <a:latin typeface="Arial"/>
                          <a:ea typeface="Arial"/>
                          <a:cs typeface="Arial"/>
                        </a:rPr>
                        <a:t>Conditional 95% interval for mAP difference</a:t>
                      </a:r>
                    </a:p>
                  </a:txBody>
                  <a:tcPr marL="91440" marR="91440" marT="45720" marB="45720" anchor="ctr">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r>
              <a:tr h="777875">
                <a:tc>
                  <a:txBody>
                    <a:bodyPr lIns="95250" tIns="95250" rIns="95250" bIns="95250"/>
                    <a:lstStyle/>
                    <a:p>
                      <a:r>
                        <a:rPr sz="1875" b="0">
                          <a:solidFill>
                            <a:srgbClr val="24352C"/>
                          </a:solidFill>
                          <a:latin typeface="Arial"/>
                          <a:ea typeface="Arial"/>
                          <a:cs typeface="Arial"/>
                        </a:rPr>
                        <a:t>Mixed minus control, normal view, 388</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875" b="0">
                          <a:solidFill>
                            <a:srgbClr val="24352C"/>
                          </a:solidFill>
                          <a:latin typeface="Arial"/>
                          <a:ea typeface="Arial"/>
                          <a:cs typeface="Arial"/>
                        </a:rPr>
                        <a:t>[-0.00070, 0.02538]</a:t>
                      </a:r>
                    </a:p>
                  </a:txBody>
                  <a:tcPr marL="91440" marR="91440" marT="45720" marB="45720" anchor="ctr">
                    <a:lnR w="5715">
                      <a:solidFill>
                        <a:srgbClr val="DCE5DB"/>
                      </a:solidFill>
                      <a:prstDash val="solid"/>
                    </a:lnR>
                    <a:lnB w="5715">
                      <a:solidFill>
                        <a:srgbClr val="DCE5DB"/>
                      </a:solidFill>
                      <a:prstDash val="solid"/>
                    </a:lnB>
                    <a:solidFill>
                      <a:srgbClr val="FFFFFF"/>
                    </a:solidFill>
                  </a:tcPr>
                </a:tc>
              </a:tr>
              <a:tr h="777875">
                <a:tc>
                  <a:txBody>
                    <a:bodyPr lIns="95250" tIns="95250" rIns="95250" bIns="95250"/>
                    <a:lstStyle/>
                    <a:p>
                      <a:r>
                        <a:rPr sz="1875" b="0">
                          <a:solidFill>
                            <a:srgbClr val="24352C"/>
                          </a:solidFill>
                          <a:latin typeface="Arial"/>
                          <a:ea typeface="Arial"/>
                          <a:cs typeface="Arial"/>
                        </a:rPr>
                        <a:t>Final pair minus mixed alone, 368</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1875" b="0">
                          <a:solidFill>
                            <a:srgbClr val="24352C"/>
                          </a:solidFill>
                          <a:latin typeface="Arial"/>
                          <a:ea typeface="Arial"/>
                          <a:cs typeface="Arial"/>
                        </a:rPr>
                        <a:t>[-0.00272, 0.01234]</a:t>
                      </a:r>
                    </a:p>
                  </a:txBody>
                  <a:tcPr marL="91440" marR="91440" marT="45720" marB="45720" anchor="ctr">
                    <a:lnR w="5715">
                      <a:solidFill>
                        <a:srgbClr val="DCE5DB"/>
                      </a:solidFill>
                      <a:prstDash val="solid"/>
                    </a:lnR>
                    <a:lnB w="5715">
                      <a:solidFill>
                        <a:srgbClr val="DCE5DB"/>
                      </a:solidFill>
                      <a:prstDash val="solid"/>
                    </a:lnB>
                    <a:solidFill>
                      <a:srgbClr val="EBEFE7"/>
                    </a:solidFill>
                  </a:tcPr>
                </a:tc>
              </a:tr>
            </a:tbl>
          </a:graphicData>
        </a:graphic>
      </p:graphicFrame>
      <p:sp>
        <p:nvSpPr>
          <p:cNvPr id="4" name="text-2">
            <a:extLst xmlns:a="http://schemas.openxmlformats.org/drawingml/2006/main">
              <a:ext uri="{FF2B5EF4-FFF2-40B4-BE49-F238E27FC236}">
                <a16:creationId xmlns:a16="http://schemas.microsoft.com/office/drawing/2014/main" id="{B89AF788-1F6A-4815-BC76-EF47D46F0459}"/>
              </a:ext>
            </a:extLst>
          </p:cNvPr>
          <p:cNvSpPr>
            <a:spLocks xmlns:a="http://schemas.openxmlformats.org/drawingml/2006/main" noGrp="1"/>
          </p:cNvSpPr>
          <p:nvPr/>
        </p:nvSpPr>
        <p:spPr>
          <a:xfrm xmlns:a="http://schemas.openxmlformats.org/drawingml/2006/main">
            <a:off x="723900" y="45815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625" b="1">
                <a:solidFill>
                  <a:srgbClr val="AB5A37"/>
                </a:solidFill>
                <a:latin typeface="Arial"/>
                <a:ea typeface="Arial"/>
                <a:cs typeface="Arial"/>
              </a:defRPr>
            </a:defPPr>
            <a:lvl1pPr>
              <a:defRPr sz="2625" b="1">
                <a:solidFill>
                  <a:srgbClr val="AB5A37"/>
                </a:solidFill>
                <a:latin typeface="Arial"/>
                <a:ea typeface="Arial"/>
                <a:cs typeface="Arial"/>
              </a:defRPr>
            </a:lvl1pPr>
            <a:lvl2pPr>
              <a:defRPr sz="2625" b="1">
                <a:solidFill>
                  <a:srgbClr val="AB5A37"/>
                </a:solidFill>
                <a:latin typeface="Arial"/>
                <a:ea typeface="Arial"/>
                <a:cs typeface="Arial"/>
              </a:defRPr>
            </a:lvl2pPr>
            <a:lvl3pPr>
              <a:defRPr sz="2625" b="1">
                <a:solidFill>
                  <a:srgbClr val="AB5A37"/>
                </a:solidFill>
                <a:latin typeface="Arial"/>
                <a:ea typeface="Arial"/>
                <a:cs typeface="Arial"/>
              </a:defRPr>
            </a:lvl3pPr>
            <a:lvl4pPr>
              <a:defRPr sz="2625" b="1">
                <a:solidFill>
                  <a:srgbClr val="AB5A37"/>
                </a:solidFill>
                <a:latin typeface="Arial"/>
                <a:ea typeface="Arial"/>
                <a:cs typeface="Arial"/>
              </a:defRPr>
            </a:lvl4pPr>
            <a:lvl5pPr>
              <a:defRPr sz="2625" b="1">
                <a:solidFill>
                  <a:srgbClr val="AB5A37"/>
                </a:solidFill>
                <a:latin typeface="Arial"/>
                <a:ea typeface="Arial"/>
                <a:cs typeface="Arial"/>
              </a:defRPr>
            </a:lvl5pPr>
            <a:lvl6pPr>
              <a:defRPr sz="2625" b="1">
                <a:solidFill>
                  <a:srgbClr val="AB5A37"/>
                </a:solidFill>
                <a:latin typeface="Arial"/>
                <a:ea typeface="Arial"/>
                <a:cs typeface="Arial"/>
              </a:defRPr>
            </a:lvl6pPr>
            <a:lvl7pPr>
              <a:defRPr sz="2625" b="1">
                <a:solidFill>
                  <a:srgbClr val="AB5A37"/>
                </a:solidFill>
                <a:latin typeface="Arial"/>
                <a:ea typeface="Arial"/>
                <a:cs typeface="Arial"/>
              </a:defRPr>
            </a:lvl7pPr>
            <a:lvl8pPr>
              <a:defRPr sz="2625" b="1">
                <a:solidFill>
                  <a:srgbClr val="AB5A37"/>
                </a:solidFill>
                <a:latin typeface="Arial"/>
                <a:ea typeface="Arial"/>
                <a:cs typeface="Arial"/>
              </a:defRPr>
            </a:lvl8pPr>
            <a:lvl9pPr>
              <a:defRPr sz="2625" b="1">
                <a:solidFill>
                  <a:srgbClr val="AB5A37"/>
                </a:solidFill>
                <a:latin typeface="Arial"/>
                <a:ea typeface="Arial"/>
                <a:cs typeface="Arial"/>
              </a:defRPr>
            </a:lvl9pPr>
          </a:lstStyle>
          <a:p xmlns:a="http://schemas.openxmlformats.org/drawingml/2006/main">
            <a:pPr>
              <a:defRPr sz="2625" b="1">
                <a:solidFill>
                  <a:srgbClr val="AB5A37"/>
                </a:solidFill>
                <a:latin typeface="Arial"/>
                <a:ea typeface="Arial"/>
                <a:cs typeface="Arial"/>
              </a:defRPr>
            </a:pPr>
            <a:r>
              <a:rPr sz="2625" b="1">
                <a:solidFill>
                  <a:srgbClr val="AB5A37"/>
                </a:solidFill>
                <a:latin typeface="Arial"/>
                <a:ea typeface="Arial"/>
                <a:cs typeface="Arial"/>
              </a:rPr>
              <a:t>Both intervals include zero.</a:t>
            </a:r>
          </a:p>
        </p:txBody>
      </p:sp>
      <p:sp>
        <p:nvSpPr>
          <p:cNvPr id="5" name="text-3">
            <a:extLst xmlns:a="http://schemas.openxmlformats.org/drawingml/2006/main">
              <a:ext uri="{FF2B5EF4-FFF2-40B4-BE49-F238E27FC236}">
                <a16:creationId xmlns:a16="http://schemas.microsoft.com/office/drawing/2014/main" id="{DFA96274-7B7E-4232-A8F3-15F2F938E16B}"/>
              </a:ext>
            </a:extLst>
          </p:cNvPr>
          <p:cNvSpPr>
            <a:spLocks xmlns:a="http://schemas.openxmlformats.org/drawingml/2006/main" noGrp="1"/>
          </p:cNvSpPr>
          <p:nvPr/>
        </p:nvSpPr>
        <p:spPr>
          <a:xfrm xmlns:a="http://schemas.openxmlformats.org/drawingml/2006/main">
            <a:off x="723900" y="55626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24352C"/>
                </a:solidFill>
                <a:latin typeface="Arial"/>
                <a:ea typeface="Arial"/>
                <a:cs typeface="Arial"/>
              </a:defRPr>
            </a:defPPr>
            <a:lvl1pPr>
              <a:defRPr sz="1950" b="0">
                <a:solidFill>
                  <a:srgbClr val="24352C"/>
                </a:solidFill>
                <a:latin typeface="Arial"/>
                <a:ea typeface="Arial"/>
                <a:cs typeface="Arial"/>
              </a:defRPr>
            </a:lvl1pPr>
            <a:lvl2pPr>
              <a:defRPr sz="1950" b="0">
                <a:solidFill>
                  <a:srgbClr val="24352C"/>
                </a:solidFill>
                <a:latin typeface="Arial"/>
                <a:ea typeface="Arial"/>
                <a:cs typeface="Arial"/>
              </a:defRPr>
            </a:lvl2pPr>
            <a:lvl3pPr>
              <a:defRPr sz="1950" b="0">
                <a:solidFill>
                  <a:srgbClr val="24352C"/>
                </a:solidFill>
                <a:latin typeface="Arial"/>
                <a:ea typeface="Arial"/>
                <a:cs typeface="Arial"/>
              </a:defRPr>
            </a:lvl3pPr>
            <a:lvl4pPr>
              <a:defRPr sz="1950" b="0">
                <a:solidFill>
                  <a:srgbClr val="24352C"/>
                </a:solidFill>
                <a:latin typeface="Arial"/>
                <a:ea typeface="Arial"/>
                <a:cs typeface="Arial"/>
              </a:defRPr>
            </a:lvl4pPr>
            <a:lvl5pPr>
              <a:defRPr sz="1950" b="0">
                <a:solidFill>
                  <a:srgbClr val="24352C"/>
                </a:solidFill>
                <a:latin typeface="Arial"/>
                <a:ea typeface="Arial"/>
                <a:cs typeface="Arial"/>
              </a:defRPr>
            </a:lvl5pPr>
            <a:lvl6pPr>
              <a:defRPr sz="1950" b="0">
                <a:solidFill>
                  <a:srgbClr val="24352C"/>
                </a:solidFill>
                <a:latin typeface="Arial"/>
                <a:ea typeface="Arial"/>
                <a:cs typeface="Arial"/>
              </a:defRPr>
            </a:lvl6pPr>
            <a:lvl7pPr>
              <a:defRPr sz="1950" b="0">
                <a:solidFill>
                  <a:srgbClr val="24352C"/>
                </a:solidFill>
                <a:latin typeface="Arial"/>
                <a:ea typeface="Arial"/>
                <a:cs typeface="Arial"/>
              </a:defRPr>
            </a:lvl7pPr>
            <a:lvl8pPr>
              <a:defRPr sz="1950" b="0">
                <a:solidFill>
                  <a:srgbClr val="24352C"/>
                </a:solidFill>
                <a:latin typeface="Arial"/>
                <a:ea typeface="Arial"/>
                <a:cs typeface="Arial"/>
              </a:defRPr>
            </a:lvl8pPr>
            <a:lvl9pPr>
              <a:defRPr sz="1950" b="0">
                <a:solidFill>
                  <a:srgbClr val="24352C"/>
                </a:solidFill>
                <a:latin typeface="Arial"/>
                <a:ea typeface="Arial"/>
                <a:cs typeface="Arial"/>
              </a:defRPr>
            </a:lvl9pPr>
          </a:lstStyle>
          <a:p xmlns:a="http://schemas.openxmlformats.org/drawingml/2006/main">
            <a:pPr>
              <a:defRPr sz="1950" b="0">
                <a:solidFill>
                  <a:srgbClr val="24352C"/>
                </a:solidFill>
                <a:latin typeface="Arial"/>
                <a:ea typeface="Arial"/>
                <a:cs typeface="Arial"/>
              </a:defRPr>
            </a:pPr>
            <a:r>
              <a:rPr sz="1950" b="0">
                <a:solidFill>
                  <a:srgbClr val="24352C"/>
                </a:solidFill>
                <a:latin typeface="Arial"/>
                <a:ea typeface="Arial"/>
                <a:cs typeface="Arial"/>
              </a:rPr>
              <a:t>Repeated validation and best-epoch selection add uncertainty beyond these intervals.</a:t>
            </a:r>
          </a:p>
        </p:txBody>
      </p:sp>
    </p:spTree>
    <p:extLst>
      <p:ext uri="{BB962C8B-B14F-4D97-AF65-F5344CB8AC3E}">
        <p14:creationId xmlns:p14="http://schemas.microsoft.com/office/powerpoint/2010/main" val="720555806"/>
      </p:ext>
    </p:extLst>
  </p:cSld>
</p:sld>
</file>

<file path=ppt/slides/slide20.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CCA402BD-CD40-406F-81B4-E8E07B83ECAC}"/>
              </a:ext>
            </a:extLst>
          </p:cNvPr>
          <p:cNvSpPr>
            <a:spLocks xmlns:a="http://schemas.openxmlformats.org/drawingml/2006/main" noGrp="1"/>
          </p:cNvSpPr>
          <p:nvPr/>
        </p:nvSpPr>
        <p:spPr>
          <a:xfrm xmlns:a="http://schemas.openxmlformats.org/drawingml/2006/main">
            <a:off x="66675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Sources and project links</a:t>
            </a:r>
          </a:p>
        </p:txBody>
      </p:sp>
      <p:sp>
        <p:nvSpPr>
          <p:cNvPr id="2" name="text-1">
            <a:extLst xmlns:a="http://schemas.openxmlformats.org/drawingml/2006/main">
              <a:ext uri="{FF2B5EF4-FFF2-40B4-BE49-F238E27FC236}">
                <a16:creationId xmlns:a16="http://schemas.microsoft.com/office/drawing/2014/main" id="{E8690110-D32B-42CF-B5BE-7BFDBFA87EDD}"/>
              </a:ext>
            </a:extLst>
          </p:cNvPr>
          <p:cNvSpPr>
            <a:spLocks xmlns:a="http://schemas.openxmlformats.org/drawingml/2006/main" noGrp="1"/>
          </p:cNvSpPr>
          <p:nvPr/>
        </p:nvSpPr>
        <p:spPr>
          <a:xfrm xmlns:a="http://schemas.openxmlformats.org/drawingml/2006/main">
            <a:off x="666750" y="641985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Appendix  20</a:t>
            </a:r>
          </a:p>
        </p:txBody>
      </p:sp>
      <p:sp>
        <p:nvSpPr>
          <p:cNvPr id="3" name="text-2">
            <a:extLst xmlns:a="http://schemas.openxmlformats.org/drawingml/2006/main">
              <a:ext uri="{FF2B5EF4-FFF2-40B4-BE49-F238E27FC236}">
                <a16:creationId xmlns:a16="http://schemas.microsoft.com/office/drawing/2014/main" id="{F8564100-62B1-43DC-B668-A7586FC51D6D}"/>
              </a:ext>
            </a:extLst>
          </p:cNvPr>
          <p:cNvSpPr>
            <a:spLocks xmlns:a="http://schemas.openxmlformats.org/drawingml/2006/main" noGrp="1"/>
          </p:cNvSpPr>
          <p:nvPr/>
        </p:nvSpPr>
        <p:spPr>
          <a:xfrm xmlns:a="http://schemas.openxmlformats.org/drawingml/2006/main">
            <a:off x="723900" y="164782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173E2C"/>
                </a:solidFill>
                <a:latin typeface="Arial"/>
                <a:ea typeface="Arial"/>
                <a:cs typeface="Arial"/>
              </a:defRPr>
            </a:defPPr>
            <a:lvl1pPr>
              <a:defRPr sz="2325" b="1">
                <a:solidFill>
                  <a:srgbClr val="173E2C"/>
                </a:solidFill>
                <a:latin typeface="Arial"/>
                <a:ea typeface="Arial"/>
                <a:cs typeface="Arial"/>
              </a:defRPr>
            </a:lvl1pPr>
            <a:lvl2pPr>
              <a:defRPr sz="2325" b="1">
                <a:solidFill>
                  <a:srgbClr val="173E2C"/>
                </a:solidFill>
                <a:latin typeface="Arial"/>
                <a:ea typeface="Arial"/>
                <a:cs typeface="Arial"/>
              </a:defRPr>
            </a:lvl2pPr>
            <a:lvl3pPr>
              <a:defRPr sz="2325" b="1">
                <a:solidFill>
                  <a:srgbClr val="173E2C"/>
                </a:solidFill>
                <a:latin typeface="Arial"/>
                <a:ea typeface="Arial"/>
                <a:cs typeface="Arial"/>
              </a:defRPr>
            </a:lvl3pPr>
            <a:lvl4pPr>
              <a:defRPr sz="2325" b="1">
                <a:solidFill>
                  <a:srgbClr val="173E2C"/>
                </a:solidFill>
                <a:latin typeface="Arial"/>
                <a:ea typeface="Arial"/>
                <a:cs typeface="Arial"/>
              </a:defRPr>
            </a:lvl4pPr>
            <a:lvl5pPr>
              <a:defRPr sz="2325" b="1">
                <a:solidFill>
                  <a:srgbClr val="173E2C"/>
                </a:solidFill>
                <a:latin typeface="Arial"/>
                <a:ea typeface="Arial"/>
                <a:cs typeface="Arial"/>
              </a:defRPr>
            </a:lvl5pPr>
            <a:lvl6pPr>
              <a:defRPr sz="2325" b="1">
                <a:solidFill>
                  <a:srgbClr val="173E2C"/>
                </a:solidFill>
                <a:latin typeface="Arial"/>
                <a:ea typeface="Arial"/>
                <a:cs typeface="Arial"/>
              </a:defRPr>
            </a:lvl6pPr>
            <a:lvl7pPr>
              <a:defRPr sz="2325" b="1">
                <a:solidFill>
                  <a:srgbClr val="173E2C"/>
                </a:solidFill>
                <a:latin typeface="Arial"/>
                <a:ea typeface="Arial"/>
                <a:cs typeface="Arial"/>
              </a:defRPr>
            </a:lvl7pPr>
            <a:lvl8pPr>
              <a:defRPr sz="2325" b="1">
                <a:solidFill>
                  <a:srgbClr val="173E2C"/>
                </a:solidFill>
                <a:latin typeface="Arial"/>
                <a:ea typeface="Arial"/>
                <a:cs typeface="Arial"/>
              </a:defRPr>
            </a:lvl8pPr>
            <a:lvl9pPr>
              <a:defRPr sz="2325" b="1">
                <a:solidFill>
                  <a:srgbClr val="173E2C"/>
                </a:solidFill>
                <a:latin typeface="Arial"/>
                <a:ea typeface="Arial"/>
                <a:cs typeface="Arial"/>
              </a:defRPr>
            </a:lvl9pPr>
          </a:lstStyle>
          <a:p xmlns:a="http://schemas.openxmlformats.org/drawingml/2006/main">
            <a:pPr>
              <a:defRPr sz="2325" b="1">
                <a:solidFill>
                  <a:srgbClr val="173E2C"/>
                </a:solidFill>
                <a:latin typeface="Arial"/>
                <a:ea typeface="Arial"/>
                <a:cs typeface="Arial"/>
              </a:defRPr>
            </a:pPr>
            <a:r>
              <a:rPr sz="2325" b="1">
                <a:solidFill>
                  <a:srgbClr val="173E2C"/>
                </a:solidFill>
                <a:latin typeface="Arial"/>
                <a:ea typeface="Arial"/>
                <a:cs typeface="Arial"/>
                <a:hlinkClick xmlns:r="http://schemas.openxmlformats.org/officeDocument/2006/relationships" r:id="R02c6ddc315664a8c"/>
              </a:rPr>
              <a:t>EVA-02</a:t>
            </a:r>
          </a:p>
        </p:txBody>
      </p:sp>
      <p:sp>
        <p:nvSpPr>
          <p:cNvPr id="4" name="text-3">
            <a:extLst xmlns:a="http://schemas.openxmlformats.org/drawingml/2006/main">
              <a:ext uri="{FF2B5EF4-FFF2-40B4-BE49-F238E27FC236}">
                <a16:creationId xmlns:a16="http://schemas.microsoft.com/office/drawing/2014/main" id="{5181E01C-1A5C-493D-A0C8-C4AE55ABA205}"/>
              </a:ext>
            </a:extLst>
          </p:cNvPr>
          <p:cNvSpPr>
            <a:spLocks xmlns:a="http://schemas.openxmlformats.org/drawingml/2006/main" noGrp="1"/>
          </p:cNvSpPr>
          <p:nvPr/>
        </p:nvSpPr>
        <p:spPr>
          <a:xfrm xmlns:a="http://schemas.openxmlformats.org/drawingml/2006/main">
            <a:off x="723900" y="242887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173E2C"/>
                </a:solidFill>
                <a:latin typeface="Arial"/>
                <a:ea typeface="Arial"/>
                <a:cs typeface="Arial"/>
              </a:defRPr>
            </a:defPPr>
            <a:lvl1pPr>
              <a:defRPr sz="2325" b="1">
                <a:solidFill>
                  <a:srgbClr val="173E2C"/>
                </a:solidFill>
                <a:latin typeface="Arial"/>
                <a:ea typeface="Arial"/>
                <a:cs typeface="Arial"/>
              </a:defRPr>
            </a:lvl1pPr>
            <a:lvl2pPr>
              <a:defRPr sz="2325" b="1">
                <a:solidFill>
                  <a:srgbClr val="173E2C"/>
                </a:solidFill>
                <a:latin typeface="Arial"/>
                <a:ea typeface="Arial"/>
                <a:cs typeface="Arial"/>
              </a:defRPr>
            </a:lvl2pPr>
            <a:lvl3pPr>
              <a:defRPr sz="2325" b="1">
                <a:solidFill>
                  <a:srgbClr val="173E2C"/>
                </a:solidFill>
                <a:latin typeface="Arial"/>
                <a:ea typeface="Arial"/>
                <a:cs typeface="Arial"/>
              </a:defRPr>
            </a:lvl3pPr>
            <a:lvl4pPr>
              <a:defRPr sz="2325" b="1">
                <a:solidFill>
                  <a:srgbClr val="173E2C"/>
                </a:solidFill>
                <a:latin typeface="Arial"/>
                <a:ea typeface="Arial"/>
                <a:cs typeface="Arial"/>
              </a:defRPr>
            </a:lvl4pPr>
            <a:lvl5pPr>
              <a:defRPr sz="2325" b="1">
                <a:solidFill>
                  <a:srgbClr val="173E2C"/>
                </a:solidFill>
                <a:latin typeface="Arial"/>
                <a:ea typeface="Arial"/>
                <a:cs typeface="Arial"/>
              </a:defRPr>
            </a:lvl5pPr>
            <a:lvl6pPr>
              <a:defRPr sz="2325" b="1">
                <a:solidFill>
                  <a:srgbClr val="173E2C"/>
                </a:solidFill>
                <a:latin typeface="Arial"/>
                <a:ea typeface="Arial"/>
                <a:cs typeface="Arial"/>
              </a:defRPr>
            </a:lvl6pPr>
            <a:lvl7pPr>
              <a:defRPr sz="2325" b="1">
                <a:solidFill>
                  <a:srgbClr val="173E2C"/>
                </a:solidFill>
                <a:latin typeface="Arial"/>
                <a:ea typeface="Arial"/>
                <a:cs typeface="Arial"/>
              </a:defRPr>
            </a:lvl7pPr>
            <a:lvl8pPr>
              <a:defRPr sz="2325" b="1">
                <a:solidFill>
                  <a:srgbClr val="173E2C"/>
                </a:solidFill>
                <a:latin typeface="Arial"/>
                <a:ea typeface="Arial"/>
                <a:cs typeface="Arial"/>
              </a:defRPr>
            </a:lvl8pPr>
            <a:lvl9pPr>
              <a:defRPr sz="2325" b="1">
                <a:solidFill>
                  <a:srgbClr val="173E2C"/>
                </a:solidFill>
                <a:latin typeface="Arial"/>
                <a:ea typeface="Arial"/>
                <a:cs typeface="Arial"/>
              </a:defRPr>
            </a:lvl9pPr>
          </a:lstStyle>
          <a:p xmlns:a="http://schemas.openxmlformats.org/drawingml/2006/main">
            <a:pPr>
              <a:defRPr sz="2325" b="1">
                <a:solidFill>
                  <a:srgbClr val="173E2C"/>
                </a:solidFill>
                <a:latin typeface="Arial"/>
                <a:ea typeface="Arial"/>
                <a:cs typeface="Arial"/>
              </a:defRPr>
            </a:pPr>
            <a:r>
              <a:rPr sz="2325" b="1">
                <a:solidFill>
                  <a:srgbClr val="173E2C"/>
                </a:solidFill>
                <a:latin typeface="Arial"/>
                <a:ea typeface="Arial"/>
                <a:cs typeface="Arial"/>
                <a:hlinkClick xmlns:r="http://schemas.openxmlformats.org/officeDocument/2006/relationships" r:id="R03ffddbda7b74393"/>
              </a:rPr>
              <a:t>MixUp</a:t>
            </a:r>
          </a:p>
        </p:txBody>
      </p:sp>
      <p:sp>
        <p:nvSpPr>
          <p:cNvPr id="5" name="text-4">
            <a:extLst xmlns:a="http://schemas.openxmlformats.org/drawingml/2006/main">
              <a:ext uri="{FF2B5EF4-FFF2-40B4-BE49-F238E27FC236}">
                <a16:creationId xmlns:a16="http://schemas.microsoft.com/office/drawing/2014/main" id="{5EB16332-739F-41C7-91C4-3D8A501A0E0D}"/>
              </a:ext>
            </a:extLst>
          </p:cNvPr>
          <p:cNvSpPr>
            <a:spLocks xmlns:a="http://schemas.openxmlformats.org/drawingml/2006/main" noGrp="1"/>
          </p:cNvSpPr>
          <p:nvPr/>
        </p:nvSpPr>
        <p:spPr>
          <a:xfrm xmlns:a="http://schemas.openxmlformats.org/drawingml/2006/main">
            <a:off x="723900" y="320992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173E2C"/>
                </a:solidFill>
                <a:latin typeface="Arial"/>
                <a:ea typeface="Arial"/>
                <a:cs typeface="Arial"/>
              </a:defRPr>
            </a:defPPr>
            <a:lvl1pPr>
              <a:defRPr sz="2325" b="1">
                <a:solidFill>
                  <a:srgbClr val="173E2C"/>
                </a:solidFill>
                <a:latin typeface="Arial"/>
                <a:ea typeface="Arial"/>
                <a:cs typeface="Arial"/>
              </a:defRPr>
            </a:lvl1pPr>
            <a:lvl2pPr>
              <a:defRPr sz="2325" b="1">
                <a:solidFill>
                  <a:srgbClr val="173E2C"/>
                </a:solidFill>
                <a:latin typeface="Arial"/>
                <a:ea typeface="Arial"/>
                <a:cs typeface="Arial"/>
              </a:defRPr>
            </a:lvl2pPr>
            <a:lvl3pPr>
              <a:defRPr sz="2325" b="1">
                <a:solidFill>
                  <a:srgbClr val="173E2C"/>
                </a:solidFill>
                <a:latin typeface="Arial"/>
                <a:ea typeface="Arial"/>
                <a:cs typeface="Arial"/>
              </a:defRPr>
            </a:lvl3pPr>
            <a:lvl4pPr>
              <a:defRPr sz="2325" b="1">
                <a:solidFill>
                  <a:srgbClr val="173E2C"/>
                </a:solidFill>
                <a:latin typeface="Arial"/>
                <a:ea typeface="Arial"/>
                <a:cs typeface="Arial"/>
              </a:defRPr>
            </a:lvl4pPr>
            <a:lvl5pPr>
              <a:defRPr sz="2325" b="1">
                <a:solidFill>
                  <a:srgbClr val="173E2C"/>
                </a:solidFill>
                <a:latin typeface="Arial"/>
                <a:ea typeface="Arial"/>
                <a:cs typeface="Arial"/>
              </a:defRPr>
            </a:lvl5pPr>
            <a:lvl6pPr>
              <a:defRPr sz="2325" b="1">
                <a:solidFill>
                  <a:srgbClr val="173E2C"/>
                </a:solidFill>
                <a:latin typeface="Arial"/>
                <a:ea typeface="Arial"/>
                <a:cs typeface="Arial"/>
              </a:defRPr>
            </a:lvl6pPr>
            <a:lvl7pPr>
              <a:defRPr sz="2325" b="1">
                <a:solidFill>
                  <a:srgbClr val="173E2C"/>
                </a:solidFill>
                <a:latin typeface="Arial"/>
                <a:ea typeface="Arial"/>
                <a:cs typeface="Arial"/>
              </a:defRPr>
            </a:lvl7pPr>
            <a:lvl8pPr>
              <a:defRPr sz="2325" b="1">
                <a:solidFill>
                  <a:srgbClr val="173E2C"/>
                </a:solidFill>
                <a:latin typeface="Arial"/>
                <a:ea typeface="Arial"/>
                <a:cs typeface="Arial"/>
              </a:defRPr>
            </a:lvl8pPr>
            <a:lvl9pPr>
              <a:defRPr sz="2325" b="1">
                <a:solidFill>
                  <a:srgbClr val="173E2C"/>
                </a:solidFill>
                <a:latin typeface="Arial"/>
                <a:ea typeface="Arial"/>
                <a:cs typeface="Arial"/>
              </a:defRPr>
            </a:lvl9pPr>
          </a:lstStyle>
          <a:p xmlns:a="http://schemas.openxmlformats.org/drawingml/2006/main">
            <a:pPr>
              <a:defRPr sz="2325" b="1">
                <a:solidFill>
                  <a:srgbClr val="173E2C"/>
                </a:solidFill>
                <a:latin typeface="Arial"/>
                <a:ea typeface="Arial"/>
                <a:cs typeface="Arial"/>
              </a:defRPr>
            </a:pPr>
            <a:r>
              <a:rPr sz="2325" b="1">
                <a:solidFill>
                  <a:srgbClr val="173E2C"/>
                </a:solidFill>
                <a:latin typeface="Arial"/>
                <a:ea typeface="Arial"/>
                <a:cs typeface="Arial"/>
                <a:hlinkClick xmlns:r="http://schemas.openxmlformats.org/officeDocument/2006/relationships" r:id="R353c44b3b969467f"/>
              </a:rPr>
              <a:t>CutMix</a:t>
            </a:r>
          </a:p>
        </p:txBody>
      </p:sp>
      <p:sp>
        <p:nvSpPr>
          <p:cNvPr id="6" name="text-5">
            <a:extLst xmlns:a="http://schemas.openxmlformats.org/drawingml/2006/main">
              <a:ext uri="{FF2B5EF4-FFF2-40B4-BE49-F238E27FC236}">
                <a16:creationId xmlns:a16="http://schemas.microsoft.com/office/drawing/2014/main" id="{3EDF48D5-0719-445E-9C7E-10540977F5B8}"/>
              </a:ext>
            </a:extLst>
          </p:cNvPr>
          <p:cNvSpPr>
            <a:spLocks xmlns:a="http://schemas.openxmlformats.org/drawingml/2006/main" noGrp="1"/>
          </p:cNvSpPr>
          <p:nvPr/>
        </p:nvSpPr>
        <p:spPr>
          <a:xfrm xmlns:a="http://schemas.openxmlformats.org/drawingml/2006/main">
            <a:off x="723900" y="399097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173E2C"/>
                </a:solidFill>
                <a:latin typeface="Arial"/>
                <a:ea typeface="Arial"/>
                <a:cs typeface="Arial"/>
              </a:defRPr>
            </a:defPPr>
            <a:lvl1pPr>
              <a:defRPr sz="2325" b="1">
                <a:solidFill>
                  <a:srgbClr val="173E2C"/>
                </a:solidFill>
                <a:latin typeface="Arial"/>
                <a:ea typeface="Arial"/>
                <a:cs typeface="Arial"/>
              </a:defRPr>
            </a:lvl1pPr>
            <a:lvl2pPr>
              <a:defRPr sz="2325" b="1">
                <a:solidFill>
                  <a:srgbClr val="173E2C"/>
                </a:solidFill>
                <a:latin typeface="Arial"/>
                <a:ea typeface="Arial"/>
                <a:cs typeface="Arial"/>
              </a:defRPr>
            </a:lvl2pPr>
            <a:lvl3pPr>
              <a:defRPr sz="2325" b="1">
                <a:solidFill>
                  <a:srgbClr val="173E2C"/>
                </a:solidFill>
                <a:latin typeface="Arial"/>
                <a:ea typeface="Arial"/>
                <a:cs typeface="Arial"/>
              </a:defRPr>
            </a:lvl3pPr>
            <a:lvl4pPr>
              <a:defRPr sz="2325" b="1">
                <a:solidFill>
                  <a:srgbClr val="173E2C"/>
                </a:solidFill>
                <a:latin typeface="Arial"/>
                <a:ea typeface="Arial"/>
                <a:cs typeface="Arial"/>
              </a:defRPr>
            </a:lvl4pPr>
            <a:lvl5pPr>
              <a:defRPr sz="2325" b="1">
                <a:solidFill>
                  <a:srgbClr val="173E2C"/>
                </a:solidFill>
                <a:latin typeface="Arial"/>
                <a:ea typeface="Arial"/>
                <a:cs typeface="Arial"/>
              </a:defRPr>
            </a:lvl5pPr>
            <a:lvl6pPr>
              <a:defRPr sz="2325" b="1">
                <a:solidFill>
                  <a:srgbClr val="173E2C"/>
                </a:solidFill>
                <a:latin typeface="Arial"/>
                <a:ea typeface="Arial"/>
                <a:cs typeface="Arial"/>
              </a:defRPr>
            </a:lvl6pPr>
            <a:lvl7pPr>
              <a:defRPr sz="2325" b="1">
                <a:solidFill>
                  <a:srgbClr val="173E2C"/>
                </a:solidFill>
                <a:latin typeface="Arial"/>
                <a:ea typeface="Arial"/>
                <a:cs typeface="Arial"/>
              </a:defRPr>
            </a:lvl7pPr>
            <a:lvl8pPr>
              <a:defRPr sz="2325" b="1">
                <a:solidFill>
                  <a:srgbClr val="173E2C"/>
                </a:solidFill>
                <a:latin typeface="Arial"/>
                <a:ea typeface="Arial"/>
                <a:cs typeface="Arial"/>
              </a:defRPr>
            </a:lvl8pPr>
            <a:lvl9pPr>
              <a:defRPr sz="2325" b="1">
                <a:solidFill>
                  <a:srgbClr val="173E2C"/>
                </a:solidFill>
                <a:latin typeface="Arial"/>
                <a:ea typeface="Arial"/>
                <a:cs typeface="Arial"/>
              </a:defRPr>
            </a:lvl9pPr>
          </a:lstStyle>
          <a:p xmlns:a="http://schemas.openxmlformats.org/drawingml/2006/main">
            <a:pPr>
              <a:defRPr sz="2325" b="1">
                <a:solidFill>
                  <a:srgbClr val="173E2C"/>
                </a:solidFill>
                <a:latin typeface="Arial"/>
                <a:ea typeface="Arial"/>
                <a:cs typeface="Arial"/>
              </a:defRPr>
            </a:pPr>
            <a:r>
              <a:rPr sz="2325" b="1">
                <a:solidFill>
                  <a:srgbClr val="173E2C"/>
                </a:solidFill>
                <a:latin typeface="Arial"/>
                <a:ea typeface="Arial"/>
                <a:cs typeface="Arial"/>
                <a:hlinkClick xmlns:r="http://schemas.openxmlformats.org/officeDocument/2006/relationships" r:id="R470a8e98df874374"/>
              </a:rPr>
              <a:t>Project repository</a:t>
            </a:r>
          </a:p>
        </p:txBody>
      </p:sp>
      <p:sp>
        <p:nvSpPr>
          <p:cNvPr id="7" name="text-6">
            <a:extLst xmlns:a="http://schemas.openxmlformats.org/drawingml/2006/main">
              <a:ext uri="{FF2B5EF4-FFF2-40B4-BE49-F238E27FC236}">
                <a16:creationId xmlns:a16="http://schemas.microsoft.com/office/drawing/2014/main" id="{8E102F0F-ECED-4B4D-BFEC-A7C51B202F9F}"/>
              </a:ext>
            </a:extLst>
          </p:cNvPr>
          <p:cNvSpPr>
            <a:spLocks xmlns:a="http://schemas.openxmlformats.org/drawingml/2006/main" noGrp="1"/>
          </p:cNvSpPr>
          <p:nvPr/>
        </p:nvSpPr>
        <p:spPr>
          <a:xfrm xmlns:a="http://schemas.openxmlformats.org/drawingml/2006/main">
            <a:off x="723900" y="477202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173E2C"/>
                </a:solidFill>
                <a:latin typeface="Arial"/>
                <a:ea typeface="Arial"/>
                <a:cs typeface="Arial"/>
              </a:defRPr>
            </a:defPPr>
            <a:lvl1pPr>
              <a:defRPr sz="2325" b="1">
                <a:solidFill>
                  <a:srgbClr val="173E2C"/>
                </a:solidFill>
                <a:latin typeface="Arial"/>
                <a:ea typeface="Arial"/>
                <a:cs typeface="Arial"/>
              </a:defRPr>
            </a:lvl1pPr>
            <a:lvl2pPr>
              <a:defRPr sz="2325" b="1">
                <a:solidFill>
                  <a:srgbClr val="173E2C"/>
                </a:solidFill>
                <a:latin typeface="Arial"/>
                <a:ea typeface="Arial"/>
                <a:cs typeface="Arial"/>
              </a:defRPr>
            </a:lvl2pPr>
            <a:lvl3pPr>
              <a:defRPr sz="2325" b="1">
                <a:solidFill>
                  <a:srgbClr val="173E2C"/>
                </a:solidFill>
                <a:latin typeface="Arial"/>
                <a:ea typeface="Arial"/>
                <a:cs typeface="Arial"/>
              </a:defRPr>
            </a:lvl3pPr>
            <a:lvl4pPr>
              <a:defRPr sz="2325" b="1">
                <a:solidFill>
                  <a:srgbClr val="173E2C"/>
                </a:solidFill>
                <a:latin typeface="Arial"/>
                <a:ea typeface="Arial"/>
                <a:cs typeface="Arial"/>
              </a:defRPr>
            </a:lvl4pPr>
            <a:lvl5pPr>
              <a:defRPr sz="2325" b="1">
                <a:solidFill>
                  <a:srgbClr val="173E2C"/>
                </a:solidFill>
                <a:latin typeface="Arial"/>
                <a:ea typeface="Arial"/>
                <a:cs typeface="Arial"/>
              </a:defRPr>
            </a:lvl5pPr>
            <a:lvl6pPr>
              <a:defRPr sz="2325" b="1">
                <a:solidFill>
                  <a:srgbClr val="173E2C"/>
                </a:solidFill>
                <a:latin typeface="Arial"/>
                <a:ea typeface="Arial"/>
                <a:cs typeface="Arial"/>
              </a:defRPr>
            </a:lvl6pPr>
            <a:lvl7pPr>
              <a:defRPr sz="2325" b="1">
                <a:solidFill>
                  <a:srgbClr val="173E2C"/>
                </a:solidFill>
                <a:latin typeface="Arial"/>
                <a:ea typeface="Arial"/>
                <a:cs typeface="Arial"/>
              </a:defRPr>
            </a:lvl7pPr>
            <a:lvl8pPr>
              <a:defRPr sz="2325" b="1">
                <a:solidFill>
                  <a:srgbClr val="173E2C"/>
                </a:solidFill>
                <a:latin typeface="Arial"/>
                <a:ea typeface="Arial"/>
                <a:cs typeface="Arial"/>
              </a:defRPr>
            </a:lvl8pPr>
            <a:lvl9pPr>
              <a:defRPr sz="2325" b="1">
                <a:solidFill>
                  <a:srgbClr val="173E2C"/>
                </a:solidFill>
                <a:latin typeface="Arial"/>
                <a:ea typeface="Arial"/>
                <a:cs typeface="Arial"/>
              </a:defRPr>
            </a:lvl9pPr>
          </a:lstStyle>
          <a:p xmlns:a="http://schemas.openxmlformats.org/drawingml/2006/main">
            <a:pPr>
              <a:defRPr sz="2325" b="1">
                <a:solidFill>
                  <a:srgbClr val="173E2C"/>
                </a:solidFill>
                <a:latin typeface="Arial"/>
                <a:ea typeface="Arial"/>
                <a:cs typeface="Arial"/>
              </a:defRPr>
            </a:pPr>
            <a:r>
              <a:rPr sz="2325" b="1">
                <a:solidFill>
                  <a:srgbClr val="173E2C"/>
                </a:solidFill>
                <a:latin typeface="Arial"/>
                <a:ea typeface="Arial"/>
                <a:cs typeface="Arial"/>
                <a:hlinkClick xmlns:r="http://schemas.openxmlformats.org/officeDocument/2006/relationships" r:id="R96f1934e01cb4ef8"/>
              </a:rPr>
              <a:t>Final live app</a:t>
            </a:r>
          </a:p>
        </p:txBody>
      </p:sp>
      <p:sp>
        <p:nvSpPr>
          <p:cNvPr id="8" name="text-7">
            <a:extLst xmlns:a="http://schemas.openxmlformats.org/drawingml/2006/main">
              <a:ext uri="{FF2B5EF4-FFF2-40B4-BE49-F238E27FC236}">
                <a16:creationId xmlns:a16="http://schemas.microsoft.com/office/drawing/2014/main" id="{203CA2D9-6B6E-4A87-9FAC-917AEB1688CF}"/>
              </a:ext>
            </a:extLst>
          </p:cNvPr>
          <p:cNvSpPr>
            <a:spLocks xmlns:a="http://schemas.openxmlformats.org/drawingml/2006/main" noGrp="1"/>
          </p:cNvSpPr>
          <p:nvPr/>
        </p:nvSpPr>
        <p:spPr>
          <a:xfrm xmlns:a="http://schemas.openxmlformats.org/drawingml/2006/main">
            <a:off x="723900" y="581025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9665D"/>
                </a:solidFill>
                <a:latin typeface="Arial"/>
                <a:ea typeface="Arial"/>
                <a:cs typeface="Arial"/>
              </a:defRPr>
            </a:defPPr>
            <a:lvl1pPr>
              <a:defRPr sz="1875" b="0">
                <a:solidFill>
                  <a:srgbClr val="59665D"/>
                </a:solidFill>
                <a:latin typeface="Arial"/>
                <a:ea typeface="Arial"/>
                <a:cs typeface="Arial"/>
              </a:defRPr>
            </a:lvl1pPr>
            <a:lvl2pPr>
              <a:defRPr sz="1875" b="0">
                <a:solidFill>
                  <a:srgbClr val="59665D"/>
                </a:solidFill>
                <a:latin typeface="Arial"/>
                <a:ea typeface="Arial"/>
                <a:cs typeface="Arial"/>
              </a:defRPr>
            </a:lvl2pPr>
            <a:lvl3pPr>
              <a:defRPr sz="1875" b="0">
                <a:solidFill>
                  <a:srgbClr val="59665D"/>
                </a:solidFill>
                <a:latin typeface="Arial"/>
                <a:ea typeface="Arial"/>
                <a:cs typeface="Arial"/>
              </a:defRPr>
            </a:lvl3pPr>
            <a:lvl4pPr>
              <a:defRPr sz="1875" b="0">
                <a:solidFill>
                  <a:srgbClr val="59665D"/>
                </a:solidFill>
                <a:latin typeface="Arial"/>
                <a:ea typeface="Arial"/>
                <a:cs typeface="Arial"/>
              </a:defRPr>
            </a:lvl4pPr>
            <a:lvl5pPr>
              <a:defRPr sz="1875" b="0">
                <a:solidFill>
                  <a:srgbClr val="59665D"/>
                </a:solidFill>
                <a:latin typeface="Arial"/>
                <a:ea typeface="Arial"/>
                <a:cs typeface="Arial"/>
              </a:defRPr>
            </a:lvl5pPr>
            <a:lvl6pPr>
              <a:defRPr sz="1875" b="0">
                <a:solidFill>
                  <a:srgbClr val="59665D"/>
                </a:solidFill>
                <a:latin typeface="Arial"/>
                <a:ea typeface="Arial"/>
                <a:cs typeface="Arial"/>
              </a:defRPr>
            </a:lvl6pPr>
            <a:lvl7pPr>
              <a:defRPr sz="1875" b="0">
                <a:solidFill>
                  <a:srgbClr val="59665D"/>
                </a:solidFill>
                <a:latin typeface="Arial"/>
                <a:ea typeface="Arial"/>
                <a:cs typeface="Arial"/>
              </a:defRPr>
            </a:lvl7pPr>
            <a:lvl8pPr>
              <a:defRPr sz="1875" b="0">
                <a:solidFill>
                  <a:srgbClr val="59665D"/>
                </a:solidFill>
                <a:latin typeface="Arial"/>
                <a:ea typeface="Arial"/>
                <a:cs typeface="Arial"/>
              </a:defRPr>
            </a:lvl8pPr>
            <a:lvl9pPr>
              <a:defRPr sz="1875" b="0">
                <a:solidFill>
                  <a:srgbClr val="59665D"/>
                </a:solidFill>
                <a:latin typeface="Arial"/>
                <a:ea typeface="Arial"/>
                <a:cs typeface="Arial"/>
              </a:defRPr>
            </a:lvl9pPr>
          </a:lstStyle>
          <a:p xmlns:a="http://schemas.openxmlformats.org/drawingml/2006/main">
            <a:pPr>
              <a:defRPr sz="1875" b="0">
                <a:solidFill>
                  <a:srgbClr val="59665D"/>
                </a:solidFill>
                <a:latin typeface="Arial"/>
                <a:ea typeface="Arial"/>
                <a:cs typeface="Arial"/>
              </a:defRPr>
            </a:pPr>
            <a:r>
              <a:rPr sz="1875" b="0">
                <a:solidFill>
                  <a:srgbClr val="59665D"/>
                </a:solidFill>
                <a:latin typeface="Arial"/>
                <a:ea typeface="Arial"/>
                <a:cs typeface="Arial"/>
              </a:rPr>
              <a:t>Full experiment records and source references are in the repository.</a:t>
            </a:r>
          </a:p>
        </p:txBody>
      </p:sp>
    </p:spTree>
    <p:extLst>
      <p:ext uri="{BB962C8B-B14F-4D97-AF65-F5344CB8AC3E}">
        <p14:creationId xmlns:p14="http://schemas.microsoft.com/office/powerpoint/2010/main" val="4065250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2026-10-24T13:29:19.9470000Z</dcterms:created>
  <dcterms:modified xsi:type="dcterms:W3CDTF">2026-10-24T13:29:19.9470000Z</dcterms:modified>
</coreProperties>
</file>